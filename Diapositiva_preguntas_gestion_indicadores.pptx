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4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0991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3F"/>
        </a:solidFill>
        <a:effectLst/>
      </p:bgPr>
    </p:bg>
    <p:spTree>
      <p:nvGrpSpPr>
        <p:cNvPr id="1" name=""/>
        <p:cNvGrpSpPr/>
        <p:nvPr/>
      </p:nvGrpSpPr>
      <p:grpSpPr>
        <a:xfrm>
          <a:off x="0" y="0"/>
          <a:ext cx="0" cy="0"/>
          <a:chOff x="0" y="0"/>
          <a:chExt cx="0" cy="0"/>
        </a:xfrm>
      </p:grpSpPr>
      <p:sp>
        <p:nvSpPr>
          <p:cNvPr id="2" name="Shape 0"/>
          <p:cNvSpPr/>
          <p:nvPr/>
        </p:nvSpPr>
        <p:spPr>
          <a:xfrm>
            <a:off x="9418320" y="-1828800"/>
            <a:ext cx="5486400" cy="5486400"/>
          </a:xfrm>
          <a:prstGeom prst="ellipse">
            <a:avLst/>
          </a:prstGeom>
          <a:solidFill>
            <a:srgbClr val="1E2761"/>
          </a:solidFill>
          <a:ln/>
        </p:spPr>
      </p:sp>
      <p:sp>
        <p:nvSpPr>
          <p:cNvPr id="3" name="Shape 1"/>
          <p:cNvSpPr/>
          <p:nvPr/>
        </p:nvSpPr>
        <p:spPr>
          <a:xfrm>
            <a:off x="10607040" y="4206240"/>
            <a:ext cx="3840480" cy="3840480"/>
          </a:xfrm>
          <a:prstGeom prst="ellipse">
            <a:avLst/>
          </a:prstGeom>
          <a:solidFill>
            <a:srgbClr val="1E2761"/>
          </a:solidFill>
          <a:ln/>
        </p:spPr>
      </p:sp>
      <p:sp>
        <p:nvSpPr>
          <p:cNvPr id="4" name="Shape 2"/>
          <p:cNvSpPr/>
          <p:nvPr/>
        </p:nvSpPr>
        <p:spPr>
          <a:xfrm>
            <a:off x="0" y="5989320"/>
            <a:ext cx="12191695" cy="868680"/>
          </a:xfrm>
          <a:prstGeom prst="rect">
            <a:avLst/>
          </a:prstGeom>
          <a:solidFill>
            <a:srgbClr val="1E2761"/>
          </a:solidFill>
          <a:ln/>
        </p:spPr>
      </p:sp>
      <p:sp>
        <p:nvSpPr>
          <p:cNvPr id="5" name="Text 3"/>
          <p:cNvSpPr/>
          <p:nvPr/>
        </p:nvSpPr>
        <p:spPr>
          <a:xfrm>
            <a:off x="822960" y="1051560"/>
            <a:ext cx="7315200" cy="365760"/>
          </a:xfrm>
          <a:prstGeom prst="rect">
            <a:avLst/>
          </a:prstGeom>
          <a:noFill/>
          <a:ln/>
        </p:spPr>
        <p:txBody>
          <a:bodyPr wrap="square" rtlCol="0" anchor="ctr"/>
          <a:lstStyle/>
          <a:p>
            <a:pPr marL="0" indent="0">
              <a:buNone/>
            </a:pPr>
            <a:r>
              <a:rPr lang="en-US" sz="1400" b="1" kern="0" spc="200" dirty="0">
                <a:solidFill>
                  <a:srgbClr val="B8860B"/>
                </a:solidFill>
                <a:latin typeface="Calibri" pitchFamily="34" charset="0"/>
                <a:ea typeface="Calibri" pitchFamily="34" charset="-122"/>
                <a:cs typeface="Calibri" pitchFamily="34" charset="-120"/>
              </a:rPr>
              <a:t>TALLER · GESTIÓN PÚBLICA + IA</a:t>
            </a:r>
            <a:endParaRPr lang="en-US" sz="1400" dirty="0"/>
          </a:p>
        </p:txBody>
      </p:sp>
      <p:sp>
        <p:nvSpPr>
          <p:cNvPr id="6" name="Text 4"/>
          <p:cNvSpPr/>
          <p:nvPr/>
        </p:nvSpPr>
        <p:spPr>
          <a:xfrm>
            <a:off x="777240" y="1508760"/>
            <a:ext cx="9875520" cy="2103120"/>
          </a:xfrm>
          <a:prstGeom prst="rect">
            <a:avLst/>
          </a:prstGeom>
          <a:noFill/>
          <a:ln/>
        </p:spPr>
        <p:txBody>
          <a:bodyPr wrap="square"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Construcción de preguntas de gestión</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y su traducción a indicadores</a:t>
            </a:r>
            <a:endParaRPr lang="en-US" sz="4000" dirty="0"/>
          </a:p>
        </p:txBody>
      </p:sp>
      <p:sp>
        <p:nvSpPr>
          <p:cNvPr id="7" name="Text 5"/>
          <p:cNvSpPr/>
          <p:nvPr/>
        </p:nvSpPr>
        <p:spPr>
          <a:xfrm>
            <a:off x="822960" y="3703320"/>
            <a:ext cx="8961120" cy="73152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De la pregunta vaga al indicador medible — con Inteligencia Artificial como acelerador, no como reemplazo del criterio técnico</a:t>
            </a:r>
            <a:endParaRPr lang="en-US" sz="1600" dirty="0"/>
          </a:p>
        </p:txBody>
      </p:sp>
      <p:sp>
        <p:nvSpPr>
          <p:cNvPr id="8" name="Shape 6"/>
          <p:cNvSpPr/>
          <p:nvPr/>
        </p:nvSpPr>
        <p:spPr>
          <a:xfrm>
            <a:off x="822960" y="4709160"/>
            <a:ext cx="2697480" cy="548640"/>
          </a:xfrm>
          <a:prstGeom prst="roundRect">
            <a:avLst>
              <a:gd name="adj" fmla="val 50000"/>
            </a:avLst>
          </a:prstGeom>
          <a:solidFill>
            <a:srgbClr val="1E2761"/>
          </a:solidFill>
          <a:ln w="12700">
            <a:solidFill>
              <a:srgbClr val="B8860B"/>
            </a:solidFill>
            <a:prstDash val="solid"/>
          </a:ln>
        </p:spPr>
      </p:sp>
      <p:sp>
        <p:nvSpPr>
          <p:cNvPr id="9" name="Text 7"/>
          <p:cNvSpPr/>
          <p:nvPr/>
        </p:nvSpPr>
        <p:spPr>
          <a:xfrm>
            <a:off x="822960" y="4709160"/>
            <a:ext cx="2697480" cy="5486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Dato vs. indicador vs. pregunta</a:t>
            </a:r>
            <a:endParaRPr lang="en-US" sz="1250" dirty="0"/>
          </a:p>
        </p:txBody>
      </p:sp>
      <p:sp>
        <p:nvSpPr>
          <p:cNvPr id="10" name="Shape 8"/>
          <p:cNvSpPr/>
          <p:nvPr/>
        </p:nvSpPr>
        <p:spPr>
          <a:xfrm>
            <a:off x="3703320" y="4709160"/>
            <a:ext cx="2697480" cy="548640"/>
          </a:xfrm>
          <a:prstGeom prst="roundRect">
            <a:avLst>
              <a:gd name="adj" fmla="val 50000"/>
            </a:avLst>
          </a:prstGeom>
          <a:solidFill>
            <a:srgbClr val="1E2761"/>
          </a:solidFill>
          <a:ln w="12700">
            <a:solidFill>
              <a:srgbClr val="B8860B"/>
            </a:solidFill>
            <a:prstDash val="solid"/>
          </a:ln>
        </p:spPr>
      </p:sp>
      <p:sp>
        <p:nvSpPr>
          <p:cNvPr id="11" name="Text 9"/>
          <p:cNvSpPr/>
          <p:nvPr/>
        </p:nvSpPr>
        <p:spPr>
          <a:xfrm>
            <a:off x="3703320" y="4709160"/>
            <a:ext cx="2697480" cy="5486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Método de 5 pasos</a:t>
            </a:r>
            <a:endParaRPr lang="en-US" sz="1250" dirty="0"/>
          </a:p>
        </p:txBody>
      </p:sp>
      <p:sp>
        <p:nvSpPr>
          <p:cNvPr id="12" name="Shape 10"/>
          <p:cNvSpPr/>
          <p:nvPr/>
        </p:nvSpPr>
        <p:spPr>
          <a:xfrm>
            <a:off x="6583680" y="4709160"/>
            <a:ext cx="2697480" cy="548640"/>
          </a:xfrm>
          <a:prstGeom prst="roundRect">
            <a:avLst>
              <a:gd name="adj" fmla="val 50000"/>
            </a:avLst>
          </a:prstGeom>
          <a:solidFill>
            <a:srgbClr val="1E2761"/>
          </a:solidFill>
          <a:ln w="12700">
            <a:solidFill>
              <a:srgbClr val="B8860B"/>
            </a:solidFill>
            <a:prstDash val="solid"/>
          </a:ln>
        </p:spPr>
      </p:sp>
      <p:sp>
        <p:nvSpPr>
          <p:cNvPr id="13" name="Text 11"/>
          <p:cNvSpPr/>
          <p:nvPr/>
        </p:nvSpPr>
        <p:spPr>
          <a:xfrm>
            <a:off x="6583680" y="4709160"/>
            <a:ext cx="2697480" cy="54864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IA como potenciador</a:t>
            </a:r>
            <a:endParaRPr lang="en-US" sz="1250" dirty="0"/>
          </a:p>
        </p:txBody>
      </p:sp>
      <p:sp>
        <p:nvSpPr>
          <p:cNvPr id="14" name="Text 12"/>
          <p:cNvSpPr/>
          <p:nvPr/>
        </p:nvSpPr>
        <p:spPr>
          <a:xfrm>
            <a:off x="822960" y="6172200"/>
            <a:ext cx="7315200" cy="45720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Documento de apoyo · Proyecto de implementación de 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Objetivos del taller</a:t>
            </a:r>
            <a:endParaRPr lang="en-US" sz="3000" dirty="0"/>
          </a:p>
        </p:txBody>
      </p:sp>
      <p:sp>
        <p:nvSpPr>
          <p:cNvPr id="3" name="Text 1"/>
          <p:cNvSpPr/>
          <p:nvPr/>
        </p:nvSpPr>
        <p:spPr>
          <a:xfrm>
            <a:off x="548640" y="960120"/>
            <a:ext cx="9144000" cy="365760"/>
          </a:xfrm>
          <a:prstGeom prst="rect">
            <a:avLst/>
          </a:prstGeom>
          <a:noFill/>
          <a:ln/>
        </p:spPr>
        <p:txBody>
          <a:bodyPr wrap="square" rtlCol="0" anchor="ctr"/>
          <a:lstStyle/>
          <a:p>
            <a:pPr marL="0" indent="0">
              <a:buNone/>
            </a:pPr>
            <a:r>
              <a:rPr lang="en-US" sz="1400" i="1" dirty="0">
                <a:solidFill>
                  <a:srgbClr val="5B6472"/>
                </a:solidFill>
                <a:latin typeface="Calibri" pitchFamily="34" charset="0"/>
                <a:ea typeface="Calibri" pitchFamily="34" charset="-122"/>
                <a:cs typeface="Calibri" pitchFamily="34" charset="-120"/>
              </a:rPr>
              <a:t>Al finalizar, cada equipo estará en capacidad de:</a:t>
            </a:r>
            <a:endParaRPr lang="en-US" sz="1400" dirty="0"/>
          </a:p>
        </p:txBody>
      </p:sp>
      <p:sp>
        <p:nvSpPr>
          <p:cNvPr id="4" name="Shape 2"/>
          <p:cNvSpPr/>
          <p:nvPr/>
        </p:nvSpPr>
        <p:spPr>
          <a:xfrm>
            <a:off x="548640" y="1600200"/>
            <a:ext cx="5303520" cy="1874520"/>
          </a:xfrm>
          <a:prstGeom prst="roundRect">
            <a:avLst>
              <a:gd name="adj" fmla="val 3902"/>
            </a:avLst>
          </a:prstGeom>
          <a:solidFill>
            <a:srgbClr val="EEF2FC"/>
          </a:solidFill>
          <a:ln w="12700">
            <a:solidFill>
              <a:srgbClr val="CADCFC"/>
            </a:solidFill>
            <a:prstDash val="solid"/>
          </a:ln>
          <a:effectLst>
            <a:outerShdw blurRad="76200" dist="25400" dir="5400000" algn="bl" rotWithShape="0">
              <a:srgbClr val="3A3F55">
                <a:alpha val="18000"/>
              </a:srgbClr>
            </a:outerShdw>
          </a:effectLst>
        </p:spPr>
      </p:sp>
      <p:sp>
        <p:nvSpPr>
          <p:cNvPr id="5" name="Shape 3"/>
          <p:cNvSpPr/>
          <p:nvPr/>
        </p:nvSpPr>
        <p:spPr>
          <a:xfrm>
            <a:off x="822960" y="1920240"/>
            <a:ext cx="777240" cy="777240"/>
          </a:xfrm>
          <a:prstGeom prst="ellipse">
            <a:avLst/>
          </a:prstGeom>
          <a:solidFill>
            <a:srgbClr val="1E2761"/>
          </a:solidFill>
          <a:ln/>
        </p:spPr>
      </p:sp>
      <p:sp>
        <p:nvSpPr>
          <p:cNvPr id="6" name="Text 4"/>
          <p:cNvSpPr/>
          <p:nvPr/>
        </p:nvSpPr>
        <p:spPr>
          <a:xfrm>
            <a:off x="822960" y="1920240"/>
            <a:ext cx="777240" cy="777240"/>
          </a:xfrm>
          <a:prstGeom prst="rect">
            <a:avLst/>
          </a:prstGeom>
          <a:noFill/>
          <a:ln/>
        </p:spPr>
        <p:txBody>
          <a:bodyPr wrap="square"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1</a:t>
            </a:r>
            <a:endParaRPr lang="en-US" sz="2210" dirty="0"/>
          </a:p>
        </p:txBody>
      </p:sp>
      <p:sp>
        <p:nvSpPr>
          <p:cNvPr id="7" name="Text 5"/>
          <p:cNvSpPr/>
          <p:nvPr/>
        </p:nvSpPr>
        <p:spPr>
          <a:xfrm>
            <a:off x="1828800" y="1856232"/>
            <a:ext cx="374904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Diferenciar</a:t>
            </a:r>
            <a:endParaRPr lang="en-US" sz="1700" dirty="0"/>
          </a:p>
        </p:txBody>
      </p:sp>
      <p:sp>
        <p:nvSpPr>
          <p:cNvPr id="8" name="Text 6"/>
          <p:cNvSpPr/>
          <p:nvPr/>
        </p:nvSpPr>
        <p:spPr>
          <a:xfrm>
            <a:off x="1828800" y="2286000"/>
            <a:ext cx="3840480" cy="1051560"/>
          </a:xfrm>
          <a:prstGeom prst="rect">
            <a:avLst/>
          </a:prstGeom>
          <a:noFill/>
          <a:ln/>
        </p:spPr>
        <p:txBody>
          <a:bodyPr wrap="square" rtlCol="0" anchor="ctr"/>
          <a:lstStyle/>
          <a:p>
            <a:pPr marL="0" indent="0">
              <a:lnSpc>
                <a:spcPts val="1600"/>
              </a:lnSpc>
              <a:buNone/>
            </a:pPr>
            <a:r>
              <a:rPr lang="en-US" sz="1250" dirty="0">
                <a:solidFill>
                  <a:srgbClr val="20232B"/>
                </a:solidFill>
                <a:latin typeface="Calibri" pitchFamily="34" charset="0"/>
                <a:ea typeface="Calibri" pitchFamily="34" charset="-122"/>
                <a:cs typeface="Calibri" pitchFamily="34" charset="-120"/>
              </a:rPr>
              <a:t>un dato, un indicador y una pregunta de gestión, y por qué el orden importa.</a:t>
            </a:r>
            <a:endParaRPr lang="en-US" sz="1250" dirty="0"/>
          </a:p>
        </p:txBody>
      </p:sp>
      <p:sp>
        <p:nvSpPr>
          <p:cNvPr id="9" name="Shape 7"/>
          <p:cNvSpPr/>
          <p:nvPr/>
        </p:nvSpPr>
        <p:spPr>
          <a:xfrm>
            <a:off x="6126480" y="1600200"/>
            <a:ext cx="5303520" cy="1874520"/>
          </a:xfrm>
          <a:prstGeom prst="roundRect">
            <a:avLst>
              <a:gd name="adj" fmla="val 3902"/>
            </a:avLst>
          </a:prstGeom>
          <a:solidFill>
            <a:srgbClr val="EEF2FC"/>
          </a:solidFill>
          <a:ln w="12700">
            <a:solidFill>
              <a:srgbClr val="CADCFC"/>
            </a:solidFill>
            <a:prstDash val="solid"/>
          </a:ln>
          <a:effectLst>
            <a:outerShdw blurRad="76200" dist="25400" dir="5400000" algn="bl" rotWithShape="0">
              <a:srgbClr val="3A3F55">
                <a:alpha val="18000"/>
              </a:srgbClr>
            </a:outerShdw>
          </a:effectLst>
        </p:spPr>
      </p:sp>
      <p:sp>
        <p:nvSpPr>
          <p:cNvPr id="10" name="Shape 8"/>
          <p:cNvSpPr/>
          <p:nvPr/>
        </p:nvSpPr>
        <p:spPr>
          <a:xfrm>
            <a:off x="6400800" y="1920240"/>
            <a:ext cx="777240" cy="777240"/>
          </a:xfrm>
          <a:prstGeom prst="ellipse">
            <a:avLst/>
          </a:prstGeom>
          <a:solidFill>
            <a:srgbClr val="1E2761"/>
          </a:solidFill>
          <a:ln/>
        </p:spPr>
      </p:sp>
      <p:sp>
        <p:nvSpPr>
          <p:cNvPr id="11" name="Text 9"/>
          <p:cNvSpPr/>
          <p:nvPr/>
        </p:nvSpPr>
        <p:spPr>
          <a:xfrm>
            <a:off x="6400800" y="1920240"/>
            <a:ext cx="777240" cy="777240"/>
          </a:xfrm>
          <a:prstGeom prst="rect">
            <a:avLst/>
          </a:prstGeom>
          <a:noFill/>
          <a:ln/>
        </p:spPr>
        <p:txBody>
          <a:bodyPr wrap="square"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2</a:t>
            </a:r>
            <a:endParaRPr lang="en-US" sz="2210" dirty="0"/>
          </a:p>
        </p:txBody>
      </p:sp>
      <p:sp>
        <p:nvSpPr>
          <p:cNvPr id="12" name="Text 10"/>
          <p:cNvSpPr/>
          <p:nvPr/>
        </p:nvSpPr>
        <p:spPr>
          <a:xfrm>
            <a:off x="7406640" y="1856232"/>
            <a:ext cx="374904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Transformar</a:t>
            </a:r>
            <a:endParaRPr lang="en-US" sz="1700" dirty="0"/>
          </a:p>
        </p:txBody>
      </p:sp>
      <p:sp>
        <p:nvSpPr>
          <p:cNvPr id="13" name="Text 11"/>
          <p:cNvSpPr/>
          <p:nvPr/>
        </p:nvSpPr>
        <p:spPr>
          <a:xfrm>
            <a:off x="7406640" y="2286000"/>
            <a:ext cx="3840480" cy="1051560"/>
          </a:xfrm>
          <a:prstGeom prst="rect">
            <a:avLst/>
          </a:prstGeom>
          <a:noFill/>
          <a:ln/>
        </p:spPr>
        <p:txBody>
          <a:bodyPr wrap="square" rtlCol="0" anchor="ctr"/>
          <a:lstStyle/>
          <a:p>
            <a:pPr marL="0" indent="0">
              <a:lnSpc>
                <a:spcPts val="1600"/>
              </a:lnSpc>
              <a:buNone/>
            </a:pPr>
            <a:r>
              <a:rPr lang="en-US" sz="1250" dirty="0">
                <a:solidFill>
                  <a:srgbClr val="20232B"/>
                </a:solidFill>
                <a:latin typeface="Calibri" pitchFamily="34" charset="0"/>
                <a:ea typeface="Calibri" pitchFamily="34" charset="-122"/>
                <a:cs typeface="Calibri" pitchFamily="34" charset="-120"/>
              </a:rPr>
              <a:t>preguntas vagas ("¿cómo va la salud?") en preguntas de gestión medibles.</a:t>
            </a:r>
            <a:endParaRPr lang="en-US" sz="1250" dirty="0"/>
          </a:p>
        </p:txBody>
      </p:sp>
      <p:sp>
        <p:nvSpPr>
          <p:cNvPr id="14" name="Shape 12"/>
          <p:cNvSpPr/>
          <p:nvPr/>
        </p:nvSpPr>
        <p:spPr>
          <a:xfrm>
            <a:off x="548640" y="3749040"/>
            <a:ext cx="5303520" cy="1874520"/>
          </a:xfrm>
          <a:prstGeom prst="roundRect">
            <a:avLst>
              <a:gd name="adj" fmla="val 3902"/>
            </a:avLst>
          </a:prstGeom>
          <a:solidFill>
            <a:srgbClr val="EEF2FC"/>
          </a:solidFill>
          <a:ln w="12700">
            <a:solidFill>
              <a:srgbClr val="CADCFC"/>
            </a:solidFill>
            <a:prstDash val="solid"/>
          </a:ln>
          <a:effectLst>
            <a:outerShdw blurRad="76200" dist="25400" dir="5400000" algn="bl" rotWithShape="0">
              <a:srgbClr val="3A3F55">
                <a:alpha val="18000"/>
              </a:srgbClr>
            </a:outerShdw>
          </a:effectLst>
        </p:spPr>
      </p:sp>
      <p:sp>
        <p:nvSpPr>
          <p:cNvPr id="15" name="Shape 13"/>
          <p:cNvSpPr/>
          <p:nvPr/>
        </p:nvSpPr>
        <p:spPr>
          <a:xfrm>
            <a:off x="822960" y="4069080"/>
            <a:ext cx="777240" cy="777240"/>
          </a:xfrm>
          <a:prstGeom prst="ellipse">
            <a:avLst/>
          </a:prstGeom>
          <a:solidFill>
            <a:srgbClr val="1E2761"/>
          </a:solidFill>
          <a:ln/>
        </p:spPr>
      </p:sp>
      <p:sp>
        <p:nvSpPr>
          <p:cNvPr id="16" name="Text 14"/>
          <p:cNvSpPr/>
          <p:nvPr/>
        </p:nvSpPr>
        <p:spPr>
          <a:xfrm>
            <a:off x="822960" y="4069080"/>
            <a:ext cx="777240" cy="777240"/>
          </a:xfrm>
          <a:prstGeom prst="rect">
            <a:avLst/>
          </a:prstGeom>
          <a:noFill/>
          <a:ln/>
        </p:spPr>
        <p:txBody>
          <a:bodyPr wrap="square"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3</a:t>
            </a:r>
            <a:endParaRPr lang="en-US" sz="2210" dirty="0"/>
          </a:p>
        </p:txBody>
      </p:sp>
      <p:sp>
        <p:nvSpPr>
          <p:cNvPr id="17" name="Text 15"/>
          <p:cNvSpPr/>
          <p:nvPr/>
        </p:nvSpPr>
        <p:spPr>
          <a:xfrm>
            <a:off x="1828800" y="4005072"/>
            <a:ext cx="374904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Construir</a:t>
            </a:r>
            <a:endParaRPr lang="en-US" sz="1700" dirty="0"/>
          </a:p>
        </p:txBody>
      </p:sp>
      <p:sp>
        <p:nvSpPr>
          <p:cNvPr id="18" name="Text 16"/>
          <p:cNvSpPr/>
          <p:nvPr/>
        </p:nvSpPr>
        <p:spPr>
          <a:xfrm>
            <a:off x="1828800" y="4434840"/>
            <a:ext cx="3840480" cy="1051560"/>
          </a:xfrm>
          <a:prstGeom prst="rect">
            <a:avLst/>
          </a:prstGeom>
          <a:noFill/>
          <a:ln/>
        </p:spPr>
        <p:txBody>
          <a:bodyPr wrap="square" rtlCol="0" anchor="ctr"/>
          <a:lstStyle/>
          <a:p>
            <a:pPr marL="0" indent="0">
              <a:lnSpc>
                <a:spcPts val="1600"/>
              </a:lnSpc>
              <a:buNone/>
            </a:pPr>
            <a:r>
              <a:rPr lang="en-US" sz="1250" dirty="0">
                <a:solidFill>
                  <a:srgbClr val="20232B"/>
                </a:solidFill>
                <a:latin typeface="Calibri" pitchFamily="34" charset="0"/>
                <a:ea typeface="Calibri" pitchFamily="34" charset="-122"/>
                <a:cs typeface="Calibri" pitchFamily="34" charset="-120"/>
              </a:rPr>
              <a:t>la ficha técnica de un indicador con un estándar reconocido (DNP / CEPAL-ILPES).</a:t>
            </a:r>
            <a:endParaRPr lang="en-US" sz="1250" dirty="0"/>
          </a:p>
        </p:txBody>
      </p:sp>
      <p:sp>
        <p:nvSpPr>
          <p:cNvPr id="19" name="Shape 17"/>
          <p:cNvSpPr/>
          <p:nvPr/>
        </p:nvSpPr>
        <p:spPr>
          <a:xfrm>
            <a:off x="6126480" y="3749040"/>
            <a:ext cx="5303520" cy="1874520"/>
          </a:xfrm>
          <a:prstGeom prst="roundRect">
            <a:avLst>
              <a:gd name="adj" fmla="val 3902"/>
            </a:avLst>
          </a:prstGeom>
          <a:solidFill>
            <a:srgbClr val="EEF2FC"/>
          </a:solidFill>
          <a:ln w="12700">
            <a:solidFill>
              <a:srgbClr val="CADCFC"/>
            </a:solidFill>
            <a:prstDash val="solid"/>
          </a:ln>
          <a:effectLst>
            <a:outerShdw blurRad="76200" dist="25400" dir="5400000" algn="bl" rotWithShape="0">
              <a:srgbClr val="3A3F55">
                <a:alpha val="18000"/>
              </a:srgbClr>
            </a:outerShdw>
          </a:effectLst>
        </p:spPr>
      </p:sp>
      <p:sp>
        <p:nvSpPr>
          <p:cNvPr id="20" name="Shape 18"/>
          <p:cNvSpPr/>
          <p:nvPr/>
        </p:nvSpPr>
        <p:spPr>
          <a:xfrm>
            <a:off x="6400800" y="4069080"/>
            <a:ext cx="777240" cy="777240"/>
          </a:xfrm>
          <a:prstGeom prst="ellipse">
            <a:avLst/>
          </a:prstGeom>
          <a:solidFill>
            <a:srgbClr val="1E2761"/>
          </a:solidFill>
          <a:ln/>
        </p:spPr>
      </p:sp>
      <p:sp>
        <p:nvSpPr>
          <p:cNvPr id="21" name="Text 19"/>
          <p:cNvSpPr/>
          <p:nvPr/>
        </p:nvSpPr>
        <p:spPr>
          <a:xfrm>
            <a:off x="6400800" y="4069080"/>
            <a:ext cx="777240" cy="777240"/>
          </a:xfrm>
          <a:prstGeom prst="rect">
            <a:avLst/>
          </a:prstGeom>
          <a:noFill/>
          <a:ln/>
        </p:spPr>
        <p:txBody>
          <a:bodyPr wrap="square"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4</a:t>
            </a:r>
            <a:endParaRPr lang="en-US" sz="2210" dirty="0"/>
          </a:p>
        </p:txBody>
      </p:sp>
      <p:sp>
        <p:nvSpPr>
          <p:cNvPr id="22" name="Text 20"/>
          <p:cNvSpPr/>
          <p:nvPr/>
        </p:nvSpPr>
        <p:spPr>
          <a:xfrm>
            <a:off x="7406640" y="4005072"/>
            <a:ext cx="3749040" cy="41148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Usar la IA</a:t>
            </a:r>
            <a:endParaRPr lang="en-US" sz="1700" dirty="0"/>
          </a:p>
        </p:txBody>
      </p:sp>
      <p:sp>
        <p:nvSpPr>
          <p:cNvPr id="23" name="Text 21"/>
          <p:cNvSpPr/>
          <p:nvPr/>
        </p:nvSpPr>
        <p:spPr>
          <a:xfrm>
            <a:off x="7406640" y="4434840"/>
            <a:ext cx="3840480" cy="1051560"/>
          </a:xfrm>
          <a:prstGeom prst="rect">
            <a:avLst/>
          </a:prstGeom>
          <a:noFill/>
          <a:ln/>
        </p:spPr>
        <p:txBody>
          <a:bodyPr wrap="square" rtlCol="0" anchor="ctr"/>
          <a:lstStyle/>
          <a:p>
            <a:pPr marL="0" indent="0">
              <a:lnSpc>
                <a:spcPts val="1600"/>
              </a:lnSpc>
              <a:buNone/>
            </a:pPr>
            <a:r>
              <a:rPr lang="en-US" sz="1250" dirty="0">
                <a:solidFill>
                  <a:srgbClr val="20232B"/>
                </a:solidFill>
                <a:latin typeface="Calibri" pitchFamily="34" charset="0"/>
                <a:ea typeface="Calibri" pitchFamily="34" charset="-122"/>
                <a:cs typeface="Calibri" pitchFamily="34" charset="-120"/>
              </a:rPr>
              <a:t>para acelerar redacción y chequeo de calidad, sin delegar el criterio técnico.</a:t>
            </a:r>
            <a:endParaRPr lang="en-US" sz="1250" dirty="0"/>
          </a:p>
        </p:txBody>
      </p:sp>
      <p:sp>
        <p:nvSpPr>
          <p:cNvPr id="24" name="Text 22"/>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25" name="Text 23"/>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¿Por qué empezar por la pregunta?</a:t>
            </a:r>
            <a:endParaRPr lang="en-US" sz="2800" dirty="0"/>
          </a:p>
        </p:txBody>
      </p:sp>
      <p:sp>
        <p:nvSpPr>
          <p:cNvPr id="3" name="Shape 1"/>
          <p:cNvSpPr/>
          <p:nvPr/>
        </p:nvSpPr>
        <p:spPr>
          <a:xfrm>
            <a:off x="548640" y="1371600"/>
            <a:ext cx="11064240" cy="1280160"/>
          </a:xfrm>
          <a:prstGeom prst="roundRect">
            <a:avLst>
              <a:gd name="adj" fmla="val 5714"/>
            </a:avLst>
          </a:prstGeom>
          <a:solidFill>
            <a:srgbClr val="12173F"/>
          </a:solidFill>
          <a:ln w="12700">
            <a:solidFill>
              <a:srgbClr val="B8860B"/>
            </a:solidFill>
            <a:prstDash val="solid"/>
          </a:ln>
        </p:spPr>
      </p:sp>
      <p:sp>
        <p:nvSpPr>
          <p:cNvPr id="4" name="Text 2"/>
          <p:cNvSpPr/>
          <p:nvPr/>
        </p:nvSpPr>
        <p:spPr>
          <a:xfrm>
            <a:off x="868680" y="1508760"/>
            <a:ext cx="10515600" cy="1005840"/>
          </a:xfrm>
          <a:prstGeom prst="rect">
            <a:avLst/>
          </a:prstGeom>
          <a:noFill/>
          <a:ln/>
        </p:spPr>
        <p:txBody>
          <a:bodyPr wrap="square" rtlCol="0" anchor="ctr"/>
          <a:lstStyle/>
          <a:p>
            <a:pPr marL="0" indent="0">
              <a:lnSpc>
                <a:spcPts val="2000"/>
              </a:lnSpc>
              <a:buNone/>
            </a:pPr>
            <a:r>
              <a:rPr lang="en-US" sz="1500" b="1" dirty="0">
                <a:solidFill>
                  <a:srgbClr val="B8860B"/>
                </a:solidFill>
                <a:latin typeface="Calibri" pitchFamily="34" charset="0"/>
                <a:ea typeface="Calibri" pitchFamily="34" charset="-122"/>
                <a:cs typeface="Calibri" pitchFamily="34" charset="-120"/>
              </a:rPr>
              <a:t>Error frecuente:  </a:t>
            </a:r>
            <a:r>
              <a:rPr lang="en-US" sz="1500" dirty="0">
                <a:solidFill>
                  <a:srgbClr val="FFFFFF"/>
                </a:solidFill>
                <a:latin typeface="Calibri" pitchFamily="34" charset="0"/>
                <a:ea typeface="Calibri" pitchFamily="34" charset="-122"/>
                <a:cs typeface="Calibri" pitchFamily="34" charset="-120"/>
              </a:rPr>
              <a:t>"tengo datos disponibles, veamos qué indicador armo con ellos" → produce indicadores irrelevantes.</a:t>
            </a:r>
            <a:endParaRPr lang="en-US" sz="1500" dirty="0"/>
          </a:p>
        </p:txBody>
      </p:sp>
      <p:sp>
        <p:nvSpPr>
          <p:cNvPr id="5" name="Shape 3"/>
          <p:cNvSpPr/>
          <p:nvPr/>
        </p:nvSpPr>
        <p:spPr>
          <a:xfrm>
            <a:off x="548640" y="2880360"/>
            <a:ext cx="11064240" cy="1280160"/>
          </a:xfrm>
          <a:prstGeom prst="roundRect">
            <a:avLst>
              <a:gd name="adj" fmla="val 5714"/>
            </a:avLst>
          </a:prstGeom>
          <a:solidFill>
            <a:srgbClr val="12173F"/>
          </a:solidFill>
          <a:ln w="12700">
            <a:solidFill>
              <a:srgbClr val="3FA796"/>
            </a:solidFill>
            <a:prstDash val="solid"/>
          </a:ln>
        </p:spPr>
      </p:sp>
      <p:sp>
        <p:nvSpPr>
          <p:cNvPr id="6" name="Text 4"/>
          <p:cNvSpPr/>
          <p:nvPr/>
        </p:nvSpPr>
        <p:spPr>
          <a:xfrm>
            <a:off x="868680" y="3017520"/>
            <a:ext cx="10515600" cy="1005840"/>
          </a:xfrm>
          <a:prstGeom prst="rect">
            <a:avLst/>
          </a:prstGeom>
          <a:noFill/>
          <a:ln/>
        </p:spPr>
        <p:txBody>
          <a:bodyPr wrap="square" rtlCol="0" anchor="ctr"/>
          <a:lstStyle/>
          <a:p>
            <a:pPr marL="0" indent="0">
              <a:lnSpc>
                <a:spcPts val="2000"/>
              </a:lnSpc>
              <a:buNone/>
            </a:pPr>
            <a:r>
              <a:rPr lang="en-US" sz="1500" b="1" dirty="0">
                <a:solidFill>
                  <a:srgbClr val="6FE3C9"/>
                </a:solidFill>
                <a:latin typeface="Calibri" pitchFamily="34" charset="0"/>
                <a:ea typeface="Calibri" pitchFamily="34" charset="-122"/>
                <a:cs typeface="Calibri" pitchFamily="34" charset="-120"/>
              </a:rPr>
              <a:t>Enfoque correcto:  </a:t>
            </a:r>
            <a:r>
              <a:rPr lang="en-US" sz="1500" dirty="0">
                <a:solidFill>
                  <a:srgbClr val="FFFFFF"/>
                </a:solidFill>
                <a:latin typeface="Calibri" pitchFamily="34" charset="0"/>
                <a:ea typeface="Calibri" pitchFamily="34" charset="-122"/>
                <a:cs typeface="Calibri" pitchFamily="34" charset="-120"/>
              </a:rPr>
              <a:t>"tengo una pregunta de gestión, defino qué datos necesito y con ellos construyo el indicador que la responde".</a:t>
            </a:r>
            <a:endParaRPr lang="en-US" sz="1500" dirty="0"/>
          </a:p>
        </p:txBody>
      </p:sp>
      <p:sp>
        <p:nvSpPr>
          <p:cNvPr id="7" name="Text 5"/>
          <p:cNvSpPr/>
          <p:nvPr/>
        </p:nvSpPr>
        <p:spPr>
          <a:xfrm>
            <a:off x="548640" y="4434840"/>
            <a:ext cx="11064240" cy="1280160"/>
          </a:xfrm>
          <a:prstGeom prst="rect">
            <a:avLst/>
          </a:prstGeom>
          <a:noFill/>
          <a:ln/>
        </p:spPr>
        <p:txBody>
          <a:bodyPr wrap="square" rtlCol="0" anchor="ctr"/>
          <a:lstStyle/>
          <a:p>
            <a:pPr marL="0" indent="0">
              <a:lnSpc>
                <a:spcPts val="2000"/>
              </a:lnSpc>
              <a:buNone/>
            </a:pPr>
            <a:r>
              <a:rPr lang="en-US" sz="1450" i="1" dirty="0">
                <a:solidFill>
                  <a:srgbClr val="CADCFC"/>
                </a:solidFill>
                <a:latin typeface="Calibri" pitchFamily="34" charset="0"/>
                <a:ea typeface="Calibri" pitchFamily="34" charset="-122"/>
                <a:cs typeface="Calibri" pitchFamily="34" charset="-120"/>
              </a:rPr>
              <a:t>La pregunta de gestión es el punto de partida. Sin ella, el indicador —por bien calculado que esté— no tiene propósito para la toma de decisiones ni para la rendición de cuentas ciudadana.</a:t>
            </a:r>
            <a:endParaRPr lang="en-US" sz="1450" dirty="0"/>
          </a:p>
        </p:txBody>
      </p:sp>
      <p:sp>
        <p:nvSpPr>
          <p:cNvPr id="8" name="Text 6"/>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9" name="Text 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Tres conceptos que no son sinónimos</a:t>
            </a:r>
            <a:endParaRPr lang="en-US" sz="2800" dirty="0"/>
          </a:p>
        </p:txBody>
      </p:sp>
      <p:sp>
        <p:nvSpPr>
          <p:cNvPr id="3" name="Shape 1"/>
          <p:cNvSpPr/>
          <p:nvPr/>
        </p:nvSpPr>
        <p:spPr>
          <a:xfrm>
            <a:off x="457200" y="1234440"/>
            <a:ext cx="3566160" cy="5029200"/>
          </a:xfrm>
          <a:prstGeom prst="roundRect">
            <a:avLst>
              <a:gd name="adj" fmla="val 2051"/>
            </a:avLst>
          </a:prstGeom>
          <a:solidFill>
            <a:srgbClr val="EEF2FC"/>
          </a:solidFill>
          <a:ln/>
          <a:effectLst>
            <a:outerShdw blurRad="76200" dist="25400" dir="5400000" algn="bl" rotWithShape="0">
              <a:srgbClr val="3A3F55">
                <a:alpha val="18000"/>
              </a:srgbClr>
            </a:outerShdw>
          </a:effectLst>
        </p:spPr>
      </p:sp>
      <p:sp>
        <p:nvSpPr>
          <p:cNvPr id="4" name="Shape 2"/>
          <p:cNvSpPr/>
          <p:nvPr/>
        </p:nvSpPr>
        <p:spPr>
          <a:xfrm>
            <a:off x="777240" y="1508760"/>
            <a:ext cx="640080" cy="640080"/>
          </a:xfrm>
          <a:prstGeom prst="ellipse">
            <a:avLst/>
          </a:prstGeom>
          <a:solidFill>
            <a:srgbClr val="1E2761"/>
          </a:solidFill>
          <a:ln/>
        </p:spPr>
      </p:sp>
      <p:sp>
        <p:nvSpPr>
          <p:cNvPr id="5" name="Text 3"/>
          <p:cNvSpPr/>
          <p:nvPr/>
        </p:nvSpPr>
        <p:spPr>
          <a:xfrm>
            <a:off x="777240" y="150876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①</a:t>
            </a:r>
            <a:endParaRPr lang="en-US" sz="1820" dirty="0"/>
          </a:p>
        </p:txBody>
      </p:sp>
      <p:sp>
        <p:nvSpPr>
          <p:cNvPr id="6" name="Text 4"/>
          <p:cNvSpPr/>
          <p:nvPr/>
        </p:nvSpPr>
        <p:spPr>
          <a:xfrm>
            <a:off x="1554480" y="1463040"/>
            <a:ext cx="2377440" cy="73152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DATO</a:t>
            </a:r>
            <a:endParaRPr lang="en-US" sz="1550" dirty="0"/>
          </a:p>
        </p:txBody>
      </p:sp>
      <p:sp>
        <p:nvSpPr>
          <p:cNvPr id="7" name="Text 5"/>
          <p:cNvSpPr/>
          <p:nvPr/>
        </p:nvSpPr>
        <p:spPr>
          <a:xfrm>
            <a:off x="777240" y="2377440"/>
            <a:ext cx="3108960" cy="1246094"/>
          </a:xfrm>
          <a:prstGeom prst="rect">
            <a:avLst/>
          </a:prstGeom>
          <a:noFill/>
          <a:ln/>
        </p:spPr>
        <p:txBody>
          <a:bodyPr wrap="square" rtlCol="0" anchor="ctr"/>
          <a:lstStyle/>
          <a:p>
            <a:pPr marL="0" indent="0">
              <a:lnSpc>
                <a:spcPts val="1600"/>
              </a:lnSpc>
              <a:buNone/>
            </a:pPr>
            <a:r>
              <a:rPr lang="en-US" sz="1250" dirty="0">
                <a:solidFill>
                  <a:srgbClr val="20232B"/>
                </a:solidFill>
                <a:latin typeface="Calibri" pitchFamily="34" charset="0"/>
                <a:ea typeface="Calibri" pitchFamily="34" charset="-122"/>
                <a:cs typeface="Calibri" pitchFamily="34" charset="-120"/>
              </a:rPr>
              <a:t>Registro puntual, sin procesar ni </a:t>
            </a:r>
            <a:r>
              <a:rPr lang="en-US" sz="1250" dirty="0" err="1">
                <a:solidFill>
                  <a:srgbClr val="20232B"/>
                </a:solidFill>
                <a:latin typeface="Calibri" pitchFamily="34" charset="0"/>
                <a:ea typeface="Calibri" pitchFamily="34" charset="-122"/>
                <a:cs typeface="Calibri" pitchFamily="34" charset="-120"/>
              </a:rPr>
              <a:t>interpretar</a:t>
            </a:r>
            <a:r>
              <a:rPr lang="en-US" sz="1250" dirty="0">
                <a:solidFill>
                  <a:srgbClr val="20232B"/>
                </a:solidFill>
                <a:latin typeface="Calibri" pitchFamily="34" charset="0"/>
                <a:ea typeface="Calibri" pitchFamily="34" charset="-122"/>
                <a:cs typeface="Calibri" pitchFamily="34" charset="-120"/>
              </a:rPr>
              <a:t>. </a:t>
            </a:r>
            <a:r>
              <a:rPr lang="es-CO" sz="1250" dirty="0">
                <a:solidFill>
                  <a:srgbClr val="20232B"/>
                </a:solidFill>
                <a:latin typeface="Calibri" pitchFamily="34" charset="0"/>
                <a:ea typeface="Calibri" pitchFamily="34" charset="-122"/>
                <a:cs typeface="Calibri" pitchFamily="34" charset="-120"/>
              </a:rPr>
              <a:t>obtenido de una fuente primaria o administrativa. Por sí solo no responde preguntas de gestión.</a:t>
            </a:r>
            <a:endParaRPr lang="en-US" sz="1250" dirty="0">
              <a:solidFill>
                <a:srgbClr val="20232B"/>
              </a:solidFill>
              <a:latin typeface="Calibri" pitchFamily="34" charset="0"/>
              <a:ea typeface="Calibri" pitchFamily="34" charset="-122"/>
              <a:cs typeface="Calibri" pitchFamily="34" charset="-120"/>
            </a:endParaRPr>
          </a:p>
        </p:txBody>
      </p:sp>
      <p:sp>
        <p:nvSpPr>
          <p:cNvPr id="8" name="Shape 6"/>
          <p:cNvSpPr/>
          <p:nvPr/>
        </p:nvSpPr>
        <p:spPr>
          <a:xfrm>
            <a:off x="777240" y="4069080"/>
            <a:ext cx="3108960" cy="0"/>
          </a:xfrm>
          <a:prstGeom prst="line">
            <a:avLst/>
          </a:prstGeom>
          <a:noFill/>
          <a:ln w="12700">
            <a:solidFill>
              <a:srgbClr val="CADCFC"/>
            </a:solidFill>
            <a:prstDash val="solid"/>
          </a:ln>
        </p:spPr>
      </p:sp>
      <p:sp>
        <p:nvSpPr>
          <p:cNvPr id="9" name="Text 7"/>
          <p:cNvSpPr/>
          <p:nvPr/>
        </p:nvSpPr>
        <p:spPr>
          <a:xfrm>
            <a:off x="777240" y="4206240"/>
            <a:ext cx="3108960" cy="274320"/>
          </a:xfrm>
          <a:prstGeom prst="rect">
            <a:avLst/>
          </a:prstGeom>
          <a:noFill/>
          <a:ln/>
        </p:spPr>
        <p:txBody>
          <a:bodyPr wrap="square" rtlCol="0" anchor="ctr"/>
          <a:lstStyle/>
          <a:p>
            <a:pPr marL="0" indent="0">
              <a:buNone/>
            </a:pPr>
            <a:r>
              <a:rPr lang="en-US" sz="1000" b="1" dirty="0">
                <a:solidFill>
                  <a:srgbClr val="5B6472"/>
                </a:solidFill>
                <a:latin typeface="Calibri" pitchFamily="34" charset="0"/>
                <a:ea typeface="Calibri" pitchFamily="34" charset="-122"/>
                <a:cs typeface="Calibri" pitchFamily="34" charset="-120"/>
              </a:rPr>
              <a:t>EJEMPLO</a:t>
            </a:r>
            <a:endParaRPr lang="en-US" sz="1000" dirty="0"/>
          </a:p>
        </p:txBody>
      </p:sp>
      <p:sp>
        <p:nvSpPr>
          <p:cNvPr id="10" name="Text 8"/>
          <p:cNvSpPr/>
          <p:nvPr/>
        </p:nvSpPr>
        <p:spPr>
          <a:xfrm>
            <a:off x="777240" y="4480560"/>
            <a:ext cx="3108960" cy="1337534"/>
          </a:xfrm>
          <a:prstGeom prst="rect">
            <a:avLst/>
          </a:prstGeom>
          <a:noFill/>
          <a:ln/>
        </p:spPr>
        <p:txBody>
          <a:bodyPr wrap="square" rtlCol="0" anchor="ctr"/>
          <a:lstStyle/>
          <a:p>
            <a:pPr marL="0" indent="0">
              <a:lnSpc>
                <a:spcPts val="1500"/>
              </a:lnSpc>
              <a:buNone/>
            </a:pPr>
            <a:r>
              <a:rPr lang="en-US" sz="1400" i="1" dirty="0">
                <a:solidFill>
                  <a:srgbClr val="20232B"/>
                </a:solidFill>
                <a:latin typeface="Calibri" pitchFamily="34" charset="0"/>
                <a:ea typeface="Calibri" pitchFamily="34" charset="-122"/>
                <a:cs typeface="Calibri" pitchFamily="34" charset="-120"/>
              </a:rPr>
              <a:t>"350 gestantes atendidas en abril de 2026"</a:t>
            </a:r>
            <a:endParaRPr lang="en-US" sz="1400" dirty="0"/>
          </a:p>
        </p:txBody>
      </p:sp>
      <p:sp>
        <p:nvSpPr>
          <p:cNvPr id="11" name="Shape 9"/>
          <p:cNvSpPr/>
          <p:nvPr/>
        </p:nvSpPr>
        <p:spPr>
          <a:xfrm>
            <a:off x="4343400" y="1234440"/>
            <a:ext cx="3566160" cy="5029200"/>
          </a:xfrm>
          <a:prstGeom prst="roundRect">
            <a:avLst>
              <a:gd name="adj" fmla="val 2051"/>
            </a:avLst>
          </a:prstGeom>
          <a:solidFill>
            <a:srgbClr val="EEF2FC"/>
          </a:solidFill>
          <a:ln/>
          <a:effectLst>
            <a:outerShdw blurRad="76200" dist="25400" dir="5400000" algn="bl" rotWithShape="0">
              <a:srgbClr val="3A3F55">
                <a:alpha val="18000"/>
              </a:srgbClr>
            </a:outerShdw>
          </a:effectLst>
        </p:spPr>
      </p:sp>
      <p:sp>
        <p:nvSpPr>
          <p:cNvPr id="12" name="Shape 10"/>
          <p:cNvSpPr/>
          <p:nvPr/>
        </p:nvSpPr>
        <p:spPr>
          <a:xfrm>
            <a:off x="4572000" y="1508760"/>
            <a:ext cx="640080" cy="640080"/>
          </a:xfrm>
          <a:prstGeom prst="ellipse">
            <a:avLst/>
          </a:prstGeom>
          <a:solidFill>
            <a:srgbClr val="1E2761"/>
          </a:solidFill>
          <a:ln/>
        </p:spPr>
      </p:sp>
      <p:sp>
        <p:nvSpPr>
          <p:cNvPr id="13" name="Text 11"/>
          <p:cNvSpPr/>
          <p:nvPr/>
        </p:nvSpPr>
        <p:spPr>
          <a:xfrm>
            <a:off x="4572000" y="150876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②</a:t>
            </a:r>
            <a:endParaRPr lang="en-US" sz="1820" dirty="0"/>
          </a:p>
        </p:txBody>
      </p:sp>
      <p:sp>
        <p:nvSpPr>
          <p:cNvPr id="14" name="Text 12"/>
          <p:cNvSpPr/>
          <p:nvPr/>
        </p:nvSpPr>
        <p:spPr>
          <a:xfrm>
            <a:off x="5349240" y="1463040"/>
            <a:ext cx="2377440" cy="731520"/>
          </a:xfrm>
          <a:prstGeom prst="rect">
            <a:avLst/>
          </a:prstGeom>
          <a:noFill/>
          <a:ln/>
        </p:spPr>
        <p:txBody>
          <a:bodyPr wrap="square"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INDICADOR</a:t>
            </a:r>
            <a:endParaRPr lang="en-US" sz="1550" dirty="0"/>
          </a:p>
        </p:txBody>
      </p:sp>
      <p:sp>
        <p:nvSpPr>
          <p:cNvPr id="15" name="Text 13"/>
          <p:cNvSpPr/>
          <p:nvPr/>
        </p:nvSpPr>
        <p:spPr>
          <a:xfrm>
            <a:off x="4572000" y="2377439"/>
            <a:ext cx="3108960" cy="1246087"/>
          </a:xfrm>
          <a:prstGeom prst="rect">
            <a:avLst/>
          </a:prstGeom>
          <a:noFill/>
          <a:ln/>
        </p:spPr>
        <p:txBody>
          <a:bodyPr wrap="square" rtlCol="0" anchor="ctr"/>
          <a:lstStyle/>
          <a:p>
            <a:pPr marL="0" indent="0">
              <a:lnSpc>
                <a:spcPts val="1600"/>
              </a:lnSpc>
              <a:buNone/>
            </a:pPr>
            <a:r>
              <a:rPr lang="en-US" sz="1250" dirty="0">
                <a:solidFill>
                  <a:srgbClr val="20232B"/>
                </a:solidFill>
                <a:latin typeface="Calibri" pitchFamily="34" charset="0"/>
                <a:ea typeface="Calibri" pitchFamily="34" charset="-122"/>
                <a:cs typeface="Calibri" pitchFamily="34" charset="-120"/>
              </a:rPr>
              <a:t>Relación matemática entre datos que mide el cumplimiento de un objetivo y </a:t>
            </a:r>
            <a:r>
              <a:rPr lang="en-US" sz="1250" dirty="0" err="1">
                <a:solidFill>
                  <a:srgbClr val="20232B"/>
                </a:solidFill>
                <a:latin typeface="Calibri" pitchFamily="34" charset="0"/>
                <a:ea typeface="Calibri" pitchFamily="34" charset="-122"/>
                <a:cs typeface="Calibri" pitchFamily="34" charset="-120"/>
              </a:rPr>
              <a:t>permite</a:t>
            </a:r>
            <a:r>
              <a:rPr lang="en-US" sz="1250" dirty="0">
                <a:solidFill>
                  <a:srgbClr val="20232B"/>
                </a:solidFill>
                <a:latin typeface="Calibri" pitchFamily="34" charset="0"/>
                <a:ea typeface="Calibri" pitchFamily="34" charset="-122"/>
                <a:cs typeface="Calibri" pitchFamily="34" charset="-120"/>
              </a:rPr>
              <a:t> </a:t>
            </a:r>
            <a:r>
              <a:rPr lang="en-US" sz="1250" dirty="0" err="1">
                <a:solidFill>
                  <a:srgbClr val="20232B"/>
                </a:solidFill>
                <a:latin typeface="Calibri" pitchFamily="34" charset="0"/>
                <a:ea typeface="Calibri" pitchFamily="34" charset="-122"/>
                <a:cs typeface="Calibri" pitchFamily="34" charset="-120"/>
              </a:rPr>
              <a:t>comparar</a:t>
            </a:r>
            <a:r>
              <a:rPr lang="en-US" sz="1250" dirty="0">
                <a:solidFill>
                  <a:srgbClr val="20232B"/>
                </a:solidFill>
                <a:latin typeface="Calibri" pitchFamily="34" charset="0"/>
                <a:ea typeface="Calibri" pitchFamily="34" charset="-122"/>
                <a:cs typeface="Calibri" pitchFamily="34" charset="-120"/>
              </a:rPr>
              <a:t> </a:t>
            </a:r>
            <a:r>
              <a:rPr lang="es-ES" sz="1250" dirty="0">
                <a:solidFill>
                  <a:srgbClr val="20232B"/>
                </a:solidFill>
                <a:latin typeface="Calibri" pitchFamily="34" charset="0"/>
                <a:ea typeface="Calibri" pitchFamily="34" charset="-122"/>
                <a:cs typeface="Calibri" pitchFamily="34" charset="-120"/>
              </a:rPr>
              <a:t>en el tiempo, entre territorios o frente a una meta.</a:t>
            </a:r>
            <a:endParaRPr lang="en-US" sz="1250" dirty="0"/>
          </a:p>
        </p:txBody>
      </p:sp>
      <p:sp>
        <p:nvSpPr>
          <p:cNvPr id="16" name="Shape 14"/>
          <p:cNvSpPr/>
          <p:nvPr/>
        </p:nvSpPr>
        <p:spPr>
          <a:xfrm>
            <a:off x="4572000" y="4069080"/>
            <a:ext cx="3108960" cy="0"/>
          </a:xfrm>
          <a:prstGeom prst="line">
            <a:avLst/>
          </a:prstGeom>
          <a:noFill/>
          <a:ln w="12700">
            <a:solidFill>
              <a:srgbClr val="CADCFC"/>
            </a:solidFill>
            <a:prstDash val="solid"/>
          </a:ln>
        </p:spPr>
      </p:sp>
      <p:sp>
        <p:nvSpPr>
          <p:cNvPr id="17" name="Text 15"/>
          <p:cNvSpPr/>
          <p:nvPr/>
        </p:nvSpPr>
        <p:spPr>
          <a:xfrm>
            <a:off x="4572000" y="4206240"/>
            <a:ext cx="3108960" cy="274320"/>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EJEMPLO</a:t>
            </a:r>
            <a:endParaRPr lang="en-US" sz="1000" dirty="0"/>
          </a:p>
        </p:txBody>
      </p:sp>
      <p:sp>
        <p:nvSpPr>
          <p:cNvPr id="18" name="Text 16"/>
          <p:cNvSpPr/>
          <p:nvPr/>
        </p:nvSpPr>
        <p:spPr>
          <a:xfrm>
            <a:off x="4572000" y="4480560"/>
            <a:ext cx="3108960" cy="1427181"/>
          </a:xfrm>
          <a:prstGeom prst="rect">
            <a:avLst/>
          </a:prstGeom>
          <a:noFill/>
          <a:ln/>
        </p:spPr>
        <p:txBody>
          <a:bodyPr wrap="square" rtlCol="0" anchor="ctr"/>
          <a:lstStyle/>
          <a:p>
            <a:pPr marL="0" indent="0">
              <a:lnSpc>
                <a:spcPts val="1500"/>
              </a:lnSpc>
              <a:buNone/>
            </a:pPr>
            <a:r>
              <a:rPr lang="en-US" sz="1400" i="1" dirty="0">
                <a:solidFill>
                  <a:srgbClr val="20232B"/>
                </a:solidFill>
                <a:latin typeface="Calibri" pitchFamily="34" charset="0"/>
                <a:ea typeface="Calibri" pitchFamily="34" charset="-122"/>
                <a:cs typeface="Calibri" pitchFamily="34" charset="-120"/>
              </a:rPr>
              <a:t>"% de gestantes rurales con 4+ controles prenatales vs. año anterior"</a:t>
            </a:r>
            <a:endParaRPr lang="en-US" sz="1400" dirty="0"/>
          </a:p>
        </p:txBody>
      </p:sp>
      <p:sp>
        <p:nvSpPr>
          <p:cNvPr id="19" name="Shape 17"/>
          <p:cNvSpPr/>
          <p:nvPr/>
        </p:nvSpPr>
        <p:spPr>
          <a:xfrm>
            <a:off x="8138160" y="1234440"/>
            <a:ext cx="3566160" cy="5029200"/>
          </a:xfrm>
          <a:prstGeom prst="roundRect">
            <a:avLst>
              <a:gd name="adj" fmla="val 2051"/>
            </a:avLst>
          </a:prstGeom>
          <a:solidFill>
            <a:srgbClr val="1E2761"/>
          </a:solidFill>
          <a:ln/>
          <a:effectLst>
            <a:outerShdw blurRad="76200" dist="25400" dir="5400000" algn="bl" rotWithShape="0">
              <a:srgbClr val="3A3F55">
                <a:alpha val="18000"/>
              </a:srgbClr>
            </a:outerShdw>
          </a:effectLst>
        </p:spPr>
      </p:sp>
      <p:sp>
        <p:nvSpPr>
          <p:cNvPr id="20" name="Shape 18"/>
          <p:cNvSpPr/>
          <p:nvPr/>
        </p:nvSpPr>
        <p:spPr>
          <a:xfrm>
            <a:off x="8366760" y="1508760"/>
            <a:ext cx="640080" cy="640080"/>
          </a:xfrm>
          <a:prstGeom prst="ellipse">
            <a:avLst/>
          </a:prstGeom>
          <a:solidFill>
            <a:srgbClr val="B8860B"/>
          </a:solidFill>
          <a:ln/>
        </p:spPr>
      </p:sp>
      <p:sp>
        <p:nvSpPr>
          <p:cNvPr id="21" name="Text 19"/>
          <p:cNvSpPr/>
          <p:nvPr/>
        </p:nvSpPr>
        <p:spPr>
          <a:xfrm>
            <a:off x="8366760" y="150876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③</a:t>
            </a:r>
            <a:endParaRPr lang="en-US" sz="1820" dirty="0"/>
          </a:p>
        </p:txBody>
      </p:sp>
      <p:sp>
        <p:nvSpPr>
          <p:cNvPr id="22" name="Text 20"/>
          <p:cNvSpPr/>
          <p:nvPr/>
        </p:nvSpPr>
        <p:spPr>
          <a:xfrm>
            <a:off x="9144000" y="1463040"/>
            <a:ext cx="2377440" cy="73152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PREGUNTA DE GESTIÓN</a:t>
            </a:r>
            <a:endParaRPr lang="en-US" sz="1550" dirty="0"/>
          </a:p>
        </p:txBody>
      </p:sp>
      <p:sp>
        <p:nvSpPr>
          <p:cNvPr id="23" name="Text 21"/>
          <p:cNvSpPr/>
          <p:nvPr/>
        </p:nvSpPr>
        <p:spPr>
          <a:xfrm>
            <a:off x="8366760" y="2377440"/>
            <a:ext cx="3108960" cy="1554480"/>
          </a:xfrm>
          <a:prstGeom prst="rect">
            <a:avLst/>
          </a:prstGeom>
          <a:noFill/>
          <a:ln/>
        </p:spPr>
        <p:txBody>
          <a:bodyPr wrap="square" rtlCol="0" anchor="ctr"/>
          <a:lstStyle/>
          <a:p>
            <a:pPr marL="0" indent="0">
              <a:lnSpc>
                <a:spcPts val="1600"/>
              </a:lnSpc>
              <a:buNone/>
            </a:pPr>
            <a:r>
              <a:rPr lang="en-US" sz="1250" dirty="0">
                <a:solidFill>
                  <a:srgbClr val="CADCFC"/>
                </a:solidFill>
                <a:latin typeface="Calibri" pitchFamily="34" charset="0"/>
                <a:ea typeface="Calibri" pitchFamily="34" charset="-122"/>
                <a:cs typeface="Calibri" pitchFamily="34" charset="-120"/>
              </a:rPr>
              <a:t>Pregunta orientadora que expresa una necesidad de información y define qué medir y para </a:t>
            </a:r>
            <a:r>
              <a:rPr lang="en-US" sz="1250" dirty="0" err="1">
                <a:solidFill>
                  <a:srgbClr val="CADCFC"/>
                </a:solidFill>
                <a:latin typeface="Calibri" pitchFamily="34" charset="0"/>
                <a:ea typeface="Calibri" pitchFamily="34" charset="-122"/>
                <a:cs typeface="Calibri" pitchFamily="34" charset="-120"/>
              </a:rPr>
              <a:t>qué</a:t>
            </a:r>
            <a:r>
              <a:rPr lang="en-US" sz="1250" dirty="0">
                <a:solidFill>
                  <a:srgbClr val="CADCFC"/>
                </a:solidFill>
                <a:latin typeface="Calibri" pitchFamily="34" charset="0"/>
                <a:ea typeface="Calibri" pitchFamily="34" charset="-122"/>
                <a:cs typeface="Calibri" pitchFamily="34" charset="-120"/>
              </a:rPr>
              <a:t>. </a:t>
            </a:r>
            <a:r>
              <a:rPr lang="es-ES" sz="1250" dirty="0">
                <a:solidFill>
                  <a:srgbClr val="CADCFC"/>
                </a:solidFill>
                <a:latin typeface="Calibri" pitchFamily="34" charset="0"/>
                <a:ea typeface="Calibri" pitchFamily="34" charset="-122"/>
                <a:cs typeface="Calibri" pitchFamily="34" charset="-120"/>
              </a:rPr>
              <a:t>Es el punto de partida: sin ella, el indicador carece de propósito.</a:t>
            </a:r>
            <a:endParaRPr lang="en-US" sz="1250" dirty="0"/>
          </a:p>
        </p:txBody>
      </p:sp>
      <p:sp>
        <p:nvSpPr>
          <p:cNvPr id="24" name="Shape 22"/>
          <p:cNvSpPr/>
          <p:nvPr/>
        </p:nvSpPr>
        <p:spPr>
          <a:xfrm>
            <a:off x="8366760" y="4069080"/>
            <a:ext cx="3108960" cy="0"/>
          </a:xfrm>
          <a:prstGeom prst="line">
            <a:avLst/>
          </a:prstGeom>
          <a:noFill/>
          <a:ln w="12700">
            <a:solidFill>
              <a:srgbClr val="B8860B"/>
            </a:solidFill>
            <a:prstDash val="solid"/>
          </a:ln>
        </p:spPr>
      </p:sp>
      <p:sp>
        <p:nvSpPr>
          <p:cNvPr id="25" name="Text 23"/>
          <p:cNvSpPr/>
          <p:nvPr/>
        </p:nvSpPr>
        <p:spPr>
          <a:xfrm>
            <a:off x="8366760" y="4206240"/>
            <a:ext cx="3108960" cy="274320"/>
          </a:xfrm>
          <a:prstGeom prst="rect">
            <a:avLst/>
          </a:prstGeom>
          <a:noFill/>
          <a:ln/>
        </p:spPr>
        <p:txBody>
          <a:bodyPr wrap="square" rtlCol="0" anchor="ctr"/>
          <a:lstStyle/>
          <a:p>
            <a:pPr marL="0" indent="0">
              <a:buNone/>
            </a:pPr>
            <a:r>
              <a:rPr lang="en-US" sz="1000" b="1" dirty="0">
                <a:solidFill>
                  <a:srgbClr val="B8860B"/>
                </a:solidFill>
                <a:latin typeface="Calibri" pitchFamily="34" charset="0"/>
                <a:ea typeface="Calibri" pitchFamily="34" charset="-122"/>
                <a:cs typeface="Calibri" pitchFamily="34" charset="-120"/>
              </a:rPr>
              <a:t>EJEMPLO</a:t>
            </a:r>
            <a:endParaRPr lang="en-US" sz="1000" dirty="0"/>
          </a:p>
        </p:txBody>
      </p:sp>
      <p:sp>
        <p:nvSpPr>
          <p:cNvPr id="26" name="Text 24"/>
          <p:cNvSpPr/>
          <p:nvPr/>
        </p:nvSpPr>
        <p:spPr>
          <a:xfrm>
            <a:off x="8366760" y="4480560"/>
            <a:ext cx="3108960" cy="1600200"/>
          </a:xfrm>
          <a:prstGeom prst="rect">
            <a:avLst/>
          </a:prstGeom>
          <a:noFill/>
          <a:ln/>
        </p:spPr>
        <p:txBody>
          <a:bodyPr wrap="square" rtlCol="0" anchor="ctr"/>
          <a:lstStyle/>
          <a:p>
            <a:pPr marL="0" indent="0">
              <a:lnSpc>
                <a:spcPts val="1500"/>
              </a:lnSpc>
              <a:buNone/>
            </a:pPr>
            <a:r>
              <a:rPr lang="en-US" sz="1400" i="1" dirty="0">
                <a:solidFill>
                  <a:srgbClr val="FFFFFF"/>
                </a:solidFill>
                <a:latin typeface="Calibri" pitchFamily="34" charset="0"/>
                <a:ea typeface="Calibri" pitchFamily="34" charset="-122"/>
                <a:cs typeface="Calibri" pitchFamily="34" charset="-120"/>
              </a:rPr>
              <a:t>"¿Estamos llegando con controles prenatales suficientes a las gestantes rurales?"</a:t>
            </a:r>
            <a:endParaRPr lang="en-US" sz="1400" dirty="0"/>
          </a:p>
        </p:txBody>
      </p:sp>
      <p:sp>
        <p:nvSpPr>
          <p:cNvPr id="27" name="Text 25"/>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28" name="Text 26"/>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La cadena de valor: dónde se ubica cada indicador</a:t>
            </a:r>
            <a:endParaRPr lang="en-US" sz="2600" dirty="0"/>
          </a:p>
        </p:txBody>
      </p:sp>
      <p:sp>
        <p:nvSpPr>
          <p:cNvPr id="3" name="Text 1"/>
          <p:cNvSpPr/>
          <p:nvPr/>
        </p:nvSpPr>
        <p:spPr>
          <a:xfrm>
            <a:off x="548640" y="914400"/>
            <a:ext cx="9144000" cy="36576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Metodología DNP · antes de redactar el indicador, ubique el eslabón</a:t>
            </a:r>
            <a:endParaRPr lang="en-US" sz="1300" dirty="0"/>
          </a:p>
        </p:txBody>
      </p:sp>
      <p:sp>
        <p:nvSpPr>
          <p:cNvPr id="4" name="Shape 2"/>
          <p:cNvSpPr/>
          <p:nvPr/>
        </p:nvSpPr>
        <p:spPr>
          <a:xfrm>
            <a:off x="502920" y="1737360"/>
            <a:ext cx="2084832" cy="2331720"/>
          </a:xfrm>
          <a:prstGeom prst="roundRect">
            <a:avLst>
              <a:gd name="adj" fmla="val 3947"/>
            </a:avLst>
          </a:prstGeom>
          <a:solidFill>
            <a:srgbClr val="EEF2FC"/>
          </a:solidFill>
          <a:ln w="12700">
            <a:solidFill>
              <a:srgbClr val="CADCFC"/>
            </a:solidFill>
            <a:prstDash val="solid"/>
          </a:ln>
        </p:spPr>
      </p:sp>
      <p:sp>
        <p:nvSpPr>
          <p:cNvPr id="5" name="Text 3"/>
          <p:cNvSpPr/>
          <p:nvPr/>
        </p:nvSpPr>
        <p:spPr>
          <a:xfrm>
            <a:off x="612648" y="1828800"/>
            <a:ext cx="45720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612648" y="2148840"/>
            <a:ext cx="1865376"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Insumos</a:t>
            </a:r>
            <a:endParaRPr lang="en-US" sz="1500" dirty="0"/>
          </a:p>
        </p:txBody>
      </p:sp>
      <p:sp>
        <p:nvSpPr>
          <p:cNvPr id="7" name="Text 5"/>
          <p:cNvSpPr/>
          <p:nvPr/>
        </p:nvSpPr>
        <p:spPr>
          <a:xfrm>
            <a:off x="612648" y="2560320"/>
            <a:ext cx="1865376" cy="594360"/>
          </a:xfrm>
          <a:prstGeom prst="rect">
            <a:avLst/>
          </a:prstGeom>
          <a:noFill/>
          <a:ln/>
        </p:spPr>
        <p:txBody>
          <a:bodyPr wrap="square" rtlCol="0" anchor="ctr"/>
          <a:lstStyle/>
          <a:p>
            <a:pPr marL="0" indent="0">
              <a:lnSpc>
                <a:spcPts val="1300"/>
              </a:lnSpc>
              <a:buNone/>
            </a:pPr>
            <a:r>
              <a:rPr lang="en-US" sz="1050" dirty="0">
                <a:solidFill>
                  <a:srgbClr val="20232B"/>
                </a:solidFill>
                <a:latin typeface="Calibri" pitchFamily="34" charset="0"/>
                <a:ea typeface="Calibri" pitchFamily="34" charset="-122"/>
                <a:cs typeface="Calibri" pitchFamily="34" charset="-120"/>
              </a:rPr>
              <a:t>Recursos disponibles</a:t>
            </a:r>
            <a:endParaRPr lang="en-US" sz="1050" dirty="0"/>
          </a:p>
        </p:txBody>
      </p:sp>
      <p:sp>
        <p:nvSpPr>
          <p:cNvPr id="8" name="Text 6"/>
          <p:cNvSpPr/>
          <p:nvPr/>
        </p:nvSpPr>
        <p:spPr>
          <a:xfrm>
            <a:off x="612648" y="3291840"/>
            <a:ext cx="1865376" cy="731520"/>
          </a:xfrm>
          <a:prstGeom prst="rect">
            <a:avLst/>
          </a:prstGeom>
          <a:noFill/>
          <a:ln/>
        </p:spPr>
        <p:txBody>
          <a:bodyPr wrap="square" rtlCol="0" anchor="ctr"/>
          <a:lstStyle/>
          <a:p>
            <a:pPr marL="0" indent="0">
              <a:lnSpc>
                <a:spcPts val="1200"/>
              </a:lnSpc>
              <a:buNone/>
            </a:pPr>
            <a:r>
              <a:rPr lang="en-US" sz="1000" i="1" dirty="0">
                <a:solidFill>
                  <a:srgbClr val="5B6472"/>
                </a:solidFill>
                <a:latin typeface="Calibri" pitchFamily="34" charset="0"/>
                <a:ea typeface="Calibri" pitchFamily="34" charset="-122"/>
                <a:cs typeface="Calibri" pitchFamily="34" charset="-120"/>
              </a:rPr>
              <a:t>Presupuesto ejecutado en dotación</a:t>
            </a:r>
            <a:endParaRPr lang="en-US" sz="1000" dirty="0"/>
          </a:p>
        </p:txBody>
      </p:sp>
      <p:sp>
        <p:nvSpPr>
          <p:cNvPr id="9" name="Text 7"/>
          <p:cNvSpPr/>
          <p:nvPr/>
        </p:nvSpPr>
        <p:spPr>
          <a:xfrm>
            <a:off x="2587752" y="2583180"/>
            <a:ext cx="155448" cy="64008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2724912" y="1737360"/>
            <a:ext cx="2084832" cy="2331720"/>
          </a:xfrm>
          <a:prstGeom prst="roundRect">
            <a:avLst>
              <a:gd name="adj" fmla="val 3947"/>
            </a:avLst>
          </a:prstGeom>
          <a:solidFill>
            <a:srgbClr val="EEF2FC"/>
          </a:solidFill>
          <a:ln w="12700">
            <a:solidFill>
              <a:srgbClr val="CADCFC"/>
            </a:solidFill>
            <a:prstDash val="solid"/>
          </a:ln>
        </p:spPr>
      </p:sp>
      <p:sp>
        <p:nvSpPr>
          <p:cNvPr id="11" name="Text 9"/>
          <p:cNvSpPr/>
          <p:nvPr/>
        </p:nvSpPr>
        <p:spPr>
          <a:xfrm>
            <a:off x="2834640" y="1828800"/>
            <a:ext cx="45720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2834640" y="2148840"/>
            <a:ext cx="1865376"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Actividades</a:t>
            </a:r>
            <a:endParaRPr lang="en-US" sz="1500" dirty="0"/>
          </a:p>
        </p:txBody>
      </p:sp>
      <p:sp>
        <p:nvSpPr>
          <p:cNvPr id="13" name="Text 11"/>
          <p:cNvSpPr/>
          <p:nvPr/>
        </p:nvSpPr>
        <p:spPr>
          <a:xfrm>
            <a:off x="2834640" y="2560320"/>
            <a:ext cx="1865376" cy="594360"/>
          </a:xfrm>
          <a:prstGeom prst="rect">
            <a:avLst/>
          </a:prstGeom>
          <a:noFill/>
          <a:ln/>
        </p:spPr>
        <p:txBody>
          <a:bodyPr wrap="square" rtlCol="0" anchor="ctr"/>
          <a:lstStyle/>
          <a:p>
            <a:pPr marL="0" indent="0">
              <a:lnSpc>
                <a:spcPts val="1300"/>
              </a:lnSpc>
              <a:buNone/>
            </a:pPr>
            <a:r>
              <a:rPr lang="en-US" sz="1050" dirty="0">
                <a:solidFill>
                  <a:srgbClr val="20232B"/>
                </a:solidFill>
                <a:latin typeface="Calibri" pitchFamily="34" charset="0"/>
                <a:ea typeface="Calibri" pitchFamily="34" charset="-122"/>
                <a:cs typeface="Calibri" pitchFamily="34" charset="-120"/>
              </a:rPr>
              <a:t>Procesos realizados</a:t>
            </a:r>
            <a:endParaRPr lang="en-US" sz="1050" dirty="0"/>
          </a:p>
        </p:txBody>
      </p:sp>
      <p:sp>
        <p:nvSpPr>
          <p:cNvPr id="14" name="Text 12"/>
          <p:cNvSpPr/>
          <p:nvPr/>
        </p:nvSpPr>
        <p:spPr>
          <a:xfrm>
            <a:off x="2834640" y="3291840"/>
            <a:ext cx="1865376" cy="731520"/>
          </a:xfrm>
          <a:prstGeom prst="rect">
            <a:avLst/>
          </a:prstGeom>
          <a:noFill/>
          <a:ln/>
        </p:spPr>
        <p:txBody>
          <a:bodyPr wrap="square" rtlCol="0" anchor="ctr"/>
          <a:lstStyle/>
          <a:p>
            <a:pPr marL="0" indent="0">
              <a:lnSpc>
                <a:spcPts val="1200"/>
              </a:lnSpc>
              <a:buNone/>
            </a:pPr>
            <a:r>
              <a:rPr lang="en-US" sz="1000" i="1" dirty="0">
                <a:solidFill>
                  <a:srgbClr val="5B6472"/>
                </a:solidFill>
                <a:latin typeface="Calibri" pitchFamily="34" charset="0"/>
                <a:ea typeface="Calibri" pitchFamily="34" charset="-122"/>
                <a:cs typeface="Calibri" pitchFamily="34" charset="-120"/>
              </a:rPr>
              <a:t>N.º de jornadas de control prenatal</a:t>
            </a:r>
            <a:endParaRPr lang="en-US" sz="1000" dirty="0"/>
          </a:p>
        </p:txBody>
      </p:sp>
      <p:sp>
        <p:nvSpPr>
          <p:cNvPr id="15" name="Text 13"/>
          <p:cNvSpPr/>
          <p:nvPr/>
        </p:nvSpPr>
        <p:spPr>
          <a:xfrm>
            <a:off x="4809744" y="2583180"/>
            <a:ext cx="155448" cy="64008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4946904" y="1737360"/>
            <a:ext cx="2084832" cy="2331720"/>
          </a:xfrm>
          <a:prstGeom prst="roundRect">
            <a:avLst>
              <a:gd name="adj" fmla="val 3947"/>
            </a:avLst>
          </a:prstGeom>
          <a:solidFill>
            <a:srgbClr val="EEF2FC"/>
          </a:solidFill>
          <a:ln w="12700">
            <a:solidFill>
              <a:srgbClr val="CADCFC"/>
            </a:solidFill>
            <a:prstDash val="solid"/>
          </a:ln>
        </p:spPr>
      </p:sp>
      <p:sp>
        <p:nvSpPr>
          <p:cNvPr id="17" name="Text 15"/>
          <p:cNvSpPr/>
          <p:nvPr/>
        </p:nvSpPr>
        <p:spPr>
          <a:xfrm>
            <a:off x="5056632" y="1828800"/>
            <a:ext cx="45720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5056632" y="2148840"/>
            <a:ext cx="1865376"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Productos</a:t>
            </a:r>
            <a:endParaRPr lang="en-US" sz="1500" dirty="0"/>
          </a:p>
        </p:txBody>
      </p:sp>
      <p:sp>
        <p:nvSpPr>
          <p:cNvPr id="19" name="Text 17"/>
          <p:cNvSpPr/>
          <p:nvPr/>
        </p:nvSpPr>
        <p:spPr>
          <a:xfrm>
            <a:off x="5056632" y="2560320"/>
            <a:ext cx="1865376" cy="594360"/>
          </a:xfrm>
          <a:prstGeom prst="rect">
            <a:avLst/>
          </a:prstGeom>
          <a:noFill/>
          <a:ln/>
        </p:spPr>
        <p:txBody>
          <a:bodyPr wrap="square" rtlCol="0" anchor="ctr"/>
          <a:lstStyle/>
          <a:p>
            <a:pPr marL="0" indent="0">
              <a:lnSpc>
                <a:spcPts val="1300"/>
              </a:lnSpc>
              <a:buNone/>
            </a:pPr>
            <a:r>
              <a:rPr lang="en-US" sz="1050" dirty="0">
                <a:solidFill>
                  <a:srgbClr val="20232B"/>
                </a:solidFill>
                <a:latin typeface="Calibri" pitchFamily="34" charset="0"/>
                <a:ea typeface="Calibri" pitchFamily="34" charset="-122"/>
                <a:cs typeface="Calibri" pitchFamily="34" charset="-120"/>
              </a:rPr>
              <a:t>Bienes/servicios entregados</a:t>
            </a:r>
            <a:endParaRPr lang="en-US" sz="1050" dirty="0"/>
          </a:p>
        </p:txBody>
      </p:sp>
      <p:sp>
        <p:nvSpPr>
          <p:cNvPr id="20" name="Text 18"/>
          <p:cNvSpPr/>
          <p:nvPr/>
        </p:nvSpPr>
        <p:spPr>
          <a:xfrm>
            <a:off x="5056632" y="3291840"/>
            <a:ext cx="1865376" cy="731520"/>
          </a:xfrm>
          <a:prstGeom prst="rect">
            <a:avLst/>
          </a:prstGeom>
          <a:noFill/>
          <a:ln/>
        </p:spPr>
        <p:txBody>
          <a:bodyPr wrap="square" rtlCol="0" anchor="ctr"/>
          <a:lstStyle/>
          <a:p>
            <a:pPr marL="0" indent="0">
              <a:lnSpc>
                <a:spcPts val="1200"/>
              </a:lnSpc>
              <a:buNone/>
            </a:pPr>
            <a:r>
              <a:rPr lang="en-US" sz="1000" i="1" dirty="0">
                <a:solidFill>
                  <a:srgbClr val="5B6472"/>
                </a:solidFill>
                <a:latin typeface="Calibri" pitchFamily="34" charset="0"/>
                <a:ea typeface="Calibri" pitchFamily="34" charset="-122"/>
                <a:cs typeface="Calibri" pitchFamily="34" charset="-120"/>
              </a:rPr>
              <a:t>N.º gestantes atendidas c/1+ control</a:t>
            </a:r>
            <a:endParaRPr lang="en-US" sz="1000" dirty="0"/>
          </a:p>
        </p:txBody>
      </p:sp>
      <p:sp>
        <p:nvSpPr>
          <p:cNvPr id="21" name="Text 19"/>
          <p:cNvSpPr/>
          <p:nvPr/>
        </p:nvSpPr>
        <p:spPr>
          <a:xfrm>
            <a:off x="7031736" y="2583180"/>
            <a:ext cx="155448" cy="64008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a:t>
            </a:r>
            <a:endParaRPr lang="en-US" sz="2600" dirty="0"/>
          </a:p>
        </p:txBody>
      </p:sp>
      <p:sp>
        <p:nvSpPr>
          <p:cNvPr id="22" name="Shape 20"/>
          <p:cNvSpPr/>
          <p:nvPr/>
        </p:nvSpPr>
        <p:spPr>
          <a:xfrm>
            <a:off x="7168896" y="1737360"/>
            <a:ext cx="2084832" cy="2331720"/>
          </a:xfrm>
          <a:prstGeom prst="roundRect">
            <a:avLst>
              <a:gd name="adj" fmla="val 3947"/>
            </a:avLst>
          </a:prstGeom>
          <a:solidFill>
            <a:srgbClr val="1E2761"/>
          </a:solidFill>
          <a:ln w="25400">
            <a:solidFill>
              <a:srgbClr val="B8860B"/>
            </a:solidFill>
            <a:prstDash val="solid"/>
          </a:ln>
        </p:spPr>
      </p:sp>
      <p:sp>
        <p:nvSpPr>
          <p:cNvPr id="23" name="Text 21"/>
          <p:cNvSpPr/>
          <p:nvPr/>
        </p:nvSpPr>
        <p:spPr>
          <a:xfrm>
            <a:off x="7278624" y="1828800"/>
            <a:ext cx="457200" cy="365760"/>
          </a:xfrm>
          <a:prstGeom prst="rect">
            <a:avLst/>
          </a:prstGeom>
          <a:noFill/>
          <a:ln/>
        </p:spPr>
        <p:txBody>
          <a:bodyPr wrap="square" rtlCol="0" anchor="ctr"/>
          <a:lstStyle/>
          <a:p>
            <a:pPr marL="0" indent="0">
              <a:buNone/>
            </a:pPr>
            <a:r>
              <a:rPr lang="en-US" sz="1600" b="1" dirty="0">
                <a:solidFill>
                  <a:srgbClr val="B8860B"/>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7278624" y="2148840"/>
            <a:ext cx="1865376"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Resultados</a:t>
            </a:r>
            <a:endParaRPr lang="en-US" sz="1500" dirty="0"/>
          </a:p>
        </p:txBody>
      </p:sp>
      <p:sp>
        <p:nvSpPr>
          <p:cNvPr id="25" name="Text 23"/>
          <p:cNvSpPr/>
          <p:nvPr/>
        </p:nvSpPr>
        <p:spPr>
          <a:xfrm>
            <a:off x="7278624" y="2560320"/>
            <a:ext cx="1865376" cy="594360"/>
          </a:xfrm>
          <a:prstGeom prst="rect">
            <a:avLst/>
          </a:prstGeom>
          <a:noFill/>
          <a:ln/>
        </p:spPr>
        <p:txBody>
          <a:bodyPr wrap="square" rtlCol="0" anchor="ctr"/>
          <a:lstStyle/>
          <a:p>
            <a:pPr marL="0" indent="0">
              <a:lnSpc>
                <a:spcPts val="1300"/>
              </a:lnSpc>
              <a:buNone/>
            </a:pPr>
            <a:r>
              <a:rPr lang="en-US" sz="1050" dirty="0">
                <a:solidFill>
                  <a:srgbClr val="CADCFC"/>
                </a:solidFill>
                <a:latin typeface="Calibri" pitchFamily="34" charset="0"/>
                <a:ea typeface="Calibri" pitchFamily="34" charset="-122"/>
                <a:cs typeface="Calibri" pitchFamily="34" charset="-120"/>
              </a:rPr>
              <a:t>Cambios en la población</a:t>
            </a:r>
            <a:endParaRPr lang="en-US" sz="1050" dirty="0"/>
          </a:p>
        </p:txBody>
      </p:sp>
      <p:sp>
        <p:nvSpPr>
          <p:cNvPr id="26" name="Text 24"/>
          <p:cNvSpPr/>
          <p:nvPr/>
        </p:nvSpPr>
        <p:spPr>
          <a:xfrm>
            <a:off x="7278624" y="3291840"/>
            <a:ext cx="1865376" cy="731520"/>
          </a:xfrm>
          <a:prstGeom prst="rect">
            <a:avLst/>
          </a:prstGeom>
          <a:noFill/>
          <a:ln/>
        </p:spPr>
        <p:txBody>
          <a:bodyPr wrap="square" rtlCol="0" anchor="ctr"/>
          <a:lstStyle/>
          <a:p>
            <a:pPr marL="0" indent="0">
              <a:lnSpc>
                <a:spcPts val="1200"/>
              </a:lnSpc>
              <a:buNone/>
            </a:pPr>
            <a:r>
              <a:rPr lang="en-US" sz="1000" i="1" dirty="0">
                <a:solidFill>
                  <a:srgbClr val="FFFFFF"/>
                </a:solidFill>
                <a:latin typeface="Calibri" pitchFamily="34" charset="0"/>
                <a:ea typeface="Calibri" pitchFamily="34" charset="-122"/>
                <a:cs typeface="Calibri" pitchFamily="34" charset="-120"/>
              </a:rPr>
              <a:t>% gestantes con 4+ controles</a:t>
            </a:r>
            <a:endParaRPr lang="en-US" sz="1000" dirty="0"/>
          </a:p>
        </p:txBody>
      </p:sp>
      <p:sp>
        <p:nvSpPr>
          <p:cNvPr id="27" name="Text 25"/>
          <p:cNvSpPr/>
          <p:nvPr/>
        </p:nvSpPr>
        <p:spPr>
          <a:xfrm>
            <a:off x="9253728" y="2583180"/>
            <a:ext cx="155448" cy="640080"/>
          </a:xfrm>
          <a:prstGeom prst="rect">
            <a:avLst/>
          </a:prstGeom>
          <a:noFill/>
          <a:ln/>
        </p:spPr>
        <p:txBody>
          <a:bodyPr wrap="square" rtlCol="0" anchor="ctr"/>
          <a:lstStyle/>
          <a:p>
            <a:pPr marL="0" indent="0" algn="ctr">
              <a:buNone/>
            </a:pPr>
            <a:r>
              <a:rPr lang="en-US" sz="2600" b="1" dirty="0">
                <a:solidFill>
                  <a:srgbClr val="B8860B"/>
                </a:solidFill>
                <a:latin typeface="Calibri" pitchFamily="34" charset="0"/>
                <a:ea typeface="Calibri" pitchFamily="34" charset="-122"/>
                <a:cs typeface="Calibri" pitchFamily="34" charset="-120"/>
              </a:rPr>
              <a:t>›</a:t>
            </a:r>
            <a:endParaRPr lang="en-US" sz="2600" dirty="0"/>
          </a:p>
        </p:txBody>
      </p:sp>
      <p:sp>
        <p:nvSpPr>
          <p:cNvPr id="28" name="Shape 26"/>
          <p:cNvSpPr/>
          <p:nvPr/>
        </p:nvSpPr>
        <p:spPr>
          <a:xfrm>
            <a:off x="9390888" y="1737360"/>
            <a:ext cx="2084832" cy="2331720"/>
          </a:xfrm>
          <a:prstGeom prst="roundRect">
            <a:avLst>
              <a:gd name="adj" fmla="val 3947"/>
            </a:avLst>
          </a:prstGeom>
          <a:solidFill>
            <a:srgbClr val="EEF2FC"/>
          </a:solidFill>
          <a:ln w="12700">
            <a:solidFill>
              <a:srgbClr val="CADCFC"/>
            </a:solidFill>
            <a:prstDash val="solid"/>
          </a:ln>
        </p:spPr>
      </p:sp>
      <p:sp>
        <p:nvSpPr>
          <p:cNvPr id="29" name="Text 27"/>
          <p:cNvSpPr/>
          <p:nvPr/>
        </p:nvSpPr>
        <p:spPr>
          <a:xfrm>
            <a:off x="9500616" y="1828800"/>
            <a:ext cx="45720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5</a:t>
            </a:r>
            <a:endParaRPr lang="en-US" sz="1600" dirty="0"/>
          </a:p>
        </p:txBody>
      </p:sp>
      <p:sp>
        <p:nvSpPr>
          <p:cNvPr id="30" name="Text 28"/>
          <p:cNvSpPr/>
          <p:nvPr/>
        </p:nvSpPr>
        <p:spPr>
          <a:xfrm>
            <a:off x="9500616" y="2148840"/>
            <a:ext cx="1865376"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Impactos</a:t>
            </a:r>
            <a:endParaRPr lang="en-US" sz="1500" dirty="0"/>
          </a:p>
        </p:txBody>
      </p:sp>
      <p:sp>
        <p:nvSpPr>
          <p:cNvPr id="31" name="Text 29"/>
          <p:cNvSpPr/>
          <p:nvPr/>
        </p:nvSpPr>
        <p:spPr>
          <a:xfrm>
            <a:off x="9500616" y="2560320"/>
            <a:ext cx="1865376" cy="594360"/>
          </a:xfrm>
          <a:prstGeom prst="rect">
            <a:avLst/>
          </a:prstGeom>
          <a:noFill/>
          <a:ln/>
        </p:spPr>
        <p:txBody>
          <a:bodyPr wrap="square" rtlCol="0" anchor="ctr"/>
          <a:lstStyle/>
          <a:p>
            <a:pPr marL="0" indent="0">
              <a:lnSpc>
                <a:spcPts val="1300"/>
              </a:lnSpc>
              <a:buNone/>
            </a:pPr>
            <a:r>
              <a:rPr lang="en-US" sz="1050" dirty="0">
                <a:solidFill>
                  <a:srgbClr val="20232B"/>
                </a:solidFill>
                <a:latin typeface="Calibri" pitchFamily="34" charset="0"/>
                <a:ea typeface="Calibri" pitchFamily="34" charset="-122"/>
                <a:cs typeface="Calibri" pitchFamily="34" charset="-120"/>
              </a:rPr>
              <a:t>Cambios estructurales</a:t>
            </a:r>
            <a:endParaRPr lang="en-US" sz="1050" dirty="0"/>
          </a:p>
        </p:txBody>
      </p:sp>
      <p:sp>
        <p:nvSpPr>
          <p:cNvPr id="32" name="Text 30"/>
          <p:cNvSpPr/>
          <p:nvPr/>
        </p:nvSpPr>
        <p:spPr>
          <a:xfrm>
            <a:off x="9500616" y="3291840"/>
            <a:ext cx="1865376" cy="731520"/>
          </a:xfrm>
          <a:prstGeom prst="rect">
            <a:avLst/>
          </a:prstGeom>
          <a:noFill/>
          <a:ln/>
        </p:spPr>
        <p:txBody>
          <a:bodyPr wrap="square" rtlCol="0" anchor="ctr"/>
          <a:lstStyle/>
          <a:p>
            <a:pPr marL="0" indent="0">
              <a:lnSpc>
                <a:spcPts val="1200"/>
              </a:lnSpc>
              <a:buNone/>
            </a:pPr>
            <a:r>
              <a:rPr lang="en-US" sz="1000" i="1" dirty="0">
                <a:solidFill>
                  <a:srgbClr val="5B6472"/>
                </a:solidFill>
                <a:latin typeface="Calibri" pitchFamily="34" charset="0"/>
                <a:ea typeface="Calibri" pitchFamily="34" charset="-122"/>
                <a:cs typeface="Calibri" pitchFamily="34" charset="-120"/>
              </a:rPr>
              <a:t>Razón de mortalidad materna</a:t>
            </a:r>
            <a:endParaRPr lang="en-US" sz="1000" dirty="0"/>
          </a:p>
        </p:txBody>
      </p:sp>
      <p:sp>
        <p:nvSpPr>
          <p:cNvPr id="33" name="Shape 31"/>
          <p:cNvSpPr/>
          <p:nvPr/>
        </p:nvSpPr>
        <p:spPr>
          <a:xfrm>
            <a:off x="502920" y="4343400"/>
            <a:ext cx="11155680" cy="1691640"/>
          </a:xfrm>
          <a:prstGeom prst="roundRect">
            <a:avLst>
              <a:gd name="adj" fmla="val 4324"/>
            </a:avLst>
          </a:prstGeom>
          <a:solidFill>
            <a:srgbClr val="EEF2FC"/>
          </a:solidFill>
          <a:ln w="12700">
            <a:solidFill>
              <a:srgbClr val="CADCFC"/>
            </a:solidFill>
            <a:prstDash val="solid"/>
          </a:ln>
        </p:spPr>
      </p:sp>
      <p:sp>
        <p:nvSpPr>
          <p:cNvPr id="34" name="Text 32"/>
          <p:cNvSpPr/>
          <p:nvPr/>
        </p:nvSpPr>
        <p:spPr>
          <a:xfrm>
            <a:off x="777240" y="4526280"/>
            <a:ext cx="10607040" cy="1325880"/>
          </a:xfrm>
          <a:prstGeom prst="rect">
            <a:avLst/>
          </a:prstGeom>
          <a:noFill/>
          <a:ln/>
        </p:spPr>
        <p:txBody>
          <a:bodyPr wrap="square" rtlCol="0" anchor="ctr"/>
          <a:lstStyle/>
          <a:p>
            <a:pPr marL="0" indent="0">
              <a:lnSpc>
                <a:spcPts val="1800"/>
              </a:lnSpc>
              <a:buNone/>
            </a:pPr>
            <a:r>
              <a:rPr lang="en-US" sz="1350" b="1" dirty="0">
                <a:solidFill>
                  <a:srgbClr val="1E2761"/>
                </a:solidFill>
                <a:latin typeface="Calibri" pitchFamily="34" charset="0"/>
                <a:ea typeface="Calibri" pitchFamily="34" charset="-122"/>
                <a:cs typeface="Calibri" pitchFamily="34" charset="-120"/>
              </a:rPr>
              <a:t>Ejemplo del taller: </a:t>
            </a:r>
            <a:r>
              <a:rPr lang="en-US" sz="1350" dirty="0">
                <a:solidFill>
                  <a:srgbClr val="20232B"/>
                </a:solidFill>
                <a:latin typeface="Calibri" pitchFamily="34" charset="0"/>
                <a:ea typeface="Calibri" pitchFamily="34" charset="-122"/>
                <a:cs typeface="Calibri" pitchFamily="34" charset="-120"/>
              </a:rPr>
              <a:t>el caso guía "controles prenatales rurales" se ubica en el eslabón de RESULTADOS, no de productos — mide un cambio de acceso en la población gestante, no solo cuántas fueron atendidas una vez.</a:t>
            </a:r>
            <a:endParaRPr lang="en-US" sz="1350" dirty="0"/>
          </a:p>
        </p:txBody>
      </p:sp>
      <p:sp>
        <p:nvSpPr>
          <p:cNvPr id="35" name="Text 33"/>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36" name="Text 34"/>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Criterios de calidad: SMART + CREMA</a:t>
            </a:r>
            <a:endParaRPr lang="en-US" sz="2800" dirty="0"/>
          </a:p>
        </p:txBody>
      </p:sp>
      <p:sp>
        <p:nvSpPr>
          <p:cNvPr id="3" name="Text 1"/>
          <p:cNvSpPr/>
          <p:nvPr/>
        </p:nvSpPr>
        <p:spPr>
          <a:xfrm>
            <a:off x="548640" y="932688"/>
            <a:ext cx="9144000" cy="36576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SMART valida el objetivo; CREMA valida el indicador que lo mide</a:t>
            </a:r>
            <a:endParaRPr lang="en-US" sz="1300" dirty="0"/>
          </a:p>
        </p:txBody>
      </p:sp>
      <p:sp>
        <p:nvSpPr>
          <p:cNvPr id="4" name="Shape 2"/>
          <p:cNvSpPr/>
          <p:nvPr/>
        </p:nvSpPr>
        <p:spPr>
          <a:xfrm>
            <a:off x="548640" y="1463040"/>
            <a:ext cx="5440680" cy="4846320"/>
          </a:xfrm>
          <a:prstGeom prst="roundRect">
            <a:avLst>
              <a:gd name="adj" fmla="val 1509"/>
            </a:avLst>
          </a:prstGeom>
          <a:solidFill>
            <a:srgbClr val="1E2761"/>
          </a:solidFill>
          <a:ln/>
          <a:effectLst>
            <a:outerShdw blurRad="76200" dist="25400" dir="5400000" algn="bl" rotWithShape="0">
              <a:srgbClr val="3A3F55">
                <a:alpha val="18000"/>
              </a:srgbClr>
            </a:outerShdw>
          </a:effectLst>
        </p:spPr>
      </p:sp>
      <p:sp>
        <p:nvSpPr>
          <p:cNvPr id="5" name="Text 3"/>
          <p:cNvSpPr/>
          <p:nvPr/>
        </p:nvSpPr>
        <p:spPr>
          <a:xfrm>
            <a:off x="822960" y="1645920"/>
            <a:ext cx="3657600" cy="457200"/>
          </a:xfrm>
          <a:prstGeom prst="rect">
            <a:avLst/>
          </a:prstGeom>
          <a:noFill/>
          <a:ln/>
        </p:spPr>
        <p:txBody>
          <a:bodyPr wrap="square" rtlCol="0" anchor="ctr"/>
          <a:lstStyle/>
          <a:p>
            <a:pPr marL="0" indent="0">
              <a:buNone/>
            </a:pPr>
            <a:r>
              <a:rPr lang="en-US" sz="2000" b="1" dirty="0">
                <a:solidFill>
                  <a:srgbClr val="B8860B"/>
                </a:solidFill>
                <a:latin typeface="Cambria" pitchFamily="34" charset="0"/>
                <a:ea typeface="Cambria" pitchFamily="34" charset="-122"/>
                <a:cs typeface="Cambria" pitchFamily="34" charset="-120"/>
              </a:rPr>
              <a:t>SMART</a:t>
            </a:r>
            <a:endParaRPr lang="en-US" sz="2000" dirty="0"/>
          </a:p>
        </p:txBody>
      </p:sp>
      <p:sp>
        <p:nvSpPr>
          <p:cNvPr id="6" name="Shape 4"/>
          <p:cNvSpPr/>
          <p:nvPr/>
        </p:nvSpPr>
        <p:spPr>
          <a:xfrm>
            <a:off x="822960" y="2240280"/>
            <a:ext cx="548640" cy="548640"/>
          </a:xfrm>
          <a:prstGeom prst="ellipse">
            <a:avLst/>
          </a:prstGeom>
          <a:solidFill>
            <a:srgbClr val="B8860B"/>
          </a:solidFill>
          <a:ln/>
        </p:spPr>
      </p:sp>
      <p:sp>
        <p:nvSpPr>
          <p:cNvPr id="7" name="Text 5"/>
          <p:cNvSpPr/>
          <p:nvPr/>
        </p:nvSpPr>
        <p:spPr>
          <a:xfrm>
            <a:off x="822960" y="2240280"/>
            <a:ext cx="548640" cy="548640"/>
          </a:xfrm>
          <a:prstGeom prst="rect">
            <a:avLst/>
          </a:prstGeom>
          <a:noFill/>
          <a:ln/>
        </p:spPr>
        <p:txBody>
          <a:bodyPr wrap="square" rtlCol="0" anchor="ctr"/>
          <a:lstStyle/>
          <a:p>
            <a:pPr marL="0" indent="0" algn="ctr">
              <a:buNone/>
            </a:pPr>
            <a:r>
              <a:rPr lang="en-US" sz="1560" b="1" dirty="0">
                <a:solidFill>
                  <a:srgbClr val="12173F"/>
                </a:solidFill>
                <a:latin typeface="Calibri" pitchFamily="34" charset="0"/>
                <a:ea typeface="Calibri" pitchFamily="34" charset="-122"/>
                <a:cs typeface="Calibri" pitchFamily="34" charset="-120"/>
              </a:rPr>
              <a:t>S</a:t>
            </a:r>
            <a:endParaRPr lang="en-US" sz="1560" dirty="0"/>
          </a:p>
        </p:txBody>
      </p:sp>
      <p:sp>
        <p:nvSpPr>
          <p:cNvPr id="8" name="Text 6"/>
          <p:cNvSpPr/>
          <p:nvPr/>
        </p:nvSpPr>
        <p:spPr>
          <a:xfrm>
            <a:off x="1554480" y="2221992"/>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Specific</a:t>
            </a:r>
            <a:endParaRPr lang="en-US" sz="1400" dirty="0"/>
          </a:p>
        </p:txBody>
      </p:sp>
      <p:sp>
        <p:nvSpPr>
          <p:cNvPr id="9" name="Text 7"/>
          <p:cNvSpPr/>
          <p:nvPr/>
        </p:nvSpPr>
        <p:spPr>
          <a:xfrm>
            <a:off x="1554480" y="2532888"/>
            <a:ext cx="4206240" cy="32004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Específico</a:t>
            </a:r>
            <a:endParaRPr lang="en-US" sz="1150" dirty="0"/>
          </a:p>
        </p:txBody>
      </p:sp>
      <p:sp>
        <p:nvSpPr>
          <p:cNvPr id="10" name="Shape 8"/>
          <p:cNvSpPr/>
          <p:nvPr/>
        </p:nvSpPr>
        <p:spPr>
          <a:xfrm>
            <a:off x="822960" y="3035808"/>
            <a:ext cx="548640" cy="548640"/>
          </a:xfrm>
          <a:prstGeom prst="ellipse">
            <a:avLst/>
          </a:prstGeom>
          <a:solidFill>
            <a:srgbClr val="B8860B"/>
          </a:solidFill>
          <a:ln/>
        </p:spPr>
      </p:sp>
      <p:sp>
        <p:nvSpPr>
          <p:cNvPr id="11" name="Text 9"/>
          <p:cNvSpPr/>
          <p:nvPr/>
        </p:nvSpPr>
        <p:spPr>
          <a:xfrm>
            <a:off x="822960" y="3035808"/>
            <a:ext cx="548640" cy="548640"/>
          </a:xfrm>
          <a:prstGeom prst="rect">
            <a:avLst/>
          </a:prstGeom>
          <a:noFill/>
          <a:ln/>
        </p:spPr>
        <p:txBody>
          <a:bodyPr wrap="square" rtlCol="0" anchor="ctr"/>
          <a:lstStyle/>
          <a:p>
            <a:pPr marL="0" indent="0" algn="ctr">
              <a:buNone/>
            </a:pPr>
            <a:r>
              <a:rPr lang="en-US" sz="1560" b="1" dirty="0">
                <a:solidFill>
                  <a:srgbClr val="12173F"/>
                </a:solidFill>
                <a:latin typeface="Calibri" pitchFamily="34" charset="0"/>
                <a:ea typeface="Calibri" pitchFamily="34" charset="-122"/>
                <a:cs typeface="Calibri" pitchFamily="34" charset="-120"/>
              </a:rPr>
              <a:t>M</a:t>
            </a:r>
            <a:endParaRPr lang="en-US" sz="1560" dirty="0"/>
          </a:p>
        </p:txBody>
      </p:sp>
      <p:sp>
        <p:nvSpPr>
          <p:cNvPr id="12" name="Text 10"/>
          <p:cNvSpPr/>
          <p:nvPr/>
        </p:nvSpPr>
        <p:spPr>
          <a:xfrm>
            <a:off x="1554480" y="3017520"/>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Measurable</a:t>
            </a:r>
            <a:endParaRPr lang="en-US" sz="1400" dirty="0"/>
          </a:p>
        </p:txBody>
      </p:sp>
      <p:sp>
        <p:nvSpPr>
          <p:cNvPr id="13" name="Text 11"/>
          <p:cNvSpPr/>
          <p:nvPr/>
        </p:nvSpPr>
        <p:spPr>
          <a:xfrm>
            <a:off x="1554480" y="3328416"/>
            <a:ext cx="4206240" cy="32004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Medible</a:t>
            </a:r>
            <a:endParaRPr lang="en-US" sz="1150" dirty="0"/>
          </a:p>
        </p:txBody>
      </p:sp>
      <p:sp>
        <p:nvSpPr>
          <p:cNvPr id="14" name="Shape 12"/>
          <p:cNvSpPr/>
          <p:nvPr/>
        </p:nvSpPr>
        <p:spPr>
          <a:xfrm>
            <a:off x="822960" y="3831336"/>
            <a:ext cx="548640" cy="548640"/>
          </a:xfrm>
          <a:prstGeom prst="ellipse">
            <a:avLst/>
          </a:prstGeom>
          <a:solidFill>
            <a:srgbClr val="B8860B"/>
          </a:solidFill>
          <a:ln/>
        </p:spPr>
      </p:sp>
      <p:sp>
        <p:nvSpPr>
          <p:cNvPr id="15" name="Text 13"/>
          <p:cNvSpPr/>
          <p:nvPr/>
        </p:nvSpPr>
        <p:spPr>
          <a:xfrm>
            <a:off x="822960" y="3831336"/>
            <a:ext cx="548640" cy="548640"/>
          </a:xfrm>
          <a:prstGeom prst="rect">
            <a:avLst/>
          </a:prstGeom>
          <a:noFill/>
          <a:ln/>
        </p:spPr>
        <p:txBody>
          <a:bodyPr wrap="square" rtlCol="0" anchor="ctr"/>
          <a:lstStyle/>
          <a:p>
            <a:pPr marL="0" indent="0" algn="ctr">
              <a:buNone/>
            </a:pPr>
            <a:r>
              <a:rPr lang="en-US" sz="1560" b="1" dirty="0">
                <a:solidFill>
                  <a:srgbClr val="12173F"/>
                </a:solidFill>
                <a:latin typeface="Calibri" pitchFamily="34" charset="0"/>
                <a:ea typeface="Calibri" pitchFamily="34" charset="-122"/>
                <a:cs typeface="Calibri" pitchFamily="34" charset="-120"/>
              </a:rPr>
              <a:t>A</a:t>
            </a:r>
            <a:endParaRPr lang="en-US" sz="1560" dirty="0"/>
          </a:p>
        </p:txBody>
      </p:sp>
      <p:sp>
        <p:nvSpPr>
          <p:cNvPr id="16" name="Text 14"/>
          <p:cNvSpPr/>
          <p:nvPr/>
        </p:nvSpPr>
        <p:spPr>
          <a:xfrm>
            <a:off x="1554480" y="3813048"/>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Achievable</a:t>
            </a:r>
            <a:endParaRPr lang="en-US" sz="1400" dirty="0"/>
          </a:p>
        </p:txBody>
      </p:sp>
      <p:sp>
        <p:nvSpPr>
          <p:cNvPr id="17" name="Text 15"/>
          <p:cNvSpPr/>
          <p:nvPr/>
        </p:nvSpPr>
        <p:spPr>
          <a:xfrm>
            <a:off x="1554480" y="4123944"/>
            <a:ext cx="4206240" cy="32004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Realizable</a:t>
            </a:r>
            <a:endParaRPr lang="en-US" sz="1150" dirty="0"/>
          </a:p>
        </p:txBody>
      </p:sp>
      <p:sp>
        <p:nvSpPr>
          <p:cNvPr id="18" name="Shape 16"/>
          <p:cNvSpPr/>
          <p:nvPr/>
        </p:nvSpPr>
        <p:spPr>
          <a:xfrm>
            <a:off x="822960" y="4626864"/>
            <a:ext cx="548640" cy="548640"/>
          </a:xfrm>
          <a:prstGeom prst="ellipse">
            <a:avLst/>
          </a:prstGeom>
          <a:solidFill>
            <a:srgbClr val="B8860B"/>
          </a:solidFill>
          <a:ln/>
        </p:spPr>
      </p:sp>
      <p:sp>
        <p:nvSpPr>
          <p:cNvPr id="19" name="Text 17"/>
          <p:cNvSpPr/>
          <p:nvPr/>
        </p:nvSpPr>
        <p:spPr>
          <a:xfrm>
            <a:off x="822960" y="4626864"/>
            <a:ext cx="548640" cy="548640"/>
          </a:xfrm>
          <a:prstGeom prst="rect">
            <a:avLst/>
          </a:prstGeom>
          <a:noFill/>
          <a:ln/>
        </p:spPr>
        <p:txBody>
          <a:bodyPr wrap="square" rtlCol="0" anchor="ctr"/>
          <a:lstStyle/>
          <a:p>
            <a:pPr marL="0" indent="0" algn="ctr">
              <a:buNone/>
            </a:pPr>
            <a:r>
              <a:rPr lang="en-US" sz="1560" b="1" dirty="0">
                <a:solidFill>
                  <a:srgbClr val="12173F"/>
                </a:solidFill>
                <a:latin typeface="Calibri" pitchFamily="34" charset="0"/>
                <a:ea typeface="Calibri" pitchFamily="34" charset="-122"/>
                <a:cs typeface="Calibri" pitchFamily="34" charset="-120"/>
              </a:rPr>
              <a:t>R</a:t>
            </a:r>
            <a:endParaRPr lang="en-US" sz="1560" dirty="0"/>
          </a:p>
        </p:txBody>
      </p:sp>
      <p:sp>
        <p:nvSpPr>
          <p:cNvPr id="20" name="Text 18"/>
          <p:cNvSpPr/>
          <p:nvPr/>
        </p:nvSpPr>
        <p:spPr>
          <a:xfrm>
            <a:off x="1554480" y="4608576"/>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Realistic</a:t>
            </a:r>
            <a:endParaRPr lang="en-US" sz="1400" dirty="0"/>
          </a:p>
        </p:txBody>
      </p:sp>
      <p:sp>
        <p:nvSpPr>
          <p:cNvPr id="21" name="Text 19"/>
          <p:cNvSpPr/>
          <p:nvPr/>
        </p:nvSpPr>
        <p:spPr>
          <a:xfrm>
            <a:off x="1554480" y="4919472"/>
            <a:ext cx="4206240" cy="32004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Realista</a:t>
            </a:r>
            <a:endParaRPr lang="en-US" sz="1150" dirty="0"/>
          </a:p>
        </p:txBody>
      </p:sp>
      <p:sp>
        <p:nvSpPr>
          <p:cNvPr id="22" name="Shape 20"/>
          <p:cNvSpPr/>
          <p:nvPr/>
        </p:nvSpPr>
        <p:spPr>
          <a:xfrm>
            <a:off x="822960" y="5422392"/>
            <a:ext cx="548640" cy="548640"/>
          </a:xfrm>
          <a:prstGeom prst="ellipse">
            <a:avLst/>
          </a:prstGeom>
          <a:solidFill>
            <a:srgbClr val="B8860B"/>
          </a:solidFill>
          <a:ln/>
        </p:spPr>
      </p:sp>
      <p:sp>
        <p:nvSpPr>
          <p:cNvPr id="23" name="Text 21"/>
          <p:cNvSpPr/>
          <p:nvPr/>
        </p:nvSpPr>
        <p:spPr>
          <a:xfrm>
            <a:off x="822960" y="5422392"/>
            <a:ext cx="548640" cy="548640"/>
          </a:xfrm>
          <a:prstGeom prst="rect">
            <a:avLst/>
          </a:prstGeom>
          <a:noFill/>
          <a:ln/>
        </p:spPr>
        <p:txBody>
          <a:bodyPr wrap="square" rtlCol="0" anchor="ctr"/>
          <a:lstStyle/>
          <a:p>
            <a:pPr marL="0" indent="0" algn="ctr">
              <a:buNone/>
            </a:pPr>
            <a:r>
              <a:rPr lang="en-US" sz="1560" b="1" dirty="0">
                <a:solidFill>
                  <a:srgbClr val="12173F"/>
                </a:solidFill>
                <a:latin typeface="Calibri" pitchFamily="34" charset="0"/>
                <a:ea typeface="Calibri" pitchFamily="34" charset="-122"/>
                <a:cs typeface="Calibri" pitchFamily="34" charset="-120"/>
              </a:rPr>
              <a:t>T</a:t>
            </a:r>
            <a:endParaRPr lang="en-US" sz="1560" dirty="0"/>
          </a:p>
        </p:txBody>
      </p:sp>
      <p:sp>
        <p:nvSpPr>
          <p:cNvPr id="24" name="Text 22"/>
          <p:cNvSpPr/>
          <p:nvPr/>
        </p:nvSpPr>
        <p:spPr>
          <a:xfrm>
            <a:off x="1554480" y="5404104"/>
            <a:ext cx="192024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Time-bound</a:t>
            </a:r>
            <a:endParaRPr lang="en-US" sz="1400" dirty="0"/>
          </a:p>
        </p:txBody>
      </p:sp>
      <p:sp>
        <p:nvSpPr>
          <p:cNvPr id="25" name="Text 23"/>
          <p:cNvSpPr/>
          <p:nvPr/>
        </p:nvSpPr>
        <p:spPr>
          <a:xfrm>
            <a:off x="1554480" y="5715000"/>
            <a:ext cx="4206240" cy="32004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Limitado en el tiempo</a:t>
            </a:r>
            <a:endParaRPr lang="en-US" sz="1150" dirty="0"/>
          </a:p>
        </p:txBody>
      </p:sp>
      <p:sp>
        <p:nvSpPr>
          <p:cNvPr id="26" name="Shape 24"/>
          <p:cNvSpPr/>
          <p:nvPr/>
        </p:nvSpPr>
        <p:spPr>
          <a:xfrm>
            <a:off x="6199632" y="1463040"/>
            <a:ext cx="5440680" cy="4846320"/>
          </a:xfrm>
          <a:prstGeom prst="roundRect">
            <a:avLst>
              <a:gd name="adj" fmla="val 1509"/>
            </a:avLst>
          </a:prstGeom>
          <a:solidFill>
            <a:srgbClr val="EEF2FC"/>
          </a:solidFill>
          <a:ln/>
          <a:effectLst>
            <a:outerShdw blurRad="76200" dist="25400" dir="5400000" algn="bl" rotWithShape="0">
              <a:srgbClr val="3A3F55">
                <a:alpha val="18000"/>
              </a:srgbClr>
            </a:outerShdw>
          </a:effectLst>
        </p:spPr>
      </p:sp>
      <p:sp>
        <p:nvSpPr>
          <p:cNvPr id="27" name="Text 25"/>
          <p:cNvSpPr/>
          <p:nvPr/>
        </p:nvSpPr>
        <p:spPr>
          <a:xfrm>
            <a:off x="6473952" y="1645920"/>
            <a:ext cx="3657600" cy="457200"/>
          </a:xfrm>
          <a:prstGeom prst="rect">
            <a:avLst/>
          </a:prstGeom>
          <a:noFill/>
          <a:ln/>
        </p:spPr>
        <p:txBody>
          <a:bodyPr wrap="square"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CREMA</a:t>
            </a:r>
            <a:endParaRPr lang="en-US" sz="2000" dirty="0"/>
          </a:p>
        </p:txBody>
      </p:sp>
      <p:sp>
        <p:nvSpPr>
          <p:cNvPr id="28" name="Shape 26"/>
          <p:cNvSpPr/>
          <p:nvPr/>
        </p:nvSpPr>
        <p:spPr>
          <a:xfrm>
            <a:off x="6473952" y="2240280"/>
            <a:ext cx="548640" cy="548640"/>
          </a:xfrm>
          <a:prstGeom prst="ellipse">
            <a:avLst/>
          </a:prstGeom>
          <a:solidFill>
            <a:srgbClr val="1E2761"/>
          </a:solidFill>
          <a:ln/>
        </p:spPr>
      </p:sp>
      <p:sp>
        <p:nvSpPr>
          <p:cNvPr id="29" name="Text 27"/>
          <p:cNvSpPr/>
          <p:nvPr/>
        </p:nvSpPr>
        <p:spPr>
          <a:xfrm>
            <a:off x="6473952" y="2240280"/>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C</a:t>
            </a:r>
            <a:endParaRPr lang="en-US" sz="1560" dirty="0"/>
          </a:p>
        </p:txBody>
      </p:sp>
      <p:sp>
        <p:nvSpPr>
          <p:cNvPr id="30" name="Text 28"/>
          <p:cNvSpPr/>
          <p:nvPr/>
        </p:nvSpPr>
        <p:spPr>
          <a:xfrm>
            <a:off x="7205472" y="2221992"/>
            <a:ext cx="1920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Claro</a:t>
            </a:r>
            <a:endParaRPr lang="en-US" sz="1400" dirty="0"/>
          </a:p>
        </p:txBody>
      </p:sp>
      <p:sp>
        <p:nvSpPr>
          <p:cNvPr id="31" name="Text 29"/>
          <p:cNvSpPr/>
          <p:nvPr/>
        </p:nvSpPr>
        <p:spPr>
          <a:xfrm>
            <a:off x="7205472" y="2532888"/>
            <a:ext cx="4297680" cy="457200"/>
          </a:xfrm>
          <a:prstGeom prst="rect">
            <a:avLst/>
          </a:prstGeom>
          <a:noFill/>
          <a:ln/>
        </p:spPr>
        <p:txBody>
          <a:bodyPr wrap="square" rtlCol="0" anchor="ctr"/>
          <a:lstStyle/>
          <a:p>
            <a:pPr marL="0" indent="0">
              <a:lnSpc>
                <a:spcPts val="1300"/>
              </a:lnSpc>
              <a:buNone/>
            </a:pPr>
            <a:r>
              <a:rPr lang="en-US" sz="1100" dirty="0">
                <a:solidFill>
                  <a:srgbClr val="20232B"/>
                </a:solidFill>
                <a:latin typeface="Calibri" pitchFamily="34" charset="0"/>
                <a:ea typeface="Calibri" pitchFamily="34" charset="-122"/>
                <a:cs typeface="Calibri" pitchFamily="34" charset="-120"/>
              </a:rPr>
              <a:t>Preciso, sin ambigüedad, fácil de interpretar</a:t>
            </a:r>
            <a:endParaRPr lang="en-US" sz="1100" dirty="0"/>
          </a:p>
        </p:txBody>
      </p:sp>
      <p:sp>
        <p:nvSpPr>
          <p:cNvPr id="32" name="Shape 30"/>
          <p:cNvSpPr/>
          <p:nvPr/>
        </p:nvSpPr>
        <p:spPr>
          <a:xfrm>
            <a:off x="6473952" y="3035808"/>
            <a:ext cx="548640" cy="548640"/>
          </a:xfrm>
          <a:prstGeom prst="ellipse">
            <a:avLst/>
          </a:prstGeom>
          <a:solidFill>
            <a:srgbClr val="1E2761"/>
          </a:solidFill>
          <a:ln/>
        </p:spPr>
      </p:sp>
      <p:sp>
        <p:nvSpPr>
          <p:cNvPr id="33" name="Text 31"/>
          <p:cNvSpPr/>
          <p:nvPr/>
        </p:nvSpPr>
        <p:spPr>
          <a:xfrm>
            <a:off x="6473952" y="3035808"/>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R</a:t>
            </a:r>
            <a:endParaRPr lang="en-US" sz="1560" dirty="0"/>
          </a:p>
        </p:txBody>
      </p:sp>
      <p:sp>
        <p:nvSpPr>
          <p:cNvPr id="34" name="Text 32"/>
          <p:cNvSpPr/>
          <p:nvPr/>
        </p:nvSpPr>
        <p:spPr>
          <a:xfrm>
            <a:off x="7205472" y="3017520"/>
            <a:ext cx="1920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Relevante</a:t>
            </a:r>
            <a:endParaRPr lang="en-US" sz="1400" dirty="0"/>
          </a:p>
        </p:txBody>
      </p:sp>
      <p:sp>
        <p:nvSpPr>
          <p:cNvPr id="35" name="Text 33"/>
          <p:cNvSpPr/>
          <p:nvPr/>
        </p:nvSpPr>
        <p:spPr>
          <a:xfrm>
            <a:off x="7205472" y="3328416"/>
            <a:ext cx="4297680" cy="457200"/>
          </a:xfrm>
          <a:prstGeom prst="rect">
            <a:avLst/>
          </a:prstGeom>
          <a:noFill/>
          <a:ln/>
        </p:spPr>
        <p:txBody>
          <a:bodyPr wrap="square" rtlCol="0" anchor="ctr"/>
          <a:lstStyle/>
          <a:p>
            <a:pPr marL="0" indent="0">
              <a:lnSpc>
                <a:spcPts val="1300"/>
              </a:lnSpc>
              <a:buNone/>
            </a:pPr>
            <a:r>
              <a:rPr lang="en-US" sz="1100" dirty="0">
                <a:solidFill>
                  <a:srgbClr val="20232B"/>
                </a:solidFill>
                <a:latin typeface="Calibri" pitchFamily="34" charset="0"/>
                <a:ea typeface="Calibri" pitchFamily="34" charset="-122"/>
                <a:cs typeface="Calibri" pitchFamily="34" charset="-120"/>
              </a:rPr>
              <a:t>Pertinente frente a lo que se evalúa</a:t>
            </a:r>
            <a:endParaRPr lang="en-US" sz="1100" dirty="0"/>
          </a:p>
        </p:txBody>
      </p:sp>
      <p:sp>
        <p:nvSpPr>
          <p:cNvPr id="36" name="Shape 34"/>
          <p:cNvSpPr/>
          <p:nvPr/>
        </p:nvSpPr>
        <p:spPr>
          <a:xfrm>
            <a:off x="6473952" y="3831336"/>
            <a:ext cx="548640" cy="548640"/>
          </a:xfrm>
          <a:prstGeom prst="ellipse">
            <a:avLst/>
          </a:prstGeom>
          <a:solidFill>
            <a:srgbClr val="1E2761"/>
          </a:solidFill>
          <a:ln/>
        </p:spPr>
      </p:sp>
      <p:sp>
        <p:nvSpPr>
          <p:cNvPr id="37" name="Text 35"/>
          <p:cNvSpPr/>
          <p:nvPr/>
        </p:nvSpPr>
        <p:spPr>
          <a:xfrm>
            <a:off x="6473952" y="3831336"/>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E</a:t>
            </a:r>
            <a:endParaRPr lang="en-US" sz="1560" dirty="0"/>
          </a:p>
        </p:txBody>
      </p:sp>
      <p:sp>
        <p:nvSpPr>
          <p:cNvPr id="38" name="Text 36"/>
          <p:cNvSpPr/>
          <p:nvPr/>
        </p:nvSpPr>
        <p:spPr>
          <a:xfrm>
            <a:off x="7205472" y="3813048"/>
            <a:ext cx="1920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Económico</a:t>
            </a:r>
            <a:endParaRPr lang="en-US" sz="1400" dirty="0"/>
          </a:p>
        </p:txBody>
      </p:sp>
      <p:sp>
        <p:nvSpPr>
          <p:cNvPr id="39" name="Text 37"/>
          <p:cNvSpPr/>
          <p:nvPr/>
        </p:nvSpPr>
        <p:spPr>
          <a:xfrm>
            <a:off x="7205472" y="4123944"/>
            <a:ext cx="4297680" cy="457200"/>
          </a:xfrm>
          <a:prstGeom prst="rect">
            <a:avLst/>
          </a:prstGeom>
          <a:noFill/>
          <a:ln/>
        </p:spPr>
        <p:txBody>
          <a:bodyPr wrap="square" rtlCol="0" anchor="ctr"/>
          <a:lstStyle/>
          <a:p>
            <a:pPr marL="0" indent="0">
              <a:lnSpc>
                <a:spcPts val="1300"/>
              </a:lnSpc>
              <a:buNone/>
            </a:pPr>
            <a:r>
              <a:rPr lang="en-US" sz="1100" dirty="0">
                <a:solidFill>
                  <a:srgbClr val="20232B"/>
                </a:solidFill>
                <a:latin typeface="Calibri" pitchFamily="34" charset="0"/>
                <a:ea typeface="Calibri" pitchFamily="34" charset="-122"/>
                <a:cs typeface="Calibri" pitchFamily="34" charset="-120"/>
              </a:rPr>
              <a:t>La información se obtiene a costo razonable</a:t>
            </a:r>
            <a:endParaRPr lang="en-US" sz="1100" dirty="0"/>
          </a:p>
        </p:txBody>
      </p:sp>
      <p:sp>
        <p:nvSpPr>
          <p:cNvPr id="40" name="Shape 38"/>
          <p:cNvSpPr/>
          <p:nvPr/>
        </p:nvSpPr>
        <p:spPr>
          <a:xfrm>
            <a:off x="6473952" y="4626864"/>
            <a:ext cx="548640" cy="548640"/>
          </a:xfrm>
          <a:prstGeom prst="ellipse">
            <a:avLst/>
          </a:prstGeom>
          <a:solidFill>
            <a:srgbClr val="1E2761"/>
          </a:solidFill>
          <a:ln/>
        </p:spPr>
      </p:sp>
      <p:sp>
        <p:nvSpPr>
          <p:cNvPr id="41" name="Text 39"/>
          <p:cNvSpPr/>
          <p:nvPr/>
        </p:nvSpPr>
        <p:spPr>
          <a:xfrm>
            <a:off x="6473952" y="4626864"/>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M</a:t>
            </a:r>
            <a:endParaRPr lang="en-US" sz="1560" dirty="0"/>
          </a:p>
        </p:txBody>
      </p:sp>
      <p:sp>
        <p:nvSpPr>
          <p:cNvPr id="42" name="Text 40"/>
          <p:cNvSpPr/>
          <p:nvPr/>
        </p:nvSpPr>
        <p:spPr>
          <a:xfrm>
            <a:off x="7205472" y="4608576"/>
            <a:ext cx="1920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Medible</a:t>
            </a:r>
            <a:endParaRPr lang="en-US" sz="1400" dirty="0"/>
          </a:p>
        </p:txBody>
      </p:sp>
      <p:sp>
        <p:nvSpPr>
          <p:cNvPr id="43" name="Text 41"/>
          <p:cNvSpPr/>
          <p:nvPr/>
        </p:nvSpPr>
        <p:spPr>
          <a:xfrm>
            <a:off x="7205472" y="4919472"/>
            <a:ext cx="4297680" cy="457200"/>
          </a:xfrm>
          <a:prstGeom prst="rect">
            <a:avLst/>
          </a:prstGeom>
          <a:noFill/>
          <a:ln/>
        </p:spPr>
        <p:txBody>
          <a:bodyPr wrap="square" rtlCol="0" anchor="ctr"/>
          <a:lstStyle/>
          <a:p>
            <a:pPr marL="0" indent="0">
              <a:lnSpc>
                <a:spcPts val="1300"/>
              </a:lnSpc>
              <a:buNone/>
            </a:pPr>
            <a:r>
              <a:rPr lang="en-US" sz="1100" dirty="0">
                <a:solidFill>
                  <a:srgbClr val="20232B"/>
                </a:solidFill>
                <a:latin typeface="Calibri" pitchFamily="34" charset="0"/>
                <a:ea typeface="Calibri" pitchFamily="34" charset="-122"/>
                <a:cs typeface="Calibri" pitchFamily="34" charset="-120"/>
              </a:rPr>
              <a:t>Verificable objetivamente, con fuente clara</a:t>
            </a:r>
            <a:endParaRPr lang="en-US" sz="1100" dirty="0"/>
          </a:p>
        </p:txBody>
      </p:sp>
      <p:sp>
        <p:nvSpPr>
          <p:cNvPr id="44" name="Shape 42"/>
          <p:cNvSpPr/>
          <p:nvPr/>
        </p:nvSpPr>
        <p:spPr>
          <a:xfrm>
            <a:off x="6473952" y="5422392"/>
            <a:ext cx="548640" cy="548640"/>
          </a:xfrm>
          <a:prstGeom prst="ellipse">
            <a:avLst/>
          </a:prstGeom>
          <a:solidFill>
            <a:srgbClr val="1E2761"/>
          </a:solidFill>
          <a:ln/>
        </p:spPr>
      </p:sp>
      <p:sp>
        <p:nvSpPr>
          <p:cNvPr id="45" name="Text 43"/>
          <p:cNvSpPr/>
          <p:nvPr/>
        </p:nvSpPr>
        <p:spPr>
          <a:xfrm>
            <a:off x="6473952" y="5422392"/>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A</a:t>
            </a:r>
            <a:endParaRPr lang="en-US" sz="1560" dirty="0"/>
          </a:p>
        </p:txBody>
      </p:sp>
      <p:sp>
        <p:nvSpPr>
          <p:cNvPr id="46" name="Text 44"/>
          <p:cNvSpPr/>
          <p:nvPr/>
        </p:nvSpPr>
        <p:spPr>
          <a:xfrm>
            <a:off x="7205472" y="5404104"/>
            <a:ext cx="1920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Adecuado</a:t>
            </a:r>
            <a:endParaRPr lang="en-US" sz="1400" dirty="0"/>
          </a:p>
        </p:txBody>
      </p:sp>
      <p:sp>
        <p:nvSpPr>
          <p:cNvPr id="47" name="Text 45"/>
          <p:cNvSpPr/>
          <p:nvPr/>
        </p:nvSpPr>
        <p:spPr>
          <a:xfrm>
            <a:off x="7205472" y="5715000"/>
            <a:ext cx="4297680" cy="457200"/>
          </a:xfrm>
          <a:prstGeom prst="rect">
            <a:avLst/>
          </a:prstGeom>
          <a:noFill/>
          <a:ln/>
        </p:spPr>
        <p:txBody>
          <a:bodyPr wrap="square" rtlCol="0" anchor="ctr"/>
          <a:lstStyle/>
          <a:p>
            <a:pPr marL="0" indent="0">
              <a:lnSpc>
                <a:spcPts val="1300"/>
              </a:lnSpc>
              <a:buNone/>
            </a:pPr>
            <a:r>
              <a:rPr lang="en-US" sz="1100" dirty="0">
                <a:solidFill>
                  <a:srgbClr val="20232B"/>
                </a:solidFill>
                <a:latin typeface="Calibri" pitchFamily="34" charset="0"/>
                <a:ea typeface="Calibri" pitchFamily="34" charset="-122"/>
                <a:cs typeface="Calibri" pitchFamily="34" charset="-120"/>
              </a:rPr>
              <a:t>Aporta base suficiente para juzgar desempeño</a:t>
            </a:r>
            <a:endParaRPr lang="en-US" sz="1100" dirty="0"/>
          </a:p>
        </p:txBody>
      </p:sp>
      <p:sp>
        <p:nvSpPr>
          <p:cNvPr id="48" name="Text 46"/>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49" name="Text 4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64008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Método: de la </a:t>
            </a:r>
            <a:r>
              <a:rPr lang="en-US" sz="2600" b="1" dirty="0" err="1">
                <a:solidFill>
                  <a:srgbClr val="1E2761"/>
                </a:solidFill>
                <a:latin typeface="Cambria" pitchFamily="34" charset="0"/>
                <a:ea typeface="Cambria" pitchFamily="34" charset="-122"/>
                <a:cs typeface="Cambria" pitchFamily="34" charset="-120"/>
              </a:rPr>
              <a:t>pregunta</a:t>
            </a:r>
            <a:r>
              <a:rPr lang="en-US" sz="2600" b="1" dirty="0">
                <a:solidFill>
                  <a:srgbClr val="1E2761"/>
                </a:solidFill>
                <a:latin typeface="Cambria" pitchFamily="34" charset="0"/>
                <a:ea typeface="Cambria" pitchFamily="34" charset="-122"/>
                <a:cs typeface="Cambria" pitchFamily="34" charset="-120"/>
              </a:rPr>
              <a:t> al indicador medible</a:t>
            </a:r>
            <a:endParaRPr lang="en-US" sz="2600" dirty="0"/>
          </a:p>
        </p:txBody>
      </p:sp>
      <p:sp>
        <p:nvSpPr>
          <p:cNvPr id="3" name="Shape 1"/>
          <p:cNvSpPr/>
          <p:nvPr/>
        </p:nvSpPr>
        <p:spPr>
          <a:xfrm>
            <a:off x="548640" y="1234440"/>
            <a:ext cx="11064240" cy="896112"/>
          </a:xfrm>
          <a:prstGeom prst="roundRect">
            <a:avLst>
              <a:gd name="adj" fmla="val 8163"/>
            </a:avLst>
          </a:prstGeom>
          <a:solidFill>
            <a:srgbClr val="FFFFFF"/>
          </a:solidFill>
          <a:ln w="12700">
            <a:solidFill>
              <a:srgbClr val="CADCFC"/>
            </a:solidFill>
            <a:prstDash val="solid"/>
          </a:ln>
        </p:spPr>
      </p:sp>
      <p:sp>
        <p:nvSpPr>
          <p:cNvPr id="4" name="Shape 2"/>
          <p:cNvSpPr/>
          <p:nvPr/>
        </p:nvSpPr>
        <p:spPr>
          <a:xfrm>
            <a:off x="713232" y="1362456"/>
            <a:ext cx="640080" cy="640080"/>
          </a:xfrm>
          <a:prstGeom prst="ellipse">
            <a:avLst/>
          </a:prstGeom>
          <a:solidFill>
            <a:srgbClr val="1E2761"/>
          </a:solidFill>
          <a:ln/>
        </p:spPr>
      </p:sp>
      <p:sp>
        <p:nvSpPr>
          <p:cNvPr id="5" name="Text 3"/>
          <p:cNvSpPr/>
          <p:nvPr/>
        </p:nvSpPr>
        <p:spPr>
          <a:xfrm>
            <a:off x="713232" y="1362456"/>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1</a:t>
            </a:r>
            <a:endParaRPr lang="en-US" sz="1820" dirty="0"/>
          </a:p>
        </p:txBody>
      </p:sp>
      <p:sp>
        <p:nvSpPr>
          <p:cNvPr id="6" name="Text 4"/>
          <p:cNvSpPr/>
          <p:nvPr/>
        </p:nvSpPr>
        <p:spPr>
          <a:xfrm>
            <a:off x="1600200" y="1307592"/>
            <a:ext cx="4023360" cy="73152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Capturar la </a:t>
            </a:r>
            <a:r>
              <a:rPr lang="en-US" sz="1450" b="1" dirty="0" err="1">
                <a:solidFill>
                  <a:srgbClr val="1E2761"/>
                </a:solidFill>
                <a:latin typeface="Cambria" pitchFamily="34" charset="0"/>
                <a:ea typeface="Cambria" pitchFamily="34" charset="-122"/>
                <a:cs typeface="Cambria" pitchFamily="34" charset="-120"/>
              </a:rPr>
              <a:t>pregunta</a:t>
            </a:r>
            <a:endParaRPr lang="en-US" sz="1450" dirty="0"/>
          </a:p>
        </p:txBody>
      </p:sp>
      <p:sp>
        <p:nvSpPr>
          <p:cNvPr id="7" name="Text 5"/>
          <p:cNvSpPr/>
          <p:nvPr/>
        </p:nvSpPr>
        <p:spPr>
          <a:xfrm>
            <a:off x="5760720" y="1307592"/>
            <a:ext cx="5669280" cy="731520"/>
          </a:xfrm>
          <a:prstGeom prst="rect">
            <a:avLst/>
          </a:prstGeom>
          <a:noFill/>
          <a:ln/>
        </p:spPr>
        <p:txBody>
          <a:bodyPr wrap="square" rtlCol="0" anchor="ctr"/>
          <a:lstStyle/>
          <a:p>
            <a:pPr marL="0" indent="0">
              <a:lnSpc>
                <a:spcPts val="1500"/>
              </a:lnSpc>
              <a:buNone/>
            </a:pPr>
            <a:r>
              <a:rPr lang="en-US" sz="1200" dirty="0">
                <a:solidFill>
                  <a:srgbClr val="20232B"/>
                </a:solidFill>
                <a:latin typeface="Calibri" pitchFamily="34" charset="0"/>
                <a:ea typeface="Calibri" pitchFamily="34" charset="-122"/>
                <a:cs typeface="Calibri" pitchFamily="34" charset="-120"/>
              </a:rPr>
              <a:t>Se anota tal cual la formula el ciudadano o directivo, sin corregirla todavía.</a:t>
            </a:r>
            <a:endParaRPr lang="en-US" sz="1200" dirty="0"/>
          </a:p>
        </p:txBody>
      </p:sp>
      <p:sp>
        <p:nvSpPr>
          <p:cNvPr id="8" name="Shape 6"/>
          <p:cNvSpPr/>
          <p:nvPr/>
        </p:nvSpPr>
        <p:spPr>
          <a:xfrm>
            <a:off x="548640" y="2267712"/>
            <a:ext cx="11064240" cy="896112"/>
          </a:xfrm>
          <a:prstGeom prst="roundRect">
            <a:avLst>
              <a:gd name="adj" fmla="val 8163"/>
            </a:avLst>
          </a:prstGeom>
          <a:solidFill>
            <a:srgbClr val="EEF2FC"/>
          </a:solidFill>
          <a:ln w="12700">
            <a:solidFill>
              <a:srgbClr val="CADCFC"/>
            </a:solidFill>
            <a:prstDash val="solid"/>
          </a:ln>
        </p:spPr>
      </p:sp>
      <p:sp>
        <p:nvSpPr>
          <p:cNvPr id="9" name="Shape 7"/>
          <p:cNvSpPr/>
          <p:nvPr/>
        </p:nvSpPr>
        <p:spPr>
          <a:xfrm>
            <a:off x="713232" y="2395728"/>
            <a:ext cx="640080" cy="640080"/>
          </a:xfrm>
          <a:prstGeom prst="ellipse">
            <a:avLst/>
          </a:prstGeom>
          <a:solidFill>
            <a:srgbClr val="1E2761"/>
          </a:solidFill>
          <a:ln/>
        </p:spPr>
      </p:sp>
      <p:sp>
        <p:nvSpPr>
          <p:cNvPr id="10" name="Text 8"/>
          <p:cNvSpPr/>
          <p:nvPr/>
        </p:nvSpPr>
        <p:spPr>
          <a:xfrm>
            <a:off x="713232" y="2395728"/>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2</a:t>
            </a:r>
            <a:endParaRPr lang="en-US" sz="1820" dirty="0"/>
          </a:p>
        </p:txBody>
      </p:sp>
      <p:sp>
        <p:nvSpPr>
          <p:cNvPr id="11" name="Text 9"/>
          <p:cNvSpPr/>
          <p:nvPr/>
        </p:nvSpPr>
        <p:spPr>
          <a:xfrm>
            <a:off x="1600200" y="2340864"/>
            <a:ext cx="4023360" cy="73152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Desagregar en 4 componentes</a:t>
            </a:r>
            <a:endParaRPr lang="en-US" sz="1450" dirty="0"/>
          </a:p>
        </p:txBody>
      </p:sp>
      <p:sp>
        <p:nvSpPr>
          <p:cNvPr id="12" name="Text 10"/>
          <p:cNvSpPr/>
          <p:nvPr/>
        </p:nvSpPr>
        <p:spPr>
          <a:xfrm>
            <a:off x="5760720" y="2340864"/>
            <a:ext cx="5669280" cy="731520"/>
          </a:xfrm>
          <a:prstGeom prst="rect">
            <a:avLst/>
          </a:prstGeom>
          <a:noFill/>
          <a:ln/>
        </p:spPr>
        <p:txBody>
          <a:bodyPr wrap="square" rtlCol="0" anchor="ctr"/>
          <a:lstStyle/>
          <a:p>
            <a:pPr marL="0" indent="0">
              <a:lnSpc>
                <a:spcPts val="1500"/>
              </a:lnSpc>
              <a:buNone/>
            </a:pPr>
            <a:r>
              <a:rPr lang="en-US" sz="1200" dirty="0">
                <a:solidFill>
                  <a:srgbClr val="20232B"/>
                </a:solidFill>
                <a:latin typeface="Calibri" pitchFamily="34" charset="0"/>
                <a:ea typeface="Calibri" pitchFamily="34" charset="-122"/>
                <a:cs typeface="Calibri" pitchFamily="34" charset="-120"/>
              </a:rPr>
              <a:t>Población · atributo · ámbito territorial/temporal · referente de comparación.</a:t>
            </a:r>
            <a:endParaRPr lang="en-US" sz="1200" dirty="0"/>
          </a:p>
        </p:txBody>
      </p:sp>
      <p:sp>
        <p:nvSpPr>
          <p:cNvPr id="13" name="Shape 11"/>
          <p:cNvSpPr/>
          <p:nvPr/>
        </p:nvSpPr>
        <p:spPr>
          <a:xfrm>
            <a:off x="548640" y="3300984"/>
            <a:ext cx="11064240" cy="896112"/>
          </a:xfrm>
          <a:prstGeom prst="roundRect">
            <a:avLst>
              <a:gd name="adj" fmla="val 8163"/>
            </a:avLst>
          </a:prstGeom>
          <a:solidFill>
            <a:srgbClr val="FFFFFF"/>
          </a:solidFill>
          <a:ln w="12700">
            <a:solidFill>
              <a:srgbClr val="CADCFC"/>
            </a:solidFill>
            <a:prstDash val="solid"/>
          </a:ln>
        </p:spPr>
      </p:sp>
      <p:sp>
        <p:nvSpPr>
          <p:cNvPr id="14" name="Shape 12"/>
          <p:cNvSpPr/>
          <p:nvPr/>
        </p:nvSpPr>
        <p:spPr>
          <a:xfrm>
            <a:off x="713232" y="3429000"/>
            <a:ext cx="640080" cy="640080"/>
          </a:xfrm>
          <a:prstGeom prst="ellipse">
            <a:avLst/>
          </a:prstGeom>
          <a:solidFill>
            <a:srgbClr val="1E2761"/>
          </a:solidFill>
          <a:ln/>
        </p:spPr>
      </p:sp>
      <p:sp>
        <p:nvSpPr>
          <p:cNvPr id="15" name="Text 13"/>
          <p:cNvSpPr/>
          <p:nvPr/>
        </p:nvSpPr>
        <p:spPr>
          <a:xfrm>
            <a:off x="713232" y="342900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3</a:t>
            </a:r>
            <a:endParaRPr lang="en-US" sz="1820" dirty="0"/>
          </a:p>
        </p:txBody>
      </p:sp>
      <p:sp>
        <p:nvSpPr>
          <p:cNvPr id="16" name="Text 14"/>
          <p:cNvSpPr/>
          <p:nvPr/>
        </p:nvSpPr>
        <p:spPr>
          <a:xfrm>
            <a:off x="1600200" y="3374136"/>
            <a:ext cx="4023360" cy="73152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Ubicar en la cadena de valor</a:t>
            </a:r>
            <a:endParaRPr lang="en-US" sz="1450" dirty="0"/>
          </a:p>
        </p:txBody>
      </p:sp>
      <p:sp>
        <p:nvSpPr>
          <p:cNvPr id="17" name="Text 15"/>
          <p:cNvSpPr/>
          <p:nvPr/>
        </p:nvSpPr>
        <p:spPr>
          <a:xfrm>
            <a:off x="5760720" y="3374136"/>
            <a:ext cx="5669280" cy="731520"/>
          </a:xfrm>
          <a:prstGeom prst="rect">
            <a:avLst/>
          </a:prstGeom>
          <a:noFill/>
          <a:ln/>
        </p:spPr>
        <p:txBody>
          <a:bodyPr wrap="square" rtlCol="0" anchor="ctr"/>
          <a:lstStyle/>
          <a:p>
            <a:pPr marL="0" indent="0">
              <a:lnSpc>
                <a:spcPts val="1500"/>
              </a:lnSpc>
              <a:buNone/>
            </a:pPr>
            <a:r>
              <a:rPr lang="en-US" sz="1200" dirty="0">
                <a:solidFill>
                  <a:srgbClr val="20232B"/>
                </a:solidFill>
                <a:latin typeface="Calibri" pitchFamily="34" charset="0"/>
                <a:ea typeface="Calibri" pitchFamily="34" charset="-122"/>
                <a:cs typeface="Calibri" pitchFamily="34" charset="-120"/>
              </a:rPr>
              <a:t>¿Insumo, actividad, producto, resultado o impacto?</a:t>
            </a:r>
            <a:endParaRPr lang="en-US" sz="1200" dirty="0"/>
          </a:p>
        </p:txBody>
      </p:sp>
      <p:sp>
        <p:nvSpPr>
          <p:cNvPr id="18" name="Shape 16"/>
          <p:cNvSpPr/>
          <p:nvPr/>
        </p:nvSpPr>
        <p:spPr>
          <a:xfrm>
            <a:off x="548640" y="4334256"/>
            <a:ext cx="11064240" cy="896112"/>
          </a:xfrm>
          <a:prstGeom prst="roundRect">
            <a:avLst>
              <a:gd name="adj" fmla="val 8163"/>
            </a:avLst>
          </a:prstGeom>
          <a:solidFill>
            <a:srgbClr val="EEF2FC"/>
          </a:solidFill>
          <a:ln w="12700">
            <a:solidFill>
              <a:srgbClr val="CADCFC"/>
            </a:solidFill>
            <a:prstDash val="solid"/>
          </a:ln>
        </p:spPr>
      </p:sp>
      <p:sp>
        <p:nvSpPr>
          <p:cNvPr id="19" name="Shape 17"/>
          <p:cNvSpPr/>
          <p:nvPr/>
        </p:nvSpPr>
        <p:spPr>
          <a:xfrm>
            <a:off x="713232" y="4462272"/>
            <a:ext cx="640080" cy="640080"/>
          </a:xfrm>
          <a:prstGeom prst="ellipse">
            <a:avLst/>
          </a:prstGeom>
          <a:solidFill>
            <a:srgbClr val="1E2761"/>
          </a:solidFill>
          <a:ln/>
        </p:spPr>
      </p:sp>
      <p:sp>
        <p:nvSpPr>
          <p:cNvPr id="20" name="Text 18"/>
          <p:cNvSpPr/>
          <p:nvPr/>
        </p:nvSpPr>
        <p:spPr>
          <a:xfrm>
            <a:off x="713232" y="4462272"/>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4</a:t>
            </a:r>
            <a:endParaRPr lang="en-US" sz="1820" dirty="0"/>
          </a:p>
        </p:txBody>
      </p:sp>
      <p:sp>
        <p:nvSpPr>
          <p:cNvPr id="21" name="Text 19"/>
          <p:cNvSpPr/>
          <p:nvPr/>
        </p:nvSpPr>
        <p:spPr>
          <a:xfrm>
            <a:off x="1600200" y="4407408"/>
            <a:ext cx="4023360" cy="73152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Formular y validar (SMART/CREMA)</a:t>
            </a:r>
            <a:endParaRPr lang="en-US" sz="1450" dirty="0"/>
          </a:p>
        </p:txBody>
      </p:sp>
      <p:sp>
        <p:nvSpPr>
          <p:cNvPr id="22" name="Text 20"/>
          <p:cNvSpPr/>
          <p:nvPr/>
        </p:nvSpPr>
        <p:spPr>
          <a:xfrm>
            <a:off x="5760720" y="4407408"/>
            <a:ext cx="5669280" cy="731520"/>
          </a:xfrm>
          <a:prstGeom prst="rect">
            <a:avLst/>
          </a:prstGeom>
          <a:noFill/>
          <a:ln/>
        </p:spPr>
        <p:txBody>
          <a:bodyPr wrap="square" rtlCol="0" anchor="ctr"/>
          <a:lstStyle/>
          <a:p>
            <a:pPr marL="0" indent="0">
              <a:lnSpc>
                <a:spcPts val="1500"/>
              </a:lnSpc>
              <a:buNone/>
            </a:pPr>
            <a:r>
              <a:rPr lang="en-US" sz="1200" dirty="0">
                <a:solidFill>
                  <a:srgbClr val="20232B"/>
                </a:solidFill>
                <a:latin typeface="Calibri" pitchFamily="34" charset="0"/>
                <a:ea typeface="Calibri" pitchFamily="34" charset="-122"/>
                <a:cs typeface="Calibri" pitchFamily="34" charset="-120"/>
              </a:rPr>
              <a:t>Se redacta el indicador y se somete a los criterios de calidad.</a:t>
            </a:r>
            <a:endParaRPr lang="en-US" sz="1200" dirty="0"/>
          </a:p>
        </p:txBody>
      </p:sp>
      <p:sp>
        <p:nvSpPr>
          <p:cNvPr id="23" name="Shape 21"/>
          <p:cNvSpPr/>
          <p:nvPr/>
        </p:nvSpPr>
        <p:spPr>
          <a:xfrm>
            <a:off x="548640" y="5367528"/>
            <a:ext cx="11064240" cy="896112"/>
          </a:xfrm>
          <a:prstGeom prst="roundRect">
            <a:avLst>
              <a:gd name="adj" fmla="val 8163"/>
            </a:avLst>
          </a:prstGeom>
          <a:solidFill>
            <a:srgbClr val="FFFFFF"/>
          </a:solidFill>
          <a:ln w="12700">
            <a:solidFill>
              <a:srgbClr val="CADCFC"/>
            </a:solidFill>
            <a:prstDash val="solid"/>
          </a:ln>
        </p:spPr>
      </p:sp>
      <p:sp>
        <p:nvSpPr>
          <p:cNvPr id="24" name="Shape 22"/>
          <p:cNvSpPr/>
          <p:nvPr/>
        </p:nvSpPr>
        <p:spPr>
          <a:xfrm>
            <a:off x="713232" y="5495544"/>
            <a:ext cx="640080" cy="640080"/>
          </a:xfrm>
          <a:prstGeom prst="ellipse">
            <a:avLst/>
          </a:prstGeom>
          <a:solidFill>
            <a:srgbClr val="1E2761"/>
          </a:solidFill>
          <a:ln/>
        </p:spPr>
      </p:sp>
      <p:sp>
        <p:nvSpPr>
          <p:cNvPr id="25" name="Text 23"/>
          <p:cNvSpPr/>
          <p:nvPr/>
        </p:nvSpPr>
        <p:spPr>
          <a:xfrm>
            <a:off x="713232" y="5495544"/>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5</a:t>
            </a:r>
            <a:endParaRPr lang="en-US" sz="1820" dirty="0"/>
          </a:p>
        </p:txBody>
      </p:sp>
      <p:sp>
        <p:nvSpPr>
          <p:cNvPr id="26" name="Text 24"/>
          <p:cNvSpPr/>
          <p:nvPr/>
        </p:nvSpPr>
        <p:spPr>
          <a:xfrm>
            <a:off x="1600200" y="5440680"/>
            <a:ext cx="4023360" cy="73152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Ficha técnica y validación con usuarios</a:t>
            </a:r>
            <a:endParaRPr lang="en-US" sz="1450" dirty="0"/>
          </a:p>
        </p:txBody>
      </p:sp>
      <p:sp>
        <p:nvSpPr>
          <p:cNvPr id="27" name="Text 25"/>
          <p:cNvSpPr/>
          <p:nvPr/>
        </p:nvSpPr>
        <p:spPr>
          <a:xfrm>
            <a:off x="5760720" y="5440680"/>
            <a:ext cx="5669280" cy="731520"/>
          </a:xfrm>
          <a:prstGeom prst="rect">
            <a:avLst/>
          </a:prstGeom>
          <a:noFill/>
          <a:ln/>
        </p:spPr>
        <p:txBody>
          <a:bodyPr wrap="square" rtlCol="0" anchor="ctr"/>
          <a:lstStyle/>
          <a:p>
            <a:pPr marL="0" indent="0">
              <a:lnSpc>
                <a:spcPts val="1500"/>
              </a:lnSpc>
              <a:buNone/>
            </a:pPr>
            <a:r>
              <a:rPr lang="en-US" sz="1200" dirty="0">
                <a:solidFill>
                  <a:srgbClr val="20232B"/>
                </a:solidFill>
                <a:latin typeface="Calibri" pitchFamily="34" charset="0"/>
                <a:ea typeface="Calibri" pitchFamily="34" charset="-122"/>
                <a:cs typeface="Calibri" pitchFamily="34" charset="-120"/>
              </a:rPr>
              <a:t>Se documenta y se contrasta con quien tomará la decisión.</a:t>
            </a:r>
            <a:endParaRPr lang="en-US" sz="1200" dirty="0"/>
          </a:p>
        </p:txBody>
      </p:sp>
      <p:sp>
        <p:nvSpPr>
          <p:cNvPr id="28" name="Text 26"/>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29" name="Text 2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Caso guía: salud materna rural </a:t>
            </a:r>
            <a:endParaRPr lang="en-US" sz="2700" dirty="0"/>
          </a:p>
        </p:txBody>
      </p:sp>
      <p:sp>
        <p:nvSpPr>
          <p:cNvPr id="3" name="Shape 1"/>
          <p:cNvSpPr/>
          <p:nvPr/>
        </p:nvSpPr>
        <p:spPr>
          <a:xfrm>
            <a:off x="548640" y="1234440"/>
            <a:ext cx="11064240" cy="960120"/>
          </a:xfrm>
          <a:prstGeom prst="roundRect">
            <a:avLst>
              <a:gd name="adj" fmla="val 7619"/>
            </a:avLst>
          </a:prstGeom>
          <a:solidFill>
            <a:srgbClr val="1E2761"/>
          </a:solidFill>
          <a:ln/>
          <a:effectLst>
            <a:outerShdw blurRad="76200" dist="25400" dir="5400000" algn="bl" rotWithShape="0">
              <a:srgbClr val="3A3F55">
                <a:alpha val="18000"/>
              </a:srgbClr>
            </a:outerShdw>
          </a:effectLst>
        </p:spPr>
      </p:sp>
      <p:sp>
        <p:nvSpPr>
          <p:cNvPr id="4" name="Text 2"/>
          <p:cNvSpPr/>
          <p:nvPr/>
        </p:nvSpPr>
        <p:spPr>
          <a:xfrm>
            <a:off x="822960" y="1234440"/>
            <a:ext cx="10515600" cy="960120"/>
          </a:xfrm>
          <a:prstGeom prst="rect">
            <a:avLst/>
          </a:prstGeom>
          <a:noFill/>
          <a:ln/>
        </p:spPr>
        <p:txBody>
          <a:bodyPr wrap="square" rtlCol="0" anchor="ctr"/>
          <a:lstStyle/>
          <a:p>
            <a:pPr marL="0" indent="0">
              <a:buNone/>
            </a:pPr>
            <a:r>
              <a:rPr lang="en-US" sz="1700" b="1" dirty="0" err="1">
                <a:solidFill>
                  <a:srgbClr val="B8860B"/>
                </a:solidFill>
                <a:latin typeface="Calibri" pitchFamily="34" charset="0"/>
                <a:ea typeface="Calibri" pitchFamily="34" charset="-122"/>
                <a:cs typeface="Calibri" pitchFamily="34" charset="-120"/>
              </a:rPr>
              <a:t>Pregunta</a:t>
            </a:r>
            <a:r>
              <a:rPr lang="en-US" sz="1700" b="1" dirty="0">
                <a:solidFill>
                  <a:srgbClr val="B8860B"/>
                </a:solidFill>
                <a:latin typeface="Calibri" pitchFamily="34" charset="0"/>
                <a:ea typeface="Calibri" pitchFamily="34" charset="-122"/>
                <a:cs typeface="Calibri" pitchFamily="34" charset="-120"/>
              </a:rPr>
              <a:t> (paso 1):  </a:t>
            </a:r>
            <a:r>
              <a:rPr lang="en-US" sz="1700" i="1" dirty="0">
                <a:solidFill>
                  <a:srgbClr val="FFFFFF"/>
                </a:solidFill>
                <a:latin typeface="Calibri" pitchFamily="34" charset="0"/>
                <a:ea typeface="Calibri" pitchFamily="34" charset="-122"/>
                <a:cs typeface="Calibri" pitchFamily="34" charset="-120"/>
              </a:rPr>
              <a:t>"¿Cómo va la salud?"</a:t>
            </a:r>
            <a:endParaRPr lang="en-US" sz="1700" dirty="0"/>
          </a:p>
        </p:txBody>
      </p:sp>
      <p:sp>
        <p:nvSpPr>
          <p:cNvPr id="5" name="Text 3"/>
          <p:cNvSpPr/>
          <p:nvPr/>
        </p:nvSpPr>
        <p:spPr>
          <a:xfrm>
            <a:off x="548640" y="2423160"/>
            <a:ext cx="73152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Paso 2 · Desagregación en 4 componentes</a:t>
            </a:r>
            <a:endParaRPr lang="en-US" sz="1500" dirty="0"/>
          </a:p>
        </p:txBody>
      </p:sp>
      <p:sp>
        <p:nvSpPr>
          <p:cNvPr id="6" name="Shape 4"/>
          <p:cNvSpPr/>
          <p:nvPr/>
        </p:nvSpPr>
        <p:spPr>
          <a:xfrm>
            <a:off x="548640" y="2834640"/>
            <a:ext cx="5349240" cy="731520"/>
          </a:xfrm>
          <a:prstGeom prst="roundRect">
            <a:avLst>
              <a:gd name="adj" fmla="val 10000"/>
            </a:avLst>
          </a:prstGeom>
          <a:solidFill>
            <a:srgbClr val="EEF2FC"/>
          </a:solidFill>
          <a:ln/>
          <a:effectLst>
            <a:outerShdw blurRad="76200" dist="25400" dir="5400000" algn="bl" rotWithShape="0">
              <a:srgbClr val="3A3F55">
                <a:alpha val="18000"/>
              </a:srgbClr>
            </a:outerShdw>
          </a:effectLst>
        </p:spPr>
      </p:sp>
      <p:sp>
        <p:nvSpPr>
          <p:cNvPr id="7" name="Text 5"/>
          <p:cNvSpPr/>
          <p:nvPr/>
        </p:nvSpPr>
        <p:spPr>
          <a:xfrm>
            <a:off x="731520" y="2834640"/>
            <a:ext cx="1554480" cy="7315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Población:</a:t>
            </a:r>
            <a:endParaRPr lang="en-US" sz="1250" dirty="0"/>
          </a:p>
        </p:txBody>
      </p:sp>
      <p:sp>
        <p:nvSpPr>
          <p:cNvPr id="8" name="Text 6"/>
          <p:cNvSpPr/>
          <p:nvPr/>
        </p:nvSpPr>
        <p:spPr>
          <a:xfrm>
            <a:off x="2286000" y="2834640"/>
            <a:ext cx="3520440" cy="731520"/>
          </a:xfrm>
          <a:prstGeom prst="rect">
            <a:avLst/>
          </a:prstGeom>
          <a:noFill/>
          <a:ln/>
        </p:spPr>
        <p:txBody>
          <a:bodyPr wrap="square" rtlCol="0" anchor="ctr"/>
          <a:lstStyle/>
          <a:p>
            <a:pPr marL="0" indent="0">
              <a:lnSpc>
                <a:spcPts val="1400"/>
              </a:lnSpc>
              <a:buNone/>
            </a:pPr>
            <a:r>
              <a:rPr lang="en-US" sz="1200" dirty="0">
                <a:solidFill>
                  <a:srgbClr val="20232B"/>
                </a:solidFill>
                <a:latin typeface="Calibri" pitchFamily="34" charset="0"/>
                <a:ea typeface="Calibri" pitchFamily="34" charset="-122"/>
                <a:cs typeface="Calibri" pitchFamily="34" charset="-120"/>
              </a:rPr>
              <a:t>Gestantes en zona rural dispersa y rural</a:t>
            </a:r>
            <a:endParaRPr lang="en-US" sz="1200" dirty="0"/>
          </a:p>
        </p:txBody>
      </p:sp>
      <p:sp>
        <p:nvSpPr>
          <p:cNvPr id="9" name="Shape 7"/>
          <p:cNvSpPr/>
          <p:nvPr/>
        </p:nvSpPr>
        <p:spPr>
          <a:xfrm>
            <a:off x="6126480" y="2834640"/>
            <a:ext cx="5349240" cy="731520"/>
          </a:xfrm>
          <a:prstGeom prst="roundRect">
            <a:avLst>
              <a:gd name="adj" fmla="val 10000"/>
            </a:avLst>
          </a:prstGeom>
          <a:solidFill>
            <a:srgbClr val="EEF2FC"/>
          </a:solidFill>
          <a:ln/>
          <a:effectLst>
            <a:outerShdw blurRad="76200" dist="25400" dir="5400000" algn="bl" rotWithShape="0">
              <a:srgbClr val="3A3F55">
                <a:alpha val="18000"/>
              </a:srgbClr>
            </a:outerShdw>
          </a:effectLst>
        </p:spPr>
      </p:sp>
      <p:sp>
        <p:nvSpPr>
          <p:cNvPr id="10" name="Text 8"/>
          <p:cNvSpPr/>
          <p:nvPr/>
        </p:nvSpPr>
        <p:spPr>
          <a:xfrm>
            <a:off x="6309360" y="2834640"/>
            <a:ext cx="1554480" cy="7315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Atributo:</a:t>
            </a:r>
            <a:endParaRPr lang="en-US" sz="1250" dirty="0"/>
          </a:p>
        </p:txBody>
      </p:sp>
      <p:sp>
        <p:nvSpPr>
          <p:cNvPr id="11" name="Text 9"/>
          <p:cNvSpPr/>
          <p:nvPr/>
        </p:nvSpPr>
        <p:spPr>
          <a:xfrm>
            <a:off x="7863840" y="2834640"/>
            <a:ext cx="3520440" cy="731520"/>
          </a:xfrm>
          <a:prstGeom prst="rect">
            <a:avLst/>
          </a:prstGeom>
          <a:noFill/>
          <a:ln/>
        </p:spPr>
        <p:txBody>
          <a:bodyPr wrap="square" rtlCol="0" anchor="ctr"/>
          <a:lstStyle/>
          <a:p>
            <a:pPr marL="0" indent="0">
              <a:lnSpc>
                <a:spcPts val="1400"/>
              </a:lnSpc>
              <a:buNone/>
            </a:pPr>
            <a:r>
              <a:rPr lang="en-US" sz="1200" dirty="0">
                <a:solidFill>
                  <a:srgbClr val="20232B"/>
                </a:solidFill>
                <a:latin typeface="Calibri" pitchFamily="34" charset="0"/>
                <a:ea typeface="Calibri" pitchFamily="34" charset="-122"/>
                <a:cs typeface="Calibri" pitchFamily="34" charset="-120"/>
              </a:rPr>
              <a:t>Acceso a controles prenatales oportunos</a:t>
            </a:r>
            <a:endParaRPr lang="en-US" sz="1200" dirty="0"/>
          </a:p>
        </p:txBody>
      </p:sp>
      <p:sp>
        <p:nvSpPr>
          <p:cNvPr id="12" name="Shape 10"/>
          <p:cNvSpPr/>
          <p:nvPr/>
        </p:nvSpPr>
        <p:spPr>
          <a:xfrm>
            <a:off x="548640" y="3703320"/>
            <a:ext cx="5349240" cy="731520"/>
          </a:xfrm>
          <a:prstGeom prst="roundRect">
            <a:avLst>
              <a:gd name="adj" fmla="val 10000"/>
            </a:avLst>
          </a:prstGeom>
          <a:solidFill>
            <a:srgbClr val="EEF2FC"/>
          </a:solidFill>
          <a:ln/>
          <a:effectLst>
            <a:outerShdw blurRad="76200" dist="25400" dir="5400000" algn="bl" rotWithShape="0">
              <a:srgbClr val="3A3F55">
                <a:alpha val="18000"/>
              </a:srgbClr>
            </a:outerShdw>
          </a:effectLst>
        </p:spPr>
      </p:sp>
      <p:sp>
        <p:nvSpPr>
          <p:cNvPr id="13" name="Text 11"/>
          <p:cNvSpPr/>
          <p:nvPr/>
        </p:nvSpPr>
        <p:spPr>
          <a:xfrm>
            <a:off x="731520" y="3703320"/>
            <a:ext cx="1554480" cy="7315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Ámbito:</a:t>
            </a:r>
            <a:endParaRPr lang="en-US" sz="1250" dirty="0"/>
          </a:p>
        </p:txBody>
      </p:sp>
      <p:sp>
        <p:nvSpPr>
          <p:cNvPr id="14" name="Text 12"/>
          <p:cNvSpPr/>
          <p:nvPr/>
        </p:nvSpPr>
        <p:spPr>
          <a:xfrm>
            <a:off x="2286000" y="3703320"/>
            <a:ext cx="3520440" cy="731520"/>
          </a:xfrm>
          <a:prstGeom prst="rect">
            <a:avLst/>
          </a:prstGeom>
          <a:noFill/>
          <a:ln/>
        </p:spPr>
        <p:txBody>
          <a:bodyPr wrap="square" rtlCol="0" anchor="ctr"/>
          <a:lstStyle/>
          <a:p>
            <a:pPr marL="0" indent="0">
              <a:lnSpc>
                <a:spcPts val="1400"/>
              </a:lnSpc>
              <a:buNone/>
            </a:pPr>
            <a:r>
              <a:rPr lang="en-US" sz="1200" dirty="0">
                <a:solidFill>
                  <a:srgbClr val="20232B"/>
                </a:solidFill>
                <a:latin typeface="Calibri" pitchFamily="34" charset="0"/>
                <a:ea typeface="Calibri" pitchFamily="34" charset="-122"/>
                <a:cs typeface="Calibri" pitchFamily="34" charset="-120"/>
              </a:rPr>
              <a:t>Municipio / zona rural, año en curso</a:t>
            </a:r>
            <a:endParaRPr lang="en-US" sz="1200" dirty="0"/>
          </a:p>
        </p:txBody>
      </p:sp>
      <p:sp>
        <p:nvSpPr>
          <p:cNvPr id="15" name="Shape 13"/>
          <p:cNvSpPr/>
          <p:nvPr/>
        </p:nvSpPr>
        <p:spPr>
          <a:xfrm>
            <a:off x="6126480" y="3703320"/>
            <a:ext cx="5349240" cy="731520"/>
          </a:xfrm>
          <a:prstGeom prst="roundRect">
            <a:avLst>
              <a:gd name="adj" fmla="val 10000"/>
            </a:avLst>
          </a:prstGeom>
          <a:solidFill>
            <a:srgbClr val="EEF2FC"/>
          </a:solidFill>
          <a:ln/>
          <a:effectLst>
            <a:outerShdw blurRad="76200" dist="25400" dir="5400000" algn="bl" rotWithShape="0">
              <a:srgbClr val="3A3F55">
                <a:alpha val="18000"/>
              </a:srgbClr>
            </a:outerShdw>
          </a:effectLst>
        </p:spPr>
      </p:sp>
      <p:sp>
        <p:nvSpPr>
          <p:cNvPr id="16" name="Text 14"/>
          <p:cNvSpPr/>
          <p:nvPr/>
        </p:nvSpPr>
        <p:spPr>
          <a:xfrm>
            <a:off x="6309360" y="3703320"/>
            <a:ext cx="1554480" cy="7315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Referente:</a:t>
            </a:r>
            <a:endParaRPr lang="en-US" sz="1250" dirty="0"/>
          </a:p>
        </p:txBody>
      </p:sp>
      <p:sp>
        <p:nvSpPr>
          <p:cNvPr id="17" name="Text 15"/>
          <p:cNvSpPr/>
          <p:nvPr/>
        </p:nvSpPr>
        <p:spPr>
          <a:xfrm>
            <a:off x="7863840" y="3703320"/>
            <a:ext cx="3520440" cy="731520"/>
          </a:xfrm>
          <a:prstGeom prst="rect">
            <a:avLst/>
          </a:prstGeom>
          <a:noFill/>
          <a:ln/>
        </p:spPr>
        <p:txBody>
          <a:bodyPr wrap="square" rtlCol="0" anchor="ctr"/>
          <a:lstStyle/>
          <a:p>
            <a:pPr marL="0" indent="0">
              <a:lnSpc>
                <a:spcPts val="1400"/>
              </a:lnSpc>
              <a:buNone/>
            </a:pPr>
            <a:r>
              <a:rPr lang="en-US" sz="1200" dirty="0">
                <a:solidFill>
                  <a:srgbClr val="20232B"/>
                </a:solidFill>
                <a:latin typeface="Calibri" pitchFamily="34" charset="0"/>
                <a:ea typeface="Calibri" pitchFamily="34" charset="-122"/>
                <a:cs typeface="Calibri" pitchFamily="34" charset="-120"/>
              </a:rPr>
              <a:t>Año inmediatamente anterior</a:t>
            </a:r>
            <a:endParaRPr lang="en-US" sz="1200" dirty="0"/>
          </a:p>
        </p:txBody>
      </p:sp>
      <p:sp>
        <p:nvSpPr>
          <p:cNvPr id="18" name="Shape 16"/>
          <p:cNvSpPr/>
          <p:nvPr/>
        </p:nvSpPr>
        <p:spPr>
          <a:xfrm>
            <a:off x="548640" y="4709160"/>
            <a:ext cx="11064240" cy="1463040"/>
          </a:xfrm>
          <a:prstGeom prst="roundRect">
            <a:avLst>
              <a:gd name="adj" fmla="val 5000"/>
            </a:avLst>
          </a:prstGeom>
          <a:solidFill>
            <a:srgbClr val="EEF2FC"/>
          </a:solidFill>
          <a:ln/>
          <a:effectLst>
            <a:outerShdw blurRad="76200" dist="25400" dir="5400000" algn="bl" rotWithShape="0">
              <a:srgbClr val="3A3F55">
                <a:alpha val="18000"/>
              </a:srgbClr>
            </a:outerShdw>
          </a:effectLst>
        </p:spPr>
      </p:sp>
      <p:sp>
        <p:nvSpPr>
          <p:cNvPr id="19" name="Text 17"/>
          <p:cNvSpPr/>
          <p:nvPr/>
        </p:nvSpPr>
        <p:spPr>
          <a:xfrm>
            <a:off x="822960" y="4846320"/>
            <a:ext cx="7315200" cy="320040"/>
          </a:xfrm>
          <a:prstGeom prst="rect">
            <a:avLst/>
          </a:prstGeom>
          <a:noFill/>
          <a:ln/>
        </p:spPr>
        <p:txBody>
          <a:bodyPr wrap="square" rtlCol="0" anchor="ctr"/>
          <a:lstStyle/>
          <a:p>
            <a:pPr marL="0" indent="0">
              <a:buNone/>
            </a:pPr>
            <a:r>
              <a:rPr lang="en-US" sz="1100" b="1" dirty="0">
                <a:solidFill>
                  <a:srgbClr val="B8860B"/>
                </a:solidFill>
                <a:latin typeface="Calibri" pitchFamily="34" charset="0"/>
                <a:ea typeface="Calibri" pitchFamily="34" charset="-122"/>
                <a:cs typeface="Calibri" pitchFamily="34" charset="-120"/>
              </a:rPr>
              <a:t>Pregunta de gestión refinada</a:t>
            </a:r>
            <a:endParaRPr lang="en-US" sz="1100" dirty="0"/>
          </a:p>
        </p:txBody>
      </p:sp>
      <p:sp>
        <p:nvSpPr>
          <p:cNvPr id="20" name="Text 18"/>
          <p:cNvSpPr/>
          <p:nvPr/>
        </p:nvSpPr>
        <p:spPr>
          <a:xfrm>
            <a:off x="822960" y="5138928"/>
            <a:ext cx="10424160" cy="914400"/>
          </a:xfrm>
          <a:prstGeom prst="rect">
            <a:avLst/>
          </a:prstGeom>
          <a:noFill/>
          <a:ln/>
        </p:spPr>
        <p:txBody>
          <a:bodyPr wrap="square" rtlCol="0" anchor="ctr"/>
          <a:lstStyle/>
          <a:p>
            <a:pPr marL="0" indent="0">
              <a:lnSpc>
                <a:spcPts val="1900"/>
              </a:lnSpc>
              <a:buNone/>
            </a:pPr>
            <a:r>
              <a:rPr lang="en-US" sz="1500" b="1" i="1" dirty="0">
                <a:solidFill>
                  <a:srgbClr val="1E2761"/>
                </a:solidFill>
                <a:latin typeface="Calibri" pitchFamily="34" charset="0"/>
                <a:ea typeface="Calibri" pitchFamily="34" charset="-122"/>
                <a:cs typeface="Calibri" pitchFamily="34" charset="-120"/>
              </a:rPr>
              <a:t>"¿Estamos garantizando controles prenatales adecuados a las gestantes de las zonas rurales del municipio, y estamos mejorando frente al año anterior?"</a:t>
            </a:r>
            <a:endParaRPr lang="en-US" sz="1500" dirty="0"/>
          </a:p>
        </p:txBody>
      </p:sp>
      <p:sp>
        <p:nvSpPr>
          <p:cNvPr id="21" name="Text 19"/>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22" name="Text 20"/>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54864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Caso guía: salud </a:t>
            </a:r>
            <a:r>
              <a:rPr lang="en-US" sz="2400" b="1" dirty="0" err="1">
                <a:solidFill>
                  <a:srgbClr val="1E2761"/>
                </a:solidFill>
                <a:latin typeface="Cambria" pitchFamily="34" charset="0"/>
                <a:ea typeface="Cambria" pitchFamily="34" charset="-122"/>
                <a:cs typeface="Cambria" pitchFamily="34" charset="-120"/>
              </a:rPr>
              <a:t>materna</a:t>
            </a:r>
            <a:r>
              <a:rPr lang="en-US" sz="2400" b="1" dirty="0">
                <a:solidFill>
                  <a:srgbClr val="1E2761"/>
                </a:solidFill>
                <a:latin typeface="Cambria" pitchFamily="34" charset="0"/>
                <a:ea typeface="Cambria" pitchFamily="34" charset="-122"/>
                <a:cs typeface="Cambria" pitchFamily="34" charset="-120"/>
              </a:rPr>
              <a:t> rural</a:t>
            </a:r>
            <a:endParaRPr lang="en-US" sz="2400" dirty="0"/>
          </a:p>
        </p:txBody>
      </p:sp>
      <p:sp>
        <p:nvSpPr>
          <p:cNvPr id="3" name="Shape 1"/>
          <p:cNvSpPr/>
          <p:nvPr/>
        </p:nvSpPr>
        <p:spPr>
          <a:xfrm>
            <a:off x="548640" y="960120"/>
            <a:ext cx="11064240" cy="594360"/>
          </a:xfrm>
          <a:prstGeom prst="roundRect">
            <a:avLst>
              <a:gd name="adj" fmla="val 12308"/>
            </a:avLst>
          </a:prstGeom>
          <a:solidFill>
            <a:srgbClr val="1E2761"/>
          </a:solidFill>
          <a:ln/>
        </p:spPr>
      </p:sp>
      <p:sp>
        <p:nvSpPr>
          <p:cNvPr id="4" name="Text 2"/>
          <p:cNvSpPr/>
          <p:nvPr/>
        </p:nvSpPr>
        <p:spPr>
          <a:xfrm>
            <a:off x="777240" y="960120"/>
            <a:ext cx="10607040" cy="59436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Indicador: % de gestantes rurales con 4 o más controles prenatales</a:t>
            </a:r>
            <a:endParaRPr lang="en-US" sz="1550" dirty="0"/>
          </a:p>
        </p:txBody>
      </p:sp>
      <p:sp>
        <p:nvSpPr>
          <p:cNvPr id="5" name="Shape 3"/>
          <p:cNvSpPr/>
          <p:nvPr/>
        </p:nvSpPr>
        <p:spPr>
          <a:xfrm>
            <a:off x="548640" y="1691640"/>
            <a:ext cx="11064240" cy="548640"/>
          </a:xfrm>
          <a:prstGeom prst="roundRect">
            <a:avLst>
              <a:gd name="adj" fmla="val 13333"/>
            </a:avLst>
          </a:prstGeom>
          <a:solidFill>
            <a:srgbClr val="EEF2FC"/>
          </a:solidFill>
          <a:ln/>
          <a:effectLst>
            <a:outerShdw blurRad="76200" dist="25400" dir="5400000" algn="bl" rotWithShape="0">
              <a:srgbClr val="3A3F55">
                <a:alpha val="18000"/>
              </a:srgbClr>
            </a:outerShdw>
          </a:effectLst>
        </p:spPr>
      </p:sp>
      <p:sp>
        <p:nvSpPr>
          <p:cNvPr id="6" name="Text 4"/>
          <p:cNvSpPr/>
          <p:nvPr/>
        </p:nvSpPr>
        <p:spPr>
          <a:xfrm>
            <a:off x="731520" y="1691640"/>
            <a:ext cx="1280160" cy="54864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Eslabón:</a:t>
            </a:r>
            <a:endParaRPr lang="en-US" sz="1150" dirty="0"/>
          </a:p>
        </p:txBody>
      </p:sp>
      <p:sp>
        <p:nvSpPr>
          <p:cNvPr id="7" name="Text 5"/>
          <p:cNvSpPr/>
          <p:nvPr/>
        </p:nvSpPr>
        <p:spPr>
          <a:xfrm>
            <a:off x="2011680" y="1691640"/>
            <a:ext cx="2377440" cy="548640"/>
          </a:xfrm>
          <a:prstGeom prst="rect">
            <a:avLst/>
          </a:prstGeom>
          <a:noFill/>
          <a:ln/>
        </p:spPr>
        <p:txBody>
          <a:bodyPr wrap="square" rtlCol="0" anchor="ctr"/>
          <a:lstStyle/>
          <a:p>
            <a:pPr marL="0" indent="0">
              <a:buNone/>
            </a:pPr>
            <a:r>
              <a:rPr lang="en-US" sz="1150" dirty="0">
                <a:solidFill>
                  <a:srgbClr val="20232B"/>
                </a:solidFill>
                <a:latin typeface="Calibri" pitchFamily="34" charset="0"/>
                <a:ea typeface="Calibri" pitchFamily="34" charset="-122"/>
                <a:cs typeface="Calibri" pitchFamily="34" charset="-120"/>
              </a:rPr>
              <a:t>Resultado</a:t>
            </a:r>
            <a:endParaRPr lang="en-US" sz="1150" dirty="0"/>
          </a:p>
        </p:txBody>
      </p:sp>
      <p:sp>
        <p:nvSpPr>
          <p:cNvPr id="8" name="Text 6"/>
          <p:cNvSpPr/>
          <p:nvPr/>
        </p:nvSpPr>
        <p:spPr>
          <a:xfrm>
            <a:off x="4572000" y="1691640"/>
            <a:ext cx="1828800" cy="54864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Unidad de medida:</a:t>
            </a:r>
            <a:endParaRPr lang="en-US" sz="1150" dirty="0"/>
          </a:p>
        </p:txBody>
      </p:sp>
      <p:sp>
        <p:nvSpPr>
          <p:cNvPr id="9" name="Text 7"/>
          <p:cNvSpPr/>
          <p:nvPr/>
        </p:nvSpPr>
        <p:spPr>
          <a:xfrm>
            <a:off x="6492240" y="1691640"/>
            <a:ext cx="4937760" cy="548640"/>
          </a:xfrm>
          <a:prstGeom prst="rect">
            <a:avLst/>
          </a:prstGeom>
          <a:noFill/>
          <a:ln/>
        </p:spPr>
        <p:txBody>
          <a:bodyPr wrap="square" rtlCol="0" anchor="ctr"/>
          <a:lstStyle/>
          <a:p>
            <a:pPr marL="0" indent="0">
              <a:buNone/>
            </a:pPr>
            <a:r>
              <a:rPr lang="en-US" sz="1150" dirty="0">
                <a:solidFill>
                  <a:srgbClr val="20232B"/>
                </a:solidFill>
                <a:latin typeface="Calibri" pitchFamily="34" charset="0"/>
                <a:ea typeface="Calibri" pitchFamily="34" charset="-122"/>
                <a:cs typeface="Calibri" pitchFamily="34" charset="-120"/>
              </a:rPr>
              <a:t>Porcentaje (%)</a:t>
            </a:r>
            <a:endParaRPr lang="en-US" sz="1150" dirty="0"/>
          </a:p>
        </p:txBody>
      </p:sp>
      <p:sp>
        <p:nvSpPr>
          <p:cNvPr id="10" name="Shape 8"/>
          <p:cNvSpPr/>
          <p:nvPr/>
        </p:nvSpPr>
        <p:spPr>
          <a:xfrm>
            <a:off x="548640" y="2331720"/>
            <a:ext cx="11064240" cy="822960"/>
          </a:xfrm>
          <a:prstGeom prst="roundRect">
            <a:avLst>
              <a:gd name="adj" fmla="val 8889"/>
            </a:avLst>
          </a:prstGeom>
          <a:solidFill>
            <a:srgbClr val="FFFFFF"/>
          </a:solidFill>
          <a:ln w="12700">
            <a:solidFill>
              <a:srgbClr val="CADCFC"/>
            </a:solidFill>
            <a:prstDash val="solid"/>
          </a:ln>
          <a:effectLst>
            <a:outerShdw blurRad="76200" dist="25400" dir="5400000" algn="bl" rotWithShape="0">
              <a:srgbClr val="3A3F55">
                <a:alpha val="18000"/>
              </a:srgbClr>
            </a:outerShdw>
          </a:effectLst>
        </p:spPr>
      </p:sp>
      <p:sp>
        <p:nvSpPr>
          <p:cNvPr id="11" name="Text 9"/>
          <p:cNvSpPr/>
          <p:nvPr/>
        </p:nvSpPr>
        <p:spPr>
          <a:xfrm>
            <a:off x="731520" y="2331720"/>
            <a:ext cx="1280160" cy="82296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Fórmula:</a:t>
            </a:r>
            <a:endParaRPr lang="en-US" sz="1150" dirty="0"/>
          </a:p>
        </p:txBody>
      </p:sp>
      <p:sp>
        <p:nvSpPr>
          <p:cNvPr id="12" name="Text 10"/>
          <p:cNvSpPr/>
          <p:nvPr/>
        </p:nvSpPr>
        <p:spPr>
          <a:xfrm>
            <a:off x="2011680" y="2331720"/>
            <a:ext cx="9418320" cy="822960"/>
          </a:xfrm>
          <a:prstGeom prst="rect">
            <a:avLst/>
          </a:prstGeom>
          <a:noFill/>
          <a:ln/>
        </p:spPr>
        <p:txBody>
          <a:bodyPr wrap="square" rtlCol="0" anchor="ctr"/>
          <a:lstStyle/>
          <a:p>
            <a:pPr marL="0" indent="0">
              <a:lnSpc>
                <a:spcPts val="1400"/>
              </a:lnSpc>
              <a:buNone/>
            </a:pPr>
            <a:r>
              <a:rPr lang="en-US" sz="1150" i="1" dirty="0">
                <a:solidFill>
                  <a:srgbClr val="20232B"/>
                </a:solidFill>
                <a:latin typeface="Calibri" pitchFamily="34" charset="0"/>
                <a:ea typeface="Calibri" pitchFamily="34" charset="-122"/>
                <a:cs typeface="Calibri" pitchFamily="34" charset="-120"/>
              </a:rPr>
              <a:t>(N.º de gestantes rurales con parto y 4 o más controles prenatales / N.º total de gestantes rurales con parto en el periodo) × 100, comparando el año actual con el año anterior</a:t>
            </a:r>
            <a:endParaRPr lang="en-US" sz="1150" dirty="0"/>
          </a:p>
        </p:txBody>
      </p:sp>
      <p:sp>
        <p:nvSpPr>
          <p:cNvPr id="13" name="Shape 11"/>
          <p:cNvSpPr/>
          <p:nvPr/>
        </p:nvSpPr>
        <p:spPr>
          <a:xfrm>
            <a:off x="548640" y="3246120"/>
            <a:ext cx="11064240" cy="548640"/>
          </a:xfrm>
          <a:prstGeom prst="roundRect">
            <a:avLst>
              <a:gd name="adj" fmla="val 13333"/>
            </a:avLst>
          </a:prstGeom>
          <a:solidFill>
            <a:srgbClr val="EEF2FC"/>
          </a:solidFill>
          <a:ln/>
          <a:effectLst>
            <a:outerShdw blurRad="76200" dist="25400" dir="5400000" algn="bl" rotWithShape="0">
              <a:srgbClr val="3A3F55">
                <a:alpha val="18000"/>
              </a:srgbClr>
            </a:outerShdw>
          </a:effectLst>
        </p:spPr>
      </p:sp>
      <p:sp>
        <p:nvSpPr>
          <p:cNvPr id="14" name="Text 12"/>
          <p:cNvSpPr/>
          <p:nvPr/>
        </p:nvSpPr>
        <p:spPr>
          <a:xfrm>
            <a:off x="731520" y="3246120"/>
            <a:ext cx="1097280" cy="54864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Fuente:</a:t>
            </a:r>
            <a:endParaRPr lang="en-US" sz="1150" dirty="0"/>
          </a:p>
        </p:txBody>
      </p:sp>
      <p:sp>
        <p:nvSpPr>
          <p:cNvPr id="15" name="Text 13"/>
          <p:cNvSpPr/>
          <p:nvPr/>
        </p:nvSpPr>
        <p:spPr>
          <a:xfrm>
            <a:off x="1828800" y="3246120"/>
            <a:ext cx="4480560" cy="548640"/>
          </a:xfrm>
          <a:prstGeom prst="rect">
            <a:avLst/>
          </a:prstGeom>
          <a:noFill/>
          <a:ln/>
        </p:spPr>
        <p:txBody>
          <a:bodyPr wrap="square" rtlCol="0" anchor="ctr"/>
          <a:lstStyle/>
          <a:p>
            <a:pPr marL="0" indent="0">
              <a:buNone/>
            </a:pPr>
            <a:r>
              <a:rPr lang="en-US" sz="1080" dirty="0">
                <a:solidFill>
                  <a:srgbClr val="20232B"/>
                </a:solidFill>
                <a:latin typeface="Calibri" pitchFamily="34" charset="0"/>
                <a:ea typeface="Calibri" pitchFamily="34" charset="-122"/>
                <a:cs typeface="Calibri" pitchFamily="34" charset="-120"/>
              </a:rPr>
              <a:t>RIPS – SISPRO (Min. Salud); historia clínica materno-perinatal</a:t>
            </a:r>
            <a:endParaRPr lang="en-US" sz="1080" dirty="0"/>
          </a:p>
        </p:txBody>
      </p:sp>
      <p:sp>
        <p:nvSpPr>
          <p:cNvPr id="16" name="Text 14"/>
          <p:cNvSpPr/>
          <p:nvPr/>
        </p:nvSpPr>
        <p:spPr>
          <a:xfrm>
            <a:off x="6400800" y="3246120"/>
            <a:ext cx="1371600" cy="54864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Periodicidad:</a:t>
            </a:r>
            <a:endParaRPr lang="en-US" sz="1150" dirty="0"/>
          </a:p>
        </p:txBody>
      </p:sp>
      <p:sp>
        <p:nvSpPr>
          <p:cNvPr id="17" name="Text 15"/>
          <p:cNvSpPr/>
          <p:nvPr/>
        </p:nvSpPr>
        <p:spPr>
          <a:xfrm>
            <a:off x="7772400" y="3246120"/>
            <a:ext cx="3749040" cy="548640"/>
          </a:xfrm>
          <a:prstGeom prst="rect">
            <a:avLst/>
          </a:prstGeom>
          <a:noFill/>
          <a:ln/>
        </p:spPr>
        <p:txBody>
          <a:bodyPr wrap="square" rtlCol="0" anchor="ctr"/>
          <a:lstStyle/>
          <a:p>
            <a:pPr marL="0" indent="0">
              <a:buNone/>
            </a:pPr>
            <a:r>
              <a:rPr lang="en-US" sz="1080" dirty="0">
                <a:solidFill>
                  <a:srgbClr val="20232B"/>
                </a:solidFill>
                <a:latin typeface="Calibri" pitchFamily="34" charset="0"/>
                <a:ea typeface="Calibri" pitchFamily="34" charset="-122"/>
                <a:cs typeface="Calibri" pitchFamily="34" charset="-120"/>
              </a:rPr>
              <a:t>Trimestral, corte comparativo anual</a:t>
            </a:r>
            <a:endParaRPr lang="en-US" sz="1080" dirty="0"/>
          </a:p>
        </p:txBody>
      </p:sp>
      <p:sp>
        <p:nvSpPr>
          <p:cNvPr id="18" name="Shape 16"/>
          <p:cNvSpPr/>
          <p:nvPr/>
        </p:nvSpPr>
        <p:spPr>
          <a:xfrm>
            <a:off x="548640" y="3886200"/>
            <a:ext cx="11064240" cy="548640"/>
          </a:xfrm>
          <a:prstGeom prst="roundRect">
            <a:avLst>
              <a:gd name="adj" fmla="val 13333"/>
            </a:avLst>
          </a:prstGeom>
          <a:solidFill>
            <a:srgbClr val="FFFFFF"/>
          </a:solidFill>
          <a:ln w="12700">
            <a:solidFill>
              <a:srgbClr val="CADCFC"/>
            </a:solidFill>
            <a:prstDash val="solid"/>
          </a:ln>
          <a:effectLst>
            <a:outerShdw blurRad="76200" dist="25400" dir="5400000" algn="bl" rotWithShape="0">
              <a:srgbClr val="3A3F55">
                <a:alpha val="18000"/>
              </a:srgbClr>
            </a:outerShdw>
          </a:effectLst>
        </p:spPr>
      </p:sp>
      <p:sp>
        <p:nvSpPr>
          <p:cNvPr id="19" name="Text 17"/>
          <p:cNvSpPr/>
          <p:nvPr/>
        </p:nvSpPr>
        <p:spPr>
          <a:xfrm>
            <a:off x="731520" y="3886200"/>
            <a:ext cx="1554480" cy="54864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Desagregación:</a:t>
            </a:r>
            <a:endParaRPr lang="en-US" sz="1150" dirty="0"/>
          </a:p>
        </p:txBody>
      </p:sp>
      <p:sp>
        <p:nvSpPr>
          <p:cNvPr id="20" name="Text 18"/>
          <p:cNvSpPr/>
          <p:nvPr/>
        </p:nvSpPr>
        <p:spPr>
          <a:xfrm>
            <a:off x="2286000" y="3886200"/>
            <a:ext cx="4023360" cy="548640"/>
          </a:xfrm>
          <a:prstGeom prst="rect">
            <a:avLst/>
          </a:prstGeom>
          <a:noFill/>
          <a:ln/>
        </p:spPr>
        <p:txBody>
          <a:bodyPr wrap="square" rtlCol="0" anchor="ctr"/>
          <a:lstStyle/>
          <a:p>
            <a:pPr marL="0" indent="0">
              <a:buNone/>
            </a:pPr>
            <a:r>
              <a:rPr lang="en-US" sz="1080" dirty="0">
                <a:solidFill>
                  <a:srgbClr val="20232B"/>
                </a:solidFill>
                <a:latin typeface="Calibri" pitchFamily="34" charset="0"/>
                <a:ea typeface="Calibri" pitchFamily="34" charset="-122"/>
                <a:cs typeface="Calibri" pitchFamily="34" charset="-120"/>
              </a:rPr>
              <a:t>Municipio, centro poblado, régimen, grupo étnico</a:t>
            </a:r>
            <a:endParaRPr lang="en-US" sz="1080" dirty="0"/>
          </a:p>
        </p:txBody>
      </p:sp>
      <p:sp>
        <p:nvSpPr>
          <p:cNvPr id="21" name="Text 19"/>
          <p:cNvSpPr/>
          <p:nvPr/>
        </p:nvSpPr>
        <p:spPr>
          <a:xfrm>
            <a:off x="6400800" y="3886200"/>
            <a:ext cx="1371600" cy="54864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Responsable:</a:t>
            </a:r>
            <a:endParaRPr lang="en-US" sz="1150" dirty="0"/>
          </a:p>
        </p:txBody>
      </p:sp>
      <p:sp>
        <p:nvSpPr>
          <p:cNvPr id="22" name="Text 20"/>
          <p:cNvSpPr/>
          <p:nvPr/>
        </p:nvSpPr>
        <p:spPr>
          <a:xfrm>
            <a:off x="7772400" y="3886200"/>
            <a:ext cx="3749040" cy="548640"/>
          </a:xfrm>
          <a:prstGeom prst="rect">
            <a:avLst/>
          </a:prstGeom>
          <a:noFill/>
          <a:ln/>
        </p:spPr>
        <p:txBody>
          <a:bodyPr wrap="square" rtlCol="0" anchor="ctr"/>
          <a:lstStyle/>
          <a:p>
            <a:pPr marL="0" indent="0">
              <a:buNone/>
            </a:pPr>
            <a:r>
              <a:rPr lang="en-US" sz="1080" dirty="0">
                <a:solidFill>
                  <a:srgbClr val="20232B"/>
                </a:solidFill>
                <a:latin typeface="Calibri" pitchFamily="34" charset="0"/>
                <a:ea typeface="Calibri" pitchFamily="34" charset="-122"/>
                <a:cs typeface="Calibri" pitchFamily="34" charset="-120"/>
              </a:rPr>
              <a:t>Secretaría de Salud (epidemiología)</a:t>
            </a:r>
            <a:endParaRPr lang="en-US" sz="1080" dirty="0"/>
          </a:p>
        </p:txBody>
      </p:sp>
      <p:sp>
        <p:nvSpPr>
          <p:cNvPr id="23" name="Shape 21"/>
          <p:cNvSpPr/>
          <p:nvPr/>
        </p:nvSpPr>
        <p:spPr>
          <a:xfrm>
            <a:off x="548640" y="4617720"/>
            <a:ext cx="11064240" cy="1600200"/>
          </a:xfrm>
          <a:prstGeom prst="roundRect">
            <a:avLst>
              <a:gd name="adj" fmla="val 4571"/>
            </a:avLst>
          </a:prstGeom>
          <a:solidFill>
            <a:srgbClr val="1E2761"/>
          </a:solidFill>
          <a:ln/>
          <a:effectLst>
            <a:outerShdw blurRad="76200" dist="25400" dir="5400000" algn="bl" rotWithShape="0">
              <a:srgbClr val="3A3F55">
                <a:alpha val="18000"/>
              </a:srgbClr>
            </a:outerShdw>
          </a:effectLst>
        </p:spPr>
      </p:sp>
      <p:sp>
        <p:nvSpPr>
          <p:cNvPr id="24" name="Text 22"/>
          <p:cNvSpPr/>
          <p:nvPr/>
        </p:nvSpPr>
        <p:spPr>
          <a:xfrm>
            <a:off x="777240" y="4754880"/>
            <a:ext cx="3657600" cy="320040"/>
          </a:xfrm>
          <a:prstGeom prst="rect">
            <a:avLst/>
          </a:prstGeom>
          <a:noFill/>
          <a:ln/>
        </p:spPr>
        <p:txBody>
          <a:bodyPr wrap="square" rtlCol="0" anchor="ctr"/>
          <a:lstStyle/>
          <a:p>
            <a:pPr marL="0" indent="0">
              <a:buNone/>
            </a:pPr>
            <a:r>
              <a:rPr lang="en-US" sz="1100" b="1" dirty="0">
                <a:solidFill>
                  <a:srgbClr val="B8860B"/>
                </a:solidFill>
                <a:latin typeface="Calibri" pitchFamily="34" charset="0"/>
                <a:ea typeface="Calibri" pitchFamily="34" charset="-122"/>
                <a:cs typeface="Calibri" pitchFamily="34" charset="-120"/>
              </a:rPr>
              <a:t>Interpretación</a:t>
            </a:r>
            <a:endParaRPr lang="en-US" sz="1100" dirty="0"/>
          </a:p>
        </p:txBody>
      </p:sp>
      <p:sp>
        <p:nvSpPr>
          <p:cNvPr id="25" name="Text 23"/>
          <p:cNvSpPr/>
          <p:nvPr/>
        </p:nvSpPr>
        <p:spPr>
          <a:xfrm>
            <a:off x="777240" y="5074920"/>
            <a:ext cx="10607040" cy="1097280"/>
          </a:xfrm>
          <a:prstGeom prst="rect">
            <a:avLst/>
          </a:prstGeom>
          <a:noFill/>
          <a:ln/>
        </p:spPr>
        <p:txBody>
          <a:bodyPr wrap="square" rtlCol="0" anchor="ctr"/>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Un aumento indica mejor acceso y oportunidad en el control prenatal; una caída puede señalar barreras geográficas, culturales o de oferta de servicios. Limitación: posible subregistro en zonas de baja conectividad; el indicador mide frecuencia, no calidad clínica del control.</a:t>
            </a:r>
            <a:endParaRPr lang="en-US" sz="1200" dirty="0"/>
          </a:p>
        </p:txBody>
      </p:sp>
      <p:sp>
        <p:nvSpPr>
          <p:cNvPr id="26" name="Text 24"/>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27" name="Text 25"/>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El método es transferible a cualquier sector</a:t>
            </a:r>
            <a:endParaRPr lang="en-US" sz="2700" dirty="0"/>
          </a:p>
        </p:txBody>
      </p:sp>
      <p:sp>
        <p:nvSpPr>
          <p:cNvPr id="3" name="Shape 1"/>
          <p:cNvSpPr/>
          <p:nvPr/>
        </p:nvSpPr>
        <p:spPr>
          <a:xfrm>
            <a:off x="548640" y="1234440"/>
            <a:ext cx="3566160" cy="5029200"/>
          </a:xfrm>
          <a:prstGeom prst="roundRect">
            <a:avLst>
              <a:gd name="adj" fmla="val 2051"/>
            </a:avLst>
          </a:prstGeom>
          <a:solidFill>
            <a:srgbClr val="EEF2FC"/>
          </a:solidFill>
          <a:ln/>
          <a:effectLst>
            <a:outerShdw blurRad="76200" dist="25400" dir="5400000" algn="bl" rotWithShape="0">
              <a:srgbClr val="3A3F55">
                <a:alpha val="18000"/>
              </a:srgbClr>
            </a:outerShdw>
          </a:effectLst>
        </p:spPr>
      </p:sp>
      <p:sp>
        <p:nvSpPr>
          <p:cNvPr id="4" name="Shape 2"/>
          <p:cNvSpPr/>
          <p:nvPr/>
        </p:nvSpPr>
        <p:spPr>
          <a:xfrm>
            <a:off x="2011680" y="1463040"/>
            <a:ext cx="640080" cy="640080"/>
          </a:xfrm>
          <a:prstGeom prst="ellipse">
            <a:avLst/>
          </a:prstGeom>
          <a:solidFill>
            <a:srgbClr val="1E2761"/>
          </a:solidFill>
          <a:ln/>
        </p:spPr>
      </p:sp>
      <p:sp>
        <p:nvSpPr>
          <p:cNvPr id="5" name="Text 3"/>
          <p:cNvSpPr/>
          <p:nvPr/>
        </p:nvSpPr>
        <p:spPr>
          <a:xfrm>
            <a:off x="2011680" y="146304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a:t>
            </a:r>
            <a:endParaRPr lang="en-US" sz="1820" dirty="0"/>
          </a:p>
        </p:txBody>
      </p:sp>
      <p:sp>
        <p:nvSpPr>
          <p:cNvPr id="6" name="Text 4"/>
          <p:cNvSpPr/>
          <p:nvPr/>
        </p:nvSpPr>
        <p:spPr>
          <a:xfrm>
            <a:off x="548640" y="2240280"/>
            <a:ext cx="3566160" cy="365760"/>
          </a:xfrm>
          <a:prstGeom prst="rect">
            <a:avLst/>
          </a:prstGeom>
          <a:noFill/>
          <a:ln/>
        </p:spPr>
        <p:txBody>
          <a:bodyPr wrap="square"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Educación</a:t>
            </a:r>
            <a:endParaRPr lang="en-US" sz="1500" dirty="0"/>
          </a:p>
        </p:txBody>
      </p:sp>
      <p:sp>
        <p:nvSpPr>
          <p:cNvPr id="7" name="Text 5"/>
          <p:cNvSpPr/>
          <p:nvPr/>
        </p:nvSpPr>
        <p:spPr>
          <a:xfrm>
            <a:off x="777240" y="2651760"/>
            <a:ext cx="3108960" cy="457200"/>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¿Cómo va la educación?</a:t>
            </a:r>
            <a:endParaRPr lang="en-US" sz="1100" dirty="0"/>
          </a:p>
        </p:txBody>
      </p:sp>
      <p:sp>
        <p:nvSpPr>
          <p:cNvPr id="8" name="Shape 6"/>
          <p:cNvSpPr/>
          <p:nvPr/>
        </p:nvSpPr>
        <p:spPr>
          <a:xfrm>
            <a:off x="1005840" y="3127248"/>
            <a:ext cx="2651760" cy="0"/>
          </a:xfrm>
          <a:prstGeom prst="line">
            <a:avLst/>
          </a:prstGeom>
          <a:noFill/>
          <a:ln w="12700">
            <a:solidFill>
              <a:srgbClr val="CADCFC"/>
            </a:solidFill>
            <a:prstDash val="solid"/>
          </a:ln>
        </p:spPr>
      </p:sp>
      <p:sp>
        <p:nvSpPr>
          <p:cNvPr id="9" name="Text 7"/>
          <p:cNvSpPr/>
          <p:nvPr/>
        </p:nvSpPr>
        <p:spPr>
          <a:xfrm>
            <a:off x="777240" y="3246120"/>
            <a:ext cx="3108960" cy="274320"/>
          </a:xfrm>
          <a:prstGeom prst="rect">
            <a:avLst/>
          </a:prstGeom>
          <a:noFill/>
          <a:ln/>
        </p:spPr>
        <p:txBody>
          <a:bodyPr wrap="square" rtlCol="0" anchor="ctr"/>
          <a:lstStyle/>
          <a:p>
            <a:pPr marL="0" indent="0">
              <a:buNone/>
            </a:pPr>
            <a:r>
              <a:rPr lang="en-US" sz="950" b="1" dirty="0">
                <a:solidFill>
                  <a:srgbClr val="B8860B"/>
                </a:solidFill>
                <a:latin typeface="Calibri" pitchFamily="34" charset="0"/>
                <a:ea typeface="Calibri" pitchFamily="34" charset="-122"/>
                <a:cs typeface="Calibri" pitchFamily="34" charset="-120"/>
              </a:rPr>
              <a:t>INDICADOR</a:t>
            </a:r>
            <a:endParaRPr lang="en-US" sz="950" dirty="0"/>
          </a:p>
        </p:txBody>
      </p:sp>
      <p:sp>
        <p:nvSpPr>
          <p:cNvPr id="10" name="Text 8"/>
          <p:cNvSpPr/>
          <p:nvPr/>
        </p:nvSpPr>
        <p:spPr>
          <a:xfrm>
            <a:off x="777240" y="3520440"/>
            <a:ext cx="3108960" cy="1417320"/>
          </a:xfrm>
          <a:prstGeom prst="rect">
            <a:avLst/>
          </a:prstGeom>
          <a:noFill/>
          <a:ln/>
        </p:spPr>
        <p:txBody>
          <a:bodyPr wrap="square" rtlCol="0" anchor="ctr"/>
          <a:lstStyle/>
          <a:p>
            <a:pPr marL="0" indent="0">
              <a:lnSpc>
                <a:spcPts val="1400"/>
              </a:lnSpc>
              <a:buNone/>
            </a:pPr>
            <a:r>
              <a:rPr lang="en-US" sz="1150" dirty="0">
                <a:solidFill>
                  <a:srgbClr val="20232B"/>
                </a:solidFill>
                <a:latin typeface="Calibri" pitchFamily="34" charset="0"/>
                <a:ea typeface="Calibri" pitchFamily="34" charset="-122"/>
                <a:cs typeface="Calibri" pitchFamily="34" charset="-120"/>
              </a:rPr>
              <a:t>Tasa de deserción escolar intra-anual en sedes rurales, vs. meta del plan de desarrollo</a:t>
            </a:r>
            <a:endParaRPr lang="en-US" sz="1150" dirty="0"/>
          </a:p>
        </p:txBody>
      </p:sp>
      <p:sp>
        <p:nvSpPr>
          <p:cNvPr id="11" name="Text 9"/>
          <p:cNvSpPr/>
          <p:nvPr/>
        </p:nvSpPr>
        <p:spPr>
          <a:xfrm>
            <a:off x="777240" y="5029200"/>
            <a:ext cx="3108960" cy="274320"/>
          </a:xfrm>
          <a:prstGeom prst="rect">
            <a:avLst/>
          </a:prstGeom>
          <a:noFill/>
          <a:ln/>
        </p:spPr>
        <p:txBody>
          <a:bodyPr wrap="square" rtlCol="0" anchor="ctr"/>
          <a:lstStyle/>
          <a:p>
            <a:pPr marL="0" indent="0">
              <a:buNone/>
            </a:pPr>
            <a:r>
              <a:rPr lang="en-US" sz="950" b="1" dirty="0">
                <a:solidFill>
                  <a:srgbClr val="B8860B"/>
                </a:solidFill>
                <a:latin typeface="Calibri" pitchFamily="34" charset="0"/>
                <a:ea typeface="Calibri" pitchFamily="34" charset="-122"/>
                <a:cs typeface="Calibri" pitchFamily="34" charset="-120"/>
              </a:rPr>
              <a:t>FUENTE</a:t>
            </a:r>
            <a:endParaRPr lang="en-US" sz="950" dirty="0"/>
          </a:p>
        </p:txBody>
      </p:sp>
      <p:sp>
        <p:nvSpPr>
          <p:cNvPr id="12" name="Text 10"/>
          <p:cNvSpPr/>
          <p:nvPr/>
        </p:nvSpPr>
        <p:spPr>
          <a:xfrm>
            <a:off x="777240" y="5285232"/>
            <a:ext cx="3108960" cy="822960"/>
          </a:xfrm>
          <a:prstGeom prst="rect">
            <a:avLst/>
          </a:prstGeom>
          <a:noFill/>
          <a:ln/>
        </p:spPr>
        <p:txBody>
          <a:bodyPr wrap="square" rtlCol="0" anchor="ctr"/>
          <a:lstStyle/>
          <a:p>
            <a:pPr marL="0" indent="0">
              <a:lnSpc>
                <a:spcPts val="1300"/>
              </a:lnSpc>
              <a:buNone/>
            </a:pPr>
            <a:r>
              <a:rPr lang="en-US" sz="1050" i="1" dirty="0">
                <a:solidFill>
                  <a:srgbClr val="5B6472"/>
                </a:solidFill>
                <a:latin typeface="Calibri" pitchFamily="34" charset="0"/>
                <a:ea typeface="Calibri" pitchFamily="34" charset="-122"/>
                <a:cs typeface="Calibri" pitchFamily="34" charset="-120"/>
              </a:rPr>
              <a:t>SIMAT / Secretaría de Educación</a:t>
            </a:r>
            <a:endParaRPr lang="en-US" sz="1050" dirty="0"/>
          </a:p>
        </p:txBody>
      </p:sp>
      <p:sp>
        <p:nvSpPr>
          <p:cNvPr id="13" name="Shape 11"/>
          <p:cNvSpPr/>
          <p:nvPr/>
        </p:nvSpPr>
        <p:spPr>
          <a:xfrm>
            <a:off x="4343400" y="1234440"/>
            <a:ext cx="3566160" cy="5029200"/>
          </a:xfrm>
          <a:prstGeom prst="roundRect">
            <a:avLst>
              <a:gd name="adj" fmla="val 2051"/>
            </a:avLst>
          </a:prstGeom>
          <a:solidFill>
            <a:srgbClr val="EEF2FC"/>
          </a:solidFill>
          <a:ln/>
          <a:effectLst>
            <a:outerShdw blurRad="76200" dist="25400" dir="5400000" algn="bl" rotWithShape="0">
              <a:srgbClr val="3A3F55">
                <a:alpha val="18000"/>
              </a:srgbClr>
            </a:outerShdw>
          </a:effectLst>
        </p:spPr>
      </p:sp>
      <p:sp>
        <p:nvSpPr>
          <p:cNvPr id="14" name="Shape 12"/>
          <p:cNvSpPr/>
          <p:nvPr/>
        </p:nvSpPr>
        <p:spPr>
          <a:xfrm>
            <a:off x="5806440" y="1463040"/>
            <a:ext cx="640080" cy="640080"/>
          </a:xfrm>
          <a:prstGeom prst="ellipse">
            <a:avLst/>
          </a:prstGeom>
          <a:solidFill>
            <a:srgbClr val="1E2761"/>
          </a:solidFill>
          <a:ln/>
        </p:spPr>
      </p:sp>
      <p:sp>
        <p:nvSpPr>
          <p:cNvPr id="15" name="Text 13"/>
          <p:cNvSpPr/>
          <p:nvPr/>
        </p:nvSpPr>
        <p:spPr>
          <a:xfrm>
            <a:off x="5806440" y="146304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a:t>
            </a:r>
            <a:endParaRPr lang="en-US" sz="1820" dirty="0"/>
          </a:p>
        </p:txBody>
      </p:sp>
      <p:sp>
        <p:nvSpPr>
          <p:cNvPr id="16" name="Text 14"/>
          <p:cNvSpPr/>
          <p:nvPr/>
        </p:nvSpPr>
        <p:spPr>
          <a:xfrm>
            <a:off x="4343400" y="2240280"/>
            <a:ext cx="3566160" cy="365760"/>
          </a:xfrm>
          <a:prstGeom prst="rect">
            <a:avLst/>
          </a:prstGeom>
          <a:noFill/>
          <a:ln/>
        </p:spPr>
        <p:txBody>
          <a:bodyPr wrap="square"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Seguridad</a:t>
            </a:r>
            <a:endParaRPr lang="en-US" sz="1500" dirty="0"/>
          </a:p>
        </p:txBody>
      </p:sp>
      <p:sp>
        <p:nvSpPr>
          <p:cNvPr id="17" name="Text 15"/>
          <p:cNvSpPr/>
          <p:nvPr/>
        </p:nvSpPr>
        <p:spPr>
          <a:xfrm>
            <a:off x="4572000" y="2651760"/>
            <a:ext cx="3108960" cy="457200"/>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¿Cómo va la seguridad?</a:t>
            </a:r>
            <a:endParaRPr lang="en-US" sz="1100" dirty="0"/>
          </a:p>
        </p:txBody>
      </p:sp>
      <p:sp>
        <p:nvSpPr>
          <p:cNvPr id="18" name="Shape 16"/>
          <p:cNvSpPr/>
          <p:nvPr/>
        </p:nvSpPr>
        <p:spPr>
          <a:xfrm>
            <a:off x="4800600" y="3127248"/>
            <a:ext cx="2651760" cy="0"/>
          </a:xfrm>
          <a:prstGeom prst="line">
            <a:avLst/>
          </a:prstGeom>
          <a:noFill/>
          <a:ln w="12700">
            <a:solidFill>
              <a:srgbClr val="CADCFC"/>
            </a:solidFill>
            <a:prstDash val="solid"/>
          </a:ln>
        </p:spPr>
      </p:sp>
      <p:sp>
        <p:nvSpPr>
          <p:cNvPr id="19" name="Text 17"/>
          <p:cNvSpPr/>
          <p:nvPr/>
        </p:nvSpPr>
        <p:spPr>
          <a:xfrm>
            <a:off x="4572000" y="3246120"/>
            <a:ext cx="3108960" cy="274320"/>
          </a:xfrm>
          <a:prstGeom prst="rect">
            <a:avLst/>
          </a:prstGeom>
          <a:noFill/>
          <a:ln/>
        </p:spPr>
        <p:txBody>
          <a:bodyPr wrap="square" rtlCol="0" anchor="ctr"/>
          <a:lstStyle/>
          <a:p>
            <a:pPr marL="0" indent="0">
              <a:buNone/>
            </a:pPr>
            <a:r>
              <a:rPr lang="en-US" sz="950" b="1" dirty="0">
                <a:solidFill>
                  <a:srgbClr val="B8860B"/>
                </a:solidFill>
                <a:latin typeface="Calibri" pitchFamily="34" charset="0"/>
                <a:ea typeface="Calibri" pitchFamily="34" charset="-122"/>
                <a:cs typeface="Calibri" pitchFamily="34" charset="-120"/>
              </a:rPr>
              <a:t>INDICADOR</a:t>
            </a:r>
            <a:endParaRPr lang="en-US" sz="950" dirty="0"/>
          </a:p>
        </p:txBody>
      </p:sp>
      <p:sp>
        <p:nvSpPr>
          <p:cNvPr id="20" name="Text 18"/>
          <p:cNvSpPr/>
          <p:nvPr/>
        </p:nvSpPr>
        <p:spPr>
          <a:xfrm>
            <a:off x="4572000" y="3520440"/>
            <a:ext cx="3108960" cy="1417320"/>
          </a:xfrm>
          <a:prstGeom prst="rect">
            <a:avLst/>
          </a:prstGeom>
          <a:noFill/>
          <a:ln/>
        </p:spPr>
        <p:txBody>
          <a:bodyPr wrap="square" rtlCol="0" anchor="ctr"/>
          <a:lstStyle/>
          <a:p>
            <a:pPr marL="0" indent="0">
              <a:lnSpc>
                <a:spcPts val="1400"/>
              </a:lnSpc>
              <a:buNone/>
            </a:pPr>
            <a:r>
              <a:rPr lang="en-US" sz="1150" dirty="0">
                <a:solidFill>
                  <a:srgbClr val="20232B"/>
                </a:solidFill>
                <a:latin typeface="Calibri" pitchFamily="34" charset="0"/>
                <a:ea typeface="Calibri" pitchFamily="34" charset="-122"/>
                <a:cs typeface="Calibri" pitchFamily="34" charset="-120"/>
              </a:rPr>
              <a:t>Variación % de la tasa de hurto a personas por 10.000 hab., trimestre vs. mismo trimestre año anterior</a:t>
            </a:r>
            <a:endParaRPr lang="en-US" sz="1150" dirty="0"/>
          </a:p>
        </p:txBody>
      </p:sp>
      <p:sp>
        <p:nvSpPr>
          <p:cNvPr id="21" name="Text 19"/>
          <p:cNvSpPr/>
          <p:nvPr/>
        </p:nvSpPr>
        <p:spPr>
          <a:xfrm>
            <a:off x="4572000" y="5029200"/>
            <a:ext cx="3108960" cy="274320"/>
          </a:xfrm>
          <a:prstGeom prst="rect">
            <a:avLst/>
          </a:prstGeom>
          <a:noFill/>
          <a:ln/>
        </p:spPr>
        <p:txBody>
          <a:bodyPr wrap="square" rtlCol="0" anchor="ctr"/>
          <a:lstStyle/>
          <a:p>
            <a:pPr marL="0" indent="0">
              <a:buNone/>
            </a:pPr>
            <a:r>
              <a:rPr lang="en-US" sz="950" b="1" dirty="0">
                <a:solidFill>
                  <a:srgbClr val="B8860B"/>
                </a:solidFill>
                <a:latin typeface="Calibri" pitchFamily="34" charset="0"/>
                <a:ea typeface="Calibri" pitchFamily="34" charset="-122"/>
                <a:cs typeface="Calibri" pitchFamily="34" charset="-120"/>
              </a:rPr>
              <a:t>FUENTE</a:t>
            </a:r>
            <a:endParaRPr lang="en-US" sz="950" dirty="0"/>
          </a:p>
        </p:txBody>
      </p:sp>
      <p:sp>
        <p:nvSpPr>
          <p:cNvPr id="22" name="Text 20"/>
          <p:cNvSpPr/>
          <p:nvPr/>
        </p:nvSpPr>
        <p:spPr>
          <a:xfrm>
            <a:off x="4572000" y="5285232"/>
            <a:ext cx="3108960" cy="822960"/>
          </a:xfrm>
          <a:prstGeom prst="rect">
            <a:avLst/>
          </a:prstGeom>
          <a:noFill/>
          <a:ln/>
        </p:spPr>
        <p:txBody>
          <a:bodyPr wrap="square" rtlCol="0" anchor="ctr"/>
          <a:lstStyle/>
          <a:p>
            <a:pPr marL="0" indent="0">
              <a:lnSpc>
                <a:spcPts val="1300"/>
              </a:lnSpc>
              <a:buNone/>
            </a:pPr>
            <a:r>
              <a:rPr lang="en-US" sz="1050" i="1" dirty="0">
                <a:solidFill>
                  <a:srgbClr val="5B6472"/>
                </a:solidFill>
                <a:latin typeface="Calibri" pitchFamily="34" charset="0"/>
                <a:ea typeface="Calibri" pitchFamily="34" charset="-122"/>
                <a:cs typeface="Calibri" pitchFamily="34" charset="-120"/>
              </a:rPr>
              <a:t>SIEDCO / Policía Nacional</a:t>
            </a:r>
            <a:endParaRPr lang="en-US" sz="1050" dirty="0"/>
          </a:p>
        </p:txBody>
      </p:sp>
      <p:sp>
        <p:nvSpPr>
          <p:cNvPr id="23" name="Shape 21"/>
          <p:cNvSpPr/>
          <p:nvPr/>
        </p:nvSpPr>
        <p:spPr>
          <a:xfrm>
            <a:off x="8138160" y="1234440"/>
            <a:ext cx="3566160" cy="5029200"/>
          </a:xfrm>
          <a:prstGeom prst="roundRect">
            <a:avLst>
              <a:gd name="adj" fmla="val 2051"/>
            </a:avLst>
          </a:prstGeom>
          <a:solidFill>
            <a:srgbClr val="EEF2FC"/>
          </a:solidFill>
          <a:ln/>
          <a:effectLst>
            <a:outerShdw blurRad="76200" dist="25400" dir="5400000" algn="bl" rotWithShape="0">
              <a:srgbClr val="3A3F55">
                <a:alpha val="18000"/>
              </a:srgbClr>
            </a:outerShdw>
          </a:effectLst>
        </p:spPr>
      </p:sp>
      <p:sp>
        <p:nvSpPr>
          <p:cNvPr id="24" name="Shape 22"/>
          <p:cNvSpPr/>
          <p:nvPr/>
        </p:nvSpPr>
        <p:spPr>
          <a:xfrm>
            <a:off x="9601200" y="1463040"/>
            <a:ext cx="640080" cy="640080"/>
          </a:xfrm>
          <a:prstGeom prst="ellipse">
            <a:avLst/>
          </a:prstGeom>
          <a:solidFill>
            <a:srgbClr val="1E2761"/>
          </a:solidFill>
          <a:ln/>
        </p:spPr>
      </p:sp>
      <p:sp>
        <p:nvSpPr>
          <p:cNvPr id="25" name="Text 23"/>
          <p:cNvSpPr/>
          <p:nvPr/>
        </p:nvSpPr>
        <p:spPr>
          <a:xfrm>
            <a:off x="9601200" y="1463040"/>
            <a:ext cx="640080" cy="64008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a:t>
            </a:r>
            <a:endParaRPr lang="en-US" sz="1820" dirty="0"/>
          </a:p>
        </p:txBody>
      </p:sp>
      <p:sp>
        <p:nvSpPr>
          <p:cNvPr id="26" name="Text 24"/>
          <p:cNvSpPr/>
          <p:nvPr/>
        </p:nvSpPr>
        <p:spPr>
          <a:xfrm>
            <a:off x="8138160" y="2240280"/>
            <a:ext cx="3566160" cy="365760"/>
          </a:xfrm>
          <a:prstGeom prst="rect">
            <a:avLst/>
          </a:prstGeom>
          <a:noFill/>
          <a:ln/>
        </p:spPr>
        <p:txBody>
          <a:bodyPr wrap="square"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Ambiente</a:t>
            </a:r>
            <a:endParaRPr lang="en-US" sz="1500" dirty="0"/>
          </a:p>
        </p:txBody>
      </p:sp>
      <p:sp>
        <p:nvSpPr>
          <p:cNvPr id="27" name="Text 25"/>
          <p:cNvSpPr/>
          <p:nvPr/>
        </p:nvSpPr>
        <p:spPr>
          <a:xfrm>
            <a:off x="8366760" y="2651760"/>
            <a:ext cx="3108960" cy="457200"/>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¿Cómo va el ambiente?</a:t>
            </a:r>
            <a:endParaRPr lang="en-US" sz="1100" dirty="0"/>
          </a:p>
        </p:txBody>
      </p:sp>
      <p:sp>
        <p:nvSpPr>
          <p:cNvPr id="28" name="Shape 26"/>
          <p:cNvSpPr/>
          <p:nvPr/>
        </p:nvSpPr>
        <p:spPr>
          <a:xfrm>
            <a:off x="8595360" y="3127248"/>
            <a:ext cx="2651760" cy="0"/>
          </a:xfrm>
          <a:prstGeom prst="line">
            <a:avLst/>
          </a:prstGeom>
          <a:noFill/>
          <a:ln w="12700">
            <a:solidFill>
              <a:srgbClr val="CADCFC"/>
            </a:solidFill>
            <a:prstDash val="solid"/>
          </a:ln>
        </p:spPr>
      </p:sp>
      <p:sp>
        <p:nvSpPr>
          <p:cNvPr id="29" name="Text 27"/>
          <p:cNvSpPr/>
          <p:nvPr/>
        </p:nvSpPr>
        <p:spPr>
          <a:xfrm>
            <a:off x="8366760" y="3246120"/>
            <a:ext cx="3108960" cy="274320"/>
          </a:xfrm>
          <a:prstGeom prst="rect">
            <a:avLst/>
          </a:prstGeom>
          <a:noFill/>
          <a:ln/>
        </p:spPr>
        <p:txBody>
          <a:bodyPr wrap="square" rtlCol="0" anchor="ctr"/>
          <a:lstStyle/>
          <a:p>
            <a:pPr marL="0" indent="0">
              <a:buNone/>
            </a:pPr>
            <a:r>
              <a:rPr lang="en-US" sz="950" b="1" dirty="0">
                <a:solidFill>
                  <a:srgbClr val="B8860B"/>
                </a:solidFill>
                <a:latin typeface="Calibri" pitchFamily="34" charset="0"/>
                <a:ea typeface="Calibri" pitchFamily="34" charset="-122"/>
                <a:cs typeface="Calibri" pitchFamily="34" charset="-120"/>
              </a:rPr>
              <a:t>INDICADOR</a:t>
            </a:r>
            <a:endParaRPr lang="en-US" sz="950" dirty="0"/>
          </a:p>
        </p:txBody>
      </p:sp>
      <p:sp>
        <p:nvSpPr>
          <p:cNvPr id="30" name="Text 28"/>
          <p:cNvSpPr/>
          <p:nvPr/>
        </p:nvSpPr>
        <p:spPr>
          <a:xfrm>
            <a:off x="8366760" y="3520440"/>
            <a:ext cx="3108960" cy="1417320"/>
          </a:xfrm>
          <a:prstGeom prst="rect">
            <a:avLst/>
          </a:prstGeom>
          <a:noFill/>
          <a:ln/>
        </p:spPr>
        <p:txBody>
          <a:bodyPr wrap="square" rtlCol="0" anchor="ctr"/>
          <a:lstStyle/>
          <a:p>
            <a:pPr marL="0" indent="0">
              <a:lnSpc>
                <a:spcPts val="1400"/>
              </a:lnSpc>
              <a:buNone/>
            </a:pPr>
            <a:r>
              <a:rPr lang="en-US" sz="1150" dirty="0">
                <a:solidFill>
                  <a:srgbClr val="20232B"/>
                </a:solidFill>
                <a:latin typeface="Calibri" pitchFamily="34" charset="0"/>
                <a:ea typeface="Calibri" pitchFamily="34" charset="-122"/>
                <a:cs typeface="Calibri" pitchFamily="34" charset="-120"/>
              </a:rPr>
              <a:t>% de hectáreas reforestadas con sobrevivencia &gt;80% a 12 meses, sobre lo comprometido en el plan</a:t>
            </a:r>
            <a:endParaRPr lang="en-US" sz="1150" dirty="0"/>
          </a:p>
        </p:txBody>
      </p:sp>
      <p:sp>
        <p:nvSpPr>
          <p:cNvPr id="31" name="Text 29"/>
          <p:cNvSpPr/>
          <p:nvPr/>
        </p:nvSpPr>
        <p:spPr>
          <a:xfrm>
            <a:off x="8366760" y="5029200"/>
            <a:ext cx="3108960" cy="274320"/>
          </a:xfrm>
          <a:prstGeom prst="rect">
            <a:avLst/>
          </a:prstGeom>
          <a:noFill/>
          <a:ln/>
        </p:spPr>
        <p:txBody>
          <a:bodyPr wrap="square" rtlCol="0" anchor="ctr"/>
          <a:lstStyle/>
          <a:p>
            <a:pPr marL="0" indent="0">
              <a:buNone/>
            </a:pPr>
            <a:r>
              <a:rPr lang="en-US" sz="950" b="1" dirty="0">
                <a:solidFill>
                  <a:srgbClr val="B8860B"/>
                </a:solidFill>
                <a:latin typeface="Calibri" pitchFamily="34" charset="0"/>
                <a:ea typeface="Calibri" pitchFamily="34" charset="-122"/>
                <a:cs typeface="Calibri" pitchFamily="34" charset="-120"/>
              </a:rPr>
              <a:t>FUENTE</a:t>
            </a:r>
            <a:endParaRPr lang="en-US" sz="950" dirty="0"/>
          </a:p>
        </p:txBody>
      </p:sp>
      <p:sp>
        <p:nvSpPr>
          <p:cNvPr id="32" name="Text 30"/>
          <p:cNvSpPr/>
          <p:nvPr/>
        </p:nvSpPr>
        <p:spPr>
          <a:xfrm>
            <a:off x="8366760" y="5285232"/>
            <a:ext cx="3108960" cy="822960"/>
          </a:xfrm>
          <a:prstGeom prst="rect">
            <a:avLst/>
          </a:prstGeom>
          <a:noFill/>
          <a:ln/>
        </p:spPr>
        <p:txBody>
          <a:bodyPr wrap="square" rtlCol="0" anchor="ctr"/>
          <a:lstStyle/>
          <a:p>
            <a:pPr marL="0" indent="0">
              <a:lnSpc>
                <a:spcPts val="1300"/>
              </a:lnSpc>
              <a:buNone/>
            </a:pPr>
            <a:r>
              <a:rPr lang="en-US" sz="1050" i="1" dirty="0">
                <a:solidFill>
                  <a:srgbClr val="5B6472"/>
                </a:solidFill>
                <a:latin typeface="Calibri" pitchFamily="34" charset="0"/>
                <a:ea typeface="Calibri" pitchFamily="34" charset="-122"/>
                <a:cs typeface="Calibri" pitchFamily="34" charset="-120"/>
              </a:rPr>
              <a:t>Verificación en campo / autoridad ambiental</a:t>
            </a:r>
            <a:endParaRPr lang="en-US" sz="1050" dirty="0"/>
          </a:p>
        </p:txBody>
      </p:sp>
      <p:sp>
        <p:nvSpPr>
          <p:cNvPr id="33" name="Text 31"/>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34" name="Text 32"/>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73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Errores comunes a evitar en el taller</a:t>
            </a:r>
            <a:endParaRPr lang="en-US" sz="2800" dirty="0"/>
          </a:p>
        </p:txBody>
      </p:sp>
      <p:sp>
        <p:nvSpPr>
          <p:cNvPr id="3" name="Shape 1"/>
          <p:cNvSpPr/>
          <p:nvPr/>
        </p:nvSpPr>
        <p:spPr>
          <a:xfrm>
            <a:off x="548640" y="1371600"/>
            <a:ext cx="11064240" cy="777240"/>
          </a:xfrm>
          <a:prstGeom prst="roundRect">
            <a:avLst>
              <a:gd name="adj" fmla="val 9412"/>
            </a:avLst>
          </a:prstGeom>
          <a:solidFill>
            <a:srgbClr val="1E2761"/>
          </a:solidFill>
          <a:ln/>
        </p:spPr>
      </p:sp>
      <p:sp>
        <p:nvSpPr>
          <p:cNvPr id="4" name="Shape 2"/>
          <p:cNvSpPr/>
          <p:nvPr/>
        </p:nvSpPr>
        <p:spPr>
          <a:xfrm>
            <a:off x="731520" y="1490472"/>
            <a:ext cx="548640" cy="548640"/>
          </a:xfrm>
          <a:prstGeom prst="ellipse">
            <a:avLst/>
          </a:prstGeom>
          <a:solidFill>
            <a:srgbClr val="C0392B"/>
          </a:solidFill>
          <a:ln/>
        </p:spPr>
      </p:sp>
      <p:sp>
        <p:nvSpPr>
          <p:cNvPr id="5" name="Text 3"/>
          <p:cNvSpPr/>
          <p:nvPr/>
        </p:nvSpPr>
        <p:spPr>
          <a:xfrm>
            <a:off x="731520" y="1490472"/>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a:t>
            </a:r>
            <a:endParaRPr lang="en-US" sz="1560" dirty="0"/>
          </a:p>
        </p:txBody>
      </p:sp>
      <p:sp>
        <p:nvSpPr>
          <p:cNvPr id="6" name="Text 4"/>
          <p:cNvSpPr/>
          <p:nvPr/>
        </p:nvSpPr>
        <p:spPr>
          <a:xfrm>
            <a:off x="1508760" y="1371600"/>
            <a:ext cx="9875520" cy="777240"/>
          </a:xfrm>
          <a:prstGeom prst="rect">
            <a:avLst/>
          </a:prstGeom>
          <a:noFill/>
          <a:ln/>
        </p:spPr>
        <p:txBody>
          <a:bodyPr wrap="square" rtlCol="0" anchor="ctr"/>
          <a:lstStyle/>
          <a:p>
            <a:pPr marL="0" indent="0">
              <a:lnSpc>
                <a:spcPts val="1700"/>
              </a:lnSpc>
              <a:buNone/>
            </a:pPr>
            <a:r>
              <a:rPr lang="en-US" sz="1400" dirty="0">
                <a:solidFill>
                  <a:srgbClr val="FFFFFF"/>
                </a:solidFill>
                <a:latin typeface="Calibri" pitchFamily="34" charset="0"/>
                <a:ea typeface="Calibri" pitchFamily="34" charset="-122"/>
                <a:cs typeface="Calibri" pitchFamily="34" charset="-120"/>
              </a:rPr>
              <a:t>Confundir producto con resultado ("entregamos X" ≠ "logramos Y")</a:t>
            </a:r>
            <a:endParaRPr lang="en-US" sz="1400" dirty="0"/>
          </a:p>
        </p:txBody>
      </p:sp>
      <p:sp>
        <p:nvSpPr>
          <p:cNvPr id="7" name="Shape 5"/>
          <p:cNvSpPr/>
          <p:nvPr/>
        </p:nvSpPr>
        <p:spPr>
          <a:xfrm>
            <a:off x="548640" y="2304288"/>
            <a:ext cx="11064240" cy="777240"/>
          </a:xfrm>
          <a:prstGeom prst="roundRect">
            <a:avLst>
              <a:gd name="adj" fmla="val 9412"/>
            </a:avLst>
          </a:prstGeom>
          <a:solidFill>
            <a:srgbClr val="1E2761"/>
          </a:solidFill>
          <a:ln/>
        </p:spPr>
      </p:sp>
      <p:sp>
        <p:nvSpPr>
          <p:cNvPr id="8" name="Shape 6"/>
          <p:cNvSpPr/>
          <p:nvPr/>
        </p:nvSpPr>
        <p:spPr>
          <a:xfrm>
            <a:off x="731520" y="2423160"/>
            <a:ext cx="548640" cy="548640"/>
          </a:xfrm>
          <a:prstGeom prst="ellipse">
            <a:avLst/>
          </a:prstGeom>
          <a:solidFill>
            <a:srgbClr val="C0392B"/>
          </a:solidFill>
          <a:ln/>
        </p:spPr>
      </p:sp>
      <p:sp>
        <p:nvSpPr>
          <p:cNvPr id="9" name="Text 7"/>
          <p:cNvSpPr/>
          <p:nvPr/>
        </p:nvSpPr>
        <p:spPr>
          <a:xfrm>
            <a:off x="731520" y="2423160"/>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a:t>
            </a:r>
            <a:endParaRPr lang="en-US" sz="1560" dirty="0"/>
          </a:p>
        </p:txBody>
      </p:sp>
      <p:sp>
        <p:nvSpPr>
          <p:cNvPr id="10" name="Text 8"/>
          <p:cNvSpPr/>
          <p:nvPr/>
        </p:nvSpPr>
        <p:spPr>
          <a:xfrm>
            <a:off x="1508760" y="2304288"/>
            <a:ext cx="9875520" cy="777240"/>
          </a:xfrm>
          <a:prstGeom prst="rect">
            <a:avLst/>
          </a:prstGeom>
          <a:noFill/>
          <a:ln/>
        </p:spPr>
        <p:txBody>
          <a:bodyPr wrap="square" rtlCol="0" anchor="ctr"/>
          <a:lstStyle/>
          <a:p>
            <a:pPr marL="0" indent="0">
              <a:lnSpc>
                <a:spcPts val="1700"/>
              </a:lnSpc>
              <a:buNone/>
            </a:pPr>
            <a:r>
              <a:rPr lang="en-US" sz="1400" dirty="0">
                <a:solidFill>
                  <a:srgbClr val="FFFFFF"/>
                </a:solidFill>
                <a:latin typeface="Calibri" pitchFamily="34" charset="0"/>
                <a:ea typeface="Calibri" pitchFamily="34" charset="-122"/>
                <a:cs typeface="Calibri" pitchFamily="34" charset="-120"/>
              </a:rPr>
              <a:t>Formular indicadores sin fuente de datos identificada o accesible</a:t>
            </a:r>
            <a:endParaRPr lang="en-US" sz="1400" dirty="0"/>
          </a:p>
        </p:txBody>
      </p:sp>
      <p:sp>
        <p:nvSpPr>
          <p:cNvPr id="11" name="Shape 9"/>
          <p:cNvSpPr/>
          <p:nvPr/>
        </p:nvSpPr>
        <p:spPr>
          <a:xfrm>
            <a:off x="548640" y="3236976"/>
            <a:ext cx="11064240" cy="777240"/>
          </a:xfrm>
          <a:prstGeom prst="roundRect">
            <a:avLst>
              <a:gd name="adj" fmla="val 9412"/>
            </a:avLst>
          </a:prstGeom>
          <a:solidFill>
            <a:srgbClr val="1E2761"/>
          </a:solidFill>
          <a:ln/>
        </p:spPr>
      </p:sp>
      <p:sp>
        <p:nvSpPr>
          <p:cNvPr id="12" name="Shape 10"/>
          <p:cNvSpPr/>
          <p:nvPr/>
        </p:nvSpPr>
        <p:spPr>
          <a:xfrm>
            <a:off x="731520" y="3355848"/>
            <a:ext cx="548640" cy="548640"/>
          </a:xfrm>
          <a:prstGeom prst="ellipse">
            <a:avLst/>
          </a:prstGeom>
          <a:solidFill>
            <a:srgbClr val="C0392B"/>
          </a:solidFill>
          <a:ln/>
        </p:spPr>
      </p:sp>
      <p:sp>
        <p:nvSpPr>
          <p:cNvPr id="13" name="Text 11"/>
          <p:cNvSpPr/>
          <p:nvPr/>
        </p:nvSpPr>
        <p:spPr>
          <a:xfrm>
            <a:off x="731520" y="3355848"/>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a:t>
            </a:r>
            <a:endParaRPr lang="en-US" sz="1560" dirty="0"/>
          </a:p>
        </p:txBody>
      </p:sp>
      <p:sp>
        <p:nvSpPr>
          <p:cNvPr id="14" name="Text 12"/>
          <p:cNvSpPr/>
          <p:nvPr/>
        </p:nvSpPr>
        <p:spPr>
          <a:xfrm>
            <a:off x="1508760" y="3236976"/>
            <a:ext cx="9875520" cy="777240"/>
          </a:xfrm>
          <a:prstGeom prst="rect">
            <a:avLst/>
          </a:prstGeom>
          <a:noFill/>
          <a:ln/>
        </p:spPr>
        <p:txBody>
          <a:bodyPr wrap="square" rtlCol="0" anchor="ctr"/>
          <a:lstStyle/>
          <a:p>
            <a:pPr marL="0" indent="0">
              <a:lnSpc>
                <a:spcPts val="1700"/>
              </a:lnSpc>
              <a:buNone/>
            </a:pPr>
            <a:r>
              <a:rPr lang="en-US" sz="1400" dirty="0">
                <a:solidFill>
                  <a:srgbClr val="FFFFFF"/>
                </a:solidFill>
                <a:latin typeface="Calibri" pitchFamily="34" charset="0"/>
                <a:ea typeface="Calibri" pitchFamily="34" charset="-122"/>
                <a:cs typeface="Calibri" pitchFamily="34" charset="-120"/>
              </a:rPr>
              <a:t>Definir metas "a ojo", sin línea base verificada</a:t>
            </a:r>
            <a:endParaRPr lang="en-US" sz="1400" dirty="0"/>
          </a:p>
        </p:txBody>
      </p:sp>
      <p:sp>
        <p:nvSpPr>
          <p:cNvPr id="15" name="Shape 13"/>
          <p:cNvSpPr/>
          <p:nvPr/>
        </p:nvSpPr>
        <p:spPr>
          <a:xfrm>
            <a:off x="548640" y="4169664"/>
            <a:ext cx="11064240" cy="777240"/>
          </a:xfrm>
          <a:prstGeom prst="roundRect">
            <a:avLst>
              <a:gd name="adj" fmla="val 9412"/>
            </a:avLst>
          </a:prstGeom>
          <a:solidFill>
            <a:srgbClr val="1E2761"/>
          </a:solidFill>
          <a:ln/>
        </p:spPr>
      </p:sp>
      <p:sp>
        <p:nvSpPr>
          <p:cNvPr id="16" name="Shape 14"/>
          <p:cNvSpPr/>
          <p:nvPr/>
        </p:nvSpPr>
        <p:spPr>
          <a:xfrm>
            <a:off x="731520" y="4288536"/>
            <a:ext cx="548640" cy="548640"/>
          </a:xfrm>
          <a:prstGeom prst="ellipse">
            <a:avLst/>
          </a:prstGeom>
          <a:solidFill>
            <a:srgbClr val="C0392B"/>
          </a:solidFill>
          <a:ln/>
        </p:spPr>
      </p:sp>
      <p:sp>
        <p:nvSpPr>
          <p:cNvPr id="17" name="Text 15"/>
          <p:cNvSpPr/>
          <p:nvPr/>
        </p:nvSpPr>
        <p:spPr>
          <a:xfrm>
            <a:off x="731520" y="4288536"/>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a:t>
            </a:r>
            <a:endParaRPr lang="en-US" sz="1560" dirty="0"/>
          </a:p>
        </p:txBody>
      </p:sp>
      <p:sp>
        <p:nvSpPr>
          <p:cNvPr id="18" name="Text 16"/>
          <p:cNvSpPr/>
          <p:nvPr/>
        </p:nvSpPr>
        <p:spPr>
          <a:xfrm>
            <a:off x="1508760" y="4169664"/>
            <a:ext cx="9875520" cy="777240"/>
          </a:xfrm>
          <a:prstGeom prst="rect">
            <a:avLst/>
          </a:prstGeom>
          <a:noFill/>
          <a:ln/>
        </p:spPr>
        <p:txBody>
          <a:bodyPr wrap="square" rtlCol="0" anchor="ctr"/>
          <a:lstStyle/>
          <a:p>
            <a:pPr marL="0" indent="0">
              <a:lnSpc>
                <a:spcPts val="1700"/>
              </a:lnSpc>
              <a:buNone/>
            </a:pPr>
            <a:r>
              <a:rPr lang="en-US" sz="1400" dirty="0">
                <a:solidFill>
                  <a:srgbClr val="FFFFFF"/>
                </a:solidFill>
                <a:latin typeface="Calibri" pitchFamily="34" charset="0"/>
                <a:ea typeface="Calibri" pitchFamily="34" charset="-122"/>
                <a:cs typeface="Calibri" pitchFamily="34" charset="-120"/>
              </a:rPr>
              <a:t>Redactar preguntas que ya presuponen la respuesta</a:t>
            </a:r>
            <a:endParaRPr lang="en-US" sz="1400" dirty="0"/>
          </a:p>
        </p:txBody>
      </p:sp>
      <p:sp>
        <p:nvSpPr>
          <p:cNvPr id="19" name="Shape 17"/>
          <p:cNvSpPr/>
          <p:nvPr/>
        </p:nvSpPr>
        <p:spPr>
          <a:xfrm>
            <a:off x="548640" y="5102352"/>
            <a:ext cx="11064240" cy="777240"/>
          </a:xfrm>
          <a:prstGeom prst="roundRect">
            <a:avLst>
              <a:gd name="adj" fmla="val 9412"/>
            </a:avLst>
          </a:prstGeom>
          <a:solidFill>
            <a:srgbClr val="1E2761"/>
          </a:solidFill>
          <a:ln/>
        </p:spPr>
      </p:sp>
      <p:sp>
        <p:nvSpPr>
          <p:cNvPr id="20" name="Shape 18"/>
          <p:cNvSpPr/>
          <p:nvPr/>
        </p:nvSpPr>
        <p:spPr>
          <a:xfrm>
            <a:off x="731520" y="5221224"/>
            <a:ext cx="548640" cy="548640"/>
          </a:xfrm>
          <a:prstGeom prst="ellipse">
            <a:avLst/>
          </a:prstGeom>
          <a:solidFill>
            <a:srgbClr val="C0392B"/>
          </a:solidFill>
          <a:ln/>
        </p:spPr>
      </p:sp>
      <p:sp>
        <p:nvSpPr>
          <p:cNvPr id="21" name="Text 19"/>
          <p:cNvSpPr/>
          <p:nvPr/>
        </p:nvSpPr>
        <p:spPr>
          <a:xfrm>
            <a:off x="731520" y="5221224"/>
            <a:ext cx="548640" cy="548640"/>
          </a:xfrm>
          <a:prstGeom prst="rect">
            <a:avLst/>
          </a:prstGeom>
          <a:noFill/>
          <a:ln/>
        </p:spPr>
        <p:txBody>
          <a:bodyPr wrap="square" rtlCol="0" anchor="ctr"/>
          <a:lstStyle/>
          <a:p>
            <a:pPr marL="0" indent="0" algn="ctr">
              <a:buNone/>
            </a:pPr>
            <a:r>
              <a:rPr lang="en-US" sz="1560" b="1" dirty="0">
                <a:solidFill>
                  <a:srgbClr val="FFFFFF"/>
                </a:solidFill>
                <a:latin typeface="Calibri" pitchFamily="34" charset="0"/>
                <a:ea typeface="Calibri" pitchFamily="34" charset="-122"/>
                <a:cs typeface="Calibri" pitchFamily="34" charset="-120"/>
              </a:rPr>
              <a:t>✕</a:t>
            </a:r>
            <a:endParaRPr lang="en-US" sz="1560" dirty="0"/>
          </a:p>
        </p:txBody>
      </p:sp>
      <p:sp>
        <p:nvSpPr>
          <p:cNvPr id="22" name="Text 20"/>
          <p:cNvSpPr/>
          <p:nvPr/>
        </p:nvSpPr>
        <p:spPr>
          <a:xfrm>
            <a:off x="1508760" y="5102352"/>
            <a:ext cx="9875520" cy="777240"/>
          </a:xfrm>
          <a:prstGeom prst="rect">
            <a:avLst/>
          </a:prstGeom>
          <a:noFill/>
          <a:ln/>
        </p:spPr>
        <p:txBody>
          <a:bodyPr wrap="square" rtlCol="0" anchor="ctr"/>
          <a:lstStyle/>
          <a:p>
            <a:pPr marL="0" indent="0">
              <a:lnSpc>
                <a:spcPts val="1700"/>
              </a:lnSpc>
              <a:buNone/>
            </a:pPr>
            <a:r>
              <a:rPr lang="en-US" sz="1400" dirty="0">
                <a:solidFill>
                  <a:srgbClr val="FFFFFF"/>
                </a:solidFill>
                <a:latin typeface="Calibri" pitchFamily="34" charset="0"/>
                <a:ea typeface="Calibri" pitchFamily="34" charset="-122"/>
                <a:cs typeface="Calibri" pitchFamily="34" charset="-120"/>
              </a:rPr>
              <a:t>Aceptar el primer borrador de la IA sin contrastarlo con la fuente oficial</a:t>
            </a:r>
            <a:endParaRPr lang="en-US" sz="1400" dirty="0"/>
          </a:p>
        </p:txBody>
      </p:sp>
      <p:sp>
        <p:nvSpPr>
          <p:cNvPr id="23" name="Text 21"/>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24" name="Text 22"/>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972800" cy="594360"/>
          </a:xfrm>
          <a:prstGeom prst="rect">
            <a:avLst/>
          </a:prstGeom>
          <a:noFill/>
          <a:ln/>
        </p:spPr>
        <p:txBody>
          <a:bodyPr wrap="square" rtlCol="0" anchor="ctr"/>
          <a:lstStyle/>
          <a:p>
            <a:pPr marL="0" indent="0">
              <a:buNone/>
            </a:pPr>
            <a:r>
              <a:rPr lang="en-US" sz="2500" b="1" dirty="0">
                <a:solidFill>
                  <a:srgbClr val="1E2761"/>
                </a:solidFill>
                <a:latin typeface="Cambria" pitchFamily="34" charset="0"/>
                <a:ea typeface="Cambria" pitchFamily="34" charset="-122"/>
                <a:cs typeface="Cambria" pitchFamily="34" charset="-120"/>
              </a:rPr>
              <a:t>La IA: potenciador, no reemplazo del criterio técnico</a:t>
            </a:r>
            <a:endParaRPr lang="en-US" sz="2500" dirty="0"/>
          </a:p>
        </p:txBody>
      </p:sp>
      <p:sp>
        <p:nvSpPr>
          <p:cNvPr id="3" name="Shape 1"/>
          <p:cNvSpPr/>
          <p:nvPr/>
        </p:nvSpPr>
        <p:spPr>
          <a:xfrm>
            <a:off x="548640" y="1005840"/>
            <a:ext cx="11064240" cy="868680"/>
          </a:xfrm>
          <a:prstGeom prst="roundRect">
            <a:avLst>
              <a:gd name="adj" fmla="val 8421"/>
            </a:avLst>
          </a:prstGeom>
          <a:solidFill>
            <a:srgbClr val="1E2761"/>
          </a:solidFill>
          <a:ln/>
          <a:effectLst>
            <a:outerShdw blurRad="76200" dist="25400" dir="5400000" algn="bl" rotWithShape="0">
              <a:srgbClr val="3A3F55">
                <a:alpha val="18000"/>
              </a:srgbClr>
            </a:outerShdw>
          </a:effectLst>
        </p:spPr>
      </p:sp>
      <p:sp>
        <p:nvSpPr>
          <p:cNvPr id="4" name="Text 2"/>
          <p:cNvSpPr/>
          <p:nvPr/>
        </p:nvSpPr>
        <p:spPr>
          <a:xfrm>
            <a:off x="822960" y="1005840"/>
            <a:ext cx="10515600" cy="868680"/>
          </a:xfrm>
          <a:prstGeom prst="rect">
            <a:avLst/>
          </a:prstGeom>
          <a:noFill/>
          <a:ln/>
        </p:spPr>
        <p:txBody>
          <a:bodyPr wrap="square" rtlCol="0" anchor="ctr"/>
          <a:lstStyle/>
          <a:p>
            <a:pPr marL="0" indent="0">
              <a:lnSpc>
                <a:spcPts val="1700"/>
              </a:lnSpc>
              <a:buNone/>
            </a:pPr>
            <a:r>
              <a:rPr lang="en-US" sz="1350" b="1" i="1" dirty="0">
                <a:solidFill>
                  <a:srgbClr val="FFFFFF"/>
                </a:solidFill>
                <a:latin typeface="Calibri" pitchFamily="34" charset="0"/>
                <a:ea typeface="Calibri" pitchFamily="34" charset="-122"/>
                <a:cs typeface="Calibri" pitchFamily="34" charset="-120"/>
              </a:rPr>
              <a:t>La pregunta de gestión la formula el equipo que conoce el problema público y el territorio; la IA ayuda a que quede mejor redactada, estructurada y documentada — más rápido.</a:t>
            </a:r>
            <a:endParaRPr lang="en-US" sz="1350" dirty="0"/>
          </a:p>
        </p:txBody>
      </p:sp>
      <p:sp>
        <p:nvSpPr>
          <p:cNvPr id="5" name="Shape 3"/>
          <p:cNvSpPr/>
          <p:nvPr/>
        </p:nvSpPr>
        <p:spPr>
          <a:xfrm>
            <a:off x="548640" y="2057400"/>
            <a:ext cx="5440680" cy="4160520"/>
          </a:xfrm>
          <a:prstGeom prst="roundRect">
            <a:avLst>
              <a:gd name="adj" fmla="val 1758"/>
            </a:avLst>
          </a:prstGeom>
          <a:solidFill>
            <a:srgbClr val="EEF2FC"/>
          </a:solidFill>
          <a:ln/>
          <a:effectLst>
            <a:outerShdw blurRad="76200" dist="25400" dir="5400000" algn="bl" rotWithShape="0">
              <a:srgbClr val="3A3F55">
                <a:alpha val="18000"/>
              </a:srgbClr>
            </a:outerShdw>
          </a:effectLst>
        </p:spPr>
      </p:sp>
      <p:sp>
        <p:nvSpPr>
          <p:cNvPr id="6" name="Text 4"/>
          <p:cNvSpPr/>
          <p:nvPr/>
        </p:nvSpPr>
        <p:spPr>
          <a:xfrm>
            <a:off x="822960" y="2240280"/>
            <a:ext cx="4572000" cy="411480"/>
          </a:xfrm>
          <a:prstGeom prst="rect">
            <a:avLst/>
          </a:prstGeom>
          <a:noFill/>
          <a:ln/>
        </p:spPr>
        <p:txBody>
          <a:bodyPr wrap="square" rtlCol="0" anchor="ctr"/>
          <a:lstStyle/>
          <a:p>
            <a:pPr marL="0" indent="0">
              <a:buNone/>
            </a:pPr>
            <a:r>
              <a:rPr lang="en-US" sz="1600" b="1" dirty="0">
                <a:solidFill>
                  <a:srgbClr val="1E6B4D"/>
                </a:solidFill>
                <a:latin typeface="Cambria" pitchFamily="34" charset="0"/>
                <a:ea typeface="Cambria" pitchFamily="34" charset="-122"/>
                <a:cs typeface="Cambria" pitchFamily="34" charset="-120"/>
              </a:rPr>
              <a:t>✓  Dónde SÍ ayuda</a:t>
            </a:r>
            <a:endParaRPr lang="en-US" sz="1600" dirty="0"/>
          </a:p>
        </p:txBody>
      </p:sp>
      <p:sp>
        <p:nvSpPr>
          <p:cNvPr id="7" name="Text 5"/>
          <p:cNvSpPr/>
          <p:nvPr/>
        </p:nvSpPr>
        <p:spPr>
          <a:xfrm>
            <a:off x="822960" y="2743200"/>
            <a:ext cx="4937760" cy="594360"/>
          </a:xfrm>
          <a:prstGeom prst="rect">
            <a:avLst/>
          </a:prstGeom>
          <a:noFill/>
          <a:ln/>
        </p:spPr>
        <p:txBody>
          <a:bodyPr wrap="square" rtlCol="0" anchor="ctr"/>
          <a:lstStyle/>
          <a:p>
            <a:pPr marL="0" indent="0">
              <a:lnSpc>
                <a:spcPts val="1400"/>
              </a:lnSpc>
              <a:buNone/>
            </a:pPr>
            <a:r>
              <a:rPr lang="en-US" sz="1180" dirty="0">
                <a:solidFill>
                  <a:srgbClr val="20232B"/>
                </a:solidFill>
                <a:latin typeface="Calibri" pitchFamily="34" charset="0"/>
                <a:ea typeface="Calibri" pitchFamily="34" charset="-122"/>
                <a:cs typeface="Calibri" pitchFamily="34" charset="-120"/>
              </a:rPr>
              <a:t>•  Diagnosticar si la pregunta cumple los 4 componentes</a:t>
            </a:r>
            <a:endParaRPr lang="en-US" sz="1180" dirty="0"/>
          </a:p>
        </p:txBody>
      </p:sp>
      <p:sp>
        <p:nvSpPr>
          <p:cNvPr id="8" name="Text 6"/>
          <p:cNvSpPr/>
          <p:nvPr/>
        </p:nvSpPr>
        <p:spPr>
          <a:xfrm>
            <a:off x="822960" y="3383280"/>
            <a:ext cx="4937760" cy="594360"/>
          </a:xfrm>
          <a:prstGeom prst="rect">
            <a:avLst/>
          </a:prstGeom>
          <a:noFill/>
          <a:ln/>
        </p:spPr>
        <p:txBody>
          <a:bodyPr wrap="square" rtlCol="0" anchor="ctr"/>
          <a:lstStyle/>
          <a:p>
            <a:pPr marL="0" indent="0">
              <a:lnSpc>
                <a:spcPts val="1400"/>
              </a:lnSpc>
              <a:buNone/>
            </a:pPr>
            <a:r>
              <a:rPr lang="en-US" sz="1180" dirty="0">
                <a:solidFill>
                  <a:srgbClr val="20232B"/>
                </a:solidFill>
                <a:latin typeface="Calibri" pitchFamily="34" charset="0"/>
                <a:ea typeface="Calibri" pitchFamily="34" charset="-122"/>
                <a:cs typeface="Calibri" pitchFamily="34" charset="-120"/>
              </a:rPr>
              <a:t>•  Proponer 3-5 alternativas de indicador para elegir</a:t>
            </a:r>
            <a:endParaRPr lang="en-US" sz="1180" dirty="0"/>
          </a:p>
        </p:txBody>
      </p:sp>
      <p:sp>
        <p:nvSpPr>
          <p:cNvPr id="9" name="Text 7"/>
          <p:cNvSpPr/>
          <p:nvPr/>
        </p:nvSpPr>
        <p:spPr>
          <a:xfrm>
            <a:off x="822960" y="4023360"/>
            <a:ext cx="4937760" cy="594360"/>
          </a:xfrm>
          <a:prstGeom prst="rect">
            <a:avLst/>
          </a:prstGeom>
          <a:noFill/>
          <a:ln/>
        </p:spPr>
        <p:txBody>
          <a:bodyPr wrap="square" rtlCol="0" anchor="ctr"/>
          <a:lstStyle/>
          <a:p>
            <a:pPr marL="0" indent="0">
              <a:lnSpc>
                <a:spcPts val="1400"/>
              </a:lnSpc>
              <a:buNone/>
            </a:pPr>
            <a:r>
              <a:rPr lang="en-US" sz="1180" dirty="0">
                <a:solidFill>
                  <a:srgbClr val="20232B"/>
                </a:solidFill>
                <a:latin typeface="Calibri" pitchFamily="34" charset="0"/>
                <a:ea typeface="Calibri" pitchFamily="34" charset="-122"/>
                <a:cs typeface="Calibri" pitchFamily="34" charset="-120"/>
              </a:rPr>
              <a:t>•  Redactar el borrador de la ficha técnica</a:t>
            </a:r>
            <a:endParaRPr lang="en-US" sz="1180" dirty="0"/>
          </a:p>
        </p:txBody>
      </p:sp>
      <p:sp>
        <p:nvSpPr>
          <p:cNvPr id="10" name="Text 8"/>
          <p:cNvSpPr/>
          <p:nvPr/>
        </p:nvSpPr>
        <p:spPr>
          <a:xfrm>
            <a:off x="822960" y="4663440"/>
            <a:ext cx="4937760" cy="594360"/>
          </a:xfrm>
          <a:prstGeom prst="rect">
            <a:avLst/>
          </a:prstGeom>
          <a:noFill/>
          <a:ln/>
        </p:spPr>
        <p:txBody>
          <a:bodyPr wrap="square" rtlCol="0" anchor="ctr"/>
          <a:lstStyle/>
          <a:p>
            <a:pPr marL="0" indent="0">
              <a:lnSpc>
                <a:spcPts val="1400"/>
              </a:lnSpc>
              <a:buNone/>
            </a:pPr>
            <a:r>
              <a:rPr lang="en-US" sz="1180" dirty="0">
                <a:solidFill>
                  <a:srgbClr val="20232B"/>
                </a:solidFill>
                <a:latin typeface="Calibri" pitchFamily="34" charset="0"/>
                <a:ea typeface="Calibri" pitchFamily="34" charset="-122"/>
                <a:cs typeface="Calibri" pitchFamily="34" charset="-120"/>
              </a:rPr>
              <a:t>•  Traducir la ficha a lenguaje ciudadano</a:t>
            </a:r>
            <a:endParaRPr lang="en-US" sz="1180" dirty="0"/>
          </a:p>
        </p:txBody>
      </p:sp>
      <p:sp>
        <p:nvSpPr>
          <p:cNvPr id="11" name="Text 9"/>
          <p:cNvSpPr/>
          <p:nvPr/>
        </p:nvSpPr>
        <p:spPr>
          <a:xfrm>
            <a:off x="822960" y="5303520"/>
            <a:ext cx="4937760" cy="594360"/>
          </a:xfrm>
          <a:prstGeom prst="rect">
            <a:avLst/>
          </a:prstGeom>
          <a:noFill/>
          <a:ln/>
        </p:spPr>
        <p:txBody>
          <a:bodyPr wrap="square" rtlCol="0" anchor="ctr"/>
          <a:lstStyle/>
          <a:p>
            <a:pPr marL="0" indent="0">
              <a:lnSpc>
                <a:spcPts val="1400"/>
              </a:lnSpc>
              <a:buNone/>
            </a:pPr>
            <a:r>
              <a:rPr lang="en-US" sz="1180" dirty="0">
                <a:solidFill>
                  <a:srgbClr val="20232B"/>
                </a:solidFill>
                <a:latin typeface="Calibri" pitchFamily="34" charset="0"/>
                <a:ea typeface="Calibri" pitchFamily="34" charset="-122"/>
                <a:cs typeface="Calibri" pitchFamily="34" charset="-120"/>
              </a:rPr>
              <a:t>•  Revisar de forma cruzada criterios SMART/CREMA en lote</a:t>
            </a:r>
            <a:endParaRPr lang="en-US" sz="1180" dirty="0"/>
          </a:p>
        </p:txBody>
      </p:sp>
      <p:sp>
        <p:nvSpPr>
          <p:cNvPr id="12" name="Shape 10"/>
          <p:cNvSpPr/>
          <p:nvPr/>
        </p:nvSpPr>
        <p:spPr>
          <a:xfrm>
            <a:off x="6199632" y="2057400"/>
            <a:ext cx="5440680" cy="4160520"/>
          </a:xfrm>
          <a:prstGeom prst="roundRect">
            <a:avLst>
              <a:gd name="adj" fmla="val 1758"/>
            </a:avLst>
          </a:prstGeom>
          <a:solidFill>
            <a:srgbClr val="1E2761"/>
          </a:solidFill>
          <a:ln/>
          <a:effectLst>
            <a:outerShdw blurRad="76200" dist="25400" dir="5400000" algn="bl" rotWithShape="0">
              <a:srgbClr val="3A3F55">
                <a:alpha val="18000"/>
              </a:srgbClr>
            </a:outerShdw>
          </a:effectLst>
        </p:spPr>
      </p:sp>
      <p:sp>
        <p:nvSpPr>
          <p:cNvPr id="13" name="Text 11"/>
          <p:cNvSpPr/>
          <p:nvPr/>
        </p:nvSpPr>
        <p:spPr>
          <a:xfrm>
            <a:off x="6473952" y="2240280"/>
            <a:ext cx="4572000" cy="411480"/>
          </a:xfrm>
          <a:prstGeom prst="rect">
            <a:avLst/>
          </a:prstGeom>
          <a:noFill/>
          <a:ln/>
        </p:spPr>
        <p:txBody>
          <a:bodyPr wrap="square" rtlCol="0" anchor="ctr"/>
          <a:lstStyle/>
          <a:p>
            <a:pPr marL="0" indent="0">
              <a:buNone/>
            </a:pPr>
            <a:r>
              <a:rPr lang="en-US" sz="1600" b="1" dirty="0">
                <a:solidFill>
                  <a:srgbClr val="E4A3A3"/>
                </a:solidFill>
                <a:latin typeface="Cambria" pitchFamily="34" charset="0"/>
                <a:ea typeface="Cambria" pitchFamily="34" charset="-122"/>
                <a:cs typeface="Cambria" pitchFamily="34" charset="-120"/>
              </a:rPr>
              <a:t>✕  Dónde NO decide</a:t>
            </a:r>
            <a:endParaRPr lang="en-US" sz="1600" dirty="0"/>
          </a:p>
        </p:txBody>
      </p:sp>
      <p:sp>
        <p:nvSpPr>
          <p:cNvPr id="14" name="Text 12"/>
          <p:cNvSpPr/>
          <p:nvPr/>
        </p:nvSpPr>
        <p:spPr>
          <a:xfrm>
            <a:off x="6473952" y="2743200"/>
            <a:ext cx="4937760" cy="594360"/>
          </a:xfrm>
          <a:prstGeom prst="rect">
            <a:avLst/>
          </a:prstGeom>
          <a:noFill/>
          <a:ln/>
        </p:spPr>
        <p:txBody>
          <a:bodyPr wrap="square" rtlCol="0" anchor="ctr"/>
          <a:lstStyle/>
          <a:p>
            <a:pPr marL="0" indent="0">
              <a:lnSpc>
                <a:spcPts val="1400"/>
              </a:lnSpc>
              <a:buNone/>
            </a:pPr>
            <a:r>
              <a:rPr lang="en-US" sz="1180" dirty="0">
                <a:solidFill>
                  <a:srgbClr val="FFFFFF"/>
                </a:solidFill>
                <a:latin typeface="Calibri" pitchFamily="34" charset="0"/>
                <a:ea typeface="Calibri" pitchFamily="34" charset="-122"/>
                <a:cs typeface="Calibri" pitchFamily="34" charset="-120"/>
              </a:rPr>
              <a:t>•  Qué pregunta es prioritaria para la entidad</a:t>
            </a:r>
            <a:endParaRPr lang="en-US" sz="1180" dirty="0"/>
          </a:p>
        </p:txBody>
      </p:sp>
      <p:sp>
        <p:nvSpPr>
          <p:cNvPr id="15" name="Text 13"/>
          <p:cNvSpPr/>
          <p:nvPr/>
        </p:nvSpPr>
        <p:spPr>
          <a:xfrm>
            <a:off x="6473952" y="3383280"/>
            <a:ext cx="4937760" cy="594360"/>
          </a:xfrm>
          <a:prstGeom prst="rect">
            <a:avLst/>
          </a:prstGeom>
          <a:noFill/>
          <a:ln/>
        </p:spPr>
        <p:txBody>
          <a:bodyPr wrap="square" rtlCol="0" anchor="ctr"/>
          <a:lstStyle/>
          <a:p>
            <a:pPr marL="0" indent="0">
              <a:lnSpc>
                <a:spcPts val="1400"/>
              </a:lnSpc>
              <a:buNone/>
            </a:pPr>
            <a:r>
              <a:rPr lang="en-US" sz="1180" dirty="0">
                <a:solidFill>
                  <a:srgbClr val="FFFFFF"/>
                </a:solidFill>
                <a:latin typeface="Calibri" pitchFamily="34" charset="0"/>
                <a:ea typeface="Calibri" pitchFamily="34" charset="-122"/>
                <a:cs typeface="Calibri" pitchFamily="34" charset="-120"/>
              </a:rPr>
              <a:t>•  Cuál es la meta o la línea base oficial</a:t>
            </a:r>
            <a:endParaRPr lang="en-US" sz="1180" dirty="0"/>
          </a:p>
        </p:txBody>
      </p:sp>
      <p:sp>
        <p:nvSpPr>
          <p:cNvPr id="16" name="Text 14"/>
          <p:cNvSpPr/>
          <p:nvPr/>
        </p:nvSpPr>
        <p:spPr>
          <a:xfrm>
            <a:off x="6473952" y="4023360"/>
            <a:ext cx="4937760" cy="594360"/>
          </a:xfrm>
          <a:prstGeom prst="rect">
            <a:avLst/>
          </a:prstGeom>
          <a:noFill/>
          <a:ln/>
        </p:spPr>
        <p:txBody>
          <a:bodyPr wrap="square" rtlCol="0" anchor="ctr"/>
          <a:lstStyle/>
          <a:p>
            <a:pPr marL="0" indent="0">
              <a:lnSpc>
                <a:spcPts val="1400"/>
              </a:lnSpc>
              <a:buNone/>
            </a:pPr>
            <a:r>
              <a:rPr lang="en-US" sz="1180" dirty="0">
                <a:solidFill>
                  <a:srgbClr val="FFFFFF"/>
                </a:solidFill>
                <a:latin typeface="Calibri" pitchFamily="34" charset="0"/>
                <a:ea typeface="Calibri" pitchFamily="34" charset="-122"/>
                <a:cs typeface="Calibri" pitchFamily="34" charset="-120"/>
              </a:rPr>
              <a:t>•  La interpretación política o social del resultado</a:t>
            </a:r>
            <a:endParaRPr lang="en-US" sz="1180" dirty="0"/>
          </a:p>
        </p:txBody>
      </p:sp>
      <p:sp>
        <p:nvSpPr>
          <p:cNvPr id="17" name="Text 15"/>
          <p:cNvSpPr/>
          <p:nvPr/>
        </p:nvSpPr>
        <p:spPr>
          <a:xfrm>
            <a:off x="6473952" y="4663440"/>
            <a:ext cx="4937760" cy="594360"/>
          </a:xfrm>
          <a:prstGeom prst="rect">
            <a:avLst/>
          </a:prstGeom>
          <a:noFill/>
          <a:ln/>
        </p:spPr>
        <p:txBody>
          <a:bodyPr wrap="square" rtlCol="0" anchor="ctr"/>
          <a:lstStyle/>
          <a:p>
            <a:pPr marL="0" indent="0">
              <a:lnSpc>
                <a:spcPts val="1400"/>
              </a:lnSpc>
              <a:buNone/>
            </a:pPr>
            <a:r>
              <a:rPr lang="en-US" sz="1180" dirty="0">
                <a:solidFill>
                  <a:srgbClr val="FFFFFF"/>
                </a:solidFill>
                <a:latin typeface="Calibri" pitchFamily="34" charset="0"/>
                <a:ea typeface="Calibri" pitchFamily="34" charset="-122"/>
                <a:cs typeface="Calibri" pitchFamily="34" charset="-120"/>
              </a:rPr>
              <a:t>•  La validación final contra la fuente oficial de datos</a:t>
            </a:r>
            <a:endParaRPr lang="en-US" sz="1180" dirty="0"/>
          </a:p>
        </p:txBody>
      </p:sp>
      <p:sp>
        <p:nvSpPr>
          <p:cNvPr id="18" name="Text 16"/>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19" name="Text 17"/>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Herramienta de fácil acceso para el taller</a:t>
            </a:r>
            <a:endParaRPr lang="en-US" sz="2700" dirty="0"/>
          </a:p>
        </p:txBody>
      </p:sp>
      <p:sp>
        <p:nvSpPr>
          <p:cNvPr id="3" name="Shape 1"/>
          <p:cNvSpPr/>
          <p:nvPr/>
        </p:nvSpPr>
        <p:spPr>
          <a:xfrm>
            <a:off x="548640" y="1188720"/>
            <a:ext cx="3749040" cy="5029200"/>
          </a:xfrm>
          <a:prstGeom prst="roundRect">
            <a:avLst>
              <a:gd name="adj" fmla="val 1951"/>
            </a:avLst>
          </a:prstGeom>
          <a:solidFill>
            <a:srgbClr val="1E2761"/>
          </a:solidFill>
          <a:ln/>
          <a:effectLst>
            <a:outerShdw blurRad="76200" dist="25400" dir="5400000" algn="bl" rotWithShape="0">
              <a:srgbClr val="3A3F55">
                <a:alpha val="18000"/>
              </a:srgbClr>
            </a:outerShdw>
          </a:effectLst>
        </p:spPr>
      </p:sp>
      <p:sp>
        <p:nvSpPr>
          <p:cNvPr id="4" name="Text 2"/>
          <p:cNvSpPr/>
          <p:nvPr/>
        </p:nvSpPr>
        <p:spPr>
          <a:xfrm>
            <a:off x="822960" y="1417320"/>
            <a:ext cx="3200400" cy="502920"/>
          </a:xfrm>
          <a:prstGeom prst="rect">
            <a:avLst/>
          </a:prstGeom>
          <a:noFill/>
          <a:ln/>
        </p:spPr>
        <p:txBody>
          <a:bodyPr wrap="square" rtlCol="0" anchor="ctr"/>
          <a:lstStyle/>
          <a:p>
            <a:pPr marL="0" indent="0">
              <a:buNone/>
            </a:pPr>
            <a:r>
              <a:rPr lang="en-US" sz="2400" b="1" dirty="0">
                <a:solidFill>
                  <a:srgbClr val="B8860B"/>
                </a:solidFill>
                <a:latin typeface="Cambria" pitchFamily="34" charset="0"/>
                <a:ea typeface="Cambria" pitchFamily="34" charset="-122"/>
                <a:cs typeface="Cambria" pitchFamily="34" charset="-120"/>
              </a:rPr>
              <a:t>Claude.ai</a:t>
            </a:r>
            <a:endParaRPr lang="en-US" sz="2400" dirty="0"/>
          </a:p>
        </p:txBody>
      </p:sp>
      <p:sp>
        <p:nvSpPr>
          <p:cNvPr id="5" name="Text 3"/>
          <p:cNvSpPr/>
          <p:nvPr/>
        </p:nvSpPr>
        <p:spPr>
          <a:xfrm>
            <a:off x="822960" y="1920240"/>
            <a:ext cx="3200400" cy="457200"/>
          </a:xfrm>
          <a:prstGeom prst="rect">
            <a:avLst/>
          </a:prstGeom>
          <a:noFill/>
          <a:ln/>
        </p:spPr>
        <p:txBody>
          <a:bodyPr wrap="square"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Chat en el navegador · plan gratuito · en español</a:t>
            </a:r>
            <a:endParaRPr lang="en-US" sz="1150" dirty="0"/>
          </a:p>
        </p:txBody>
      </p:sp>
      <p:sp>
        <p:nvSpPr>
          <p:cNvPr id="6" name="Text 4"/>
          <p:cNvSpPr/>
          <p:nvPr/>
        </p:nvSpPr>
        <p:spPr>
          <a:xfrm>
            <a:off x="822960" y="2514600"/>
            <a:ext cx="3200400" cy="457200"/>
          </a:xfrm>
          <a:prstGeom prst="rect">
            <a:avLst/>
          </a:prstGeom>
          <a:noFill/>
          <a:ln/>
        </p:spPr>
        <p:txBody>
          <a:bodyPr wrap="square" rtlCol="0" anchor="ctr"/>
          <a:lstStyle/>
          <a:p>
            <a:pPr marL="0" indent="0">
              <a:lnSpc>
                <a:spcPts val="1300"/>
              </a:lnSpc>
              <a:buNone/>
            </a:pPr>
            <a:r>
              <a:rPr lang="en-US" sz="1150" dirty="0">
                <a:solidFill>
                  <a:srgbClr val="FFFFFF"/>
                </a:solidFill>
                <a:latin typeface="Calibri" pitchFamily="34" charset="0"/>
                <a:ea typeface="Calibri" pitchFamily="34" charset="-122"/>
                <a:cs typeface="Calibri" pitchFamily="34" charset="-120"/>
              </a:rPr>
              <a:t>•  Sin instalación ni perfil técnico</a:t>
            </a:r>
            <a:endParaRPr lang="en-US" sz="1150" dirty="0"/>
          </a:p>
        </p:txBody>
      </p:sp>
      <p:sp>
        <p:nvSpPr>
          <p:cNvPr id="7" name="Text 5"/>
          <p:cNvSpPr/>
          <p:nvPr/>
        </p:nvSpPr>
        <p:spPr>
          <a:xfrm>
            <a:off x="822960" y="3017520"/>
            <a:ext cx="3200400" cy="457200"/>
          </a:xfrm>
          <a:prstGeom prst="rect">
            <a:avLst/>
          </a:prstGeom>
          <a:noFill/>
          <a:ln/>
        </p:spPr>
        <p:txBody>
          <a:bodyPr wrap="square" rtlCol="0" anchor="ctr"/>
          <a:lstStyle/>
          <a:p>
            <a:pPr marL="0" indent="0">
              <a:lnSpc>
                <a:spcPts val="1300"/>
              </a:lnSpc>
              <a:buNone/>
            </a:pPr>
            <a:r>
              <a:rPr lang="en-US" sz="1150" dirty="0">
                <a:solidFill>
                  <a:srgbClr val="FFFFFF"/>
                </a:solidFill>
                <a:latin typeface="Calibri" pitchFamily="34" charset="0"/>
                <a:ea typeface="Calibri" pitchFamily="34" charset="-122"/>
                <a:cs typeface="Calibri" pitchFamily="34" charset="-120"/>
              </a:rPr>
              <a:t>•  Sube directamente Word / Excel del taller</a:t>
            </a:r>
            <a:endParaRPr lang="en-US" sz="1150" dirty="0"/>
          </a:p>
        </p:txBody>
      </p:sp>
      <p:sp>
        <p:nvSpPr>
          <p:cNvPr id="8" name="Text 6"/>
          <p:cNvSpPr/>
          <p:nvPr/>
        </p:nvSpPr>
        <p:spPr>
          <a:xfrm>
            <a:off x="822960" y="3520440"/>
            <a:ext cx="3200400" cy="457200"/>
          </a:xfrm>
          <a:prstGeom prst="rect">
            <a:avLst/>
          </a:prstGeom>
          <a:noFill/>
          <a:ln/>
        </p:spPr>
        <p:txBody>
          <a:bodyPr wrap="square" rtlCol="0" anchor="ctr"/>
          <a:lstStyle/>
          <a:p>
            <a:pPr marL="0" indent="0">
              <a:lnSpc>
                <a:spcPts val="1300"/>
              </a:lnSpc>
              <a:buNone/>
            </a:pPr>
            <a:r>
              <a:rPr lang="en-US" sz="1150" dirty="0">
                <a:solidFill>
                  <a:srgbClr val="FFFFFF"/>
                </a:solidFill>
                <a:latin typeface="Calibri" pitchFamily="34" charset="0"/>
                <a:ea typeface="Calibri" pitchFamily="34" charset="-122"/>
                <a:cs typeface="Calibri" pitchFamily="34" charset="-120"/>
              </a:rPr>
              <a:t>•  Genera la ficha técnica lista para revisar</a:t>
            </a:r>
            <a:endParaRPr lang="en-US" sz="1150" dirty="0"/>
          </a:p>
        </p:txBody>
      </p:sp>
      <p:sp>
        <p:nvSpPr>
          <p:cNvPr id="9" name="Text 7"/>
          <p:cNvSpPr/>
          <p:nvPr/>
        </p:nvSpPr>
        <p:spPr>
          <a:xfrm>
            <a:off x="822960" y="5486400"/>
            <a:ext cx="3200400" cy="640080"/>
          </a:xfrm>
          <a:prstGeom prst="rect">
            <a:avLst/>
          </a:prstGeom>
          <a:noFill/>
          <a:ln/>
        </p:spPr>
        <p:txBody>
          <a:bodyPr wrap="square" rtlCol="0" anchor="ctr"/>
          <a:lstStyle/>
          <a:p>
            <a:pPr marL="0" indent="0">
              <a:lnSpc>
                <a:spcPts val="1200"/>
              </a:lnSpc>
              <a:buNone/>
            </a:pPr>
            <a:r>
              <a:rPr lang="en-US" sz="950" i="1" dirty="0">
                <a:solidFill>
                  <a:srgbClr val="CADCFC"/>
                </a:solidFill>
                <a:latin typeface="Calibri" pitchFamily="34" charset="0"/>
                <a:ea typeface="Calibri" pitchFamily="34" charset="-122"/>
                <a:cs typeface="Calibri" pitchFamily="34" charset="-120"/>
              </a:rPr>
              <a:t>Verificar planes y límites vigentes en claude.ai / support.claude.com antes del taller.</a:t>
            </a:r>
            <a:endParaRPr lang="en-US" sz="950" dirty="0"/>
          </a:p>
        </p:txBody>
      </p:sp>
      <p:sp>
        <p:nvSpPr>
          <p:cNvPr id="10" name="Text 8"/>
          <p:cNvSpPr/>
          <p:nvPr/>
        </p:nvSpPr>
        <p:spPr>
          <a:xfrm>
            <a:off x="4572000" y="1188720"/>
            <a:ext cx="704088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Prompts sugeridos para practicar</a:t>
            </a:r>
            <a:endParaRPr lang="en-US" sz="1500" dirty="0"/>
          </a:p>
        </p:txBody>
      </p:sp>
      <p:sp>
        <p:nvSpPr>
          <p:cNvPr id="11" name="Shape 9"/>
          <p:cNvSpPr/>
          <p:nvPr/>
        </p:nvSpPr>
        <p:spPr>
          <a:xfrm>
            <a:off x="4572000" y="1691640"/>
            <a:ext cx="7040880" cy="987552"/>
          </a:xfrm>
          <a:prstGeom prst="roundRect">
            <a:avLst>
              <a:gd name="adj" fmla="val 7407"/>
            </a:avLst>
          </a:prstGeom>
          <a:solidFill>
            <a:srgbClr val="EEF2FC"/>
          </a:solidFill>
          <a:ln/>
          <a:effectLst>
            <a:outerShdw blurRad="76200" dist="25400" dir="5400000" algn="bl" rotWithShape="0">
              <a:srgbClr val="3A3F55">
                <a:alpha val="18000"/>
              </a:srgbClr>
            </a:outerShdw>
          </a:effectLst>
        </p:spPr>
      </p:sp>
      <p:sp>
        <p:nvSpPr>
          <p:cNvPr id="12" name="Shape 10"/>
          <p:cNvSpPr/>
          <p:nvPr/>
        </p:nvSpPr>
        <p:spPr>
          <a:xfrm>
            <a:off x="4754880" y="1865376"/>
            <a:ext cx="566928" cy="566928"/>
          </a:xfrm>
          <a:prstGeom prst="ellipse">
            <a:avLst/>
          </a:prstGeom>
          <a:solidFill>
            <a:srgbClr val="B8860B"/>
          </a:solidFill>
          <a:ln/>
        </p:spPr>
      </p:sp>
      <p:sp>
        <p:nvSpPr>
          <p:cNvPr id="13" name="Text 11"/>
          <p:cNvSpPr/>
          <p:nvPr/>
        </p:nvSpPr>
        <p:spPr>
          <a:xfrm>
            <a:off x="4754880" y="1865376"/>
            <a:ext cx="566928" cy="566928"/>
          </a:xfrm>
          <a:prstGeom prst="rect">
            <a:avLst/>
          </a:prstGeom>
          <a:noFill/>
          <a:ln/>
        </p:spPr>
        <p:txBody>
          <a:bodyPr wrap="square" rtlCol="0" anchor="ctr"/>
          <a:lstStyle/>
          <a:p>
            <a:pPr marL="0" indent="0" algn="ctr">
              <a:buNone/>
            </a:pPr>
            <a:r>
              <a:rPr lang="en-US" sz="1612" b="1" dirty="0">
                <a:solidFill>
                  <a:srgbClr val="FFFFFF"/>
                </a:solidFill>
                <a:latin typeface="Calibri" pitchFamily="34" charset="0"/>
                <a:ea typeface="Calibri" pitchFamily="34" charset="-122"/>
                <a:cs typeface="Calibri" pitchFamily="34" charset="-120"/>
              </a:rPr>
              <a:t>”</a:t>
            </a:r>
            <a:endParaRPr lang="en-US" sz="1612" dirty="0"/>
          </a:p>
        </p:txBody>
      </p:sp>
      <p:sp>
        <p:nvSpPr>
          <p:cNvPr id="14" name="Text 12"/>
          <p:cNvSpPr/>
          <p:nvPr/>
        </p:nvSpPr>
        <p:spPr>
          <a:xfrm>
            <a:off x="5532120" y="1764792"/>
            <a:ext cx="5897880" cy="868680"/>
          </a:xfrm>
          <a:prstGeom prst="rect">
            <a:avLst/>
          </a:prstGeom>
          <a:noFill/>
          <a:ln/>
        </p:spPr>
        <p:txBody>
          <a:bodyPr wrap="square" rtlCol="0" anchor="ctr"/>
          <a:lstStyle/>
          <a:p>
            <a:pPr marL="0" indent="0">
              <a:lnSpc>
                <a:spcPts val="1300"/>
              </a:lnSpc>
              <a:buNone/>
            </a:pPr>
            <a:r>
              <a:rPr lang="en-US" sz="1080" i="1" dirty="0">
                <a:solidFill>
                  <a:srgbClr val="20232B"/>
                </a:solidFill>
                <a:latin typeface="Calibri" pitchFamily="34" charset="0"/>
                <a:ea typeface="Calibri" pitchFamily="34" charset="-122"/>
                <a:cs typeface="Calibri" pitchFamily="34" charset="-120"/>
              </a:rPr>
              <a:t>"Tengo esta pregunta de gestión: [...]. Evalúa si cumple los 4 componentes (población, atributo, ámbito, referente) y dime cuáles faltan."</a:t>
            </a:r>
            <a:endParaRPr lang="en-US" sz="1080" dirty="0"/>
          </a:p>
        </p:txBody>
      </p:sp>
      <p:sp>
        <p:nvSpPr>
          <p:cNvPr id="15" name="Shape 13"/>
          <p:cNvSpPr/>
          <p:nvPr/>
        </p:nvSpPr>
        <p:spPr>
          <a:xfrm>
            <a:off x="4572000" y="2825496"/>
            <a:ext cx="7040880" cy="987552"/>
          </a:xfrm>
          <a:prstGeom prst="roundRect">
            <a:avLst>
              <a:gd name="adj" fmla="val 7407"/>
            </a:avLst>
          </a:prstGeom>
          <a:solidFill>
            <a:srgbClr val="EEF2FC"/>
          </a:solidFill>
          <a:ln/>
          <a:effectLst>
            <a:outerShdw blurRad="76200" dist="25400" dir="5400000" algn="bl" rotWithShape="0">
              <a:srgbClr val="3A3F55">
                <a:alpha val="18000"/>
              </a:srgbClr>
            </a:outerShdw>
          </a:effectLst>
        </p:spPr>
      </p:sp>
      <p:sp>
        <p:nvSpPr>
          <p:cNvPr id="16" name="Shape 14"/>
          <p:cNvSpPr/>
          <p:nvPr/>
        </p:nvSpPr>
        <p:spPr>
          <a:xfrm>
            <a:off x="4754880" y="2999232"/>
            <a:ext cx="566928" cy="566928"/>
          </a:xfrm>
          <a:prstGeom prst="ellipse">
            <a:avLst/>
          </a:prstGeom>
          <a:solidFill>
            <a:srgbClr val="B8860B"/>
          </a:solidFill>
          <a:ln/>
        </p:spPr>
      </p:sp>
      <p:sp>
        <p:nvSpPr>
          <p:cNvPr id="17" name="Text 15"/>
          <p:cNvSpPr/>
          <p:nvPr/>
        </p:nvSpPr>
        <p:spPr>
          <a:xfrm>
            <a:off x="4754880" y="2999232"/>
            <a:ext cx="566928" cy="566928"/>
          </a:xfrm>
          <a:prstGeom prst="rect">
            <a:avLst/>
          </a:prstGeom>
          <a:noFill/>
          <a:ln/>
        </p:spPr>
        <p:txBody>
          <a:bodyPr wrap="square" rtlCol="0" anchor="ctr"/>
          <a:lstStyle/>
          <a:p>
            <a:pPr marL="0" indent="0" algn="ctr">
              <a:buNone/>
            </a:pPr>
            <a:r>
              <a:rPr lang="en-US" sz="1612" b="1" dirty="0">
                <a:solidFill>
                  <a:srgbClr val="FFFFFF"/>
                </a:solidFill>
                <a:latin typeface="Calibri" pitchFamily="34" charset="0"/>
                <a:ea typeface="Calibri" pitchFamily="34" charset="-122"/>
                <a:cs typeface="Calibri" pitchFamily="34" charset="-120"/>
              </a:rPr>
              <a:t>”</a:t>
            </a:r>
            <a:endParaRPr lang="en-US" sz="1612" dirty="0"/>
          </a:p>
        </p:txBody>
      </p:sp>
      <p:sp>
        <p:nvSpPr>
          <p:cNvPr id="18" name="Text 16"/>
          <p:cNvSpPr/>
          <p:nvPr/>
        </p:nvSpPr>
        <p:spPr>
          <a:xfrm>
            <a:off x="5532120" y="2898648"/>
            <a:ext cx="5897880" cy="868680"/>
          </a:xfrm>
          <a:prstGeom prst="rect">
            <a:avLst/>
          </a:prstGeom>
          <a:noFill/>
          <a:ln/>
        </p:spPr>
        <p:txBody>
          <a:bodyPr wrap="square" rtlCol="0" anchor="ctr"/>
          <a:lstStyle/>
          <a:p>
            <a:pPr marL="0" indent="0">
              <a:lnSpc>
                <a:spcPts val="1300"/>
              </a:lnSpc>
              <a:buNone/>
            </a:pPr>
            <a:r>
              <a:rPr lang="en-US" sz="1080" i="1" dirty="0">
                <a:solidFill>
                  <a:srgbClr val="20232B"/>
                </a:solidFill>
                <a:latin typeface="Calibri" pitchFamily="34" charset="0"/>
                <a:ea typeface="Calibri" pitchFamily="34" charset="-122"/>
                <a:cs typeface="Calibri" pitchFamily="34" charset="-120"/>
              </a:rPr>
              <a:t>"A partir de esta pregunta ya refinada, propón 3 indicadores posibles con fórmula, unidad de medida y fuente, según los criterios CREMA."</a:t>
            </a:r>
            <a:endParaRPr lang="en-US" sz="1080" dirty="0"/>
          </a:p>
        </p:txBody>
      </p:sp>
      <p:sp>
        <p:nvSpPr>
          <p:cNvPr id="19" name="Shape 17"/>
          <p:cNvSpPr/>
          <p:nvPr/>
        </p:nvSpPr>
        <p:spPr>
          <a:xfrm>
            <a:off x="4572000" y="3959352"/>
            <a:ext cx="7040880" cy="987552"/>
          </a:xfrm>
          <a:prstGeom prst="roundRect">
            <a:avLst>
              <a:gd name="adj" fmla="val 7407"/>
            </a:avLst>
          </a:prstGeom>
          <a:solidFill>
            <a:srgbClr val="EEF2FC"/>
          </a:solidFill>
          <a:ln/>
          <a:effectLst>
            <a:outerShdw blurRad="76200" dist="25400" dir="5400000" algn="bl" rotWithShape="0">
              <a:srgbClr val="3A3F55">
                <a:alpha val="18000"/>
              </a:srgbClr>
            </a:outerShdw>
          </a:effectLst>
        </p:spPr>
      </p:sp>
      <p:sp>
        <p:nvSpPr>
          <p:cNvPr id="20" name="Shape 18"/>
          <p:cNvSpPr/>
          <p:nvPr/>
        </p:nvSpPr>
        <p:spPr>
          <a:xfrm>
            <a:off x="4754880" y="4133088"/>
            <a:ext cx="566928" cy="566928"/>
          </a:xfrm>
          <a:prstGeom prst="ellipse">
            <a:avLst/>
          </a:prstGeom>
          <a:solidFill>
            <a:srgbClr val="B8860B"/>
          </a:solidFill>
          <a:ln/>
        </p:spPr>
      </p:sp>
      <p:sp>
        <p:nvSpPr>
          <p:cNvPr id="21" name="Text 19"/>
          <p:cNvSpPr/>
          <p:nvPr/>
        </p:nvSpPr>
        <p:spPr>
          <a:xfrm>
            <a:off x="4754880" y="4133088"/>
            <a:ext cx="566928" cy="566928"/>
          </a:xfrm>
          <a:prstGeom prst="rect">
            <a:avLst/>
          </a:prstGeom>
          <a:noFill/>
          <a:ln/>
        </p:spPr>
        <p:txBody>
          <a:bodyPr wrap="square" rtlCol="0" anchor="ctr"/>
          <a:lstStyle/>
          <a:p>
            <a:pPr marL="0" indent="0" algn="ctr">
              <a:buNone/>
            </a:pPr>
            <a:r>
              <a:rPr lang="en-US" sz="1612" b="1" dirty="0">
                <a:solidFill>
                  <a:srgbClr val="FFFFFF"/>
                </a:solidFill>
                <a:latin typeface="Calibri" pitchFamily="34" charset="0"/>
                <a:ea typeface="Calibri" pitchFamily="34" charset="-122"/>
                <a:cs typeface="Calibri" pitchFamily="34" charset="-120"/>
              </a:rPr>
              <a:t>”</a:t>
            </a:r>
            <a:endParaRPr lang="en-US" sz="1612" dirty="0"/>
          </a:p>
        </p:txBody>
      </p:sp>
      <p:sp>
        <p:nvSpPr>
          <p:cNvPr id="22" name="Text 20"/>
          <p:cNvSpPr/>
          <p:nvPr/>
        </p:nvSpPr>
        <p:spPr>
          <a:xfrm>
            <a:off x="5532120" y="4032504"/>
            <a:ext cx="5897880" cy="868680"/>
          </a:xfrm>
          <a:prstGeom prst="rect">
            <a:avLst/>
          </a:prstGeom>
          <a:noFill/>
          <a:ln/>
        </p:spPr>
        <p:txBody>
          <a:bodyPr wrap="square" rtlCol="0" anchor="ctr"/>
          <a:lstStyle/>
          <a:p>
            <a:pPr marL="0" indent="0">
              <a:lnSpc>
                <a:spcPts val="1300"/>
              </a:lnSpc>
              <a:buNone/>
            </a:pPr>
            <a:r>
              <a:rPr lang="en-US" sz="1080" i="1" dirty="0">
                <a:solidFill>
                  <a:srgbClr val="20232B"/>
                </a:solidFill>
                <a:latin typeface="Calibri" pitchFamily="34" charset="0"/>
                <a:ea typeface="Calibri" pitchFamily="34" charset="-122"/>
                <a:cs typeface="Calibri" pitchFamily="34" charset="-120"/>
              </a:rPr>
              <a:t>"Redacta el borrador de la ficha técnica con esta plantilla. Deja explícitos los campos que debo verificar con la fuente oficial."</a:t>
            </a:r>
            <a:endParaRPr lang="en-US" sz="1080" dirty="0"/>
          </a:p>
        </p:txBody>
      </p:sp>
      <p:sp>
        <p:nvSpPr>
          <p:cNvPr id="23" name="Shape 21"/>
          <p:cNvSpPr/>
          <p:nvPr/>
        </p:nvSpPr>
        <p:spPr>
          <a:xfrm>
            <a:off x="4572000" y="5093208"/>
            <a:ext cx="7040880" cy="987552"/>
          </a:xfrm>
          <a:prstGeom prst="roundRect">
            <a:avLst>
              <a:gd name="adj" fmla="val 7407"/>
            </a:avLst>
          </a:prstGeom>
          <a:solidFill>
            <a:srgbClr val="EEF2FC"/>
          </a:solidFill>
          <a:ln/>
          <a:effectLst>
            <a:outerShdw blurRad="76200" dist="25400" dir="5400000" algn="bl" rotWithShape="0">
              <a:srgbClr val="3A3F55">
                <a:alpha val="18000"/>
              </a:srgbClr>
            </a:outerShdw>
          </a:effectLst>
        </p:spPr>
      </p:sp>
      <p:sp>
        <p:nvSpPr>
          <p:cNvPr id="24" name="Shape 22"/>
          <p:cNvSpPr/>
          <p:nvPr/>
        </p:nvSpPr>
        <p:spPr>
          <a:xfrm>
            <a:off x="4754880" y="5266944"/>
            <a:ext cx="566928" cy="566928"/>
          </a:xfrm>
          <a:prstGeom prst="ellipse">
            <a:avLst/>
          </a:prstGeom>
          <a:solidFill>
            <a:srgbClr val="B8860B"/>
          </a:solidFill>
          <a:ln/>
        </p:spPr>
      </p:sp>
      <p:sp>
        <p:nvSpPr>
          <p:cNvPr id="25" name="Text 23"/>
          <p:cNvSpPr/>
          <p:nvPr/>
        </p:nvSpPr>
        <p:spPr>
          <a:xfrm>
            <a:off x="4754880" y="5266944"/>
            <a:ext cx="566928" cy="566928"/>
          </a:xfrm>
          <a:prstGeom prst="rect">
            <a:avLst/>
          </a:prstGeom>
          <a:noFill/>
          <a:ln/>
        </p:spPr>
        <p:txBody>
          <a:bodyPr wrap="square" rtlCol="0" anchor="ctr"/>
          <a:lstStyle/>
          <a:p>
            <a:pPr marL="0" indent="0" algn="ctr">
              <a:buNone/>
            </a:pPr>
            <a:r>
              <a:rPr lang="en-US" sz="1612" b="1" dirty="0">
                <a:solidFill>
                  <a:srgbClr val="FFFFFF"/>
                </a:solidFill>
                <a:latin typeface="Calibri" pitchFamily="34" charset="0"/>
                <a:ea typeface="Calibri" pitchFamily="34" charset="-122"/>
                <a:cs typeface="Calibri" pitchFamily="34" charset="-120"/>
              </a:rPr>
              <a:t>”</a:t>
            </a:r>
            <a:endParaRPr lang="en-US" sz="1612" dirty="0"/>
          </a:p>
        </p:txBody>
      </p:sp>
      <p:sp>
        <p:nvSpPr>
          <p:cNvPr id="26" name="Text 24"/>
          <p:cNvSpPr/>
          <p:nvPr/>
        </p:nvSpPr>
        <p:spPr>
          <a:xfrm>
            <a:off x="5532120" y="5166360"/>
            <a:ext cx="5897880" cy="868680"/>
          </a:xfrm>
          <a:prstGeom prst="rect">
            <a:avLst/>
          </a:prstGeom>
          <a:noFill/>
          <a:ln/>
        </p:spPr>
        <p:txBody>
          <a:bodyPr wrap="square" rtlCol="0" anchor="ctr"/>
          <a:lstStyle/>
          <a:p>
            <a:pPr marL="0" indent="0">
              <a:lnSpc>
                <a:spcPts val="1300"/>
              </a:lnSpc>
              <a:buNone/>
            </a:pPr>
            <a:r>
              <a:rPr lang="en-US" sz="1080" i="1" dirty="0">
                <a:solidFill>
                  <a:srgbClr val="20232B"/>
                </a:solidFill>
                <a:latin typeface="Calibri" pitchFamily="34" charset="0"/>
                <a:ea typeface="Calibri" pitchFamily="34" charset="-122"/>
                <a:cs typeface="Calibri" pitchFamily="34" charset="-120"/>
              </a:rPr>
              <a:t>"Revisa esta batería de indicadores y señala cuáles son en realidad indicadores de producto disfrazados de resultado."</a:t>
            </a:r>
            <a:endParaRPr lang="en-US" sz="1080" dirty="0"/>
          </a:p>
        </p:txBody>
      </p:sp>
      <p:sp>
        <p:nvSpPr>
          <p:cNvPr id="27" name="Text 25"/>
          <p:cNvSpPr/>
          <p:nvPr/>
        </p:nvSpPr>
        <p:spPr>
          <a:xfrm>
            <a:off x="457200" y="6510528"/>
            <a:ext cx="73152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Construcción de preguntas de gestión e indicadores</a:t>
            </a:r>
            <a:endParaRPr lang="en-US" sz="900" dirty="0"/>
          </a:p>
        </p:txBody>
      </p:sp>
      <p:sp>
        <p:nvSpPr>
          <p:cNvPr id="28" name="Text 26"/>
          <p:cNvSpPr/>
          <p:nvPr/>
        </p:nvSpPr>
        <p:spPr>
          <a:xfrm>
            <a:off x="11521440" y="6510528"/>
            <a:ext cx="36576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73F"/>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E2761"/>
          </a:solidFill>
          <a:ln/>
        </p:spPr>
      </p:sp>
      <p:sp>
        <p:nvSpPr>
          <p:cNvPr id="3" name="Text 1"/>
          <p:cNvSpPr/>
          <p:nvPr/>
        </p:nvSpPr>
        <p:spPr>
          <a:xfrm>
            <a:off x="822960" y="914400"/>
            <a:ext cx="7315200" cy="457200"/>
          </a:xfrm>
          <a:prstGeom prst="rect">
            <a:avLst/>
          </a:prstGeom>
          <a:noFill/>
          <a:ln/>
        </p:spPr>
        <p:txBody>
          <a:bodyPr wrap="square" rtlCol="0" anchor="ctr"/>
          <a:lstStyle/>
          <a:p>
            <a:pPr marL="0" indent="0">
              <a:buNone/>
            </a:pPr>
            <a:r>
              <a:rPr lang="en-US" sz="1400" b="1" kern="0" spc="200" dirty="0">
                <a:solidFill>
                  <a:srgbClr val="B8860B"/>
                </a:solidFill>
                <a:latin typeface="Calibri" pitchFamily="34" charset="0"/>
                <a:ea typeface="Calibri" pitchFamily="34" charset="-122"/>
                <a:cs typeface="Calibri" pitchFamily="34" charset="-120"/>
              </a:rPr>
              <a:t>Recordemos</a:t>
            </a:r>
            <a:endParaRPr lang="en-US" sz="1400" dirty="0"/>
          </a:p>
        </p:txBody>
      </p:sp>
      <p:sp>
        <p:nvSpPr>
          <p:cNvPr id="4" name="Text 2"/>
          <p:cNvSpPr/>
          <p:nvPr/>
        </p:nvSpPr>
        <p:spPr>
          <a:xfrm>
            <a:off x="822960" y="1371600"/>
            <a:ext cx="10058400" cy="2194560"/>
          </a:xfrm>
          <a:prstGeom prst="rect">
            <a:avLst/>
          </a:prstGeom>
          <a:noFill/>
          <a:ln/>
        </p:spPr>
        <p:txBody>
          <a:bodyPr wrap="square" rtlCol="0" anchor="ctr"/>
          <a:lstStyle/>
          <a:p>
            <a:pPr marL="0" indent="0">
              <a:lnSpc>
                <a:spcPts val="4000"/>
              </a:lnSpc>
              <a:buNone/>
            </a:pPr>
            <a:r>
              <a:rPr lang="en-US" sz="3000" b="1" dirty="0">
                <a:solidFill>
                  <a:srgbClr val="FFFFFF"/>
                </a:solidFill>
                <a:latin typeface="Cambria" pitchFamily="34" charset="0"/>
                <a:ea typeface="Cambria" pitchFamily="34" charset="-122"/>
                <a:cs typeface="Cambria" pitchFamily="34" charset="-120"/>
              </a:rPr>
              <a:t>La IA acelera el trabajo técnico.</a:t>
            </a:r>
            <a:endParaRPr lang="en-US" sz="3000" dirty="0"/>
          </a:p>
          <a:p>
            <a:pPr marL="0" indent="0">
              <a:lnSpc>
                <a:spcPts val="4000"/>
              </a:lnSpc>
              <a:buNone/>
            </a:pPr>
            <a:r>
              <a:rPr lang="en-US" sz="3000" b="1" dirty="0">
                <a:solidFill>
                  <a:srgbClr val="FFFFFF"/>
                </a:solidFill>
                <a:latin typeface="Cambria" pitchFamily="34" charset="0"/>
                <a:ea typeface="Cambria" pitchFamily="34" charset="-122"/>
                <a:cs typeface="Cambria" pitchFamily="34" charset="-120"/>
              </a:rPr>
              <a:t>El equipo sigue formulando la pregunta</a:t>
            </a:r>
            <a:endParaRPr lang="en-US" sz="3000" dirty="0"/>
          </a:p>
          <a:p>
            <a:pPr marL="0" indent="0">
              <a:lnSpc>
                <a:spcPts val="4000"/>
              </a:lnSpc>
              <a:buNone/>
            </a:pPr>
            <a:r>
              <a:rPr lang="en-US" sz="3000" b="1" dirty="0">
                <a:solidFill>
                  <a:srgbClr val="FFFFFF"/>
                </a:solidFill>
                <a:latin typeface="Cambria" pitchFamily="34" charset="0"/>
                <a:ea typeface="Cambria" pitchFamily="34" charset="-122"/>
                <a:cs typeface="Cambria" pitchFamily="34" charset="-120"/>
              </a:rPr>
              <a:t>y dando sentido a la respuesta.</a:t>
            </a:r>
            <a:endParaRPr lang="en-US" sz="3000" dirty="0"/>
          </a:p>
        </p:txBody>
      </p:sp>
      <p:sp>
        <p:nvSpPr>
          <p:cNvPr id="5" name="Shape 3"/>
          <p:cNvSpPr/>
          <p:nvPr/>
        </p:nvSpPr>
        <p:spPr>
          <a:xfrm>
            <a:off x="822960" y="3931920"/>
            <a:ext cx="502920" cy="502920"/>
          </a:xfrm>
          <a:prstGeom prst="ellipse">
            <a:avLst/>
          </a:prstGeom>
          <a:solidFill>
            <a:srgbClr val="B8860B"/>
          </a:solidFill>
          <a:ln/>
        </p:spPr>
      </p:sp>
      <p:sp>
        <p:nvSpPr>
          <p:cNvPr id="6" name="Text 4"/>
          <p:cNvSpPr/>
          <p:nvPr/>
        </p:nvSpPr>
        <p:spPr>
          <a:xfrm>
            <a:off x="822960" y="3931920"/>
            <a:ext cx="502920" cy="502920"/>
          </a:xfrm>
          <a:prstGeom prst="rect">
            <a:avLst/>
          </a:prstGeom>
          <a:noFill/>
          <a:ln/>
        </p:spPr>
        <p:txBody>
          <a:bodyPr wrap="square" rtlCol="0" anchor="ctr"/>
          <a:lstStyle/>
          <a:p>
            <a:pPr marL="0" indent="0" algn="ctr">
              <a:buNone/>
            </a:pPr>
            <a:r>
              <a:rPr lang="en-US" sz="1430" b="1" dirty="0">
                <a:solidFill>
                  <a:srgbClr val="12173F"/>
                </a:solidFill>
                <a:latin typeface="Calibri" pitchFamily="34" charset="0"/>
                <a:ea typeface="Calibri" pitchFamily="34" charset="-122"/>
                <a:cs typeface="Calibri" pitchFamily="34" charset="-120"/>
              </a:rPr>
              <a:t>1</a:t>
            </a:r>
            <a:endParaRPr lang="en-US" sz="1430" dirty="0"/>
          </a:p>
        </p:txBody>
      </p:sp>
      <p:sp>
        <p:nvSpPr>
          <p:cNvPr id="7" name="Text 5"/>
          <p:cNvSpPr/>
          <p:nvPr/>
        </p:nvSpPr>
        <p:spPr>
          <a:xfrm>
            <a:off x="1508760" y="3886200"/>
            <a:ext cx="8686800" cy="5943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Practicar el método de 5 pasos en grupos</a:t>
            </a:r>
            <a:endParaRPr lang="en-US" sz="1500" dirty="0"/>
          </a:p>
        </p:txBody>
      </p:sp>
      <p:sp>
        <p:nvSpPr>
          <p:cNvPr id="8" name="Shape 6"/>
          <p:cNvSpPr/>
          <p:nvPr/>
        </p:nvSpPr>
        <p:spPr>
          <a:xfrm>
            <a:off x="822960" y="4617720"/>
            <a:ext cx="502920" cy="502920"/>
          </a:xfrm>
          <a:prstGeom prst="ellipse">
            <a:avLst/>
          </a:prstGeom>
          <a:solidFill>
            <a:srgbClr val="B8860B"/>
          </a:solidFill>
          <a:ln/>
        </p:spPr>
      </p:sp>
      <p:sp>
        <p:nvSpPr>
          <p:cNvPr id="9" name="Text 7"/>
          <p:cNvSpPr/>
          <p:nvPr/>
        </p:nvSpPr>
        <p:spPr>
          <a:xfrm>
            <a:off x="822960" y="4617720"/>
            <a:ext cx="502920" cy="502920"/>
          </a:xfrm>
          <a:prstGeom prst="rect">
            <a:avLst/>
          </a:prstGeom>
          <a:noFill/>
          <a:ln/>
        </p:spPr>
        <p:txBody>
          <a:bodyPr wrap="square" rtlCol="0" anchor="ctr"/>
          <a:lstStyle/>
          <a:p>
            <a:pPr marL="0" indent="0" algn="ctr">
              <a:buNone/>
            </a:pPr>
            <a:r>
              <a:rPr lang="en-US" sz="1430" b="1" dirty="0">
                <a:solidFill>
                  <a:srgbClr val="12173F"/>
                </a:solidFill>
                <a:latin typeface="Calibri" pitchFamily="34" charset="0"/>
                <a:ea typeface="Calibri" pitchFamily="34" charset="-122"/>
                <a:cs typeface="Calibri" pitchFamily="34" charset="-120"/>
              </a:rPr>
              <a:t>2</a:t>
            </a:r>
            <a:endParaRPr lang="en-US" sz="1430" dirty="0"/>
          </a:p>
        </p:txBody>
      </p:sp>
      <p:sp>
        <p:nvSpPr>
          <p:cNvPr id="10" name="Text 8"/>
          <p:cNvSpPr/>
          <p:nvPr/>
        </p:nvSpPr>
        <p:spPr>
          <a:xfrm>
            <a:off x="1508760" y="4572000"/>
            <a:ext cx="8686800" cy="5943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Diligenciar la ficha técnica de 2-3 indicadores propios</a:t>
            </a:r>
            <a:endParaRPr lang="en-US" sz="1500" dirty="0"/>
          </a:p>
        </p:txBody>
      </p:sp>
      <p:sp>
        <p:nvSpPr>
          <p:cNvPr id="11" name="Shape 9"/>
          <p:cNvSpPr/>
          <p:nvPr/>
        </p:nvSpPr>
        <p:spPr>
          <a:xfrm>
            <a:off x="822960" y="5303520"/>
            <a:ext cx="502920" cy="502920"/>
          </a:xfrm>
          <a:prstGeom prst="ellipse">
            <a:avLst/>
          </a:prstGeom>
          <a:solidFill>
            <a:srgbClr val="B8860B"/>
          </a:solidFill>
          <a:ln/>
        </p:spPr>
      </p:sp>
      <p:sp>
        <p:nvSpPr>
          <p:cNvPr id="12" name="Text 10"/>
          <p:cNvSpPr/>
          <p:nvPr/>
        </p:nvSpPr>
        <p:spPr>
          <a:xfrm>
            <a:off x="822960" y="5303520"/>
            <a:ext cx="502920" cy="502920"/>
          </a:xfrm>
          <a:prstGeom prst="rect">
            <a:avLst/>
          </a:prstGeom>
          <a:noFill/>
          <a:ln/>
        </p:spPr>
        <p:txBody>
          <a:bodyPr wrap="square" rtlCol="0" anchor="ctr"/>
          <a:lstStyle/>
          <a:p>
            <a:pPr marL="0" indent="0" algn="ctr">
              <a:buNone/>
            </a:pPr>
            <a:r>
              <a:rPr lang="en-US" sz="1430" b="1" dirty="0">
                <a:solidFill>
                  <a:srgbClr val="12173F"/>
                </a:solidFill>
                <a:latin typeface="Calibri" pitchFamily="34" charset="0"/>
                <a:ea typeface="Calibri" pitchFamily="34" charset="-122"/>
                <a:cs typeface="Calibri" pitchFamily="34" charset="-120"/>
              </a:rPr>
              <a:t>3</a:t>
            </a:r>
            <a:endParaRPr lang="en-US" sz="1430" dirty="0"/>
          </a:p>
        </p:txBody>
      </p:sp>
      <p:sp>
        <p:nvSpPr>
          <p:cNvPr id="13" name="Text 11"/>
          <p:cNvSpPr/>
          <p:nvPr/>
        </p:nvSpPr>
        <p:spPr>
          <a:xfrm>
            <a:off x="1508760" y="5257800"/>
            <a:ext cx="8686800" cy="5943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Validar fuentes y metas con los responsables de cada área</a:t>
            </a:r>
            <a:endParaRPr lang="en-US" sz="1500" dirty="0"/>
          </a:p>
        </p:txBody>
      </p:sp>
      <p:sp>
        <p:nvSpPr>
          <p:cNvPr id="14" name="Text 12"/>
          <p:cNvSpPr/>
          <p:nvPr/>
        </p:nvSpPr>
        <p:spPr>
          <a:xfrm>
            <a:off x="822960" y="6263640"/>
            <a:ext cx="10058400" cy="3657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Documento base y esta presentación disponibles como material de referencia del taller.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1557</Words>
  <Application>Microsoft Office PowerPoint</Application>
  <PresentationFormat>Panorámica</PresentationFormat>
  <Paragraphs>261</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Sandra Carolina</cp:lastModifiedBy>
  <cp:revision>2</cp:revision>
  <dcterms:created xsi:type="dcterms:W3CDTF">2026-08-04T23:34:55Z</dcterms:created>
  <dcterms:modified xsi:type="dcterms:W3CDTF">2026-08-05T00:30:00Z</dcterms:modified>
</cp:coreProperties>
</file>