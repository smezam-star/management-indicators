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311" r:id="rId13"/>
    <p:sldId id="269" r:id="rId14"/>
    <p:sldId id="270" r:id="rId15"/>
    <p:sldId id="271" r:id="rId16"/>
    <p:sldId id="272" r:id="rId17"/>
    <p:sldId id="273" r:id="rId18"/>
    <p:sldId id="275" r:id="rId19"/>
    <p:sldId id="276" r:id="rId20"/>
    <p:sldId id="310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302" r:id="rId46"/>
    <p:sldId id="303" r:id="rId47"/>
    <p:sldId id="304" r:id="rId48"/>
    <p:sldId id="305" r:id="rId49"/>
    <p:sldId id="308" r:id="rId50"/>
    <p:sldId id="309" r:id="rId5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77B7"/>
    <a:srgbClr val="FC6E01"/>
    <a:srgbClr val="0853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6047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609600" y="8475134"/>
            <a:ext cx="284480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4165600" y="8475134"/>
            <a:ext cx="386080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737600" y="8475134"/>
            <a:ext cx="284480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811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24;p9" descr="cover.jpg">
            <a:extLst>
              <a:ext uri="{FF2B5EF4-FFF2-40B4-BE49-F238E27FC236}">
                <a16:creationId xmlns:a16="http://schemas.microsoft.com/office/drawing/2014/main" id="{D4058908-593C-4E96-B928-F948DF71435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2689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Shape 1"/>
          <p:cNvSpPr/>
          <p:nvPr/>
        </p:nvSpPr>
        <p:spPr>
          <a:xfrm>
            <a:off x="1577188" y="4517136"/>
            <a:ext cx="2743200" cy="109728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21717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8 –  CICLO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81735" y="2583180"/>
            <a:ext cx="103327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Construcción de Preguntas de Gestión y su Traducción a Indicadores Públicos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081735" y="38862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</a:t>
            </a:r>
            <a:r>
              <a:rPr lang="en-US" sz="1700" i="1" dirty="0" err="1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</a:t>
            </a:r>
            <a:r>
              <a:rPr lang="en-US" sz="1700" i="1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700" i="1" dirty="0" err="1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</a:t>
            </a:r>
            <a:r>
              <a:rPr lang="en-US" sz="1700" i="1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Inteligencia Artificial 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4572000"/>
            <a:ext cx="2011680" cy="27432"/>
          </a:xfrm>
          <a:prstGeom prst="rect">
            <a:avLst/>
          </a:prstGeom>
          <a:solidFill>
            <a:srgbClr val="3B5B82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FA5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de referencia: DNP (Sinergia) · DANE · DAFP–MIPG · CEPAL/ILPES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963327" y="1367153"/>
            <a:ext cx="4394735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963328" y="559504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63328" y="771949"/>
            <a:ext cx="1078992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600" b="1" dirty="0">
                <a:solidFill>
                  <a:srgbClr val="1C4587"/>
                </a:solidFill>
                <a:latin typeface="Arial"/>
                <a:cs typeface="Arial"/>
              </a:rPr>
              <a:t>Cómo se organiza </a:t>
            </a:r>
            <a:r>
              <a:rPr lang="en-US" sz="2600" b="1" dirty="0" err="1">
                <a:solidFill>
                  <a:srgbClr val="1C4587"/>
                </a:solidFill>
                <a:latin typeface="Arial"/>
                <a:cs typeface="Arial"/>
              </a:rPr>
              <a:t>este</a:t>
            </a:r>
            <a:r>
              <a:rPr lang="en-US" sz="2600" b="1" dirty="0">
                <a:solidFill>
                  <a:srgbClr val="1C4587"/>
                </a:solidFill>
                <a:latin typeface="Arial"/>
                <a:cs typeface="Arial"/>
              </a:rPr>
              <a:t> taller</a:t>
            </a:r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85800" y="1691640"/>
            <a:ext cx="10789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15000"/>
              </a:lnSpc>
              <a:spcAft>
                <a:spcPts val="1200"/>
              </a:spcAft>
              <a:buClr>
                <a:srgbClr val="0277B7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Bloque</a:t>
            </a:r>
            <a:r>
              <a:rPr lang="en-US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1: </a:t>
            </a:r>
            <a:r>
              <a:rPr lang="en-US" dirty="0" err="1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marco</a:t>
            </a:r>
            <a:r>
              <a:rPr lang="en-US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conceptual, tipología de indicadores, método de 5 pasos, ficha técnica y errores comunes, con actividades prácticas individuales en cada módulo.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15000"/>
              </a:lnSpc>
              <a:spcAft>
                <a:spcPts val="1200"/>
              </a:spcAft>
              <a:buClr>
                <a:srgbClr val="0277B7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Bloque</a:t>
            </a:r>
            <a:r>
              <a:rPr lang="en-US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2: el rol de la Inteligencia Artificial como potenciador, la herramienta Claude.ai y el kit de prompts.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15000"/>
              </a:lnSpc>
              <a:spcAft>
                <a:spcPts val="1200"/>
              </a:spcAft>
              <a:buClr>
                <a:srgbClr val="0277B7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Bloque</a:t>
            </a:r>
            <a:r>
              <a:rPr lang="en-US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3: taller práctico en vivo con los 4 casos desarrollados, más 3 ejercicios para continuar de forma autónoma.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15000"/>
              </a:lnSpc>
              <a:spcAft>
                <a:spcPts val="1200"/>
              </a:spcAft>
              <a:buClr>
                <a:srgbClr val="0277B7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Cada ejemplo desarrollado incluye los 8 elementos del taller: pregunta de gestión, población, atributo, ámbito, referente de comparación, eslabón de la cadena de valor, nombre del indicador y fórmula — además del prompt de IA </a:t>
            </a:r>
            <a:r>
              <a:rPr lang="en-US" dirty="0" err="1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usado</a:t>
            </a:r>
            <a:r>
              <a:rPr lang="en-US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Google Shape;181;p12" descr="image2.png">
            <a:extLst>
              <a:ext uri="{FF2B5EF4-FFF2-40B4-BE49-F238E27FC236}">
                <a16:creationId xmlns:a16="http://schemas.microsoft.com/office/drawing/2014/main" id="{F082A747-5226-4A2C-8B32-C506FA6CB7B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233526"/>
            <a:ext cx="12192000" cy="6241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85800" y="1378636"/>
            <a:ext cx="3581400" cy="130124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708259" y="4297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DEL TALLER · BLOQUE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08259" y="925770"/>
            <a:ext cx="1078992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600" b="1" dirty="0">
                <a:solidFill>
                  <a:srgbClr val="1C4587"/>
                </a:solidFill>
                <a:latin typeface="Arial"/>
                <a:cs typeface="Arial"/>
              </a:rPr>
              <a:t>Agenda del Encuentro</a:t>
            </a:r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783080"/>
            <a:ext cx="107899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103120"/>
            <a:ext cx="594360" cy="59436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1031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737360" y="19202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 y tipología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37360" y="2313432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Dato, indicador y pregunta de gestión, cadena de valor, tipología de indicadores + actividad de clasificación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92640" y="1783080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03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 min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3200400"/>
            <a:ext cx="107899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20440"/>
            <a:ext cx="594360" cy="59436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204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737360" y="3337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Método en 5 pasos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37360" y="3730752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 formulación, regla nomenclatural, SMART/CREMA, ficha técnica, demo en vivo + actividad individual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692640" y="3200400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03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 min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85800" y="4617720"/>
            <a:ext cx="107899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937760"/>
            <a:ext cx="594360" cy="59436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9377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737360" y="47548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Errores comunes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737360" y="5148072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errores típicos con ejemplo antes/después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92640" y="4617720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03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 min</a:t>
            </a:r>
            <a:endParaRPr lang="en-US" sz="1400" dirty="0"/>
          </a:p>
        </p:txBody>
      </p:sp>
      <p:pic>
        <p:nvPicPr>
          <p:cNvPr id="28" name="Google Shape;181;p12" descr="image2.png">
            <a:extLst>
              <a:ext uri="{FF2B5EF4-FFF2-40B4-BE49-F238E27FC236}">
                <a16:creationId xmlns:a16="http://schemas.microsoft.com/office/drawing/2014/main" id="{8880BDC6-9526-46EA-A89A-2D5EE89E58E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249568"/>
            <a:ext cx="12192000" cy="6241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701040" y="1314904"/>
            <a:ext cx="3582202" cy="121554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29979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DEL TALLER · BLOQUES 2 Y 3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01040" y="803667"/>
            <a:ext cx="1078992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600" b="1" dirty="0">
                <a:solidFill>
                  <a:srgbClr val="1C4587"/>
                </a:solidFill>
                <a:latin typeface="Arial"/>
                <a:cs typeface="Arial"/>
              </a:rPr>
              <a:t>Agenda del Encuentro</a:t>
            </a:r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783080"/>
            <a:ext cx="107899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103120"/>
            <a:ext cx="594360" cy="59436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1031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737360" y="19202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IA como copiloto técnico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37360" y="2313432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 rector, dónde sí / dónde no interviene la IA, Claude.ai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3200400"/>
            <a:ext cx="107899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20440"/>
            <a:ext cx="594360" cy="59436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204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737360" y="3337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Kit de prompts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37360" y="3730752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estandarizados y salvaguardas de rigor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5800" y="4617720"/>
            <a:ext cx="107899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937760"/>
            <a:ext cx="594360" cy="59436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9377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737360" y="47548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Taller </a:t>
            </a:r>
            <a:r>
              <a:rPr lang="en-US" sz="1500" b="1" dirty="0" err="1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práctico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737360" y="5148072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Autoría humana → refinamiento con IA sobre los 4 casos guía</a:t>
            </a:r>
            <a:endParaRPr lang="en-US" sz="1100" dirty="0"/>
          </a:p>
        </p:txBody>
      </p:sp>
      <p:pic>
        <p:nvPicPr>
          <p:cNvPr id="27" name="Google Shape;181;p12" descr="image2.png">
            <a:extLst>
              <a:ext uri="{FF2B5EF4-FFF2-40B4-BE49-F238E27FC236}">
                <a16:creationId xmlns:a16="http://schemas.microsoft.com/office/drawing/2014/main" id="{23201903-7788-43F2-8ED4-4857027F52D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233526"/>
            <a:ext cx="12192000" cy="6241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20;g3f3c215c7c7_0_10" descr="fundamentos">
            <a:extLst>
              <a:ext uri="{FF2B5EF4-FFF2-40B4-BE49-F238E27FC236}">
                <a16:creationId xmlns:a16="http://schemas.microsoft.com/office/drawing/2014/main" id="{B3E60E49-E567-4232-B2E2-D686A4F81F7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5721"/>
            <a:ext cx="1223338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hape 0"/>
          <p:cNvSpPr/>
          <p:nvPr/>
        </p:nvSpPr>
        <p:spPr>
          <a:xfrm>
            <a:off x="4907128" y="2148840"/>
            <a:ext cx="2377440" cy="91440"/>
          </a:xfrm>
          <a:prstGeom prst="rect">
            <a:avLst/>
          </a:prstGeom>
          <a:solidFill>
            <a:srgbClr val="EFC000"/>
          </a:solidFill>
          <a:ln/>
        </p:spPr>
      </p:sp>
      <p:pic>
        <p:nvPicPr>
          <p:cNvPr id="11" name="Google Shape;124;p9" descr="cover.jpg">
            <a:extLst>
              <a:ext uri="{FF2B5EF4-FFF2-40B4-BE49-F238E27FC236}">
                <a16:creationId xmlns:a16="http://schemas.microsoft.com/office/drawing/2014/main" id="{40C9FE34-5408-47EA-A4E6-89B6E14B35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-16042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 1"/>
          <p:cNvSpPr/>
          <p:nvPr/>
        </p:nvSpPr>
        <p:spPr>
          <a:xfrm>
            <a:off x="0" y="23317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kern="0" spc="200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2423160"/>
            <a:ext cx="1072865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 y Tipología de Indicadores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907128" y="3977640"/>
            <a:ext cx="2377440" cy="54864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4160520"/>
            <a:ext cx="94484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conceptual y metodológico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-274320" y="480060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 de 3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201168"/>
            <a:ext cx="2377440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CONCEPTUAL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Dato, Indicador y Pregunta de Gestión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828800"/>
            <a:ext cx="338328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57400" y="210312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50392" y="2880360"/>
            <a:ext cx="305409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Dato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86968" y="3520440"/>
            <a:ext cx="2980944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Registro puntual, sin procesar ni interpretar, obtenido de una fuente primaria o administrativa. Por sí solo no responde preguntas de </a:t>
            </a:r>
            <a:r>
              <a:rPr lang="en-US" sz="1200" dirty="0" err="1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gestión</a:t>
            </a:r>
            <a:r>
              <a:rPr lang="en-US" sz="12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.</a:t>
            </a:r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Ej: “350 gestantes atendidas en el centro de salud rural en abril de 2026”.</a:t>
            </a:r>
          </a:p>
        </p:txBody>
      </p:sp>
      <p:sp>
        <p:nvSpPr>
          <p:cNvPr id="12" name="Shape 10"/>
          <p:cNvSpPr/>
          <p:nvPr/>
        </p:nvSpPr>
        <p:spPr>
          <a:xfrm>
            <a:off x="4389120" y="1828800"/>
            <a:ext cx="338328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760720" y="210312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4" name="Text 12"/>
          <p:cNvSpPr/>
          <p:nvPr/>
        </p:nvSpPr>
        <p:spPr>
          <a:xfrm>
            <a:off x="5760720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53712" y="2880360"/>
            <a:ext cx="305409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Indicador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90288" y="3520440"/>
            <a:ext cx="2980944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Relación matemática entre dos o más datos (razón, proporción, tasa, variación) que mide el cumplimiento de un objetivo y permite comparar en el tiempo, entre territorios o frente a una meta.</a:t>
            </a:r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Ej: “% de gestantes rurales con 4+ controles prenatales, respecto al año anterior”.</a:t>
            </a:r>
          </a:p>
        </p:txBody>
      </p:sp>
      <p:sp>
        <p:nvSpPr>
          <p:cNvPr id="17" name="Shape 15"/>
          <p:cNvSpPr/>
          <p:nvPr/>
        </p:nvSpPr>
        <p:spPr>
          <a:xfrm>
            <a:off x="8092440" y="1828800"/>
            <a:ext cx="338328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464040" y="210312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9" name="Text 17"/>
          <p:cNvSpPr/>
          <p:nvPr/>
        </p:nvSpPr>
        <p:spPr>
          <a:xfrm>
            <a:off x="9464040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257032" y="2880360"/>
            <a:ext cx="305409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Pregunta de gestión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293608" y="3520440"/>
            <a:ext cx="2980944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Pregunta orientadora, formulada por quien toma decisiones o por la ciudadanía, que expresa una necesidad de información y determina qué se debe medir y para qué. Es el punto de </a:t>
            </a:r>
            <a:r>
              <a:rPr lang="en-US" sz="1200" dirty="0" err="1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partida</a:t>
            </a:r>
            <a:r>
              <a:rPr lang="en-US" sz="12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.</a:t>
            </a:r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Ej: “¿Estamos garantizando controles prenatales suficientes a las gestantes rurales?”.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44;p5" descr="cover.jpg">
            <a:extLst>
              <a:ext uri="{FF2B5EF4-FFF2-40B4-BE49-F238E27FC236}">
                <a16:creationId xmlns:a16="http://schemas.microsoft.com/office/drawing/2014/main" id="{09EFF8FD-F937-4013-9F72-56F993B91C3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1388" y="0"/>
            <a:ext cx="12233388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hape 0"/>
          <p:cNvSpPr/>
          <p:nvPr/>
        </p:nvSpPr>
        <p:spPr>
          <a:xfrm>
            <a:off x="5110853" y="4764024"/>
            <a:ext cx="2011680" cy="82296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3" name="Text 1"/>
          <p:cNvSpPr/>
          <p:nvPr/>
        </p:nvSpPr>
        <p:spPr>
          <a:xfrm>
            <a:off x="20846" y="210312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CENTRAL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88720" y="2286000"/>
            <a:ext cx="9814255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orden lógico correcto no es “tengo datos, veamos qué indicador armo”, sino “tengo una pregunta de gestión, defino qué datos necesito y con ellos construyo el indicador que la responde”.</a:t>
            </a:r>
            <a:endParaRPr lang="en-US" sz="2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965"/>
            <a:ext cx="12191695" cy="1417320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201168"/>
            <a:ext cx="2377440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CADENA DE VALOR PÚBLICA (DNP)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Cadena de Valor Pública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673352" y="2423160"/>
            <a:ext cx="8814816" cy="0"/>
          </a:xfrm>
          <a:prstGeom prst="line">
            <a:avLst/>
          </a:prstGeom>
          <a:noFill/>
          <a:ln w="31750">
            <a:solidFill>
              <a:srgbClr val="EFC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53312" y="2103120"/>
            <a:ext cx="640080" cy="64008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EFC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53312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85800" y="3063240"/>
            <a:ext cx="19751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3200400"/>
            <a:ext cx="175564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Insumos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3816" y="3886200"/>
            <a:ext cx="1719072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1200"/>
              </a:spcAft>
              <a:buSzPct val="100000"/>
            </a:pPr>
            <a:r>
              <a:rPr lang="en-US" sz="12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Recursos financieros, humanos y físicos </a:t>
            </a:r>
            <a:r>
              <a:rPr lang="en-US" sz="1200" dirty="0" err="1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disponibles</a:t>
            </a:r>
            <a:r>
              <a:rPr lang="en-US" sz="12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3" name="Shape 11"/>
          <p:cNvSpPr/>
          <p:nvPr/>
        </p:nvSpPr>
        <p:spPr>
          <a:xfrm>
            <a:off x="3557016" y="2103120"/>
            <a:ext cx="640080" cy="64008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EFC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57016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889504" y="3063240"/>
            <a:ext cx="19751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99232" y="3200400"/>
            <a:ext cx="175564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Actividades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017520" y="3886200"/>
            <a:ext cx="1719072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1200"/>
              </a:spcAft>
              <a:buSzPct val="100000"/>
            </a:pPr>
            <a:r>
              <a:rPr lang="en-US" sz="12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Procesos y acciones </a:t>
            </a:r>
            <a:r>
              <a:rPr lang="en-US" sz="1200" dirty="0" err="1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realizadas</a:t>
            </a:r>
            <a:r>
              <a:rPr lang="en-US" sz="12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8" name="Shape 16"/>
          <p:cNvSpPr/>
          <p:nvPr/>
        </p:nvSpPr>
        <p:spPr>
          <a:xfrm>
            <a:off x="5760720" y="2103120"/>
            <a:ext cx="640080" cy="64008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EFC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093208" y="3063240"/>
            <a:ext cx="19751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02936" y="3200400"/>
            <a:ext cx="175564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Productos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221224" y="3886200"/>
            <a:ext cx="1719072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1200"/>
              </a:spcAft>
              <a:buSzPct val="100000"/>
            </a:pPr>
            <a:r>
              <a:rPr lang="en-US" sz="12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Bienes y servicios entregados a la población.</a:t>
            </a:r>
          </a:p>
        </p:txBody>
      </p:sp>
      <p:sp>
        <p:nvSpPr>
          <p:cNvPr id="23" name="Shape 21"/>
          <p:cNvSpPr/>
          <p:nvPr/>
        </p:nvSpPr>
        <p:spPr>
          <a:xfrm>
            <a:off x="7964424" y="2103120"/>
            <a:ext cx="640080" cy="64008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EFC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64424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7296912" y="3063240"/>
            <a:ext cx="19751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0" y="3200400"/>
            <a:ext cx="175564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Resultados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424928" y="3886200"/>
            <a:ext cx="1719072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1200"/>
              </a:spcAft>
              <a:buSzPct val="100000"/>
            </a:pPr>
            <a:r>
              <a:rPr lang="en-US" sz="12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Cambios en comportamiento, acceso o condición de la población </a:t>
            </a:r>
            <a:r>
              <a:rPr lang="en-US" sz="1200" dirty="0" err="1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objetivo</a:t>
            </a:r>
            <a:r>
              <a:rPr lang="en-US" sz="12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.</a:t>
            </a:r>
          </a:p>
        </p:txBody>
      </p:sp>
      <p:sp>
        <p:nvSpPr>
          <p:cNvPr id="28" name="Shape 26"/>
          <p:cNvSpPr/>
          <p:nvPr/>
        </p:nvSpPr>
        <p:spPr>
          <a:xfrm>
            <a:off x="10168128" y="2103120"/>
            <a:ext cx="640080" cy="64008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EFC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168128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500616" y="3063240"/>
            <a:ext cx="19751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10344" y="3200400"/>
            <a:ext cx="175564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Impactos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628632" y="3886200"/>
            <a:ext cx="1719072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1200"/>
              </a:spcAft>
              <a:buSzPct val="100000"/>
            </a:pPr>
            <a:r>
              <a:rPr lang="en-US" sz="12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Cambios estructurales de mediano y largo plazo en la población.</a:t>
            </a:r>
          </a:p>
        </p:txBody>
      </p:sp>
      <p:sp>
        <p:nvSpPr>
          <p:cNvPr id="33" name="Shape 31"/>
          <p:cNvSpPr/>
          <p:nvPr/>
        </p:nvSpPr>
        <p:spPr>
          <a:xfrm rot="5400000">
            <a:off x="11414455" y="6080760"/>
            <a:ext cx="1005840" cy="1005840"/>
          </a:xfrm>
          <a:prstGeom prst="triangle">
            <a:avLst/>
          </a:prstGeom>
          <a:solidFill>
            <a:srgbClr val="FC6E01"/>
          </a:solidFill>
          <a:ln/>
        </p:spPr>
      </p:sp>
      <p:sp>
        <p:nvSpPr>
          <p:cNvPr id="34" name="Shape 32"/>
          <p:cNvSpPr/>
          <p:nvPr/>
        </p:nvSpPr>
        <p:spPr>
          <a:xfrm rot="5400000">
            <a:off x="10957255" y="6355080"/>
            <a:ext cx="685800" cy="685800"/>
          </a:xfrm>
          <a:prstGeom prst="triangle">
            <a:avLst/>
          </a:prstGeom>
          <a:solidFill>
            <a:srgbClr val="1E3A5F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201168"/>
            <a:ext cx="2377440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CADENA DE VALOR PÚBLICA (DNP)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Eslabones de la Cadena de Valor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2861040"/>
              </p:ext>
            </p:extLst>
          </p:nvPr>
        </p:nvGraphicFramePr>
        <p:xfrm>
          <a:off x="685800" y="1691640"/>
          <a:ext cx="10789920" cy="32918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Eslabón</a:t>
                      </a:r>
                      <a:endParaRPr lang="en-US" sz="11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Tipo</a:t>
                      </a:r>
                      <a:endParaRPr lang="en-US" sz="11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Ejemplo</a:t>
                      </a:r>
                      <a:endParaRPr lang="en-US" sz="11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Insumos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Gestión / insumo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Presupuesto ejecutado en dotación de puestos de salud rurales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Actividades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Gestión / proceso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N.º de jornadas de control prenatal realizadas en zona rural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Productos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Producto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N.º de gestantes rurales atendidas con al menos 1 control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Resultados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Resultado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% de gestantes rurales con 4 o más controles prenatales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Impactos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Impacto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Razón de mortalidad materna en zona rural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 rot="5400000">
            <a:off x="11414455" y="6080760"/>
            <a:ext cx="1005840" cy="1005840"/>
          </a:xfrm>
          <a:prstGeom prst="triangle">
            <a:avLst/>
          </a:prstGeom>
          <a:solidFill>
            <a:srgbClr val="FC6E01"/>
          </a:solidFill>
          <a:ln/>
        </p:spPr>
      </p:sp>
      <p:sp>
        <p:nvSpPr>
          <p:cNvPr id="9" name="Shape 6"/>
          <p:cNvSpPr/>
          <p:nvPr/>
        </p:nvSpPr>
        <p:spPr>
          <a:xfrm rot="5400000">
            <a:off x="10957255" y="6355080"/>
            <a:ext cx="685800" cy="685800"/>
          </a:xfrm>
          <a:prstGeom prst="triangle">
            <a:avLst/>
          </a:prstGeom>
          <a:solidFill>
            <a:srgbClr val="1E3A5F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>
            <a:extLst>
              <a:ext uri="{FF2B5EF4-FFF2-40B4-BE49-F238E27FC236}">
                <a16:creationId xmlns:a16="http://schemas.microsoft.com/office/drawing/2014/main" id="{7A1DEBC6-8933-4EBA-9B41-A9D36C7AAADA}"/>
              </a:ext>
            </a:extLst>
          </p:cNvPr>
          <p:cNvSpPr/>
          <p:nvPr/>
        </p:nvSpPr>
        <p:spPr>
          <a:xfrm>
            <a:off x="0" y="0"/>
            <a:ext cx="12191695" cy="429768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201168"/>
            <a:ext cx="2377440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TIPOLOGÍA DE INDICADORES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8738" y="697830"/>
            <a:ext cx="1078992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600" b="1" dirty="0">
                <a:solidFill>
                  <a:srgbClr val="1C4587"/>
                </a:solidFill>
                <a:latin typeface="Arial"/>
                <a:cs typeface="Arial"/>
              </a:rPr>
              <a:t>Tipología según Dimensión de </a:t>
            </a:r>
            <a:r>
              <a:rPr lang="en-US" sz="2600" b="1" dirty="0" err="1">
                <a:solidFill>
                  <a:srgbClr val="1C4587"/>
                </a:solidFill>
                <a:latin typeface="Arial"/>
                <a:cs typeface="Arial"/>
              </a:rPr>
              <a:t>Gestión</a:t>
            </a:r>
            <a:endParaRPr lang="en-US" sz="2600" b="1" dirty="0">
              <a:solidFill>
                <a:srgbClr val="1C4587"/>
              </a:solidFill>
              <a:latin typeface="Arial"/>
              <a:cs typeface="Arial"/>
            </a:endParaRPr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7742949"/>
              </p:ext>
            </p:extLst>
          </p:nvPr>
        </p:nvGraphicFramePr>
        <p:xfrm>
          <a:off x="685800" y="1691640"/>
          <a:ext cx="10789920" cy="3401568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Dimensión</a:t>
                      </a:r>
                      <a:endParaRPr lang="en-US" sz="11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Qué mide</a:t>
                      </a:r>
                      <a:endParaRPr lang="en-US" sz="11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Fórmula de referencia</a:t>
                      </a:r>
                      <a:endParaRPr lang="en-US" sz="11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Eficiencia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Relación entre resultados obtenidos y recursos empleados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Unidades de producto ÷ Recursos utilizados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Eficacia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Grado de cumplimiento de las metas programadas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(Meta alcanzada ÷ Meta planeada) × 100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Efectividad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Síntesis del logro simultáneo de eficiencia y eficacia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 evalúa combinando ambos índices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Economía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Capacidad de administrar recursos al menor costo posible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(Costos de insumo ÷ Inversión total) × 100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Calidad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Oportunidad, accesibilidad, percepción y precisión del servicio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D343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Encuestas de percepción, tiempos de respuesta, tasas de error</a:t>
                      </a:r>
                      <a:endParaRPr lang="en-US" sz="105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07128" y="2148840"/>
            <a:ext cx="2377440" cy="91440"/>
          </a:xfrm>
          <a:prstGeom prst="rect">
            <a:avLst/>
          </a:prstGeom>
          <a:solidFill>
            <a:srgbClr val="EFC000"/>
          </a:solidFill>
          <a:ln/>
        </p:spPr>
      </p:sp>
      <p:pic>
        <p:nvPicPr>
          <p:cNvPr id="10" name="Google Shape;124;p9" descr="cover.jpg">
            <a:extLst>
              <a:ext uri="{FF2B5EF4-FFF2-40B4-BE49-F238E27FC236}">
                <a16:creationId xmlns:a16="http://schemas.microsoft.com/office/drawing/2014/main" id="{43413174-97E4-4689-AED6-56172B5E0BD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 1"/>
          <p:cNvSpPr/>
          <p:nvPr/>
        </p:nvSpPr>
        <p:spPr>
          <a:xfrm>
            <a:off x="0" y="23317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kern="0" spc="200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MÓDULO 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72865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Método para Transformar una Pregunta Vaga en un Indicador Medible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907128" y="3977640"/>
            <a:ext cx="2377440" cy="54864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4160520"/>
            <a:ext cx="94484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 5 pasos: DNP + SMART + CREMA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0" y="5006741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2 de 3 · 40 min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8"/>
          <p:cNvSpPr txBox="1"/>
          <p:nvPr/>
        </p:nvSpPr>
        <p:spPr>
          <a:xfrm>
            <a:off x="481453" y="614018"/>
            <a:ext cx="11167872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600" b="1" dirty="0">
                <a:solidFill>
                  <a:srgbClr val="1C4587"/>
                </a:solidFill>
                <a:latin typeface="Arial"/>
                <a:ea typeface="Arial"/>
                <a:cs typeface="Arial"/>
                <a:sym typeface="Arial"/>
              </a:rPr>
              <a:t>De la </a:t>
            </a:r>
            <a:r>
              <a:rPr lang="en-US" sz="2600" b="1" dirty="0" err="1">
                <a:solidFill>
                  <a:srgbClr val="1C4587"/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  <a:r>
              <a:rPr lang="en-US" sz="2600" b="1" dirty="0">
                <a:solidFill>
                  <a:srgbClr val="1C458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600" b="1" dirty="0" err="1">
                <a:solidFill>
                  <a:srgbClr val="1C4587"/>
                </a:solidFill>
                <a:latin typeface="Arial"/>
                <a:ea typeface="Arial"/>
                <a:cs typeface="Arial"/>
                <a:sym typeface="Arial"/>
              </a:rPr>
              <a:t>vaga</a:t>
            </a:r>
            <a:r>
              <a:rPr lang="en-US" sz="2600" b="1" dirty="0">
                <a:solidFill>
                  <a:srgbClr val="1C4587"/>
                </a:solidFill>
                <a:latin typeface="Arial"/>
                <a:ea typeface="Arial"/>
                <a:cs typeface="Arial"/>
                <a:sym typeface="Arial"/>
              </a:rPr>
              <a:t> a la </a:t>
            </a:r>
            <a:r>
              <a:rPr lang="en-US" sz="2600" b="1" dirty="0" err="1">
                <a:solidFill>
                  <a:srgbClr val="1C4587"/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  <a:r>
              <a:rPr lang="en-US" sz="2600" b="1" dirty="0">
                <a:solidFill>
                  <a:srgbClr val="1C458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600" b="1" dirty="0" err="1">
                <a:solidFill>
                  <a:srgbClr val="1C4587"/>
                </a:solidFill>
                <a:latin typeface="Arial"/>
                <a:ea typeface="Arial"/>
                <a:cs typeface="Arial"/>
                <a:sym typeface="Arial"/>
              </a:rPr>
              <a:t>medible</a:t>
            </a:r>
            <a:endParaRPr sz="2400" dirty="0"/>
          </a:p>
        </p:txBody>
      </p:sp>
      <p:sp>
        <p:nvSpPr>
          <p:cNvPr id="96" name="Google Shape;96;p8"/>
          <p:cNvSpPr/>
          <p:nvPr/>
        </p:nvSpPr>
        <p:spPr>
          <a:xfrm>
            <a:off x="512064" y="1140656"/>
            <a:ext cx="6787094" cy="45719"/>
          </a:xfrm>
          <a:prstGeom prst="rect">
            <a:avLst/>
          </a:prstGeom>
          <a:solidFill>
            <a:srgbClr val="FC6E01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8" name="Google Shape;98;p8" descr="image2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302238"/>
            <a:ext cx="12192000" cy="5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8"/>
          <p:cNvSpPr txBox="1"/>
          <p:nvPr/>
        </p:nvSpPr>
        <p:spPr>
          <a:xfrm>
            <a:off x="512064" y="1620254"/>
            <a:ext cx="11167872" cy="5714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547" dirty="0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Una </a:t>
            </a:r>
            <a:r>
              <a:rPr lang="en-US" sz="1547" dirty="0" err="1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  <a:r>
              <a:rPr lang="en-US" sz="1547" dirty="0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 es </a:t>
            </a:r>
            <a:r>
              <a:rPr lang="en-US" sz="1547" dirty="0" err="1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medible</a:t>
            </a:r>
            <a:r>
              <a:rPr lang="en-US" sz="1547" dirty="0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547" dirty="0" err="1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cuando</a:t>
            </a:r>
            <a:r>
              <a:rPr lang="en-US" sz="1547" dirty="0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547" dirty="0" err="1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nombra</a:t>
            </a:r>
            <a:r>
              <a:rPr lang="en-US" sz="1547" dirty="0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 la población, </a:t>
            </a:r>
            <a:r>
              <a:rPr lang="en-US" sz="1547" dirty="0" err="1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el</a:t>
            </a:r>
            <a:r>
              <a:rPr lang="en-US" sz="1547" dirty="0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547" dirty="0" err="1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territorio</a:t>
            </a:r>
            <a:r>
              <a:rPr lang="en-US" sz="1547" dirty="0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547" dirty="0" err="1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el</a:t>
            </a:r>
            <a:r>
              <a:rPr lang="en-US" sz="1547" dirty="0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547" dirty="0" err="1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periodo</a:t>
            </a:r>
            <a:r>
              <a:rPr lang="en-US" sz="1547" dirty="0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547" dirty="0" err="1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el</a:t>
            </a:r>
            <a:r>
              <a:rPr lang="en-US" sz="1547" dirty="0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547" dirty="0" err="1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referente</a:t>
            </a:r>
            <a:r>
              <a:rPr lang="en-US" sz="1547" dirty="0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n-US" sz="1547" dirty="0" err="1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  <a:r>
              <a:rPr lang="en-US" sz="1547" dirty="0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. Cinco </a:t>
            </a:r>
            <a:r>
              <a:rPr lang="en-US" sz="1547" dirty="0" err="1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traducciones</a:t>
            </a:r>
            <a:r>
              <a:rPr lang="en-US" sz="1547" dirty="0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547" dirty="0" err="1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habituales</a:t>
            </a:r>
            <a:r>
              <a:rPr lang="en-US" sz="1547" dirty="0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547" dirty="0" err="1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en</a:t>
            </a:r>
            <a:r>
              <a:rPr lang="en-US" sz="1547" dirty="0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 la </a:t>
            </a:r>
            <a:r>
              <a:rPr lang="en-US" sz="1547" dirty="0" err="1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  <a:r>
              <a:rPr lang="en-US" sz="1547" dirty="0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 territorial.</a:t>
            </a:r>
            <a:endParaRPr sz="2400" dirty="0"/>
          </a:p>
        </p:txBody>
      </p:sp>
      <p:sp>
        <p:nvSpPr>
          <p:cNvPr id="100" name="Google Shape;100;p8"/>
          <p:cNvSpPr/>
          <p:nvPr/>
        </p:nvSpPr>
        <p:spPr>
          <a:xfrm>
            <a:off x="512064" y="2507576"/>
            <a:ext cx="11167872" cy="635085"/>
          </a:xfrm>
          <a:prstGeom prst="rect">
            <a:avLst/>
          </a:prstGeom>
          <a:solidFill>
            <a:srgbClr val="EDF3F9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8"/>
          <p:cNvSpPr/>
          <p:nvPr/>
        </p:nvSpPr>
        <p:spPr>
          <a:xfrm>
            <a:off x="512064" y="2507576"/>
            <a:ext cx="109600" cy="635085"/>
          </a:xfrm>
          <a:prstGeom prst="rect">
            <a:avLst/>
          </a:prstGeom>
          <a:solidFill>
            <a:srgbClr val="FC6E01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8"/>
          <p:cNvSpPr txBox="1"/>
          <p:nvPr/>
        </p:nvSpPr>
        <p:spPr>
          <a:xfrm>
            <a:off x="828989" y="2574632"/>
            <a:ext cx="35356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400" b="1">
                <a:solidFill>
                  <a:srgbClr val="173F72"/>
                </a:solidFill>
                <a:latin typeface="Arial"/>
                <a:ea typeface="Arial"/>
                <a:cs typeface="Arial"/>
                <a:sym typeface="Arial"/>
              </a:rPr>
              <a:t>Salud materna</a:t>
            </a:r>
            <a:endParaRPr sz="2400"/>
          </a:p>
        </p:txBody>
      </p:sp>
      <p:sp>
        <p:nvSpPr>
          <p:cNvPr id="103" name="Google Shape;103;p8"/>
          <p:cNvSpPr txBox="1"/>
          <p:nvPr/>
        </p:nvSpPr>
        <p:spPr>
          <a:xfrm>
            <a:off x="4352477" y="2574632"/>
            <a:ext cx="7144400" cy="47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en-US" sz="1333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De «¿cómo va la salud?» a «qué porcentaje de gestantes de zona rural completó cuatro controles prenatales en 2025 frente a 2024».</a:t>
            </a:r>
            <a:endParaRPr sz="2400"/>
          </a:p>
        </p:txBody>
      </p:sp>
      <p:sp>
        <p:nvSpPr>
          <p:cNvPr id="104" name="Google Shape;104;p8"/>
          <p:cNvSpPr/>
          <p:nvPr/>
        </p:nvSpPr>
        <p:spPr>
          <a:xfrm>
            <a:off x="512064" y="3221910"/>
            <a:ext cx="11167872" cy="635085"/>
          </a:xfrm>
          <a:prstGeom prst="rect">
            <a:avLst/>
          </a:prstGeom>
          <a:solidFill>
            <a:srgbClr val="EDF3F9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8"/>
          <p:cNvSpPr/>
          <p:nvPr/>
        </p:nvSpPr>
        <p:spPr>
          <a:xfrm>
            <a:off x="512064" y="3221910"/>
            <a:ext cx="109600" cy="635085"/>
          </a:xfrm>
          <a:prstGeom prst="rect">
            <a:avLst/>
          </a:prstGeom>
          <a:solidFill>
            <a:srgbClr val="FC6E01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8"/>
          <p:cNvSpPr txBox="1"/>
          <p:nvPr/>
        </p:nvSpPr>
        <p:spPr>
          <a:xfrm>
            <a:off x="828989" y="3288965"/>
            <a:ext cx="35356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400" b="1">
                <a:solidFill>
                  <a:srgbClr val="173F72"/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  <a:endParaRPr sz="2400"/>
          </a:p>
        </p:txBody>
      </p:sp>
      <p:sp>
        <p:nvSpPr>
          <p:cNvPr id="107" name="Google Shape;107;p8"/>
          <p:cNvSpPr txBox="1"/>
          <p:nvPr/>
        </p:nvSpPr>
        <p:spPr>
          <a:xfrm>
            <a:off x="4352477" y="3288966"/>
            <a:ext cx="7144400" cy="448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en-US" sz="1267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De «¿mejoró la educación?» a «cuántos estudiantes de grado quinto de sedes rurales abandonaron el año escolar frente al promedio de los municipios pares».</a:t>
            </a:r>
            <a:endParaRPr sz="2400"/>
          </a:p>
        </p:txBody>
      </p:sp>
      <p:sp>
        <p:nvSpPr>
          <p:cNvPr id="108" name="Google Shape;108;p8"/>
          <p:cNvSpPr/>
          <p:nvPr/>
        </p:nvSpPr>
        <p:spPr>
          <a:xfrm>
            <a:off x="512064" y="3936243"/>
            <a:ext cx="11167872" cy="635085"/>
          </a:xfrm>
          <a:prstGeom prst="rect">
            <a:avLst/>
          </a:prstGeom>
          <a:solidFill>
            <a:srgbClr val="EDF3F9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8"/>
          <p:cNvSpPr/>
          <p:nvPr/>
        </p:nvSpPr>
        <p:spPr>
          <a:xfrm>
            <a:off x="512064" y="3936243"/>
            <a:ext cx="109600" cy="635085"/>
          </a:xfrm>
          <a:prstGeom prst="rect">
            <a:avLst/>
          </a:prstGeom>
          <a:solidFill>
            <a:srgbClr val="FC6E01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8"/>
          <p:cNvSpPr txBox="1"/>
          <p:nvPr/>
        </p:nvSpPr>
        <p:spPr>
          <a:xfrm>
            <a:off x="828989" y="4003299"/>
            <a:ext cx="35356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400" b="1">
                <a:solidFill>
                  <a:srgbClr val="173F72"/>
                </a:solidFill>
                <a:latin typeface="Arial"/>
                <a:ea typeface="Arial"/>
                <a:cs typeface="Arial"/>
                <a:sym typeface="Arial"/>
              </a:rPr>
              <a:t>Agua y saneamiento</a:t>
            </a:r>
            <a:endParaRPr sz="2400"/>
          </a:p>
        </p:txBody>
      </p:sp>
      <p:sp>
        <p:nvSpPr>
          <p:cNvPr id="111" name="Google Shape;111;p8"/>
          <p:cNvSpPr txBox="1"/>
          <p:nvPr/>
        </p:nvSpPr>
        <p:spPr>
          <a:xfrm>
            <a:off x="4352477" y="4003299"/>
            <a:ext cx="7144400" cy="47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en-US" sz="1333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De «¿hay agua?» a «qué proporción de viviendas del área rural dispersa recibe agua apta para consumo humano según el índice de riesgo reportado».</a:t>
            </a:r>
            <a:endParaRPr sz="2400"/>
          </a:p>
        </p:txBody>
      </p:sp>
      <p:sp>
        <p:nvSpPr>
          <p:cNvPr id="112" name="Google Shape;112;p8"/>
          <p:cNvSpPr/>
          <p:nvPr/>
        </p:nvSpPr>
        <p:spPr>
          <a:xfrm>
            <a:off x="512064" y="4650576"/>
            <a:ext cx="11167872" cy="635085"/>
          </a:xfrm>
          <a:prstGeom prst="rect">
            <a:avLst/>
          </a:prstGeom>
          <a:solidFill>
            <a:srgbClr val="EDF3F9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8"/>
          <p:cNvSpPr/>
          <p:nvPr/>
        </p:nvSpPr>
        <p:spPr>
          <a:xfrm>
            <a:off x="512064" y="4650576"/>
            <a:ext cx="109600" cy="635085"/>
          </a:xfrm>
          <a:prstGeom prst="rect">
            <a:avLst/>
          </a:prstGeom>
          <a:solidFill>
            <a:srgbClr val="FC6E01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8"/>
          <p:cNvSpPr txBox="1"/>
          <p:nvPr/>
        </p:nvSpPr>
        <p:spPr>
          <a:xfrm>
            <a:off x="828989" y="4717632"/>
            <a:ext cx="35356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400" b="1">
                <a:solidFill>
                  <a:srgbClr val="173F72"/>
                </a:solidFill>
                <a:latin typeface="Arial"/>
                <a:ea typeface="Arial"/>
                <a:cs typeface="Arial"/>
                <a:sym typeface="Arial"/>
              </a:rPr>
              <a:t>Atención al ciudadano</a:t>
            </a:r>
            <a:endParaRPr sz="2400"/>
          </a:p>
        </p:txBody>
      </p:sp>
      <p:sp>
        <p:nvSpPr>
          <p:cNvPr id="115" name="Google Shape;115;p8"/>
          <p:cNvSpPr txBox="1"/>
          <p:nvPr/>
        </p:nvSpPr>
        <p:spPr>
          <a:xfrm>
            <a:off x="4352477" y="4717632"/>
            <a:ext cx="7144400" cy="47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en-US" sz="1333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De «¿atendemos bien?» a «qué porcentaje de derechos de petición se respondió dentro del término legal en el último semestre, por dependencia».</a:t>
            </a:r>
            <a:endParaRPr sz="2400"/>
          </a:p>
        </p:txBody>
      </p:sp>
      <p:sp>
        <p:nvSpPr>
          <p:cNvPr id="116" name="Google Shape;116;p8"/>
          <p:cNvSpPr/>
          <p:nvPr/>
        </p:nvSpPr>
        <p:spPr>
          <a:xfrm>
            <a:off x="512064" y="5364910"/>
            <a:ext cx="11167872" cy="635085"/>
          </a:xfrm>
          <a:prstGeom prst="rect">
            <a:avLst/>
          </a:prstGeom>
          <a:solidFill>
            <a:srgbClr val="EDF3F9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8"/>
          <p:cNvSpPr/>
          <p:nvPr/>
        </p:nvSpPr>
        <p:spPr>
          <a:xfrm>
            <a:off x="512064" y="5364910"/>
            <a:ext cx="109600" cy="635085"/>
          </a:xfrm>
          <a:prstGeom prst="rect">
            <a:avLst/>
          </a:prstGeom>
          <a:solidFill>
            <a:srgbClr val="FC6E01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8"/>
          <p:cNvSpPr txBox="1"/>
          <p:nvPr/>
        </p:nvSpPr>
        <p:spPr>
          <a:xfrm>
            <a:off x="828989" y="5431965"/>
            <a:ext cx="35356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400" b="1">
                <a:solidFill>
                  <a:srgbClr val="173F72"/>
                </a:solidFill>
                <a:latin typeface="Arial"/>
                <a:ea typeface="Arial"/>
                <a:cs typeface="Arial"/>
                <a:sym typeface="Arial"/>
              </a:rPr>
              <a:t>Contratación</a:t>
            </a:r>
            <a:endParaRPr sz="2400"/>
          </a:p>
        </p:txBody>
      </p:sp>
      <p:sp>
        <p:nvSpPr>
          <p:cNvPr id="119" name="Google Shape;119;p8"/>
          <p:cNvSpPr txBox="1"/>
          <p:nvPr/>
        </p:nvSpPr>
        <p:spPr>
          <a:xfrm>
            <a:off x="4352477" y="5431966"/>
            <a:ext cx="7144400" cy="4247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en-US" sz="1200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De «¿se ejecuta el plan?» a «qué proporción del presupuesto de inversión comprometido en SECOP corresponde a metas del plan de desarrollo con avance verificado».</a:t>
            </a:r>
            <a:endParaRPr sz="24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201168"/>
            <a:ext cx="2377440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DE 5 PASOS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Paso 2 · Los 4 Componentes de la Pregunta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828800"/>
            <a:ext cx="245745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94485" y="210312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9" name="Text 7"/>
          <p:cNvSpPr/>
          <p:nvPr/>
        </p:nvSpPr>
        <p:spPr>
          <a:xfrm>
            <a:off x="1594485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50392" y="2880360"/>
            <a:ext cx="21282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Población o unidad de análisis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86968" y="3771452"/>
            <a:ext cx="2055114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¿Sobre quién o qué se pregunta? (gestantes, estudiantes, viviendas, hectáreas).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63290" y="1828800"/>
            <a:ext cx="245745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71975" y="210312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4" name="Text 12"/>
          <p:cNvSpPr/>
          <p:nvPr/>
        </p:nvSpPr>
        <p:spPr>
          <a:xfrm>
            <a:off x="4371975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627882" y="2880360"/>
            <a:ext cx="21282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Atributo o dimensión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64458" y="3771452"/>
            <a:ext cx="2055114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característica interesa? (cobertura, calidad, oportunidad, resultado).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40780" y="1828800"/>
            <a:ext cx="245745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49465" y="210312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9" name="Text 17"/>
          <p:cNvSpPr/>
          <p:nvPr/>
        </p:nvSpPr>
        <p:spPr>
          <a:xfrm>
            <a:off x="7149465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05372" y="2880360"/>
            <a:ext cx="21282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Ámbito territorial y temporal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41948" y="3771452"/>
            <a:ext cx="2055114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¿Dónde y en qué periodo? (zona rural del municipio X, 2026 vs. 2025).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018270" y="1828800"/>
            <a:ext cx="245745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926955" y="210312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4" name="Text 22"/>
          <p:cNvSpPr/>
          <p:nvPr/>
        </p:nvSpPr>
        <p:spPr>
          <a:xfrm>
            <a:off x="9926955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182862" y="2880360"/>
            <a:ext cx="21282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Referente de comparación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219438" y="3771452"/>
            <a:ext cx="2055114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¿Frente a qué se evalúa? (meta, año anterior, otro territorio, estándar técnico).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201168"/>
            <a:ext cx="2377440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DE 5 PASOS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Paso 3 · Ubicar el Objetivo en la Cadena de Valor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94360" y="2012883"/>
            <a:ext cx="10789920" cy="283223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200"/>
              </a:spcAft>
              <a:buClr>
                <a:srgbClr val="0277B7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Con los componentes del Paso 2, se identifica si la pregunta apunta a un insumo, una actividad, un producto, un resultado o un impacto.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Clr>
                <a:srgbClr val="0277B7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Esto evita el error más común: redactar como “resultado” algo que en realidad es apenas un “producto” o un “insumo”.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Clr>
                <a:srgbClr val="0277B7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Use la tabla de eslabones (módulo 1) como referencia rápida durante este paso.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201168"/>
            <a:ext cx="2377440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DE 5 PASOS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Paso 4 · Formular el Indicador con Criterios de Calidad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789920" cy="9144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8308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Estructura del nombre = Objeto de medición + Condición deseada (participio) + Contexto descriptivo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14400" y="214884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6E0EC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Ejemplo — Objetivo: “Construir 45 km de vías terciarias en la zona norte.” → Indicador: “Kilómetros de vías terciarias construidos en la zona norte del municipio.”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447801" y="283464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SMART (del objetivo)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63640" y="283464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CREMA (del indicador)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99675" y="3244114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 · Specific (específico)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215514" y="3298898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 · Claro: preciso, sin ambigüedad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399675" y="3655594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M · Measurable (medible)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215514" y="3710378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R · Relevante: pertinente frente a lo evaluado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399675" y="4067074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 · Achievable (realizable)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215514" y="4121858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E · Económico: costo razonable de obtención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399675" y="4478554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R · Realistic (realista)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215514" y="4478554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M · Medible: verificable, con fuente identificable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399675" y="4890034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T · Time-bound (limitado en tiempo)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215514" y="4890034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 · Adecuado: base suficiente para juzgar desempeño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124;p9" descr="cover.jpg">
            <a:extLst>
              <a:ext uri="{FF2B5EF4-FFF2-40B4-BE49-F238E27FC236}">
                <a16:creationId xmlns:a16="http://schemas.microsoft.com/office/drawing/2014/main" id="{A9B12BD6-BAA6-467C-AA8A-EDCBDA47F49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hape 0"/>
          <p:cNvSpPr/>
          <p:nvPr/>
        </p:nvSpPr>
        <p:spPr>
          <a:xfrm>
            <a:off x="5090008" y="4654296"/>
            <a:ext cx="2011680" cy="82296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3" name="Text 1"/>
          <p:cNvSpPr/>
          <p:nvPr/>
        </p:nvSpPr>
        <p:spPr>
          <a:xfrm>
            <a:off x="114452" y="210312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PRÁCTICA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88720" y="2286000"/>
            <a:ext cx="9814255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 al leer el indicador en voz alta no queda claro qué se cuenta, sobre quién, en qué periodo y contra qué se compara, todavía es una pregunta vaga disfrazada de indicador.</a:t>
            </a:r>
            <a:endParaRPr lang="en-US" sz="2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xmlns:a16="http://schemas.microsoft.com/office/drawing/2014/main" id="{09A8FF2A-0102-4246-B2D5-776A691429BD}"/>
              </a:ext>
            </a:extLst>
          </p:cNvPr>
          <p:cNvSpPr/>
          <p:nvPr/>
        </p:nvSpPr>
        <p:spPr>
          <a:xfrm>
            <a:off x="3451412" y="3505200"/>
            <a:ext cx="4840941" cy="2142565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85391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201168"/>
            <a:ext cx="2377440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DE 5 PASOS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Paso 5 · Redactar la Ficha Técnica y Validar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10692" y="1859280"/>
            <a:ext cx="10957255" cy="355396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wrap="square" rtlCol="0" anchor="t"/>
          <a:lstStyle/>
          <a:p>
            <a:pPr marL="285750" indent="-285750">
              <a:lnSpc>
                <a:spcPct val="115000"/>
              </a:lnSpc>
              <a:spcAft>
                <a:spcPts val="1200"/>
              </a:spcAft>
              <a:buClr>
                <a:srgbClr val="0277B7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El indicador se documenta en una ficha técnica estandarizada.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15000"/>
              </a:lnSpc>
              <a:spcAft>
                <a:spcPts val="1200"/>
              </a:spcAft>
              <a:buClr>
                <a:srgbClr val="0277B7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Se somete a validación con quienes tomarán decisiones a partir de él.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1200"/>
              </a:spcAft>
              <a:buClr>
                <a:srgbClr val="0277B7"/>
              </a:buClr>
              <a:buSzPct val="100000"/>
            </a:pPr>
            <a:endParaRPr lang="en-US" b="1" dirty="0">
              <a:solidFill>
                <a:srgbClr val="2D3436"/>
              </a:solidFill>
              <a:latin typeface="Arial" panose="020B0604020202020204" pitchFamily="34" charset="0"/>
              <a:ea typeface="Calibri" pitchFamily="34" charset="-122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1200"/>
              </a:spcAft>
              <a:buClr>
                <a:srgbClr val="0277B7"/>
              </a:buClr>
              <a:buSzPct val="100000"/>
            </a:pPr>
            <a:endParaRPr lang="en-US" b="1" dirty="0">
              <a:solidFill>
                <a:srgbClr val="2D3436"/>
              </a:solidFill>
              <a:latin typeface="Arial" panose="020B0604020202020204" pitchFamily="34" charset="0"/>
              <a:ea typeface="Calibri" pitchFamily="34" charset="-122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200"/>
              </a:spcAft>
              <a:buClr>
                <a:srgbClr val="0277B7"/>
              </a:buClr>
              <a:buSzPct val="100000"/>
            </a:pPr>
            <a:r>
              <a:rPr lang="en-US" b="1" dirty="0" err="1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Preguntas</a:t>
            </a:r>
            <a:r>
              <a:rPr lang="en-US" b="1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clave de validación: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200"/>
              </a:spcAft>
              <a:buClr>
                <a:srgbClr val="0277B7"/>
              </a:buClr>
              <a:buSzPct val="100000"/>
            </a:pPr>
            <a:r>
              <a:rPr lang="en-US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¿La fuente es confiable y accesible?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200"/>
              </a:spcAft>
              <a:buClr>
                <a:srgbClr val="0277B7"/>
              </a:buClr>
              <a:buSzPct val="100000"/>
            </a:pPr>
            <a:r>
              <a:rPr lang="en-US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¿La periodicidad permite decidir a tiempo?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200"/>
              </a:spcAft>
              <a:buClr>
                <a:srgbClr val="0277B7"/>
              </a:buClr>
              <a:buSzPct val="100000"/>
            </a:pPr>
            <a:r>
              <a:rPr lang="en-US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¿La meta es realista?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201168"/>
            <a:ext cx="2377440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PRÁCTICA INDIVIDUAL · 8 MIN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Aplicación de los Pasos 1 y 2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645920"/>
            <a:ext cx="10789920" cy="960120"/>
          </a:xfrm>
          <a:prstGeom prst="rect">
            <a:avLst/>
          </a:prstGeom>
          <a:solidFill>
            <a:srgbClr val="0277B7"/>
          </a:solidFill>
          <a:ln>
            <a:solidFill>
              <a:srgbClr val="FC6E01"/>
            </a:solidFill>
          </a:ln>
        </p:spPr>
      </p:sp>
      <p:sp>
        <p:nvSpPr>
          <p:cNvPr id="8" name="Text 6"/>
          <p:cNvSpPr/>
          <p:nvPr/>
        </p:nvSpPr>
        <p:spPr>
          <a:xfrm>
            <a:off x="896112" y="1719072"/>
            <a:ext cx="10378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Escenario: 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vaga distinta a los casos guía, para trabajar de forma individual y en silencio.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96112" y="2103120"/>
            <a:ext cx="10378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del directivo:  </a:t>
            </a: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“¿El programa de bibliotecas públicas municipales está funcionando?”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800" y="305866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Complete de forma individual: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456432"/>
            <a:ext cx="5943600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150" b="1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Población o unidad de análisis</a:t>
            </a:r>
            <a:endParaRPr lang="en-US" sz="11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150" b="1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Atributo o dimensión</a:t>
            </a:r>
            <a:endParaRPr lang="en-US" sz="11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150" b="1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Ámbito territorial y temporal</a:t>
            </a:r>
            <a:endParaRPr lang="en-US" sz="11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150" b="1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Referente de comparación</a:t>
            </a:r>
            <a:endParaRPr lang="en-US" sz="1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903720" y="2788920"/>
            <a:ext cx="46177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86600" y="2898648"/>
            <a:ext cx="4251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Retos específicos a resolver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104888" y="3291840"/>
            <a:ext cx="425196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Desagregue la pregunta usando la tabla del Paso 2, sin mirar el trabajo de otros participantes.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Prepárese para compartir su desagregación en la puesta en común.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No existe una única respuesta correcta: el objetivo es practicar el método.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124;p9" descr="cover.jpg">
            <a:extLst>
              <a:ext uri="{FF2B5EF4-FFF2-40B4-BE49-F238E27FC236}">
                <a16:creationId xmlns:a16="http://schemas.microsoft.com/office/drawing/2014/main" id="{7FCB3353-9DAD-4A9D-BFBE-6076D83904E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hape 0"/>
          <p:cNvSpPr/>
          <p:nvPr/>
        </p:nvSpPr>
        <p:spPr>
          <a:xfrm>
            <a:off x="5218345" y="4421124"/>
            <a:ext cx="2011680" cy="82296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3" name="Text 1"/>
          <p:cNvSpPr/>
          <p:nvPr/>
        </p:nvSpPr>
        <p:spPr>
          <a:xfrm>
            <a:off x="305" y="228600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GESTIÓN REFINADA (EJEMPLO POSIBLE)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88720" y="2286000"/>
            <a:ext cx="9814255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¿Los usuarios de las bibliotecas públicas municipales están accediendo con la frecuencia y diversidad de servicios previstos en el plan de desarrollo, frente al año anterior?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4800600"/>
            <a:ext cx="98142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una única respuesta correcta.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>
            <a:extLst>
              <a:ext uri="{FF2B5EF4-FFF2-40B4-BE49-F238E27FC236}">
                <a16:creationId xmlns:a16="http://schemas.microsoft.com/office/drawing/2014/main" id="{F403CACB-E333-4522-8FA0-8D36BE5D6782}"/>
              </a:ext>
            </a:extLst>
          </p:cNvPr>
          <p:cNvSpPr/>
          <p:nvPr/>
        </p:nvSpPr>
        <p:spPr>
          <a:xfrm>
            <a:off x="0" y="-17118"/>
            <a:ext cx="12191695" cy="614206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177" name="Google Shape;177;p12"/>
          <p:cNvSpPr txBox="1"/>
          <p:nvPr/>
        </p:nvSpPr>
        <p:spPr>
          <a:xfrm>
            <a:off x="512064" y="207049"/>
            <a:ext cx="11167872" cy="225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467" b="1" dirty="0">
                <a:solidFill>
                  <a:srgbClr val="FF9900"/>
                </a:solidFill>
                <a:latin typeface="Arial"/>
                <a:ea typeface="Arial"/>
                <a:cs typeface="Arial"/>
                <a:sym typeface="Arial"/>
              </a:rPr>
              <a:t>PARTE 2 · ANATOMÍA DEL INDICADOR</a:t>
            </a:r>
            <a:endParaRPr sz="2400" dirty="0"/>
          </a:p>
        </p:txBody>
      </p:sp>
      <p:sp>
        <p:nvSpPr>
          <p:cNvPr id="178" name="Google Shape;178;p12"/>
          <p:cNvSpPr txBox="1"/>
          <p:nvPr/>
        </p:nvSpPr>
        <p:spPr>
          <a:xfrm>
            <a:off x="512064" y="853440"/>
            <a:ext cx="11167872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600" b="1">
                <a:solidFill>
                  <a:srgbClr val="1C4587"/>
                </a:solidFill>
                <a:latin typeface="Arial"/>
                <a:ea typeface="Arial"/>
                <a:cs typeface="Arial"/>
                <a:sym typeface="Arial"/>
              </a:rPr>
              <a:t>La ficha técnica del indicador</a:t>
            </a:r>
            <a:endParaRPr sz="2400"/>
          </a:p>
        </p:txBody>
      </p:sp>
      <p:sp>
        <p:nvSpPr>
          <p:cNvPr id="179" name="Google Shape;179;p12"/>
          <p:cNvSpPr/>
          <p:nvPr/>
        </p:nvSpPr>
        <p:spPr>
          <a:xfrm>
            <a:off x="512064" y="1633728"/>
            <a:ext cx="1828800" cy="36576"/>
          </a:xfrm>
          <a:prstGeom prst="rect">
            <a:avLst/>
          </a:prstGeom>
          <a:solidFill>
            <a:srgbClr val="FC6E01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1" name="Google Shape;181;p12" descr="image2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249568"/>
            <a:ext cx="12192000" cy="624108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2"/>
          <p:cNvSpPr/>
          <p:nvPr/>
        </p:nvSpPr>
        <p:spPr>
          <a:xfrm>
            <a:off x="512064" y="1828800"/>
            <a:ext cx="11167872" cy="629160"/>
          </a:xfrm>
          <a:prstGeom prst="rect">
            <a:avLst/>
          </a:prstGeom>
          <a:solidFill>
            <a:srgbClr val="EDF3F9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2"/>
          <p:cNvSpPr/>
          <p:nvPr/>
        </p:nvSpPr>
        <p:spPr>
          <a:xfrm>
            <a:off x="512064" y="1828800"/>
            <a:ext cx="109600" cy="629160"/>
          </a:xfrm>
          <a:prstGeom prst="rect">
            <a:avLst/>
          </a:prstGeom>
          <a:solidFill>
            <a:srgbClr val="FC6E01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2"/>
          <p:cNvSpPr txBox="1"/>
          <p:nvPr/>
        </p:nvSpPr>
        <p:spPr>
          <a:xfrm>
            <a:off x="828989" y="1895856"/>
            <a:ext cx="35356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400" b="1">
                <a:solidFill>
                  <a:srgbClr val="173F72"/>
                </a:solidFill>
                <a:latin typeface="Arial"/>
                <a:ea typeface="Arial"/>
                <a:cs typeface="Arial"/>
                <a:sym typeface="Arial"/>
              </a:rPr>
              <a:t>Nombre y fórmula</a:t>
            </a:r>
            <a:endParaRPr sz="2400"/>
          </a:p>
        </p:txBody>
      </p:sp>
      <p:sp>
        <p:nvSpPr>
          <p:cNvPr id="185" name="Google Shape;185;p12"/>
          <p:cNvSpPr txBox="1"/>
          <p:nvPr/>
        </p:nvSpPr>
        <p:spPr>
          <a:xfrm>
            <a:off x="4352477" y="1895857"/>
            <a:ext cx="7144400" cy="46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en-US" sz="1300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Denominación completa, expresión de cálculo con numerador y denominador, y unidad de medida. Es el campo que impide dos lecturas del mismo indicador.</a:t>
            </a:r>
            <a:endParaRPr sz="2400"/>
          </a:p>
        </p:txBody>
      </p:sp>
      <p:sp>
        <p:nvSpPr>
          <p:cNvPr id="186" name="Google Shape;186;p12"/>
          <p:cNvSpPr/>
          <p:nvPr/>
        </p:nvSpPr>
        <p:spPr>
          <a:xfrm>
            <a:off x="512064" y="2537208"/>
            <a:ext cx="11167872" cy="629160"/>
          </a:xfrm>
          <a:prstGeom prst="rect">
            <a:avLst/>
          </a:prstGeom>
          <a:solidFill>
            <a:srgbClr val="EDF3F9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2"/>
          <p:cNvSpPr/>
          <p:nvPr/>
        </p:nvSpPr>
        <p:spPr>
          <a:xfrm>
            <a:off x="512064" y="2537208"/>
            <a:ext cx="109600" cy="629160"/>
          </a:xfrm>
          <a:prstGeom prst="rect">
            <a:avLst/>
          </a:prstGeom>
          <a:solidFill>
            <a:srgbClr val="FC6E01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2"/>
          <p:cNvSpPr txBox="1"/>
          <p:nvPr/>
        </p:nvSpPr>
        <p:spPr>
          <a:xfrm>
            <a:off x="828989" y="2604264"/>
            <a:ext cx="35356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400" b="1">
                <a:solidFill>
                  <a:srgbClr val="173F72"/>
                </a:solidFill>
                <a:latin typeface="Arial"/>
                <a:ea typeface="Arial"/>
                <a:cs typeface="Arial"/>
                <a:sym typeface="Arial"/>
              </a:rPr>
              <a:t>Fuente y responsable</a:t>
            </a:r>
            <a:endParaRPr sz="2400"/>
          </a:p>
        </p:txBody>
      </p:sp>
      <p:sp>
        <p:nvSpPr>
          <p:cNvPr id="189" name="Google Shape;189;p12"/>
          <p:cNvSpPr txBox="1"/>
          <p:nvPr/>
        </p:nvSpPr>
        <p:spPr>
          <a:xfrm>
            <a:off x="4352477" y="2604264"/>
            <a:ext cx="7144400" cy="47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en-US" sz="1333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Sistema o registro del que proviene el dato, dependencia que lo produce y cargo que responde por su calidad y por su reporte.</a:t>
            </a:r>
            <a:endParaRPr sz="2400"/>
          </a:p>
        </p:txBody>
      </p:sp>
      <p:sp>
        <p:nvSpPr>
          <p:cNvPr id="190" name="Google Shape;190;p12"/>
          <p:cNvSpPr/>
          <p:nvPr/>
        </p:nvSpPr>
        <p:spPr>
          <a:xfrm>
            <a:off x="512064" y="3245616"/>
            <a:ext cx="11167872" cy="629160"/>
          </a:xfrm>
          <a:prstGeom prst="rect">
            <a:avLst/>
          </a:prstGeom>
          <a:solidFill>
            <a:srgbClr val="EDF3F9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2"/>
          <p:cNvSpPr/>
          <p:nvPr/>
        </p:nvSpPr>
        <p:spPr>
          <a:xfrm>
            <a:off x="512064" y="3245616"/>
            <a:ext cx="109600" cy="629160"/>
          </a:xfrm>
          <a:prstGeom prst="rect">
            <a:avLst/>
          </a:prstGeom>
          <a:solidFill>
            <a:srgbClr val="FC6E01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2"/>
          <p:cNvSpPr txBox="1"/>
          <p:nvPr/>
        </p:nvSpPr>
        <p:spPr>
          <a:xfrm>
            <a:off x="828989" y="3312672"/>
            <a:ext cx="35356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400" b="1">
                <a:solidFill>
                  <a:srgbClr val="173F72"/>
                </a:solidFill>
                <a:latin typeface="Arial"/>
                <a:ea typeface="Arial"/>
                <a:cs typeface="Arial"/>
                <a:sym typeface="Arial"/>
              </a:rPr>
              <a:t>Periodicidad y corte</a:t>
            </a:r>
            <a:endParaRPr sz="2400"/>
          </a:p>
        </p:txBody>
      </p:sp>
      <p:sp>
        <p:nvSpPr>
          <p:cNvPr id="193" name="Google Shape;193;p12"/>
          <p:cNvSpPr txBox="1"/>
          <p:nvPr/>
        </p:nvSpPr>
        <p:spPr>
          <a:xfrm>
            <a:off x="4352477" y="3312672"/>
            <a:ext cx="7144400" cy="47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en-US" sz="1333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Frecuencia de medición y fecha de corte de cada medición. Determina cuándo puede exigirse el dato y cuándo la cifra deja de ser vigente.</a:t>
            </a:r>
            <a:endParaRPr sz="2400"/>
          </a:p>
        </p:txBody>
      </p:sp>
      <p:sp>
        <p:nvSpPr>
          <p:cNvPr id="194" name="Google Shape;194;p12"/>
          <p:cNvSpPr/>
          <p:nvPr/>
        </p:nvSpPr>
        <p:spPr>
          <a:xfrm>
            <a:off x="512064" y="3954024"/>
            <a:ext cx="11167872" cy="629160"/>
          </a:xfrm>
          <a:prstGeom prst="rect">
            <a:avLst/>
          </a:prstGeom>
          <a:solidFill>
            <a:srgbClr val="EDF3F9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2"/>
          <p:cNvSpPr/>
          <p:nvPr/>
        </p:nvSpPr>
        <p:spPr>
          <a:xfrm>
            <a:off x="512064" y="3954024"/>
            <a:ext cx="109600" cy="629160"/>
          </a:xfrm>
          <a:prstGeom prst="rect">
            <a:avLst/>
          </a:prstGeom>
          <a:solidFill>
            <a:srgbClr val="FC6E01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2"/>
          <p:cNvSpPr txBox="1"/>
          <p:nvPr/>
        </p:nvSpPr>
        <p:spPr>
          <a:xfrm>
            <a:off x="828989" y="4021080"/>
            <a:ext cx="35356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400" b="1">
                <a:solidFill>
                  <a:srgbClr val="173F72"/>
                </a:solidFill>
                <a:latin typeface="Arial"/>
                <a:ea typeface="Arial"/>
                <a:cs typeface="Arial"/>
                <a:sym typeface="Arial"/>
              </a:rPr>
              <a:t>Desagregación</a:t>
            </a:r>
            <a:endParaRPr sz="2400"/>
          </a:p>
        </p:txBody>
      </p:sp>
      <p:sp>
        <p:nvSpPr>
          <p:cNvPr id="197" name="Google Shape;197;p12"/>
          <p:cNvSpPr txBox="1"/>
          <p:nvPr/>
        </p:nvSpPr>
        <p:spPr>
          <a:xfrm>
            <a:off x="4352477" y="4021080"/>
            <a:ext cx="7144400" cy="47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en-US" sz="1333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Cortes mínimos con los que se publica: zona urbana y rural, sexo, grupo etario, comuna o corregimiento, según lo que la política priorice.</a:t>
            </a:r>
            <a:endParaRPr sz="2400"/>
          </a:p>
        </p:txBody>
      </p:sp>
      <p:sp>
        <p:nvSpPr>
          <p:cNvPr id="198" name="Google Shape;198;p12"/>
          <p:cNvSpPr/>
          <p:nvPr/>
        </p:nvSpPr>
        <p:spPr>
          <a:xfrm>
            <a:off x="512064" y="4662432"/>
            <a:ext cx="11167872" cy="629160"/>
          </a:xfrm>
          <a:prstGeom prst="rect">
            <a:avLst/>
          </a:prstGeom>
          <a:solidFill>
            <a:srgbClr val="EDF3F9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2"/>
          <p:cNvSpPr/>
          <p:nvPr/>
        </p:nvSpPr>
        <p:spPr>
          <a:xfrm>
            <a:off x="512064" y="4662432"/>
            <a:ext cx="109600" cy="629160"/>
          </a:xfrm>
          <a:prstGeom prst="rect">
            <a:avLst/>
          </a:prstGeom>
          <a:solidFill>
            <a:srgbClr val="FC6E01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2"/>
          <p:cNvSpPr txBox="1"/>
          <p:nvPr/>
        </p:nvSpPr>
        <p:spPr>
          <a:xfrm>
            <a:off x="828989" y="4729488"/>
            <a:ext cx="35356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400" b="1">
                <a:solidFill>
                  <a:srgbClr val="173F72"/>
                </a:solidFill>
                <a:latin typeface="Arial"/>
                <a:ea typeface="Arial"/>
                <a:cs typeface="Arial"/>
                <a:sym typeface="Arial"/>
              </a:rPr>
              <a:t>Línea base y meta</a:t>
            </a:r>
            <a:endParaRPr sz="2400"/>
          </a:p>
        </p:txBody>
      </p:sp>
      <p:sp>
        <p:nvSpPr>
          <p:cNvPr id="201" name="Google Shape;201;p12"/>
          <p:cNvSpPr txBox="1"/>
          <p:nvPr/>
        </p:nvSpPr>
        <p:spPr>
          <a:xfrm>
            <a:off x="4352477" y="4729488"/>
            <a:ext cx="7144400" cy="47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en-US" sz="1333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Valor inicial con su año de referencia, meta del cuatrienio y meta de la vigencia, con el criterio con el que la meta fue estimada.</a:t>
            </a:r>
            <a:endParaRPr sz="2400"/>
          </a:p>
        </p:txBody>
      </p:sp>
      <p:sp>
        <p:nvSpPr>
          <p:cNvPr id="202" name="Google Shape;202;p12"/>
          <p:cNvSpPr/>
          <p:nvPr/>
        </p:nvSpPr>
        <p:spPr>
          <a:xfrm>
            <a:off x="512064" y="5370840"/>
            <a:ext cx="11167872" cy="629160"/>
          </a:xfrm>
          <a:prstGeom prst="rect">
            <a:avLst/>
          </a:prstGeom>
          <a:solidFill>
            <a:srgbClr val="EDF3F9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2"/>
          <p:cNvSpPr/>
          <p:nvPr/>
        </p:nvSpPr>
        <p:spPr>
          <a:xfrm>
            <a:off x="512064" y="5370840"/>
            <a:ext cx="109600" cy="629160"/>
          </a:xfrm>
          <a:prstGeom prst="rect">
            <a:avLst/>
          </a:prstGeom>
          <a:solidFill>
            <a:srgbClr val="FC6E01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2"/>
          <p:cNvSpPr txBox="1"/>
          <p:nvPr/>
        </p:nvSpPr>
        <p:spPr>
          <a:xfrm>
            <a:off x="828989" y="5437896"/>
            <a:ext cx="35356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400" b="1">
                <a:solidFill>
                  <a:srgbClr val="173F72"/>
                </a:solidFill>
                <a:latin typeface="Arial"/>
                <a:ea typeface="Arial"/>
                <a:cs typeface="Arial"/>
                <a:sym typeface="Arial"/>
              </a:rPr>
              <a:t>Supuestos y limitaciones</a:t>
            </a:r>
            <a:endParaRPr sz="2400"/>
          </a:p>
        </p:txBody>
      </p:sp>
      <p:sp>
        <p:nvSpPr>
          <p:cNvPr id="205" name="Google Shape;205;p12"/>
          <p:cNvSpPr txBox="1"/>
          <p:nvPr/>
        </p:nvSpPr>
        <p:spPr>
          <a:xfrm>
            <a:off x="4352477" y="5437896"/>
            <a:ext cx="7144400" cy="47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en-US" sz="1333">
                <a:solidFill>
                  <a:srgbClr val="2F3B4C"/>
                </a:solidFill>
                <a:latin typeface="Arial"/>
                <a:ea typeface="Arial"/>
                <a:cs typeface="Arial"/>
                <a:sym typeface="Arial"/>
              </a:rPr>
              <a:t>Subregistro conocido, cambios metodológicos, periodos sin dato y toda condición que afecte la comparación en el tiempo.</a:t>
            </a:r>
            <a:endParaRPr sz="24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24;p9" descr="cover.jpg">
            <a:extLst>
              <a:ext uri="{FF2B5EF4-FFF2-40B4-BE49-F238E27FC236}">
                <a16:creationId xmlns:a16="http://schemas.microsoft.com/office/drawing/2014/main" id="{1204EF60-9487-4AC5-9798-C9ACFE68F0D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hape 0"/>
          <p:cNvSpPr/>
          <p:nvPr/>
        </p:nvSpPr>
        <p:spPr>
          <a:xfrm>
            <a:off x="4907128" y="2148840"/>
            <a:ext cx="2377440" cy="9144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3317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kern="0" spc="200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MÓDULO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72865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Errores Comunes al Formular Indicadores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907128" y="3977640"/>
            <a:ext cx="2377440" cy="54864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4160520"/>
            <a:ext cx="94484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errores frecuentes, con ejemplo antes / después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201168"/>
            <a:ext cx="2377440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1 DE 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Confundir Producto con Resultado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828800"/>
            <a:ext cx="5074920" cy="3566160"/>
          </a:xfrm>
          <a:prstGeom prst="rect">
            <a:avLst/>
          </a:prstGeom>
          <a:solidFill>
            <a:srgbClr val="FBEAEA"/>
          </a:solidFill>
          <a:ln w="12700">
            <a:solidFill>
              <a:srgbClr val="E8B4B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828800"/>
            <a:ext cx="5074920" cy="5029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2880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✗  Versión con el error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3092824"/>
            <a:ext cx="4617720" cy="10488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lnSpc>
                <a:spcPct val="120000"/>
              </a:lnSpc>
            </a:pP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“Número de talleres de emprendimiento realizados” — esto es un producto, no un </a:t>
            </a:r>
            <a:r>
              <a:rPr lang="en-US" sz="1600" dirty="0" err="1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resultado</a:t>
            </a: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1" name="Shape 9"/>
          <p:cNvSpPr/>
          <p:nvPr/>
        </p:nvSpPr>
        <p:spPr>
          <a:xfrm>
            <a:off x="6400800" y="1828800"/>
            <a:ext cx="5074920" cy="3566160"/>
          </a:xfrm>
          <a:prstGeom prst="rect">
            <a:avLst/>
          </a:prstGeom>
          <a:solidFill>
            <a:srgbClr val="E9F7EF"/>
          </a:solidFill>
          <a:ln w="12700">
            <a:solidFill>
              <a:srgbClr val="A9D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828800"/>
            <a:ext cx="5074920" cy="5029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82880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  Versión corregida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629400" y="3092824"/>
            <a:ext cx="4617720" cy="10488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lnSpc>
                <a:spcPct val="120000"/>
              </a:lnSpc>
            </a:pP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“% de participantes del taller que reportan ingresos formales seis meses </a:t>
            </a:r>
            <a:r>
              <a:rPr lang="en-US" sz="1600" dirty="0" err="1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después</a:t>
            </a: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.”</a:t>
            </a:r>
          </a:p>
        </p:txBody>
      </p:sp>
      <p:sp>
        <p:nvSpPr>
          <p:cNvPr id="15" name="Shape 13"/>
          <p:cNvSpPr/>
          <p:nvPr/>
        </p:nvSpPr>
        <p:spPr>
          <a:xfrm rot="5400000">
            <a:off x="5870448" y="3424428"/>
            <a:ext cx="548640" cy="512064"/>
          </a:xfrm>
          <a:prstGeom prst="triangle">
            <a:avLst/>
          </a:prstGeom>
          <a:solidFill>
            <a:srgbClr val="EFC000"/>
          </a:solidFill>
          <a:ln/>
        </p:spPr>
        <p:txBody>
          <a:bodyPr/>
          <a:lstStyle/>
          <a:p>
            <a:endParaRPr lang="es-CO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201168"/>
            <a:ext cx="2377440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2 DE 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Formular sin Fuente de Datos Identificada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828800"/>
            <a:ext cx="5074920" cy="3566160"/>
          </a:xfrm>
          <a:prstGeom prst="rect">
            <a:avLst/>
          </a:prstGeom>
          <a:solidFill>
            <a:srgbClr val="FBEAEA"/>
          </a:solidFill>
          <a:ln w="12700">
            <a:solidFill>
              <a:srgbClr val="E8B4B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828800"/>
            <a:ext cx="5074920" cy="5029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2880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✗  Versión con el error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3012141"/>
            <a:ext cx="4617720" cy="883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lnSpc>
                <a:spcPct val="120000"/>
              </a:lnSpc>
            </a:pP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“Nivel de satisfacción ciudadana con el espacio público” — sin decir cómo ni con qué instrumento se </a:t>
            </a:r>
            <a:r>
              <a:rPr lang="en-US" sz="1600" dirty="0" err="1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mide</a:t>
            </a: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1" name="Shape 9"/>
          <p:cNvSpPr/>
          <p:nvPr/>
        </p:nvSpPr>
        <p:spPr>
          <a:xfrm>
            <a:off x="6400800" y="1828800"/>
            <a:ext cx="5074920" cy="3566160"/>
          </a:xfrm>
          <a:prstGeom prst="rect">
            <a:avLst/>
          </a:prstGeom>
          <a:solidFill>
            <a:srgbClr val="E9F7EF"/>
          </a:solidFill>
          <a:ln w="12700">
            <a:solidFill>
              <a:srgbClr val="A9D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828800"/>
            <a:ext cx="5074920" cy="5029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82880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  Versión corregida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629400" y="3012140"/>
            <a:ext cx="4617720" cy="14164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lnSpc>
                <a:spcPct val="120000"/>
              </a:lnSpc>
            </a:pP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El mismo indicador, con fuente explícita: “...medido mediante encuesta de percepción ciudadana aplicada anualmente por la oficina de </a:t>
            </a:r>
            <a:r>
              <a:rPr lang="en-US" sz="1600" dirty="0" err="1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planeación</a:t>
            </a: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.”</a:t>
            </a:r>
          </a:p>
        </p:txBody>
      </p:sp>
      <p:sp>
        <p:nvSpPr>
          <p:cNvPr id="15" name="Shape 13"/>
          <p:cNvSpPr/>
          <p:nvPr/>
        </p:nvSpPr>
        <p:spPr>
          <a:xfrm rot="5400000">
            <a:off x="5843938" y="3364813"/>
            <a:ext cx="548640" cy="512064"/>
          </a:xfrm>
          <a:prstGeom prst="triangle">
            <a:avLst/>
          </a:prstGeom>
          <a:solidFill>
            <a:srgbClr val="EFC000"/>
          </a:solidFill>
          <a:ln/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201168"/>
            <a:ext cx="2377440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3 DE 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Definir Metas “a Ojo”, sin Línea Base Verificada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828800"/>
            <a:ext cx="5074920" cy="3566160"/>
          </a:xfrm>
          <a:prstGeom prst="rect">
            <a:avLst/>
          </a:prstGeom>
          <a:solidFill>
            <a:srgbClr val="FBEAEA"/>
          </a:solidFill>
          <a:ln w="12700">
            <a:solidFill>
              <a:srgbClr val="E8B4B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828800"/>
            <a:ext cx="5074920" cy="5029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2880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✗  Versión con el error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68680" y="3287359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lnSpc>
                <a:spcPct val="120000"/>
              </a:lnSpc>
            </a:pP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“Reducir la deserción escolar a la mitad” — sin cifra de </a:t>
            </a:r>
            <a:r>
              <a:rPr lang="en-US" sz="1600" dirty="0" err="1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partida</a:t>
            </a: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1" name="Shape 9"/>
          <p:cNvSpPr/>
          <p:nvPr/>
        </p:nvSpPr>
        <p:spPr>
          <a:xfrm>
            <a:off x="6400800" y="1828800"/>
            <a:ext cx="5074920" cy="3566160"/>
          </a:xfrm>
          <a:prstGeom prst="rect">
            <a:avLst/>
          </a:prstGeom>
          <a:solidFill>
            <a:srgbClr val="E9F7EF"/>
          </a:solidFill>
          <a:ln w="12700">
            <a:solidFill>
              <a:srgbClr val="A9D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828800"/>
            <a:ext cx="5074920" cy="5029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82880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  Versión corregida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83680" y="3287359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“Reducir la deserción escolar del 8,2% (línea base 2025) al 4,1% en 2027.”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 rot="5400000">
            <a:off x="5852904" y="3517212"/>
            <a:ext cx="548640" cy="512064"/>
          </a:xfrm>
          <a:prstGeom prst="triangle">
            <a:avLst/>
          </a:prstGeom>
          <a:solidFill>
            <a:srgbClr val="EFC000"/>
          </a:solidFill>
          <a:ln/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201168"/>
            <a:ext cx="2377440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4 DE 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Redactar Preguntas que Presuponen la Respuesta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828800"/>
            <a:ext cx="5074920" cy="3566160"/>
          </a:xfrm>
          <a:prstGeom prst="rect">
            <a:avLst/>
          </a:prstGeom>
          <a:solidFill>
            <a:srgbClr val="FBEAEA"/>
          </a:solidFill>
          <a:ln w="12700">
            <a:solidFill>
              <a:srgbClr val="E8B4B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828800"/>
            <a:ext cx="5074920" cy="5029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2880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✗  Versión con el error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3051945"/>
            <a:ext cx="4617720" cy="820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“¿Por qué ha mejorado tanto la cobertura de salud rural?” — asume que sí mejoró.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400800" y="1828800"/>
            <a:ext cx="5074920" cy="3566160"/>
          </a:xfrm>
          <a:prstGeom prst="rect">
            <a:avLst/>
          </a:prstGeom>
          <a:solidFill>
            <a:srgbClr val="E9F7EF"/>
          </a:solidFill>
          <a:ln w="12700">
            <a:solidFill>
              <a:srgbClr val="A9D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828800"/>
            <a:ext cx="5074920" cy="5029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82880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  Versión corregida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629400" y="3025051"/>
            <a:ext cx="4617720" cy="820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“¿Ha mejorado la cobertura de salud rural en el último año, y en qué magnitud?”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 rot="5400000">
            <a:off x="5834975" y="3472389"/>
            <a:ext cx="548640" cy="512064"/>
          </a:xfrm>
          <a:prstGeom prst="triangle">
            <a:avLst/>
          </a:prstGeom>
          <a:solidFill>
            <a:srgbClr val="EFC000"/>
          </a:solidFill>
          <a:ln/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56447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842592"/>
            <a:ext cx="2310205" cy="45719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5 DE 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188261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Aceptar el Primer Borrador de la IA sin Contrastar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828800"/>
            <a:ext cx="5074920" cy="3566160"/>
          </a:xfrm>
          <a:prstGeom prst="rect">
            <a:avLst/>
          </a:prstGeom>
          <a:solidFill>
            <a:srgbClr val="FBEAEA"/>
          </a:solidFill>
          <a:ln w="12700">
            <a:solidFill>
              <a:srgbClr val="E8B4B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828800"/>
            <a:ext cx="5074920" cy="5029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2880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✗  Versión con el error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3182471"/>
            <a:ext cx="4617720" cy="1066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lnSpc>
                <a:spcPct val="120000"/>
              </a:lnSpc>
            </a:pP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Ficha técnica publicada con línea base “62% (estimado por el modelo de IA)”.</a:t>
            </a:r>
          </a:p>
        </p:txBody>
      </p:sp>
      <p:sp>
        <p:nvSpPr>
          <p:cNvPr id="11" name="Shape 9"/>
          <p:cNvSpPr/>
          <p:nvPr/>
        </p:nvSpPr>
        <p:spPr>
          <a:xfrm>
            <a:off x="6400800" y="1828800"/>
            <a:ext cx="5074920" cy="3566160"/>
          </a:xfrm>
          <a:prstGeom prst="rect">
            <a:avLst/>
          </a:prstGeom>
          <a:solidFill>
            <a:srgbClr val="E9F7EF"/>
          </a:solidFill>
          <a:ln w="12700">
            <a:solidFill>
              <a:srgbClr val="A9D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828800"/>
            <a:ext cx="5074920" cy="5029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82880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  Versión corregida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629400" y="3182470"/>
            <a:ext cx="4617720" cy="9054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lnSpc>
                <a:spcPct val="120000"/>
              </a:lnSpc>
            </a:pP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Línea base marcada como [VERIFICAR EN ENTIDAD] hasta confirmarla con la fuente oficial, antes de publicar la </a:t>
            </a:r>
            <a:r>
              <a:rPr lang="en-US" sz="1600" dirty="0" err="1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ficha</a:t>
            </a:r>
            <a:r>
              <a:rPr lang="en-US" sz="16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5" name="Shape 13"/>
          <p:cNvSpPr/>
          <p:nvPr/>
        </p:nvSpPr>
        <p:spPr>
          <a:xfrm rot="5400000">
            <a:off x="5817047" y="3391708"/>
            <a:ext cx="548640" cy="512064"/>
          </a:xfrm>
          <a:prstGeom prst="triangle">
            <a:avLst/>
          </a:prstGeom>
          <a:solidFill>
            <a:srgbClr val="EFC000"/>
          </a:solidFill>
          <a:ln/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24;p9" descr="cover.jpg">
            <a:extLst>
              <a:ext uri="{FF2B5EF4-FFF2-40B4-BE49-F238E27FC236}">
                <a16:creationId xmlns:a16="http://schemas.microsoft.com/office/drawing/2014/main" id="{0C3C65B5-9963-4276-8A9C-44E69982730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hape 0"/>
          <p:cNvSpPr/>
          <p:nvPr/>
        </p:nvSpPr>
        <p:spPr>
          <a:xfrm>
            <a:off x="4907128" y="2148840"/>
            <a:ext cx="2377440" cy="9144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3317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kern="0" spc="200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</a:t>
            </a:r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72865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Inteligencia Artificial como Potenciador, no como Reemplazo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907128" y="3977640"/>
            <a:ext cx="2377440" cy="54864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4160520"/>
            <a:ext cx="94484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rol de la IA en la construcción de indicadores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0" y="484632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de 3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124;p9" descr="cover.jpg">
            <a:extLst>
              <a:ext uri="{FF2B5EF4-FFF2-40B4-BE49-F238E27FC236}">
                <a16:creationId xmlns:a16="http://schemas.microsoft.com/office/drawing/2014/main" id="{DB608BB8-ED35-4F0C-96A8-7B83D169A96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hape 0"/>
          <p:cNvSpPr/>
          <p:nvPr/>
        </p:nvSpPr>
        <p:spPr>
          <a:xfrm>
            <a:off x="5090008" y="4819604"/>
            <a:ext cx="2011680" cy="82296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012578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 RECTOR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88720" y="2286000"/>
            <a:ext cx="9814255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IA es un potenciador de actividades, no un sustituto del juicio técnico y político. La pregunta de gestión la formula el equipo que conoce el problema público, el territorio y a la ciudadanía; la IA ayuda a que esa pregunta quede mejor redactada, mejor estructurada y más rápido documentada.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>
            <a:extLst>
              <a:ext uri="{FF2B5EF4-FFF2-40B4-BE49-F238E27FC236}">
                <a16:creationId xmlns:a16="http://schemas.microsoft.com/office/drawing/2014/main" id="{F61D6750-ACBC-4819-A28B-70C033A39958}"/>
              </a:ext>
            </a:extLst>
          </p:cNvPr>
          <p:cNvSpPr/>
          <p:nvPr/>
        </p:nvSpPr>
        <p:spPr>
          <a:xfrm>
            <a:off x="0" y="0"/>
            <a:ext cx="12191695" cy="1183341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201168"/>
            <a:ext cx="2377440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COMO COPILOTO TÉCNICO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277906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Dónde Sí Ayuda la IA (con rigor)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94360" y="2032299"/>
            <a:ext cx="10789920" cy="2665207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 anchor="t"/>
          <a:lstStyle/>
          <a:p>
            <a:pPr marL="285750" indent="-285750">
              <a:lnSpc>
                <a:spcPct val="115000"/>
              </a:lnSpc>
              <a:spcAft>
                <a:spcPts val="1000"/>
              </a:spcAft>
              <a:buSzPct val="100000"/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Diagnóstico de preguntas vagas — chequear si cumple los 4 componentes del Paso 2 y señalar cuáles faltan.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15000"/>
              </a:lnSpc>
              <a:spcAft>
                <a:spcPts val="1000"/>
              </a:spcAft>
              <a:buSzPct val="100000"/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Generación de alternativas de indicador — proponer 3-5 formulaciones posibles para que el equipo elija y ajuste.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15000"/>
              </a:lnSpc>
              <a:spcAft>
                <a:spcPts val="1000"/>
              </a:spcAft>
              <a:buSzPct val="100000"/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Borrador de ficha técnica — redactar un primer borrador completo (fórmula, unidad de medida, posibles fuentes).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15000"/>
              </a:lnSpc>
              <a:spcAft>
                <a:spcPts val="1000"/>
              </a:spcAft>
              <a:buSzPct val="100000"/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Traducción a lenguaje ciudadano — convertir la ficha técnica en una explicación breve para rendición de cuentas.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15000"/>
              </a:lnSpc>
              <a:spcAft>
                <a:spcPts val="1000"/>
              </a:spcAft>
              <a:buSzPct val="100000"/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Revisión cruzada de calidad — aplicar sistemáticamente los criterios SMART/CREMA y señalar inconsistencias.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15000"/>
              </a:lnSpc>
              <a:spcAft>
                <a:spcPts val="1000"/>
              </a:spcAft>
              <a:buSzPct val="100000"/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Organización y documentación — consolidar las fichas técnicas en una matriz ordenada (Word/Excel).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"/>
            <a:ext cx="12191695" cy="941294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601218" y="721571"/>
            <a:ext cx="2377440" cy="94667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89963"/>
            <a:ext cx="10789920" cy="527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Dónde NO Debe Decidir la IA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828800"/>
            <a:ext cx="245745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94485" y="210312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9" name="Text 7"/>
          <p:cNvSpPr/>
          <p:nvPr/>
        </p:nvSpPr>
        <p:spPr>
          <a:xfrm>
            <a:off x="1594485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50392" y="2880360"/>
            <a:ext cx="21282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Prioridad de la pregunta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86968" y="3520440"/>
            <a:ext cx="2055114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pregunta de gestión es prioritaria depende del mandato, el contexto político y las necesidades ciudadanas.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63290" y="1828800"/>
            <a:ext cx="245745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71975" y="210312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4" name="Text 12"/>
          <p:cNvSpPr/>
          <p:nvPr/>
        </p:nvSpPr>
        <p:spPr>
          <a:xfrm>
            <a:off x="4371975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627882" y="2880360"/>
            <a:ext cx="21282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Meta o línea base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64458" y="3520440"/>
            <a:ext cx="2055114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Deben salir de datos oficiales verificados, nunca de estimaciones generadas por el modelo.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40780" y="1828800"/>
            <a:ext cx="245745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49465" y="210312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9" name="Text 17"/>
          <p:cNvSpPr/>
          <p:nvPr/>
        </p:nvSpPr>
        <p:spPr>
          <a:xfrm>
            <a:off x="7149465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05372" y="2880360"/>
            <a:ext cx="21282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Interpretación política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41948" y="3520440"/>
            <a:ext cx="2055114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lectura política o social del resultado de un indicador es responsabilidad humana.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018270" y="1828800"/>
            <a:ext cx="245745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926955" y="210312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4" name="Text 22"/>
          <p:cNvSpPr/>
          <p:nvPr/>
        </p:nvSpPr>
        <p:spPr>
          <a:xfrm>
            <a:off x="9926955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182862" y="2880360"/>
            <a:ext cx="21282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Validación de la fuente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219438" y="3520440"/>
            <a:ext cx="2055114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debe confirmarse contra el sistema de información oficial (DANE, SISPRO, Terridata, etc.).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552224" y="914400"/>
            <a:ext cx="2377440" cy="91843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52224" y="690731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 RECOMENDADA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84632" y="75057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Claude.ai, Gemini para Equipos de Gestión Pública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828800"/>
            <a:ext cx="33832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57400" y="210312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50392" y="2880360"/>
            <a:ext cx="305409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Acceso inmediato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86968" y="3520440"/>
            <a:ext cx="2980944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desde el navegador, sin instalación ni conocimientos técnicos; existe un plan gratuito para practicar en el taller.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89120" y="1828800"/>
            <a:ext cx="33832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760720" y="210312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4" name="Text 12"/>
          <p:cNvSpPr/>
          <p:nvPr/>
        </p:nvSpPr>
        <p:spPr>
          <a:xfrm>
            <a:off x="5760720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53712" y="2880360"/>
            <a:ext cx="305409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Trabaja con documentos del equipo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90288" y="3520440"/>
            <a:ext cx="2980944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subir directamente la matriz de indicadores en Word o Excel y trabajar sobre ella, en español.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92440" y="1828800"/>
            <a:ext cx="33832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464040" y="210312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9" name="Text 17"/>
          <p:cNvSpPr/>
          <p:nvPr/>
        </p:nvSpPr>
        <p:spPr>
          <a:xfrm>
            <a:off x="9464040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257032" y="2880360"/>
            <a:ext cx="305409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Entregables usables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293608" y="3520440"/>
            <a:ext cx="2980944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producir la ficha técnica en formato de documento o tabla, lista para revisión del equipo.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24;p9" descr="cover.jpg">
            <a:extLst>
              <a:ext uri="{FF2B5EF4-FFF2-40B4-BE49-F238E27FC236}">
                <a16:creationId xmlns:a16="http://schemas.microsoft.com/office/drawing/2014/main" id="{23AA3447-93EE-4B17-8024-72DB32660A4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hape 0"/>
          <p:cNvSpPr/>
          <p:nvPr/>
        </p:nvSpPr>
        <p:spPr>
          <a:xfrm>
            <a:off x="4907128" y="2148840"/>
            <a:ext cx="2377440" cy="9144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3317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kern="0" spc="200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KIT DE PROMPTS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72865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Cómo Generar Prompts para Automatizar el Proceso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907128" y="3977640"/>
            <a:ext cx="2377440" cy="54864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4160520"/>
            <a:ext cx="94484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claro + insumo + instrucciones numeradas + criterio de calidad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0" y="484632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5" y="-896"/>
            <a:ext cx="12191695" cy="1098176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572091" y="799652"/>
            <a:ext cx="2377440" cy="9144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5" name="Text 3"/>
          <p:cNvSpPr/>
          <p:nvPr/>
        </p:nvSpPr>
        <p:spPr>
          <a:xfrm>
            <a:off x="572091" y="224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Anatomía de un Buen Prompt Técnico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94360" y="1531172"/>
            <a:ext cx="10789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15000"/>
              </a:lnSpc>
              <a:spcAft>
                <a:spcPts val="800"/>
              </a:spcAft>
              <a:buClr>
                <a:srgbClr val="0277B7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1350" b="1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1. Rol claro para el modelo</a:t>
            </a:r>
            <a:endParaRPr lang="en-US" sz="13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Clr>
                <a:srgbClr val="0277B7"/>
              </a:buClr>
              <a:buSzPct val="100000"/>
            </a:pPr>
            <a:r>
              <a:rPr lang="en-US" sz="135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Ej: “Actúa como experto en indicadores de salud pública (metodologías DNP y </a:t>
            </a:r>
            <a:r>
              <a:rPr lang="en-US" sz="1350" dirty="0" err="1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MinSalud</a:t>
            </a:r>
            <a:r>
              <a:rPr lang="en-US" sz="135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)”.</a:t>
            </a:r>
          </a:p>
          <a:p>
            <a:pPr>
              <a:lnSpc>
                <a:spcPct val="115000"/>
              </a:lnSpc>
              <a:spcAft>
                <a:spcPts val="800"/>
              </a:spcAft>
              <a:buClr>
                <a:srgbClr val="0277B7"/>
              </a:buClr>
              <a:buSzPct val="100000"/>
            </a:pPr>
            <a:endParaRPr lang="en-US" sz="13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15000"/>
              </a:lnSpc>
              <a:spcAft>
                <a:spcPts val="800"/>
              </a:spcAft>
              <a:buClr>
                <a:srgbClr val="0277B7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1350" b="1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2. Insumo concreto que se pega</a:t>
            </a:r>
            <a:endParaRPr lang="en-US" sz="13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Clr>
                <a:srgbClr val="0277B7"/>
              </a:buClr>
              <a:buSzPct val="100000"/>
            </a:pPr>
            <a:r>
              <a:rPr lang="en-US" sz="135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La pregunta, el nombre borrador o la fórmula borrador que ya tiene el </a:t>
            </a:r>
            <a:r>
              <a:rPr lang="en-US" sz="1350" dirty="0" err="1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equipo</a:t>
            </a:r>
            <a:r>
              <a:rPr lang="en-US" sz="135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.</a:t>
            </a:r>
          </a:p>
          <a:p>
            <a:pPr marL="285750" indent="-285750">
              <a:lnSpc>
                <a:spcPct val="115000"/>
              </a:lnSpc>
              <a:spcAft>
                <a:spcPts val="800"/>
              </a:spcAft>
              <a:buClr>
                <a:srgbClr val="0277B7"/>
              </a:buClr>
              <a:buSzPct val="100000"/>
              <a:buFont typeface="Arial" panose="020B0604020202020204" pitchFamily="34" charset="0"/>
              <a:buChar char="•"/>
            </a:pPr>
            <a:endParaRPr lang="en-US" sz="13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15000"/>
              </a:lnSpc>
              <a:spcAft>
                <a:spcPts val="800"/>
              </a:spcAft>
              <a:buClr>
                <a:srgbClr val="0277B7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1350" b="1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3. Instrucciones explícitas y numeradas</a:t>
            </a:r>
            <a:endParaRPr lang="en-US" sz="13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Clr>
                <a:srgbClr val="0277B7"/>
              </a:buClr>
              <a:buSzPct val="100000"/>
            </a:pPr>
            <a:r>
              <a:rPr lang="en-US" sz="135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Qué debe producir exactamente el modelo: reformular, generar alternativas, redactar la ficha, </a:t>
            </a:r>
            <a:r>
              <a:rPr lang="en-US" sz="1350" dirty="0" err="1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auditar</a:t>
            </a:r>
            <a:r>
              <a:rPr lang="en-US" sz="135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.</a:t>
            </a:r>
          </a:p>
          <a:p>
            <a:pPr>
              <a:lnSpc>
                <a:spcPct val="115000"/>
              </a:lnSpc>
              <a:spcAft>
                <a:spcPts val="800"/>
              </a:spcAft>
              <a:buClr>
                <a:srgbClr val="0277B7"/>
              </a:buClr>
              <a:buSzPct val="100000"/>
            </a:pPr>
            <a:endParaRPr lang="en-US" sz="13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15000"/>
              </a:lnSpc>
              <a:spcAft>
                <a:spcPts val="800"/>
              </a:spcAft>
              <a:buClr>
                <a:srgbClr val="0277B7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1350" b="1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4. Criterio de calidad para validar</a:t>
            </a:r>
            <a:endParaRPr lang="en-US" sz="13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Clr>
                <a:srgbClr val="0277B7"/>
              </a:buClr>
              <a:buSzPct val="100000"/>
            </a:pPr>
            <a:r>
              <a:rPr lang="en-US" sz="135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CREMA, SMART o la cadena de valor, contra el cual el modelo debe contrastar su propia respuesta.</a:t>
            </a:r>
            <a:endParaRPr lang="en-US" sz="13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823230"/>
            <a:ext cx="2377440" cy="45719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 DE PROMPTS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4572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Prompts 1 y 2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789920" cy="2057400"/>
          </a:xfrm>
          <a:prstGeom prst="rect">
            <a:avLst/>
          </a:prstGeom>
          <a:solidFill>
            <a:srgbClr val="F0F2F6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691640"/>
            <a:ext cx="109728" cy="205740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80136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1 — Diagnóstico de pregunta vaga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194560"/>
            <a:ext cx="102412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2D34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“Tengo esta pregunta de gestión: [pegar pregunta]. Evalúa si cumple los 4 componentes (población, atributo, ámbito, referente de comparación) y dime cuáles faltan. Propón 3 opciones de reformulación que sí los cumplan.”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4023360"/>
            <a:ext cx="10789920" cy="2057400"/>
          </a:xfrm>
          <a:prstGeom prst="rect">
            <a:avLst/>
          </a:prstGeom>
          <a:solidFill>
            <a:srgbClr val="F0F2F6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4023360"/>
            <a:ext cx="109728" cy="205740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413308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2 — Generación de alternativas de indicador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4526280"/>
            <a:ext cx="102412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2D34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“A partir de esta pregunta de gestión ya refinada: [pegar], propón 3 posibles indicadores con su fórmula, unidad de medida, eslabón de la cadena de valor y fuente posible, siguiendo los criterios CREMA.”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 rot="5400000">
            <a:off x="11414455" y="6080760"/>
            <a:ext cx="1005840" cy="1005840"/>
          </a:xfrm>
          <a:prstGeom prst="triangle">
            <a:avLst/>
          </a:prstGeom>
          <a:solidFill>
            <a:srgbClr val="FC6E01"/>
          </a:solidFill>
          <a:ln/>
        </p:spPr>
      </p:sp>
      <p:sp>
        <p:nvSpPr>
          <p:cNvPr id="16" name="Shape 14"/>
          <p:cNvSpPr/>
          <p:nvPr/>
        </p:nvSpPr>
        <p:spPr>
          <a:xfrm rot="5400000">
            <a:off x="10957255" y="6355080"/>
            <a:ext cx="685800" cy="685800"/>
          </a:xfrm>
          <a:prstGeom prst="triangle">
            <a:avLst/>
          </a:prstGeom>
          <a:solidFill>
            <a:srgbClr val="1E3A5F"/>
          </a:solidFill>
          <a:ln/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02659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818388"/>
            <a:ext cx="2377440" cy="50292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 DE PROMPTS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45720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Prompts 3 y 4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789920" cy="2057400"/>
          </a:xfrm>
          <a:prstGeom prst="rect">
            <a:avLst/>
          </a:prstGeom>
          <a:solidFill>
            <a:srgbClr val="F0F2F6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691640"/>
            <a:ext cx="109728" cy="205740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80136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3 — Borrador de ficha técnica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194560"/>
            <a:ext cx="102412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2D34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“Redacta el borrador de la ficha técnica de este indicador usando esta plantilla: [pegar plantilla]. Deja explícitos, marcados como [VERIFICAR EN ENTIDAD], los campos que dependen de datos que debo confirmar con la fuente oficial.”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4023360"/>
            <a:ext cx="10789920" cy="2057400"/>
          </a:xfrm>
          <a:prstGeom prst="rect">
            <a:avLst/>
          </a:prstGeom>
          <a:solidFill>
            <a:srgbClr val="F0F2F6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4023360"/>
            <a:ext cx="109728" cy="205740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413308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4 — Auditoría de una batería de indicadores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4526280"/>
            <a:ext cx="102412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2D34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“Revisa esta batería de 10 indicadores: [pegar lista con fórmula y objetivo]. Señala cuáles son en realidad indicadores de producto disfrazados de resultado, identifica riesgos de incentivos perversos y marca posibles redundancias.”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 rot="5400000">
            <a:off x="11414455" y="6080760"/>
            <a:ext cx="1005840" cy="1005840"/>
          </a:xfrm>
          <a:prstGeom prst="triangle">
            <a:avLst/>
          </a:prstGeom>
          <a:solidFill>
            <a:srgbClr val="FC6E01"/>
          </a:solidFill>
          <a:ln/>
        </p:spPr>
      </p:sp>
      <p:sp>
        <p:nvSpPr>
          <p:cNvPr id="16" name="Shape 14"/>
          <p:cNvSpPr/>
          <p:nvPr/>
        </p:nvSpPr>
        <p:spPr>
          <a:xfrm rot="5400000">
            <a:off x="10957255" y="6355080"/>
            <a:ext cx="685800" cy="685800"/>
          </a:xfrm>
          <a:prstGeom prst="triangle">
            <a:avLst/>
          </a:prstGeom>
          <a:solidFill>
            <a:srgbClr val="1E3A5F"/>
          </a:solidFill>
          <a:ln/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85391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201168"/>
            <a:ext cx="2377440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 DE PROMPTS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Salvaguardas para no Perder Rigor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828800"/>
            <a:ext cx="245745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94485" y="210312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9" name="Text 7"/>
          <p:cNvSpPr/>
          <p:nvPr/>
        </p:nvSpPr>
        <p:spPr>
          <a:xfrm>
            <a:off x="1594485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50392" y="2880360"/>
            <a:ext cx="21282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Doble verificación humana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86968" y="3520440"/>
            <a:ext cx="2055114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indicador se publica o se usa para decisiones sin que un responsable técnico revise fórmula, fuente y meta.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63290" y="1828800"/>
            <a:ext cx="245745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71975" y="210312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4" name="Text 12"/>
          <p:cNvSpPr/>
          <p:nvPr/>
        </p:nvSpPr>
        <p:spPr>
          <a:xfrm>
            <a:off x="4371975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627882" y="2880360"/>
            <a:ext cx="21282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Trazabilidad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64458" y="3520440"/>
            <a:ext cx="2055114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cifra debe poder rastrearse hasta su fuente oficial; la IA no es fuente de datos, es apoyo de redacción.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40780" y="1828800"/>
            <a:ext cx="245745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49465" y="210312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9" name="Text 17"/>
          <p:cNvSpPr/>
          <p:nvPr/>
        </p:nvSpPr>
        <p:spPr>
          <a:xfrm>
            <a:off x="7149465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05372" y="2880360"/>
            <a:ext cx="21282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Transparencia metodológica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41948" y="3520440"/>
            <a:ext cx="2055114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una ficha tuvo apoyo de IA en su redacción, se deja constancia de ello, igual que cualquier otra asistencia técnica.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018270" y="1828800"/>
            <a:ext cx="245745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  <a:effectLst>
            <a:outerShdw blurRad="76200" dist="25400" dir="5400000" algn="bl" rotWithShape="0">
              <a:srgbClr val="44546A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926955" y="210312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4" name="Text 22"/>
          <p:cNvSpPr/>
          <p:nvPr/>
        </p:nvSpPr>
        <p:spPr>
          <a:xfrm>
            <a:off x="9926955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C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182862" y="2880360"/>
            <a:ext cx="21282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equipo define el éxito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219438" y="3520440"/>
            <a:ext cx="2055114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metas se fijan con criterio técnico y político, nunca por sugerencia automática sin contraste.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 rot="5400000">
            <a:off x="11414455" y="6080760"/>
            <a:ext cx="1005840" cy="1005840"/>
          </a:xfrm>
          <a:prstGeom prst="triangle">
            <a:avLst/>
          </a:prstGeom>
          <a:solidFill>
            <a:srgbClr val="FC6E01"/>
          </a:solidFill>
          <a:ln/>
        </p:spPr>
      </p:sp>
      <p:sp>
        <p:nvSpPr>
          <p:cNvPr id="28" name="Shape 26"/>
          <p:cNvSpPr/>
          <p:nvPr/>
        </p:nvSpPr>
        <p:spPr>
          <a:xfrm rot="5400000">
            <a:off x="10957255" y="6355080"/>
            <a:ext cx="685800" cy="685800"/>
          </a:xfrm>
          <a:prstGeom prst="triangle">
            <a:avLst/>
          </a:prstGeom>
          <a:solidFill>
            <a:srgbClr val="1E3A5F"/>
          </a:solidFill>
          <a:ln/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85391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201168"/>
            <a:ext cx="2377440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 PARA MEDIR IMPACTOS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Bases de Datos Públicas para Medir Indicadores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34137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691640"/>
            <a:ext cx="3413760" cy="73152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56232"/>
            <a:ext cx="304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GEIH (DANE)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2258568"/>
            <a:ext cx="3048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 Encuesta Integrada de Hogares. Empleo, ingresos y fuerza laboral, mensual, con desagregación territorial. Descarga: microdatos.dane.gov.co.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73880" y="1691640"/>
            <a:ext cx="34137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73880" y="1691640"/>
            <a:ext cx="3413760" cy="73152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56760" y="1856232"/>
            <a:ext cx="304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DANE — Terridata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56760" y="2258568"/>
            <a:ext cx="3048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territoriales oficiales (educación, salud, pobreza, ambiente) por municipio y departamento. Portal: terridata.dnp.gov.co.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61960" y="1691640"/>
            <a:ext cx="34137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61960" y="1691640"/>
            <a:ext cx="3413760" cy="73152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17" name="Text 15"/>
          <p:cNvSpPr/>
          <p:nvPr/>
        </p:nvSpPr>
        <p:spPr>
          <a:xfrm>
            <a:off x="8244840" y="1856232"/>
            <a:ext cx="304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SISPRO (MinSalud)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44840" y="2258568"/>
            <a:ext cx="3048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Integrado de Información de la Protección Social: RIPS, coberturas y eventos en salud pública.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5800" y="4069080"/>
            <a:ext cx="34137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4069080"/>
            <a:ext cx="3413760" cy="73152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233672"/>
            <a:ext cx="304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SIMAT (MinEducación)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68680" y="4636008"/>
            <a:ext cx="3048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Integrado de Matrícula: cobertura, deserción y tránsito escolar por sede educativa.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73880" y="4069080"/>
            <a:ext cx="34137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73880" y="4069080"/>
            <a:ext cx="3413760" cy="73152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25" name="Text 23"/>
          <p:cNvSpPr/>
          <p:nvPr/>
        </p:nvSpPr>
        <p:spPr>
          <a:xfrm>
            <a:off x="4556760" y="4233672"/>
            <a:ext cx="304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SIEDCO (Policía Nacional)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56760" y="4636008"/>
            <a:ext cx="3048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Información Estadístico, Delincuencial, Contravencional y Operativo: cifras de criminalidad y seguridad.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061960" y="4069080"/>
            <a:ext cx="34137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61960" y="4069080"/>
            <a:ext cx="3413760" cy="73152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29" name="Text 27"/>
          <p:cNvSpPr/>
          <p:nvPr/>
        </p:nvSpPr>
        <p:spPr>
          <a:xfrm>
            <a:off x="8244840" y="4233672"/>
            <a:ext cx="304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DNP — Sinergia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244840" y="4636008"/>
            <a:ext cx="3048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Nacional de Evaluación de Gestión y Resultados: seguimiento a metas de planes de desarrollo nacionales.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rot="5400000">
            <a:off x="11414455" y="6080760"/>
            <a:ext cx="1005840" cy="1005840"/>
          </a:xfrm>
          <a:prstGeom prst="triangle">
            <a:avLst/>
          </a:prstGeom>
          <a:solidFill>
            <a:srgbClr val="FC6E01"/>
          </a:solidFill>
          <a:ln/>
        </p:spPr>
      </p:sp>
      <p:sp>
        <p:nvSpPr>
          <p:cNvPr id="32" name="Shape 30"/>
          <p:cNvSpPr/>
          <p:nvPr/>
        </p:nvSpPr>
        <p:spPr>
          <a:xfrm rot="5400000">
            <a:off x="10957255" y="6355080"/>
            <a:ext cx="685800" cy="685800"/>
          </a:xfrm>
          <a:prstGeom prst="triangle">
            <a:avLst/>
          </a:prstGeom>
          <a:solidFill>
            <a:srgbClr val="1E3A5F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de uso: cruzar la línea base de un indicador propio con la serie histórica de GEIH o Terridata permite validar si el cambio observado es atribuible al programa o responde a una tendencia territorial más amplia.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257;p15" descr="cover.jpg">
            <a:extLst>
              <a:ext uri="{FF2B5EF4-FFF2-40B4-BE49-F238E27FC236}">
                <a16:creationId xmlns:a16="http://schemas.microsoft.com/office/drawing/2014/main" id="{72DB1DC6-86EB-4DB0-A9AB-490E16AFA70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69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hape 0"/>
          <p:cNvSpPr/>
          <p:nvPr/>
        </p:nvSpPr>
        <p:spPr>
          <a:xfrm>
            <a:off x="4907128" y="2148840"/>
            <a:ext cx="2377440" cy="9144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3317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kern="0" spc="200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72865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Taller </a:t>
            </a:r>
            <a:r>
              <a:rPr lang="en-US" sz="3400" b="1" dirty="0" err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Práctico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907128" y="3977640"/>
            <a:ext cx="2377440" cy="54864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4160520"/>
            <a:ext cx="94484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Autoría humana → refinamiento con IA, sobre los 4 casos guía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0" y="484632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de 3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85391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201168"/>
            <a:ext cx="2377440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GUÍA 1 DE 4 · SALUD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Salud Materna Rural 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85800" y="160020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vaga de partida:  </a:t>
            </a:r>
            <a:r>
              <a:rPr lang="en-US" sz="1250" i="1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“¿Cómo va la salud?”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2103120"/>
            <a:ext cx="10789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10312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Población / unidad de análisis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00600" y="2103120"/>
            <a:ext cx="6537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Gestantes en zona rural dispersa y rural del municipio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85800" y="2606040"/>
            <a:ext cx="10789920" cy="502920"/>
          </a:xfrm>
          <a:prstGeom prst="rect">
            <a:avLst/>
          </a:prstGeom>
          <a:solidFill>
            <a:srgbClr val="F5F6FA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6060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 o dimensión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00600" y="2606040"/>
            <a:ext cx="6537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 controles prenatales oportunos y completos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108960"/>
            <a:ext cx="10789920" cy="502920"/>
          </a:xfrm>
          <a:prstGeom prst="rect">
            <a:avLst/>
          </a:prstGeom>
          <a:solidFill>
            <a:srgbClr val="F5F6FA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1089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Ámbito territorial y temporal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00600" y="3108960"/>
            <a:ext cx="6537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Municipio X, zona rural, año en curso vs. año anterior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" y="3611880"/>
            <a:ext cx="10789920" cy="502920"/>
          </a:xfrm>
          <a:prstGeom prst="rect">
            <a:avLst/>
          </a:prstGeom>
          <a:solidFill>
            <a:srgbClr val="F5F6FA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6118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Referente de comparación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611880"/>
            <a:ext cx="6537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del año t-1 y meta del Plan de Desarrollo Municipal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4666648"/>
            <a:ext cx="10789920" cy="9144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4730656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gestión refinada: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96112" y="498668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“¿Estamos garantizando controles prenatales adecuados a las gestantes de las zonas rurales del municipio, y estamos mejorando frente al año anterior?”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 rot="5400000">
            <a:off x="11414455" y="6080760"/>
            <a:ext cx="1005840" cy="1005840"/>
          </a:xfrm>
          <a:prstGeom prst="triangle">
            <a:avLst/>
          </a:prstGeom>
          <a:solidFill>
            <a:srgbClr val="FC6E01"/>
          </a:solidFill>
          <a:ln/>
        </p:spPr>
      </p:sp>
      <p:sp>
        <p:nvSpPr>
          <p:cNvPr id="24" name="Shape 22"/>
          <p:cNvSpPr/>
          <p:nvPr/>
        </p:nvSpPr>
        <p:spPr>
          <a:xfrm rot="5400000">
            <a:off x="10957255" y="6355080"/>
            <a:ext cx="685800" cy="685800"/>
          </a:xfrm>
          <a:prstGeom prst="triangle">
            <a:avLst/>
          </a:prstGeom>
          <a:solidFill>
            <a:srgbClr val="1E3A5F"/>
          </a:solidFill>
          <a:ln/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85391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201168"/>
            <a:ext cx="2377440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GUÍA 1 DE 4 · SALUD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Salud Materna Rural 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7899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691640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Eslabón de la cadena de valor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251960" y="1691640"/>
            <a:ext cx="7086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(mide el cambio en el acceso/comportamiento, no solo el producto entregado)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85800" y="2258568"/>
            <a:ext cx="10789920" cy="566928"/>
          </a:xfrm>
          <a:prstGeom prst="rect">
            <a:avLst/>
          </a:prstGeom>
          <a:solidFill>
            <a:srgbClr val="F5F6FA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258568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del indicador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251960" y="2258568"/>
            <a:ext cx="7086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gestantes rurales con 4 o más controles prenatales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2825496"/>
            <a:ext cx="107899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825496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de cálculo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51960" y="2825496"/>
            <a:ext cx="7086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(N.º gestantes rurales con ≥4 controles / N.º total gestantes rurales con parto) × 100, año t vs. t-1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5800" y="3392424"/>
            <a:ext cx="10789920" cy="566928"/>
          </a:xfrm>
          <a:prstGeom prst="rect">
            <a:avLst/>
          </a:prstGeom>
          <a:solidFill>
            <a:srgbClr val="F5F6FA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392424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de información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251960" y="3392424"/>
            <a:ext cx="7086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RIPS – SISPRO (MinSalud); historia clínica materno-perinatal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85800" y="4142232"/>
            <a:ext cx="10789920" cy="1965960"/>
          </a:xfrm>
          <a:prstGeom prst="rect">
            <a:avLst/>
          </a:prstGeom>
          <a:solidFill>
            <a:srgbClr val="F0F2F6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4142232"/>
            <a:ext cx="109728" cy="19659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425196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sugerido para IA (Claude.ai)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60120" y="4599432"/>
            <a:ext cx="103327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2D34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Actúa como experto en indicadores de salud pública (metodologías DNP y MinSalud). Revisa esta formulación: Pregunta: ¿Estamos garantizando controles prenatales adecuados...? Nombre borrador: % de embarazadas rurales con controles al día. Fórmula borrador: (gestantes con 4 controles / total gestantes) × 100. Aplica la regla nomenclatural, precisa el denominador con fuente oficial (RIPS/SISPRO) y genera la ficha técnica completa.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rot="5400000">
            <a:off x="11414455" y="6080760"/>
            <a:ext cx="1005840" cy="1005840"/>
          </a:xfrm>
          <a:prstGeom prst="triangle">
            <a:avLst/>
          </a:prstGeom>
          <a:solidFill>
            <a:srgbClr val="FC6E01"/>
          </a:solidFill>
          <a:ln/>
        </p:spPr>
      </p:sp>
      <p:sp>
        <p:nvSpPr>
          <p:cNvPr id="24" name="Shape 22"/>
          <p:cNvSpPr/>
          <p:nvPr/>
        </p:nvSpPr>
        <p:spPr>
          <a:xfrm rot="5400000">
            <a:off x="10957255" y="6355080"/>
            <a:ext cx="685800" cy="685800"/>
          </a:xfrm>
          <a:prstGeom prst="triangle">
            <a:avLst/>
          </a:prstGeom>
          <a:solidFill>
            <a:srgbClr val="1E3A5F"/>
          </a:solidFill>
          <a:ln/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277B7"/>
          </a:solidFill>
          <a:ln/>
        </p:spPr>
        <p:txBody>
          <a:bodyPr/>
          <a:lstStyle/>
          <a:p>
            <a:endParaRPr lang="es-CO" dirty="0"/>
          </a:p>
        </p:txBody>
      </p:sp>
      <p:sp>
        <p:nvSpPr>
          <p:cNvPr id="3" name="Shape 1"/>
          <p:cNvSpPr/>
          <p:nvPr/>
        </p:nvSpPr>
        <p:spPr>
          <a:xfrm>
            <a:off x="594360" y="201168"/>
            <a:ext cx="2377440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GUÍA 2 DE 4 · EDUCACIÓN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Deserción Escolar Rural 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85800" y="160020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vaga de partida:  </a:t>
            </a:r>
            <a:r>
              <a:rPr lang="en-US" sz="1250" i="1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“¿Cómo va la educación?”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2103120"/>
            <a:ext cx="10789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10312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Población / unidad de análisis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00600" y="2103120"/>
            <a:ext cx="6537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Estudiantes matriculados en sedes educativas rurales oficiales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85800" y="2606040"/>
            <a:ext cx="10789920" cy="502920"/>
          </a:xfrm>
          <a:prstGeom prst="rect">
            <a:avLst/>
          </a:prstGeom>
          <a:solidFill>
            <a:srgbClr val="F5F6FA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6060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 o dimensión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00600" y="2606040"/>
            <a:ext cx="6537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Retención escolar intra-anual (evitar abandono antes de finalizar el año)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108960"/>
            <a:ext cx="10789920" cy="502920"/>
          </a:xfrm>
          <a:prstGeom prst="rect">
            <a:avLst/>
          </a:prstGeom>
          <a:solidFill>
            <a:srgbClr val="F5F6FA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1089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Ámbito territorial y temporal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00600" y="3108960"/>
            <a:ext cx="6537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Sedes rurales del municipio/provincia, año lectivo en curso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" y="3611880"/>
            <a:ext cx="10789920" cy="502920"/>
          </a:xfrm>
          <a:prstGeom prst="rect">
            <a:avLst/>
          </a:prstGeom>
          <a:solidFill>
            <a:srgbClr val="F5F6FA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6118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Referente de comparación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611880"/>
            <a:ext cx="6537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del plan de desarrollo vigente sobre tasa de deserción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4251960"/>
            <a:ext cx="10789920" cy="9144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4315968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gestión refinada: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96112" y="4572000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“¿Estamos reteniendo a los estudiantes de las sedes rurales durante el año escolar, frente a la meta del plan de desarrollo?”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 rot="5400000">
            <a:off x="11414455" y="6080760"/>
            <a:ext cx="1005840" cy="1005840"/>
          </a:xfrm>
          <a:prstGeom prst="triangle">
            <a:avLst/>
          </a:prstGeom>
          <a:solidFill>
            <a:srgbClr val="FC6E01"/>
          </a:solidFill>
          <a:ln/>
        </p:spPr>
      </p:sp>
      <p:sp>
        <p:nvSpPr>
          <p:cNvPr id="24" name="Shape 22"/>
          <p:cNvSpPr/>
          <p:nvPr/>
        </p:nvSpPr>
        <p:spPr>
          <a:xfrm rot="5400000">
            <a:off x="10957255" y="6355080"/>
            <a:ext cx="685800" cy="685800"/>
          </a:xfrm>
          <a:prstGeom prst="triangle">
            <a:avLst/>
          </a:prstGeom>
          <a:solidFill>
            <a:srgbClr val="1E3A5F"/>
          </a:solidFill>
          <a:ln/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6123" y="0"/>
            <a:ext cx="12191695" cy="1048871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201168"/>
            <a:ext cx="2377440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GUÍA 2 DE 4 · EDUCACIÓN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457200"/>
            <a:ext cx="10789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Deserción Escolar Rural 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7899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691640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Eslabón de la cadena de valor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251960" y="1691640"/>
            <a:ext cx="7086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(mide el comportamiento de permanencia de la población beneficiaria)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85800" y="2258568"/>
            <a:ext cx="10789920" cy="566928"/>
          </a:xfrm>
          <a:prstGeom prst="rect">
            <a:avLst/>
          </a:prstGeom>
          <a:solidFill>
            <a:srgbClr val="F5F6FA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258568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del indicador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251960" y="2258568"/>
            <a:ext cx="7086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deserción escolar intra-anual en sedes educativas rurales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2825496"/>
            <a:ext cx="107899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825496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de cálculo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51960" y="2825496"/>
            <a:ext cx="7086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(N.º estudiantes que abandonan durante el año / N.º matriculados al inicio del año) × 100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5800" y="3392424"/>
            <a:ext cx="10789920" cy="566928"/>
          </a:xfrm>
          <a:prstGeom prst="rect">
            <a:avLst/>
          </a:prstGeom>
          <a:solidFill>
            <a:srgbClr val="F5F6FA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392424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de información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251960" y="3392424"/>
            <a:ext cx="7086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Integrado de Matrícula (SIMAT) y Secretaría de Educación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85800" y="4142232"/>
            <a:ext cx="10789920" cy="1965960"/>
          </a:xfrm>
          <a:prstGeom prst="rect">
            <a:avLst/>
          </a:prstGeom>
          <a:solidFill>
            <a:srgbClr val="F0F2F6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4142232"/>
            <a:ext cx="109728" cy="19659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425196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sugerido para IA (Claude.ai)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60120" y="4599432"/>
            <a:ext cx="103327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2D34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Revisa este borrador de indicador de educación rural: Pregunta: ¿Estamos reteniendo a los estudiantes de sedes rurales durante el año escolar? Nombre borrador: Tasa de abandono de alumnos rurales. Reformula el nombre según estándares SIMAT, confirma si el indicador es de tipo reducción y genera una alerta sobre posibles incentivos perversos (p. ej. subreporte de retiros).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1689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652631" y="864108"/>
            <a:ext cx="2377440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GUÍA 3 DE 4 · SEGURIDAD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457200"/>
            <a:ext cx="10789920" cy="4127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Hurto</a:t>
            </a: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 Personas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85800" y="160020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3A5F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Pregunta vaga de partida:  </a:t>
            </a:r>
            <a:r>
              <a:rPr lang="en-US" sz="1250" i="1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“¿Cómo va la seguridad?”</a:t>
            </a:r>
            <a:endParaRPr lang="en-US" sz="12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85800" y="2103120"/>
            <a:ext cx="10789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10312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Población / unidad de análisis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00600" y="2103120"/>
            <a:ext cx="6537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Habitantes del casco urbano del municipio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85800" y="2606040"/>
            <a:ext cx="10789920" cy="502920"/>
          </a:xfrm>
          <a:prstGeom prst="rect">
            <a:avLst/>
          </a:prstGeom>
          <a:solidFill>
            <a:srgbClr val="F5F6FA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6060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 o dimensión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00600" y="2606040"/>
            <a:ext cx="6537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Incidencia de hurto a personas ajustada por densidad poblacional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108960"/>
            <a:ext cx="10789920" cy="502920"/>
          </a:xfrm>
          <a:prstGeom prst="rect">
            <a:avLst/>
          </a:prstGeom>
          <a:solidFill>
            <a:srgbClr val="F5F6FA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1089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Ámbito territorial y temporal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00600" y="3108960"/>
            <a:ext cx="6537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Casco urbano, trimestre actual vs. mismo trimestre del año anterior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" y="3611880"/>
            <a:ext cx="10789920" cy="502920"/>
          </a:xfrm>
          <a:prstGeom prst="rect">
            <a:avLst/>
          </a:prstGeom>
          <a:solidFill>
            <a:srgbClr val="F5F6FA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6118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Referente de comparación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611880"/>
            <a:ext cx="6537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del mismo trimestre del año t-1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4646409"/>
            <a:ext cx="10789920" cy="914400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4701453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gestión refinada: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96112" y="5002308"/>
            <a:ext cx="10332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“¿Está disminuyendo el hurto a personas en el último trimestre, frente al mismo periodo del año anterior?”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50920"/>
            <a:ext cx="12191695" cy="1175632"/>
          </a:xfrm>
          <a:prstGeom prst="rect">
            <a:avLst/>
          </a:prstGeom>
          <a:solidFill>
            <a:srgbClr val="0277B7"/>
          </a:solidFill>
          <a:ln/>
        </p:spPr>
        <p:txBody>
          <a:bodyPr/>
          <a:lstStyle/>
          <a:p>
            <a:endParaRPr lang="es-CO" dirty="0"/>
          </a:p>
        </p:txBody>
      </p:sp>
      <p:sp>
        <p:nvSpPr>
          <p:cNvPr id="3" name="Shape 1"/>
          <p:cNvSpPr/>
          <p:nvPr/>
        </p:nvSpPr>
        <p:spPr>
          <a:xfrm>
            <a:off x="573024" y="854964"/>
            <a:ext cx="2377440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GUÍA 3 DE 4 · SEGURIDAD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59398" y="365760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Hurto a Personas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7899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691640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Eslabón de la cadena de valor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251960" y="1691640"/>
            <a:ext cx="7086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/ impacto sectorial (mide la incidencia del delito, no solo la actividad policial)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85800" y="2258568"/>
            <a:ext cx="10789920" cy="566928"/>
          </a:xfrm>
          <a:prstGeom prst="rect">
            <a:avLst/>
          </a:prstGeom>
          <a:solidFill>
            <a:srgbClr val="F5F6FA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258568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del indicador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251960" y="2258568"/>
            <a:ext cx="7086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Variación porcentual de la tasa de hurto a personas por cada 10.000 habitantes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2825496"/>
            <a:ext cx="107899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825496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de cálculo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51960" y="2825496"/>
            <a:ext cx="7086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((Tasa trimestre actual − Tasa año anterior) / Tasa año anterior) × 100; Tasa = (denuncias / población DANE) × 10.000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5800" y="3392424"/>
            <a:ext cx="10789920" cy="566928"/>
          </a:xfrm>
          <a:prstGeom prst="rect">
            <a:avLst/>
          </a:prstGeom>
          <a:solidFill>
            <a:srgbClr val="F5F6FA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392424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de información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251960" y="3392424"/>
            <a:ext cx="7086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SIEDCO — Policía Nacional (o equivalente local)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85800" y="4142232"/>
            <a:ext cx="10789920" cy="1965960"/>
          </a:xfrm>
          <a:prstGeom prst="rect">
            <a:avLst/>
          </a:prstGeom>
          <a:solidFill>
            <a:srgbClr val="F0F2F6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4142232"/>
            <a:ext cx="109728" cy="19659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425196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sugerido para IA (Claude.ai)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60120" y="4599432"/>
            <a:ext cx="103327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2D34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Analiza esta propuesta de indicador de seguridad: Nombre borrador: Disminución de robos en la ciudad. Fórmula borrador: hurtos este año − hurtos año pasado. Sustituye la resta simple por una variación porcentual de la tasa por 10.000 habitantes, y redacta el campo de limitaciones advirtiendo sobre la cifra negra (denuncias no realizadas).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871729"/>
            <a:ext cx="2377440" cy="6338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GUÍA 4 DE 4 · AMBIENTE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361009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Reforestación Efectiva (a)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85800" y="160020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vaga de partida:  </a:t>
            </a:r>
            <a:r>
              <a:rPr lang="en-US" sz="1250" i="1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“¿Cómo va el medio ambiente?”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2103120"/>
            <a:ext cx="10789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10312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Población / unidad de análisis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00600" y="2103120"/>
            <a:ext cx="6537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Hectáreas comprometidas en el plan de reforestación regional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85800" y="2606040"/>
            <a:ext cx="10789920" cy="502920"/>
          </a:xfrm>
          <a:prstGeom prst="rect">
            <a:avLst/>
          </a:prstGeom>
          <a:solidFill>
            <a:srgbClr val="F5F6FA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6060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 o dimensión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00600" y="2606040"/>
            <a:ext cx="6537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Sobrevivencia vegetativa de lo sembrado, no solo la siembra inicial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108960"/>
            <a:ext cx="10789920" cy="502920"/>
          </a:xfrm>
          <a:prstGeom prst="rect">
            <a:avLst/>
          </a:prstGeom>
          <a:solidFill>
            <a:srgbClr val="F5F6FA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1089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Ámbito territorial y temporal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00600" y="3108960"/>
            <a:ext cx="6537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Cuencas hidrográficas de la jurisdicción, verificación a los 12 meses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" y="3611880"/>
            <a:ext cx="10789920" cy="502920"/>
          </a:xfrm>
          <a:prstGeom prst="rect">
            <a:avLst/>
          </a:prstGeom>
          <a:solidFill>
            <a:srgbClr val="F5F6FA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6118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Referente de comparación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611880"/>
            <a:ext cx="6537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 hectáreas comprometidas y programadas en el plan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4431257"/>
            <a:ext cx="10789920" cy="914400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4459405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gestión refinada: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96112" y="4727448"/>
            <a:ext cx="103327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“¿Las hectáreas comprometidas en el plan de reforestación realmente sobreviven, frente a lo programado?”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24712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954293"/>
            <a:ext cx="2377440" cy="50292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GUÍA 4 DE 4 · AMBIENTE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457200"/>
            <a:ext cx="10789920" cy="519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Reforestación Efectiva (b)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7899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691640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Eslabón de la cadena de valor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251960" y="1691640"/>
            <a:ext cx="7086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(la siembra es producto; la sobrevivencia a 12 meses es el cambio efectivo logrado)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85800" y="2258568"/>
            <a:ext cx="10789920" cy="566928"/>
          </a:xfrm>
          <a:prstGeom prst="rect">
            <a:avLst/>
          </a:prstGeom>
          <a:solidFill>
            <a:srgbClr val="F5F6FA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258568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del indicador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251960" y="2258568"/>
            <a:ext cx="7086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hectáreas reforestadas con sobrevivencia mayor al 80% a los 12 meses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2825496"/>
            <a:ext cx="107899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825496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de cálculo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51960" y="2825496"/>
            <a:ext cx="7086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(N.º hectáreas con sobrevivencia &gt;80% verificada / N.º total hectáreas comprometidas) × 100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5800" y="3392424"/>
            <a:ext cx="10789920" cy="566928"/>
          </a:xfrm>
          <a:prstGeom prst="rect">
            <a:avLst/>
          </a:prstGeom>
          <a:solidFill>
            <a:srgbClr val="F5F6FA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392424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de información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251960" y="3392424"/>
            <a:ext cx="7086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Visitas de verificación en campo, imágenes satelitales, autoridad ambiental regional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85800" y="4142232"/>
            <a:ext cx="10789920" cy="1965960"/>
          </a:xfrm>
          <a:prstGeom prst="rect">
            <a:avLst/>
          </a:prstGeom>
          <a:solidFill>
            <a:srgbClr val="F0F2F6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4142232"/>
            <a:ext cx="109728" cy="19659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425196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sugerido para IA (Claude.ai)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60120" y="4599432"/>
            <a:ext cx="103327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2D34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Identifica por qué medir únicamente “número de árboles sembrados” es un indicador de producto y no de resultado. Redacta la pregunta de gestión enfocada en sobrevivencia vegetativa a 12 meses, propón la fórmula de cálculo y señala si la fuente debería incluir visitas de campo, imágenes satelitales o ambas.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24;p9" descr="cover.jpg">
            <a:extLst>
              <a:ext uri="{FF2B5EF4-FFF2-40B4-BE49-F238E27FC236}">
                <a16:creationId xmlns:a16="http://schemas.microsoft.com/office/drawing/2014/main" id="{2A863FE9-1852-43C3-B263-81C09C213CC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hape 0"/>
          <p:cNvSpPr/>
          <p:nvPr/>
        </p:nvSpPr>
        <p:spPr>
          <a:xfrm>
            <a:off x="4907128" y="2148840"/>
            <a:ext cx="2377440" cy="9144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3317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kern="0" spc="200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AUTÓNOMO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72865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Ejercicios para Practicar en Casa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907128" y="3977640"/>
            <a:ext cx="2377440" cy="54864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4160520"/>
            <a:ext cx="94484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casos adicionales para completar de forma individual, contrastando con Claude.ai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0" y="484632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del taller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5" y="-45720"/>
            <a:ext cx="12191695" cy="1234440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201168"/>
            <a:ext cx="2377440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201168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A · MOVILIDAD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457200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Movilidad Sostenible y Transporte Masivo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645920"/>
            <a:ext cx="10789920" cy="960120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1719072"/>
            <a:ext cx="10378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Escenario: 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municipio implementó un sistema de transporte masivo con carril exclusivo para buses eléctricos.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96112" y="2103120"/>
            <a:ext cx="10378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del directivo:  </a:t>
            </a: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“¿La gente sí está usando el nuevo transporte y estamos reduciendo los tiempos de trancón?”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800" y="278892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Complete de forma individual: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5800" y="3172968"/>
            <a:ext cx="59436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200" b="1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Población / unidad de análisis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200" b="1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Atributo, ámbito y referente de comparación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200" b="1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Pregunta de gestión refinada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200" b="1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Eslabón, nombre del indicador y fórmula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903720" y="2788920"/>
            <a:ext cx="46177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86600" y="2898648"/>
            <a:ext cx="4251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Retos específicos a resolver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104888" y="3291840"/>
            <a:ext cx="425196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Formule dos indicadores independientes: uno de producto (oferta/demanda) y otro de resultado (tiempo de viaje).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Ejecute el Prompt 2 en Claude.ai y compare su borrador con la propuesta de la IA.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Indique si la tendencia esperada del indicador de tiempo de viaje es a la maximización o a la minimización.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68579"/>
            <a:ext cx="12191695" cy="1234038"/>
          </a:xfrm>
          <a:prstGeom prst="rect">
            <a:avLst/>
          </a:prstGeom>
          <a:solidFill>
            <a:srgbClr val="0277B7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201168"/>
            <a:ext cx="2377440" cy="137160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-22860"/>
            <a:ext cx="7315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296779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Fuentes y Referencias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85800" y="1691640"/>
            <a:ext cx="10789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▪"/>
            </a:pPr>
            <a:r>
              <a:rPr lang="en-US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DNP (Colombia). Guía metodológica para la formulación de indicadores (2020).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▪"/>
            </a:pPr>
            <a:r>
              <a:rPr lang="en-US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DNP–DSEPP. Guía metodológica para el seguimiento y la evaluación a políticas públicas.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▪"/>
            </a:pPr>
            <a:r>
              <a:rPr lang="en-US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DNP. Metodología General Ajustada (MGA): cadena de valor de proyectos de inversión pública.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▪"/>
            </a:pPr>
            <a:r>
              <a:rPr lang="en-US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DANE. Guía para diseño, construcción e interpretación de indicadores, Estrategia EFET.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▪"/>
            </a:pPr>
            <a:r>
              <a:rPr lang="en-US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DAFP. Guía para la construcción y análisis de indicadores de gestión (MIPG v4, 2018).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▪"/>
            </a:pPr>
            <a:r>
              <a:rPr lang="en-US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Ministerio de Salud y Protección Social. Guía metodológica para indicadores de procesos, DESG05.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▪"/>
            </a:pPr>
            <a:r>
              <a:rPr lang="en-US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Armijo, M. y Bonnefoy, J.C. Indicadores de desempeño en el sector público. CEPAL–ILPES.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▪"/>
            </a:pPr>
            <a:r>
              <a:rPr lang="en-US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Unidad para las Víctimas (Colombia). Guía para la formulación de indicadores.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▪"/>
            </a:pPr>
            <a:r>
              <a:rPr lang="en-US" dirty="0">
                <a:solidFill>
                  <a:srgbClr val="2D3436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Dirección General de Servicio Civil (Costa Rica). Guía para la elaboración de indicadores de gestión.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124;p9" descr="cover.jpg">
            <a:extLst>
              <a:ext uri="{FF2B5EF4-FFF2-40B4-BE49-F238E27FC236}">
                <a16:creationId xmlns:a16="http://schemas.microsoft.com/office/drawing/2014/main" id="{31FC20B1-06D8-4830-AA00-F10F258247B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hape 0"/>
          <p:cNvSpPr/>
          <p:nvPr/>
        </p:nvSpPr>
        <p:spPr>
          <a:xfrm>
            <a:off x="5090007" y="4362853"/>
            <a:ext cx="2011680" cy="82296"/>
          </a:xfrm>
          <a:prstGeom prst="rect">
            <a:avLst/>
          </a:prstGeom>
          <a:solidFill>
            <a:srgbClr val="EFC000"/>
          </a:solidFill>
          <a:ln/>
        </p:spPr>
      </p:sp>
      <p:sp>
        <p:nvSpPr>
          <p:cNvPr id="3" name="Text 1"/>
          <p:cNvSpPr/>
          <p:nvPr/>
        </p:nvSpPr>
        <p:spPr>
          <a:xfrm>
            <a:off x="305" y="2169459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E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DEL TALLER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88720" y="2286000"/>
            <a:ext cx="9814255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Una pregunta de gestión bien formulada, traducida en un indicador con rigor técnico, es la base de toda decisión pública basada en evidencia.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88720" y="4800600"/>
            <a:ext cx="98142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Indicadores de Gestión Pública con IA · Ciclo 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 rot="5400000">
            <a:off x="11414455" y="6080760"/>
            <a:ext cx="1005840" cy="1005840"/>
          </a:xfrm>
          <a:prstGeom prst="triangle">
            <a:avLst/>
          </a:prstGeom>
          <a:solidFill>
            <a:srgbClr val="FC6E01"/>
          </a:solidFill>
          <a:ln/>
        </p:spPr>
      </p:sp>
      <p:sp>
        <p:nvSpPr>
          <p:cNvPr id="7" name="Shape 5"/>
          <p:cNvSpPr/>
          <p:nvPr/>
        </p:nvSpPr>
        <p:spPr>
          <a:xfrm rot="5400000">
            <a:off x="10957255" y="6355080"/>
            <a:ext cx="685800" cy="685800"/>
          </a:xfrm>
          <a:prstGeom prst="triangle">
            <a:avLst/>
          </a:prstGeom>
          <a:solidFill>
            <a:srgbClr val="1E3A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4823</Words>
  <Application>Microsoft Office PowerPoint</Application>
  <PresentationFormat>Panorámica</PresentationFormat>
  <Paragraphs>551</Paragraphs>
  <Slides>50</Slides>
  <Notes>50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50</vt:i4>
      </vt:variant>
    </vt:vector>
  </HeadingPairs>
  <TitlesOfParts>
    <vt:vector size="56" baseType="lpstr">
      <vt:lpstr>Arial</vt:lpstr>
      <vt:lpstr>Calibri</vt:lpstr>
      <vt:lpstr>Consolas</vt:lpstr>
      <vt:lpstr>Montserrat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Sandra Carolina</cp:lastModifiedBy>
  <cp:revision>25</cp:revision>
  <dcterms:created xsi:type="dcterms:W3CDTF">2026-08-08T22:54:29Z</dcterms:created>
  <dcterms:modified xsi:type="dcterms:W3CDTF">2026-08-10T04:43:00Z</dcterms:modified>
</cp:coreProperties>
</file>