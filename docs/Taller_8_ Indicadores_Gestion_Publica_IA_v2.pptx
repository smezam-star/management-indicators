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2" d="100"/>
          <a:sy n="112" d="100"/>
        </p:scale>
        <p:origin x="610"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957610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22960" y="1600200"/>
            <a:ext cx="7498080" cy="320040"/>
          </a:xfrm>
          <a:prstGeom prst="rect">
            <a:avLst/>
          </a:prstGeom>
          <a:noFill/>
          <a:ln/>
        </p:spPr>
        <p:txBody>
          <a:bodyPr wrap="square" rtlCol="0" anchor="ctr"/>
          <a:lstStyle/>
          <a:p>
            <a:pPr marL="0" indent="0">
              <a:buNone/>
            </a:pPr>
            <a:r>
              <a:rPr lang="en-US" sz="1200" b="1" kern="0" spc="200" dirty="0">
                <a:solidFill>
                  <a:srgbClr val="FF9900"/>
                </a:solidFill>
                <a:latin typeface="Arial" pitchFamily="34" charset="0"/>
                <a:ea typeface="Arial" pitchFamily="34" charset="-122"/>
                <a:cs typeface="Arial" pitchFamily="34" charset="-120"/>
              </a:rPr>
              <a:t>TALLER 8· CICLO 1</a:t>
            </a:r>
            <a:endParaRPr lang="en-US" sz="1200" dirty="0"/>
          </a:p>
        </p:txBody>
      </p:sp>
      <p:sp>
        <p:nvSpPr>
          <p:cNvPr id="3" name="Text 1"/>
          <p:cNvSpPr/>
          <p:nvPr/>
        </p:nvSpPr>
        <p:spPr>
          <a:xfrm>
            <a:off x="822960" y="1965960"/>
            <a:ext cx="7498080" cy="1051560"/>
          </a:xfrm>
          <a:prstGeom prst="rect">
            <a:avLst/>
          </a:prstGeom>
          <a:noFill/>
          <a:ln/>
        </p:spPr>
        <p:txBody>
          <a:bodyPr wrap="square" rtlCol="0" anchor="ctr"/>
          <a:lstStyle/>
          <a:p>
            <a:pPr marL="0" indent="0">
              <a:buNone/>
            </a:pPr>
            <a:r>
              <a:rPr lang="en-US" sz="2700" b="1" dirty="0">
                <a:solidFill>
                  <a:srgbClr val="FFFFFF"/>
                </a:solidFill>
                <a:latin typeface="Arial" pitchFamily="34" charset="0"/>
                <a:ea typeface="Arial" pitchFamily="34" charset="-122"/>
                <a:cs typeface="Arial" pitchFamily="34" charset="-120"/>
              </a:rPr>
              <a:t>Construcción de Preguntas de Gestión y su Traducción a Indicadores Públicos</a:t>
            </a:r>
            <a:endParaRPr lang="en-US" sz="2700" dirty="0"/>
          </a:p>
        </p:txBody>
      </p:sp>
      <p:sp>
        <p:nvSpPr>
          <p:cNvPr id="4" name="Text 2"/>
          <p:cNvSpPr/>
          <p:nvPr/>
        </p:nvSpPr>
        <p:spPr>
          <a:xfrm>
            <a:off x="822960" y="3063240"/>
            <a:ext cx="7498080" cy="365760"/>
          </a:xfrm>
          <a:prstGeom prst="rect">
            <a:avLst/>
          </a:prstGeom>
          <a:noFill/>
          <a:ln/>
        </p:spPr>
        <p:txBody>
          <a:bodyPr wrap="square" rtlCol="0" anchor="ctr"/>
          <a:lstStyle/>
          <a:p>
            <a:pPr marL="0" indent="0">
              <a:buNone/>
            </a:pPr>
            <a:r>
              <a:rPr lang="en-US" sz="1300" i="1" dirty="0">
                <a:solidFill>
                  <a:srgbClr val="CADCFC"/>
                </a:solidFill>
                <a:latin typeface="Arial" pitchFamily="34" charset="0"/>
                <a:ea typeface="Arial" pitchFamily="34" charset="-122"/>
                <a:cs typeface="Arial" pitchFamily="34" charset="-120"/>
              </a:rPr>
              <a:t>Con guía de optimización de Inteligencia Artificial y simulador interactivo en línea</a:t>
            </a:r>
            <a:endParaRPr lang="en-US" sz="1300" dirty="0"/>
          </a:p>
        </p:txBody>
      </p:sp>
      <p:sp>
        <p:nvSpPr>
          <p:cNvPr id="5" name="Text 3"/>
          <p:cNvSpPr/>
          <p:nvPr/>
        </p:nvSpPr>
        <p:spPr>
          <a:xfrm>
            <a:off x="693306" y="4843249"/>
            <a:ext cx="7498080" cy="320040"/>
          </a:xfrm>
          <a:prstGeom prst="rect">
            <a:avLst/>
          </a:prstGeom>
          <a:noFill/>
          <a:ln/>
        </p:spPr>
        <p:txBody>
          <a:bodyPr wrap="square" rtlCol="0" anchor="ctr"/>
          <a:lstStyle/>
          <a:p>
            <a:pPr marL="0" indent="0">
              <a:buNone/>
            </a:pPr>
            <a:r>
              <a:rPr lang="en-US" sz="1050" dirty="0">
                <a:solidFill>
                  <a:srgbClr val="9FB8D9"/>
                </a:solidFill>
                <a:latin typeface="Arial" pitchFamily="34" charset="0"/>
                <a:ea typeface="Arial" pitchFamily="34" charset="-122"/>
                <a:cs typeface="Arial" pitchFamily="34" charset="-120"/>
              </a:rPr>
              <a:t>Marco de referencia: DNP (Sinergia) · DANE · DAFP–MIPG · CEPAL/ILPES</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292608"/>
            <a:ext cx="1005840" cy="41148"/>
          </a:xfrm>
          <a:prstGeom prst="rect">
            <a:avLst/>
          </a:prstGeom>
          <a:solidFill>
            <a:srgbClr val="FF9900"/>
          </a:solidFill>
          <a:ln/>
        </p:spPr>
      </p:sp>
      <p:sp>
        <p:nvSpPr>
          <p:cNvPr id="3" name="Text 1"/>
          <p:cNvSpPr/>
          <p:nvPr/>
        </p:nvSpPr>
        <p:spPr>
          <a:xfrm>
            <a:off x="640080" y="365760"/>
            <a:ext cx="6675120" cy="256032"/>
          </a:xfrm>
          <a:prstGeom prst="rect">
            <a:avLst/>
          </a:prstGeom>
          <a:noFill/>
          <a:ln/>
        </p:spPr>
        <p:txBody>
          <a:bodyPr wrap="square" rtlCol="0" anchor="ctr"/>
          <a:lstStyle/>
          <a:p>
            <a:pPr marL="0" indent="0">
              <a:buNone/>
            </a:pPr>
            <a:r>
              <a:rPr lang="en-US" sz="1000" b="1" kern="0" spc="150" dirty="0">
                <a:solidFill>
                  <a:srgbClr val="FC6E01"/>
                </a:solidFill>
                <a:latin typeface="Arial" pitchFamily="34" charset="0"/>
                <a:ea typeface="Arial" pitchFamily="34" charset="-122"/>
                <a:cs typeface="Arial" pitchFamily="34" charset="-120"/>
              </a:rPr>
              <a:t>INTRODUCCIÓN</a:t>
            </a:r>
            <a:endParaRPr lang="en-US" sz="1000" dirty="0"/>
          </a:p>
        </p:txBody>
      </p:sp>
      <p:sp>
        <p:nvSpPr>
          <p:cNvPr id="4" name="Text 2"/>
          <p:cNvSpPr/>
          <p:nvPr/>
        </p:nvSpPr>
        <p:spPr>
          <a:xfrm>
            <a:off x="640080" y="621792"/>
            <a:ext cx="7315200" cy="502920"/>
          </a:xfrm>
          <a:prstGeom prst="rect">
            <a:avLst/>
          </a:prstGeom>
          <a:noFill/>
          <a:ln/>
        </p:spPr>
        <p:txBody>
          <a:bodyPr wrap="square" rtlCol="0" anchor="ctr"/>
          <a:lstStyle/>
          <a:p>
            <a:pPr marL="0" indent="0">
              <a:buNone/>
            </a:pPr>
            <a:r>
              <a:rPr lang="en-US" sz="2100" b="1" dirty="0">
                <a:solidFill>
                  <a:srgbClr val="173F72"/>
                </a:solidFill>
                <a:latin typeface="Arial" pitchFamily="34" charset="0"/>
                <a:ea typeface="Arial" pitchFamily="34" charset="-122"/>
                <a:cs typeface="Arial" pitchFamily="34" charset="-120"/>
              </a:rPr>
              <a:t>Cómo se organiza este taller</a:t>
            </a:r>
            <a:endParaRPr lang="en-US" sz="2100" dirty="0"/>
          </a:p>
        </p:txBody>
      </p:sp>
      <p:pic>
        <p:nvPicPr>
          <p:cNvPr id="6" name="Image 0" descr="/home/claude/taller/assets/footer_banner.png"/>
          <p:cNvPicPr>
            <a:picLocks noChangeAspect="1"/>
          </p:cNvPicPr>
          <p:nvPr/>
        </p:nvPicPr>
        <p:blipFill>
          <a:blip r:embed="rId3"/>
          <a:stretch>
            <a:fillRect/>
          </a:stretch>
        </p:blipFill>
        <p:spPr>
          <a:xfrm>
            <a:off x="0" y="4672584"/>
            <a:ext cx="9144000" cy="469087"/>
          </a:xfrm>
          <a:prstGeom prst="rect">
            <a:avLst/>
          </a:prstGeom>
        </p:spPr>
      </p:pic>
      <p:sp>
        <p:nvSpPr>
          <p:cNvPr id="7" name="Text 4"/>
          <p:cNvSpPr/>
          <p:nvPr/>
        </p:nvSpPr>
        <p:spPr>
          <a:xfrm>
            <a:off x="274320" y="4727448"/>
            <a:ext cx="5669280" cy="274320"/>
          </a:xfrm>
          <a:prstGeom prst="rect">
            <a:avLst/>
          </a:prstGeom>
          <a:noFill/>
          <a:ln/>
        </p:spPr>
        <p:txBody>
          <a:bodyPr wrap="square" lIns="0" tIns="0" rIns="0" bIns="0" rtlCol="0" anchor="ctr"/>
          <a:lstStyle/>
          <a:p>
            <a:pPr marL="0" indent="0">
              <a:buNone/>
            </a:pPr>
            <a:r>
              <a:rPr lang="en-US" sz="800" dirty="0">
                <a:solidFill>
                  <a:srgbClr val="FFFFFF"/>
                </a:solidFill>
                <a:latin typeface="Arial" pitchFamily="34" charset="0"/>
                <a:ea typeface="Arial" pitchFamily="34" charset="-122"/>
                <a:cs typeface="Arial" pitchFamily="34" charset="-120"/>
              </a:rPr>
              <a:t>Taller de Indicadores de Gestión Pública con IA</a:t>
            </a:r>
            <a:endParaRPr lang="en-US" sz="800" dirty="0"/>
          </a:p>
        </p:txBody>
      </p:sp>
      <p:sp>
        <p:nvSpPr>
          <p:cNvPr id="8" name="Text 5"/>
          <p:cNvSpPr/>
          <p:nvPr/>
        </p:nvSpPr>
        <p:spPr>
          <a:xfrm>
            <a:off x="640080" y="1371600"/>
            <a:ext cx="7863840" cy="3200400"/>
          </a:xfrm>
          <a:prstGeom prst="rect">
            <a:avLst/>
          </a:prstGeom>
          <a:noFill/>
          <a:ln/>
        </p:spPr>
        <p:txBody>
          <a:bodyPr wrap="square" rtlCol="0" anchor="t"/>
          <a:lstStyle/>
          <a:p>
            <a:pPr marL="177800" indent="-177800">
              <a:spcAft>
                <a:spcPts val="1000"/>
              </a:spcAft>
              <a:buSzPct val="100000"/>
              <a:buChar char="•"/>
            </a:pPr>
            <a:r>
              <a:rPr lang="en-US" sz="1350" dirty="0">
                <a:solidFill>
                  <a:srgbClr val="2F3B4C"/>
                </a:solidFill>
                <a:latin typeface="Arial" pitchFamily="34" charset="0"/>
                <a:ea typeface="Arial" pitchFamily="34" charset="-122"/>
                <a:cs typeface="Arial" pitchFamily="34" charset="-120"/>
              </a:rPr>
              <a:t>Bloque 1: marco conceptual, tipología de indicadores, método de 5 pasos, ficha técnica y errores comunes, con actividades prácticas individuales en cada módulo.</a:t>
            </a:r>
            <a:endParaRPr lang="en-US" sz="1350" dirty="0"/>
          </a:p>
          <a:p>
            <a:pPr marL="177800" indent="-177800">
              <a:spcAft>
                <a:spcPts val="1000"/>
              </a:spcAft>
              <a:buSzPct val="100000"/>
              <a:buChar char="•"/>
            </a:pPr>
            <a:r>
              <a:rPr lang="en-US" sz="1350" dirty="0">
                <a:solidFill>
                  <a:srgbClr val="2F3B4C"/>
                </a:solidFill>
                <a:latin typeface="Arial" pitchFamily="34" charset="0"/>
                <a:ea typeface="Arial" pitchFamily="34" charset="-122"/>
                <a:cs typeface="Arial" pitchFamily="34" charset="-120"/>
              </a:rPr>
              <a:t>Bloque 2: el rol de la Inteligencia Artificial como potenciador, la herramienta Claude.ai, el kit de prompts y el Simulador interactivo del taller.</a:t>
            </a:r>
            <a:endParaRPr lang="en-US" sz="1350" dirty="0"/>
          </a:p>
          <a:p>
            <a:pPr marL="177800" indent="-177800">
              <a:spcAft>
                <a:spcPts val="1000"/>
              </a:spcAft>
              <a:buSzPct val="100000"/>
              <a:buChar char="•"/>
            </a:pPr>
            <a:r>
              <a:rPr lang="en-US" sz="1350" dirty="0">
                <a:solidFill>
                  <a:srgbClr val="2F3B4C"/>
                </a:solidFill>
                <a:latin typeface="Arial" pitchFamily="34" charset="0"/>
                <a:ea typeface="Arial" pitchFamily="34" charset="-122"/>
                <a:cs typeface="Arial" pitchFamily="34" charset="-120"/>
              </a:rPr>
              <a:t>Bloque 3: taller práctico en vivo — el caso guía se desarrolla en el Simulador; 3 casos adicionales quedan de referencia impresa, más 3 ejercicios para practicar de forma autónoma.</a:t>
            </a:r>
            <a:endParaRPr lang="en-US" sz="1350" dirty="0"/>
          </a:p>
        </p:txBody>
      </p:sp>
      <p:sp>
        <p:nvSpPr>
          <p:cNvPr id="9" name="Shape 6"/>
          <p:cNvSpPr/>
          <p:nvPr/>
        </p:nvSpPr>
        <p:spPr>
          <a:xfrm>
            <a:off x="640080" y="3566160"/>
            <a:ext cx="7863840" cy="822960"/>
          </a:xfrm>
          <a:prstGeom prst="roundRect">
            <a:avLst>
              <a:gd name="adj" fmla="val 5556"/>
            </a:avLst>
          </a:prstGeom>
          <a:solidFill>
            <a:srgbClr val="EDF3F9"/>
          </a:solidFill>
          <a:ln/>
        </p:spPr>
      </p:sp>
      <p:sp>
        <p:nvSpPr>
          <p:cNvPr id="10" name="Text 7"/>
          <p:cNvSpPr/>
          <p:nvPr/>
        </p:nvSpPr>
        <p:spPr>
          <a:xfrm>
            <a:off x="822960" y="3657600"/>
            <a:ext cx="7498080" cy="640080"/>
          </a:xfrm>
          <a:prstGeom prst="rect">
            <a:avLst/>
          </a:prstGeom>
          <a:noFill/>
          <a:ln/>
        </p:spPr>
        <p:txBody>
          <a:bodyPr wrap="square" rtlCol="0" anchor="t"/>
          <a:lstStyle/>
          <a:p>
            <a:pPr marL="0" indent="0">
              <a:buNone/>
            </a:pPr>
            <a:r>
              <a:rPr lang="en-US" sz="1150" i="1" dirty="0">
                <a:solidFill>
                  <a:srgbClr val="173F72"/>
                </a:solidFill>
                <a:latin typeface="Arial" pitchFamily="34" charset="0"/>
                <a:ea typeface="Arial" pitchFamily="34" charset="-122"/>
                <a:cs typeface="Arial" pitchFamily="34" charset="-120"/>
              </a:rPr>
              <a:t>Cada ejemplo desarrollado incluye los 8 elementos del taller: pregunta de gestión, población, atributo, ámbito, referente de comparación, eslabón de la cadena de valor, nombre del indicador y fórmula — además del prompt de IA usado.</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292608"/>
            <a:ext cx="1005840" cy="41148"/>
          </a:xfrm>
          <a:prstGeom prst="rect">
            <a:avLst/>
          </a:prstGeom>
          <a:solidFill>
            <a:srgbClr val="FF9900"/>
          </a:solidFill>
          <a:ln/>
        </p:spPr>
      </p:sp>
      <p:sp>
        <p:nvSpPr>
          <p:cNvPr id="3" name="Text 1"/>
          <p:cNvSpPr/>
          <p:nvPr/>
        </p:nvSpPr>
        <p:spPr>
          <a:xfrm>
            <a:off x="640080" y="365760"/>
            <a:ext cx="6675120" cy="256032"/>
          </a:xfrm>
          <a:prstGeom prst="rect">
            <a:avLst/>
          </a:prstGeom>
          <a:noFill/>
          <a:ln/>
        </p:spPr>
        <p:txBody>
          <a:bodyPr wrap="square" rtlCol="0" anchor="ctr"/>
          <a:lstStyle/>
          <a:p>
            <a:pPr marL="0" indent="0">
              <a:buNone/>
            </a:pPr>
            <a:r>
              <a:rPr lang="en-US" sz="1000" b="1" kern="0" spc="150" dirty="0">
                <a:solidFill>
                  <a:srgbClr val="FC6E01"/>
                </a:solidFill>
                <a:latin typeface="Arial" pitchFamily="34" charset="0"/>
                <a:ea typeface="Arial" pitchFamily="34" charset="-122"/>
                <a:cs typeface="Arial" pitchFamily="34" charset="-120"/>
              </a:rPr>
              <a:t>AGENDA DEL TALLER · BLOQUE 1</a:t>
            </a:r>
            <a:endParaRPr lang="en-US" sz="1000" dirty="0"/>
          </a:p>
        </p:txBody>
      </p:sp>
      <p:sp>
        <p:nvSpPr>
          <p:cNvPr id="4" name="Text 2"/>
          <p:cNvSpPr/>
          <p:nvPr/>
        </p:nvSpPr>
        <p:spPr>
          <a:xfrm>
            <a:off x="640080" y="621792"/>
            <a:ext cx="7315200" cy="502920"/>
          </a:xfrm>
          <a:prstGeom prst="rect">
            <a:avLst/>
          </a:prstGeom>
          <a:noFill/>
          <a:ln/>
        </p:spPr>
        <p:txBody>
          <a:bodyPr wrap="square" rtlCol="0" anchor="ctr"/>
          <a:lstStyle/>
          <a:p>
            <a:pPr marL="0" indent="0">
              <a:buNone/>
            </a:pPr>
            <a:r>
              <a:rPr lang="en-US" sz="2100" b="1" dirty="0">
                <a:solidFill>
                  <a:srgbClr val="173F72"/>
                </a:solidFill>
                <a:latin typeface="Arial" pitchFamily="34" charset="0"/>
                <a:ea typeface="Arial" pitchFamily="34" charset="-122"/>
                <a:cs typeface="Arial" pitchFamily="34" charset="-120"/>
              </a:rPr>
              <a:t>Agenda del Encuentro</a:t>
            </a:r>
            <a:endParaRPr lang="en-US" sz="2100" dirty="0"/>
          </a:p>
        </p:txBody>
      </p:sp>
      <p:pic>
        <p:nvPicPr>
          <p:cNvPr id="6" name="Image 0" descr="/home/claude/taller/assets/footer_banner.png"/>
          <p:cNvPicPr>
            <a:picLocks noChangeAspect="1"/>
          </p:cNvPicPr>
          <p:nvPr/>
        </p:nvPicPr>
        <p:blipFill>
          <a:blip r:embed="rId3"/>
          <a:stretch>
            <a:fillRect/>
          </a:stretch>
        </p:blipFill>
        <p:spPr>
          <a:xfrm>
            <a:off x="0" y="4672584"/>
            <a:ext cx="9144000" cy="469087"/>
          </a:xfrm>
          <a:prstGeom prst="rect">
            <a:avLst/>
          </a:prstGeom>
        </p:spPr>
      </p:pic>
      <p:sp>
        <p:nvSpPr>
          <p:cNvPr id="7" name="Text 4"/>
          <p:cNvSpPr/>
          <p:nvPr/>
        </p:nvSpPr>
        <p:spPr>
          <a:xfrm>
            <a:off x="274320" y="4727448"/>
            <a:ext cx="5669280" cy="274320"/>
          </a:xfrm>
          <a:prstGeom prst="rect">
            <a:avLst/>
          </a:prstGeom>
          <a:noFill/>
          <a:ln/>
        </p:spPr>
        <p:txBody>
          <a:bodyPr wrap="square" lIns="0" tIns="0" rIns="0" bIns="0" rtlCol="0" anchor="ctr"/>
          <a:lstStyle/>
          <a:p>
            <a:pPr marL="0" indent="0">
              <a:buNone/>
            </a:pPr>
            <a:r>
              <a:rPr lang="en-US" sz="800" dirty="0">
                <a:solidFill>
                  <a:srgbClr val="FFFFFF"/>
                </a:solidFill>
                <a:latin typeface="Arial" pitchFamily="34" charset="0"/>
                <a:ea typeface="Arial" pitchFamily="34" charset="-122"/>
                <a:cs typeface="Arial" pitchFamily="34" charset="-120"/>
              </a:rPr>
              <a:t>Taller de Indicadores de Gestión Pública con IA</a:t>
            </a:r>
            <a:endParaRPr lang="en-US" sz="800" dirty="0"/>
          </a:p>
        </p:txBody>
      </p:sp>
      <p:sp>
        <p:nvSpPr>
          <p:cNvPr id="8" name="Shape 5"/>
          <p:cNvSpPr/>
          <p:nvPr/>
        </p:nvSpPr>
        <p:spPr>
          <a:xfrm>
            <a:off x="640080" y="1417320"/>
            <a:ext cx="2511552" cy="2926080"/>
          </a:xfrm>
          <a:prstGeom prst="roundRect">
            <a:avLst>
              <a:gd name="adj" fmla="val 2184"/>
            </a:avLst>
          </a:prstGeom>
          <a:solidFill>
            <a:srgbClr val="EDF3F9"/>
          </a:solidFill>
          <a:ln/>
        </p:spPr>
      </p:sp>
      <p:sp>
        <p:nvSpPr>
          <p:cNvPr id="9" name="Shape 6"/>
          <p:cNvSpPr/>
          <p:nvPr/>
        </p:nvSpPr>
        <p:spPr>
          <a:xfrm>
            <a:off x="777240" y="1554480"/>
            <a:ext cx="365760" cy="365760"/>
          </a:xfrm>
          <a:prstGeom prst="ellipse">
            <a:avLst/>
          </a:prstGeom>
          <a:solidFill>
            <a:srgbClr val="FC6E01"/>
          </a:solidFill>
          <a:ln/>
        </p:spPr>
      </p:sp>
      <p:sp>
        <p:nvSpPr>
          <p:cNvPr id="10" name="Text 7"/>
          <p:cNvSpPr/>
          <p:nvPr/>
        </p:nvSpPr>
        <p:spPr>
          <a:xfrm>
            <a:off x="777240" y="1554480"/>
            <a:ext cx="365760" cy="365760"/>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11" name="Text 8"/>
          <p:cNvSpPr/>
          <p:nvPr/>
        </p:nvSpPr>
        <p:spPr>
          <a:xfrm>
            <a:off x="777240" y="1984248"/>
            <a:ext cx="2237232" cy="365760"/>
          </a:xfrm>
          <a:prstGeom prst="rect">
            <a:avLst/>
          </a:prstGeom>
          <a:noFill/>
          <a:ln/>
        </p:spPr>
        <p:txBody>
          <a:bodyPr wrap="square" rtlCol="0" anchor="t"/>
          <a:lstStyle/>
          <a:p>
            <a:pPr marL="0" indent="0">
              <a:buNone/>
            </a:pPr>
            <a:r>
              <a:rPr lang="en-US" sz="1200" b="1" dirty="0">
                <a:solidFill>
                  <a:srgbClr val="173F72"/>
                </a:solidFill>
                <a:latin typeface="Arial" pitchFamily="34" charset="0"/>
                <a:ea typeface="Arial" pitchFamily="34" charset="-122"/>
                <a:cs typeface="Arial" pitchFamily="34" charset="-120"/>
              </a:rPr>
              <a:t>1 · Fundamentos y tipología — 35 min</a:t>
            </a:r>
            <a:endParaRPr lang="en-US" sz="1200" dirty="0"/>
          </a:p>
        </p:txBody>
      </p:sp>
      <p:sp>
        <p:nvSpPr>
          <p:cNvPr id="12" name="Text 9"/>
          <p:cNvSpPr/>
          <p:nvPr/>
        </p:nvSpPr>
        <p:spPr>
          <a:xfrm>
            <a:off x="777240" y="2331720"/>
            <a:ext cx="2237232" cy="1920240"/>
          </a:xfrm>
          <a:prstGeom prst="rect">
            <a:avLst/>
          </a:prstGeom>
          <a:noFill/>
          <a:ln/>
        </p:spPr>
        <p:txBody>
          <a:bodyPr wrap="square" rtlCol="0" anchor="t"/>
          <a:lstStyle/>
          <a:p>
            <a:pPr marL="0" indent="0">
              <a:buNone/>
            </a:pPr>
            <a:r>
              <a:rPr lang="en-US" sz="950" dirty="0">
                <a:solidFill>
                  <a:srgbClr val="5C6B7C"/>
                </a:solidFill>
                <a:latin typeface="Arial" pitchFamily="34" charset="0"/>
                <a:ea typeface="Arial" pitchFamily="34" charset="-122"/>
                <a:cs typeface="Arial" pitchFamily="34" charset="-120"/>
              </a:rPr>
              <a:t>Dato, indicador y pregunta de gestión, cadena de valor, tipología de indicadores + actividad de clasificación.</a:t>
            </a:r>
            <a:endParaRPr lang="en-US" sz="950" dirty="0"/>
          </a:p>
        </p:txBody>
      </p:sp>
      <p:sp>
        <p:nvSpPr>
          <p:cNvPr id="13" name="Shape 10"/>
          <p:cNvSpPr/>
          <p:nvPr/>
        </p:nvSpPr>
        <p:spPr>
          <a:xfrm>
            <a:off x="3316224" y="1417320"/>
            <a:ext cx="2511552" cy="2926080"/>
          </a:xfrm>
          <a:prstGeom prst="roundRect">
            <a:avLst>
              <a:gd name="adj" fmla="val 2184"/>
            </a:avLst>
          </a:prstGeom>
          <a:solidFill>
            <a:srgbClr val="EDF3F9"/>
          </a:solidFill>
          <a:ln/>
        </p:spPr>
      </p:sp>
      <p:sp>
        <p:nvSpPr>
          <p:cNvPr id="14" name="Shape 11"/>
          <p:cNvSpPr/>
          <p:nvPr/>
        </p:nvSpPr>
        <p:spPr>
          <a:xfrm>
            <a:off x="3453384" y="1554480"/>
            <a:ext cx="365760" cy="365760"/>
          </a:xfrm>
          <a:prstGeom prst="ellipse">
            <a:avLst/>
          </a:prstGeom>
          <a:solidFill>
            <a:srgbClr val="FC6E01"/>
          </a:solidFill>
          <a:ln/>
        </p:spPr>
      </p:sp>
      <p:sp>
        <p:nvSpPr>
          <p:cNvPr id="15" name="Text 12"/>
          <p:cNvSpPr/>
          <p:nvPr/>
        </p:nvSpPr>
        <p:spPr>
          <a:xfrm>
            <a:off x="3453384" y="1554480"/>
            <a:ext cx="365760" cy="365760"/>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6" name="Text 13"/>
          <p:cNvSpPr/>
          <p:nvPr/>
        </p:nvSpPr>
        <p:spPr>
          <a:xfrm>
            <a:off x="3453384" y="1984248"/>
            <a:ext cx="2237232" cy="365760"/>
          </a:xfrm>
          <a:prstGeom prst="rect">
            <a:avLst/>
          </a:prstGeom>
          <a:noFill/>
          <a:ln/>
        </p:spPr>
        <p:txBody>
          <a:bodyPr wrap="square" rtlCol="0" anchor="t"/>
          <a:lstStyle/>
          <a:p>
            <a:pPr marL="0" indent="0">
              <a:buNone/>
            </a:pPr>
            <a:r>
              <a:rPr lang="en-US" sz="1200" b="1" dirty="0">
                <a:solidFill>
                  <a:srgbClr val="173F72"/>
                </a:solidFill>
                <a:latin typeface="Arial" pitchFamily="34" charset="0"/>
                <a:ea typeface="Arial" pitchFamily="34" charset="-122"/>
                <a:cs typeface="Arial" pitchFamily="34" charset="-120"/>
              </a:rPr>
              <a:t>2 · Método en 5 pasos — 40 min</a:t>
            </a:r>
            <a:endParaRPr lang="en-US" sz="1200" dirty="0"/>
          </a:p>
        </p:txBody>
      </p:sp>
      <p:sp>
        <p:nvSpPr>
          <p:cNvPr id="17" name="Text 14"/>
          <p:cNvSpPr/>
          <p:nvPr/>
        </p:nvSpPr>
        <p:spPr>
          <a:xfrm>
            <a:off x="3453384" y="2331720"/>
            <a:ext cx="2237232" cy="1920240"/>
          </a:xfrm>
          <a:prstGeom prst="rect">
            <a:avLst/>
          </a:prstGeom>
          <a:noFill/>
          <a:ln/>
        </p:spPr>
        <p:txBody>
          <a:bodyPr wrap="square" rtlCol="0" anchor="t"/>
          <a:lstStyle/>
          <a:p>
            <a:pPr marL="0" indent="0">
              <a:buNone/>
            </a:pPr>
            <a:r>
              <a:rPr lang="en-US" sz="950" dirty="0">
                <a:solidFill>
                  <a:srgbClr val="5C6B7C"/>
                </a:solidFill>
                <a:latin typeface="Arial" pitchFamily="34" charset="0"/>
                <a:ea typeface="Arial" pitchFamily="34" charset="-122"/>
                <a:cs typeface="Arial" pitchFamily="34" charset="-120"/>
              </a:rPr>
              <a:t>Ruta de formulación, regla nomenclatural, SMART/CREMAS, ficha técnica, demo en vivo + actividad individual.</a:t>
            </a:r>
            <a:endParaRPr lang="en-US" sz="950" dirty="0"/>
          </a:p>
        </p:txBody>
      </p:sp>
      <p:sp>
        <p:nvSpPr>
          <p:cNvPr id="18" name="Shape 15"/>
          <p:cNvSpPr/>
          <p:nvPr/>
        </p:nvSpPr>
        <p:spPr>
          <a:xfrm>
            <a:off x="5992368" y="1417320"/>
            <a:ext cx="2511552" cy="2926080"/>
          </a:xfrm>
          <a:prstGeom prst="roundRect">
            <a:avLst>
              <a:gd name="adj" fmla="val 2184"/>
            </a:avLst>
          </a:prstGeom>
          <a:solidFill>
            <a:srgbClr val="EDF3F9"/>
          </a:solidFill>
          <a:ln/>
        </p:spPr>
      </p:sp>
      <p:sp>
        <p:nvSpPr>
          <p:cNvPr id="19" name="Shape 16"/>
          <p:cNvSpPr/>
          <p:nvPr/>
        </p:nvSpPr>
        <p:spPr>
          <a:xfrm>
            <a:off x="6129528" y="1554480"/>
            <a:ext cx="365760" cy="365760"/>
          </a:xfrm>
          <a:prstGeom prst="ellipse">
            <a:avLst/>
          </a:prstGeom>
          <a:solidFill>
            <a:srgbClr val="FC6E01"/>
          </a:solidFill>
          <a:ln/>
        </p:spPr>
      </p:sp>
      <p:sp>
        <p:nvSpPr>
          <p:cNvPr id="20" name="Text 17"/>
          <p:cNvSpPr/>
          <p:nvPr/>
        </p:nvSpPr>
        <p:spPr>
          <a:xfrm>
            <a:off x="6129528" y="1554480"/>
            <a:ext cx="365760" cy="365760"/>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21" name="Text 18"/>
          <p:cNvSpPr/>
          <p:nvPr/>
        </p:nvSpPr>
        <p:spPr>
          <a:xfrm>
            <a:off x="6129528" y="1984248"/>
            <a:ext cx="2237232" cy="365760"/>
          </a:xfrm>
          <a:prstGeom prst="rect">
            <a:avLst/>
          </a:prstGeom>
          <a:noFill/>
          <a:ln/>
        </p:spPr>
        <p:txBody>
          <a:bodyPr wrap="square" rtlCol="0" anchor="t"/>
          <a:lstStyle/>
          <a:p>
            <a:pPr marL="0" indent="0">
              <a:buNone/>
            </a:pPr>
            <a:r>
              <a:rPr lang="en-US" sz="1200" b="1" dirty="0">
                <a:solidFill>
                  <a:srgbClr val="173F72"/>
                </a:solidFill>
                <a:latin typeface="Arial" pitchFamily="34" charset="0"/>
                <a:ea typeface="Arial" pitchFamily="34" charset="-122"/>
                <a:cs typeface="Arial" pitchFamily="34" charset="-120"/>
              </a:rPr>
              <a:t>3 · Errores comunes — 35 min</a:t>
            </a:r>
            <a:endParaRPr lang="en-US" sz="1200" dirty="0"/>
          </a:p>
        </p:txBody>
      </p:sp>
      <p:sp>
        <p:nvSpPr>
          <p:cNvPr id="22" name="Text 19"/>
          <p:cNvSpPr/>
          <p:nvPr/>
        </p:nvSpPr>
        <p:spPr>
          <a:xfrm>
            <a:off x="6129528" y="2331720"/>
            <a:ext cx="2237232" cy="1920240"/>
          </a:xfrm>
          <a:prstGeom prst="rect">
            <a:avLst/>
          </a:prstGeom>
          <a:noFill/>
          <a:ln/>
        </p:spPr>
        <p:txBody>
          <a:bodyPr wrap="square" rtlCol="0" anchor="t"/>
          <a:lstStyle/>
          <a:p>
            <a:pPr marL="0" indent="0">
              <a:buNone/>
            </a:pPr>
            <a:r>
              <a:rPr lang="en-US" sz="950" dirty="0">
                <a:solidFill>
                  <a:srgbClr val="5C6B7C"/>
                </a:solidFill>
                <a:latin typeface="Arial" pitchFamily="34" charset="0"/>
                <a:ea typeface="Arial" pitchFamily="34" charset="-122"/>
                <a:cs typeface="Arial" pitchFamily="34" charset="-120"/>
              </a:rPr>
              <a:t>5 errores típicos con ejemplo antes/después + actividad Detecte el error.</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292608"/>
            <a:ext cx="1005840" cy="41148"/>
          </a:xfrm>
          <a:prstGeom prst="rect">
            <a:avLst/>
          </a:prstGeom>
          <a:solidFill>
            <a:srgbClr val="FF9900"/>
          </a:solidFill>
          <a:ln/>
        </p:spPr>
      </p:sp>
      <p:sp>
        <p:nvSpPr>
          <p:cNvPr id="3" name="Text 1"/>
          <p:cNvSpPr/>
          <p:nvPr/>
        </p:nvSpPr>
        <p:spPr>
          <a:xfrm>
            <a:off x="640080" y="365760"/>
            <a:ext cx="6675120" cy="256032"/>
          </a:xfrm>
          <a:prstGeom prst="rect">
            <a:avLst/>
          </a:prstGeom>
          <a:noFill/>
          <a:ln/>
        </p:spPr>
        <p:txBody>
          <a:bodyPr wrap="square" rtlCol="0" anchor="ctr"/>
          <a:lstStyle/>
          <a:p>
            <a:pPr marL="0" indent="0">
              <a:buNone/>
            </a:pPr>
            <a:r>
              <a:rPr lang="en-US" sz="1000" b="1" kern="0" spc="150" dirty="0">
                <a:solidFill>
                  <a:srgbClr val="FC6E01"/>
                </a:solidFill>
                <a:latin typeface="Arial" pitchFamily="34" charset="0"/>
                <a:ea typeface="Arial" pitchFamily="34" charset="-122"/>
                <a:cs typeface="Arial" pitchFamily="34" charset="-120"/>
              </a:rPr>
              <a:t>AGENDA DEL TALLER · BLOQUES 2 Y 3</a:t>
            </a:r>
            <a:endParaRPr lang="en-US" sz="1000" dirty="0"/>
          </a:p>
        </p:txBody>
      </p:sp>
      <p:sp>
        <p:nvSpPr>
          <p:cNvPr id="4" name="Text 2"/>
          <p:cNvSpPr/>
          <p:nvPr/>
        </p:nvSpPr>
        <p:spPr>
          <a:xfrm>
            <a:off x="640080" y="621792"/>
            <a:ext cx="7315200" cy="502920"/>
          </a:xfrm>
          <a:prstGeom prst="rect">
            <a:avLst/>
          </a:prstGeom>
          <a:noFill/>
          <a:ln/>
        </p:spPr>
        <p:txBody>
          <a:bodyPr wrap="square" rtlCol="0" anchor="ctr"/>
          <a:lstStyle/>
          <a:p>
            <a:pPr marL="0" indent="0">
              <a:buNone/>
            </a:pPr>
            <a:r>
              <a:rPr lang="en-US" sz="2100" b="1" dirty="0">
                <a:solidFill>
                  <a:srgbClr val="173F72"/>
                </a:solidFill>
                <a:latin typeface="Arial" pitchFamily="34" charset="0"/>
                <a:ea typeface="Arial" pitchFamily="34" charset="-122"/>
                <a:cs typeface="Arial" pitchFamily="34" charset="-120"/>
              </a:rPr>
              <a:t>Agenda del Encuentro</a:t>
            </a:r>
            <a:endParaRPr lang="en-US" sz="2100" dirty="0"/>
          </a:p>
        </p:txBody>
      </p:sp>
      <p:pic>
        <p:nvPicPr>
          <p:cNvPr id="6" name="Image 0" descr="/home/claude/taller/assets/footer_banner.png"/>
          <p:cNvPicPr>
            <a:picLocks noChangeAspect="1"/>
          </p:cNvPicPr>
          <p:nvPr/>
        </p:nvPicPr>
        <p:blipFill>
          <a:blip r:embed="rId3"/>
          <a:stretch>
            <a:fillRect/>
          </a:stretch>
        </p:blipFill>
        <p:spPr>
          <a:xfrm>
            <a:off x="0" y="4672584"/>
            <a:ext cx="9144000" cy="469087"/>
          </a:xfrm>
          <a:prstGeom prst="rect">
            <a:avLst/>
          </a:prstGeom>
        </p:spPr>
      </p:pic>
      <p:sp>
        <p:nvSpPr>
          <p:cNvPr id="7" name="Text 4"/>
          <p:cNvSpPr/>
          <p:nvPr/>
        </p:nvSpPr>
        <p:spPr>
          <a:xfrm>
            <a:off x="274320" y="4727448"/>
            <a:ext cx="5669280" cy="274320"/>
          </a:xfrm>
          <a:prstGeom prst="rect">
            <a:avLst/>
          </a:prstGeom>
          <a:noFill/>
          <a:ln/>
        </p:spPr>
        <p:txBody>
          <a:bodyPr wrap="square" lIns="0" tIns="0" rIns="0" bIns="0" rtlCol="0" anchor="ctr"/>
          <a:lstStyle/>
          <a:p>
            <a:pPr marL="0" indent="0">
              <a:buNone/>
            </a:pPr>
            <a:r>
              <a:rPr lang="en-US" sz="800" dirty="0">
                <a:solidFill>
                  <a:srgbClr val="FFFFFF"/>
                </a:solidFill>
                <a:latin typeface="Arial" pitchFamily="34" charset="0"/>
                <a:ea typeface="Arial" pitchFamily="34" charset="-122"/>
                <a:cs typeface="Arial" pitchFamily="34" charset="-120"/>
              </a:rPr>
              <a:t>Taller de Indicadores de Gestión Pública con IA</a:t>
            </a:r>
            <a:endParaRPr lang="en-US" sz="800" dirty="0"/>
          </a:p>
        </p:txBody>
      </p:sp>
      <p:sp>
        <p:nvSpPr>
          <p:cNvPr id="8" name="Shape 5"/>
          <p:cNvSpPr/>
          <p:nvPr/>
        </p:nvSpPr>
        <p:spPr>
          <a:xfrm>
            <a:off x="640080" y="1417320"/>
            <a:ext cx="2511552" cy="2926080"/>
          </a:xfrm>
          <a:prstGeom prst="roundRect">
            <a:avLst>
              <a:gd name="adj" fmla="val 2184"/>
            </a:avLst>
          </a:prstGeom>
          <a:solidFill>
            <a:srgbClr val="EDF3F9"/>
          </a:solidFill>
          <a:ln/>
        </p:spPr>
      </p:sp>
      <p:sp>
        <p:nvSpPr>
          <p:cNvPr id="9" name="Shape 6"/>
          <p:cNvSpPr/>
          <p:nvPr/>
        </p:nvSpPr>
        <p:spPr>
          <a:xfrm>
            <a:off x="777240" y="1554480"/>
            <a:ext cx="365760" cy="365760"/>
          </a:xfrm>
          <a:prstGeom prst="ellipse">
            <a:avLst/>
          </a:prstGeom>
          <a:solidFill>
            <a:srgbClr val="FC6E01"/>
          </a:solidFill>
          <a:ln/>
        </p:spPr>
      </p:sp>
      <p:sp>
        <p:nvSpPr>
          <p:cNvPr id="10" name="Text 7"/>
          <p:cNvSpPr/>
          <p:nvPr/>
        </p:nvSpPr>
        <p:spPr>
          <a:xfrm>
            <a:off x="777240" y="1554480"/>
            <a:ext cx="365760" cy="365760"/>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11" name="Text 8"/>
          <p:cNvSpPr/>
          <p:nvPr/>
        </p:nvSpPr>
        <p:spPr>
          <a:xfrm>
            <a:off x="777240" y="1984248"/>
            <a:ext cx="2237232" cy="365760"/>
          </a:xfrm>
          <a:prstGeom prst="rect">
            <a:avLst/>
          </a:prstGeom>
          <a:noFill/>
          <a:ln/>
        </p:spPr>
        <p:txBody>
          <a:bodyPr wrap="square" rtlCol="0" anchor="t"/>
          <a:lstStyle/>
          <a:p>
            <a:pPr marL="0" indent="0">
              <a:buNone/>
            </a:pPr>
            <a:r>
              <a:rPr lang="en-US" sz="1200" b="1" dirty="0">
                <a:solidFill>
                  <a:srgbClr val="173F72"/>
                </a:solidFill>
                <a:latin typeface="Arial" pitchFamily="34" charset="0"/>
                <a:ea typeface="Arial" pitchFamily="34" charset="-122"/>
                <a:cs typeface="Arial" pitchFamily="34" charset="-120"/>
              </a:rPr>
              <a:t>4 · IA como copiloto técnico — 20 min</a:t>
            </a:r>
            <a:endParaRPr lang="en-US" sz="1200" dirty="0"/>
          </a:p>
        </p:txBody>
      </p:sp>
      <p:sp>
        <p:nvSpPr>
          <p:cNvPr id="12" name="Text 9"/>
          <p:cNvSpPr/>
          <p:nvPr/>
        </p:nvSpPr>
        <p:spPr>
          <a:xfrm>
            <a:off x="777240" y="2331720"/>
            <a:ext cx="2237232" cy="1920240"/>
          </a:xfrm>
          <a:prstGeom prst="rect">
            <a:avLst/>
          </a:prstGeom>
          <a:noFill/>
          <a:ln/>
        </p:spPr>
        <p:txBody>
          <a:bodyPr wrap="square" rtlCol="0" anchor="t"/>
          <a:lstStyle/>
          <a:p>
            <a:pPr marL="0" indent="0">
              <a:buNone/>
            </a:pPr>
            <a:r>
              <a:rPr lang="en-US" sz="950" dirty="0">
                <a:solidFill>
                  <a:srgbClr val="5C6B7C"/>
                </a:solidFill>
                <a:latin typeface="Arial" pitchFamily="34" charset="0"/>
                <a:ea typeface="Arial" pitchFamily="34" charset="-122"/>
                <a:cs typeface="Arial" pitchFamily="34" charset="-120"/>
              </a:rPr>
              <a:t>Principio rector, dónde sí / dónde no interviene la IA, Claude.ai.</a:t>
            </a:r>
            <a:endParaRPr lang="en-US" sz="950" dirty="0"/>
          </a:p>
        </p:txBody>
      </p:sp>
      <p:sp>
        <p:nvSpPr>
          <p:cNvPr id="13" name="Shape 10"/>
          <p:cNvSpPr/>
          <p:nvPr/>
        </p:nvSpPr>
        <p:spPr>
          <a:xfrm>
            <a:off x="3316224" y="1417320"/>
            <a:ext cx="2511552" cy="2926080"/>
          </a:xfrm>
          <a:prstGeom prst="roundRect">
            <a:avLst>
              <a:gd name="adj" fmla="val 2184"/>
            </a:avLst>
          </a:prstGeom>
          <a:solidFill>
            <a:srgbClr val="EDF3F9"/>
          </a:solidFill>
          <a:ln/>
        </p:spPr>
      </p:sp>
      <p:sp>
        <p:nvSpPr>
          <p:cNvPr id="14" name="Shape 11"/>
          <p:cNvSpPr/>
          <p:nvPr/>
        </p:nvSpPr>
        <p:spPr>
          <a:xfrm>
            <a:off x="3453384" y="1554480"/>
            <a:ext cx="365760" cy="365760"/>
          </a:xfrm>
          <a:prstGeom prst="ellipse">
            <a:avLst/>
          </a:prstGeom>
          <a:solidFill>
            <a:srgbClr val="FC6E01"/>
          </a:solidFill>
          <a:ln/>
        </p:spPr>
      </p:sp>
      <p:sp>
        <p:nvSpPr>
          <p:cNvPr id="15" name="Text 12"/>
          <p:cNvSpPr/>
          <p:nvPr/>
        </p:nvSpPr>
        <p:spPr>
          <a:xfrm>
            <a:off x="3453384" y="1554480"/>
            <a:ext cx="365760" cy="365760"/>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6" name="Text 13"/>
          <p:cNvSpPr/>
          <p:nvPr/>
        </p:nvSpPr>
        <p:spPr>
          <a:xfrm>
            <a:off x="3453384" y="1984248"/>
            <a:ext cx="2237232" cy="365760"/>
          </a:xfrm>
          <a:prstGeom prst="rect">
            <a:avLst/>
          </a:prstGeom>
          <a:noFill/>
          <a:ln/>
        </p:spPr>
        <p:txBody>
          <a:bodyPr wrap="square" rtlCol="0" anchor="t"/>
          <a:lstStyle/>
          <a:p>
            <a:pPr marL="0" indent="0">
              <a:buNone/>
            </a:pPr>
            <a:r>
              <a:rPr lang="en-US" sz="1200" b="1" dirty="0">
                <a:solidFill>
                  <a:srgbClr val="173F72"/>
                </a:solidFill>
                <a:latin typeface="Arial" pitchFamily="34" charset="0"/>
                <a:ea typeface="Arial" pitchFamily="34" charset="-122"/>
                <a:cs typeface="Arial" pitchFamily="34" charset="-120"/>
              </a:rPr>
              <a:t>5 · Kit de prompts — 20 min</a:t>
            </a:r>
            <a:endParaRPr lang="en-US" sz="1200" dirty="0"/>
          </a:p>
        </p:txBody>
      </p:sp>
      <p:sp>
        <p:nvSpPr>
          <p:cNvPr id="17" name="Text 14"/>
          <p:cNvSpPr/>
          <p:nvPr/>
        </p:nvSpPr>
        <p:spPr>
          <a:xfrm>
            <a:off x="3453384" y="2331720"/>
            <a:ext cx="2237232" cy="1920240"/>
          </a:xfrm>
          <a:prstGeom prst="rect">
            <a:avLst/>
          </a:prstGeom>
          <a:noFill/>
          <a:ln/>
        </p:spPr>
        <p:txBody>
          <a:bodyPr wrap="square" rtlCol="0" anchor="t"/>
          <a:lstStyle/>
          <a:p>
            <a:pPr marL="0" indent="0">
              <a:buNone/>
            </a:pPr>
            <a:r>
              <a:rPr lang="en-US" sz="950" dirty="0">
                <a:solidFill>
                  <a:srgbClr val="5C6B7C"/>
                </a:solidFill>
                <a:latin typeface="Arial" pitchFamily="34" charset="0"/>
                <a:ea typeface="Arial" pitchFamily="34" charset="-122"/>
                <a:cs typeface="Arial" pitchFamily="34" charset="-120"/>
              </a:rPr>
              <a:t>Prompts estandarizados, salvaguardas y el Simulador interactivo del taller.</a:t>
            </a:r>
            <a:endParaRPr lang="en-US" sz="950" dirty="0"/>
          </a:p>
        </p:txBody>
      </p:sp>
      <p:sp>
        <p:nvSpPr>
          <p:cNvPr id="18" name="Shape 15"/>
          <p:cNvSpPr/>
          <p:nvPr/>
        </p:nvSpPr>
        <p:spPr>
          <a:xfrm>
            <a:off x="5992368" y="1417320"/>
            <a:ext cx="2511552" cy="2926080"/>
          </a:xfrm>
          <a:prstGeom prst="roundRect">
            <a:avLst>
              <a:gd name="adj" fmla="val 2184"/>
            </a:avLst>
          </a:prstGeom>
          <a:solidFill>
            <a:srgbClr val="EDF3F9"/>
          </a:solidFill>
          <a:ln/>
        </p:spPr>
      </p:sp>
      <p:sp>
        <p:nvSpPr>
          <p:cNvPr id="19" name="Shape 16"/>
          <p:cNvSpPr/>
          <p:nvPr/>
        </p:nvSpPr>
        <p:spPr>
          <a:xfrm>
            <a:off x="6129528" y="1554480"/>
            <a:ext cx="365760" cy="365760"/>
          </a:xfrm>
          <a:prstGeom prst="ellipse">
            <a:avLst/>
          </a:prstGeom>
          <a:solidFill>
            <a:srgbClr val="FC6E01"/>
          </a:solidFill>
          <a:ln/>
        </p:spPr>
      </p:sp>
      <p:sp>
        <p:nvSpPr>
          <p:cNvPr id="20" name="Text 17"/>
          <p:cNvSpPr/>
          <p:nvPr/>
        </p:nvSpPr>
        <p:spPr>
          <a:xfrm>
            <a:off x="6129528" y="1554480"/>
            <a:ext cx="365760" cy="365760"/>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21" name="Text 18"/>
          <p:cNvSpPr/>
          <p:nvPr/>
        </p:nvSpPr>
        <p:spPr>
          <a:xfrm>
            <a:off x="6129528" y="1984248"/>
            <a:ext cx="2237232" cy="365760"/>
          </a:xfrm>
          <a:prstGeom prst="rect">
            <a:avLst/>
          </a:prstGeom>
          <a:noFill/>
          <a:ln/>
        </p:spPr>
        <p:txBody>
          <a:bodyPr wrap="square" rtlCol="0" anchor="t"/>
          <a:lstStyle/>
          <a:p>
            <a:pPr marL="0" indent="0">
              <a:buNone/>
            </a:pPr>
            <a:r>
              <a:rPr lang="en-US" sz="1200" b="1" dirty="0">
                <a:solidFill>
                  <a:srgbClr val="173F72"/>
                </a:solidFill>
                <a:latin typeface="Arial" pitchFamily="34" charset="0"/>
                <a:ea typeface="Arial" pitchFamily="34" charset="-122"/>
                <a:cs typeface="Arial" pitchFamily="34" charset="-120"/>
              </a:rPr>
              <a:t>6 · Taller práctico en vivo — 30 min</a:t>
            </a:r>
            <a:endParaRPr lang="en-US" sz="1200" dirty="0"/>
          </a:p>
        </p:txBody>
      </p:sp>
      <p:sp>
        <p:nvSpPr>
          <p:cNvPr id="22" name="Text 19"/>
          <p:cNvSpPr/>
          <p:nvPr/>
        </p:nvSpPr>
        <p:spPr>
          <a:xfrm>
            <a:off x="6129528" y="2331720"/>
            <a:ext cx="2237232" cy="1920240"/>
          </a:xfrm>
          <a:prstGeom prst="rect">
            <a:avLst/>
          </a:prstGeom>
          <a:noFill/>
          <a:ln/>
        </p:spPr>
        <p:txBody>
          <a:bodyPr wrap="square" rtlCol="0" anchor="t"/>
          <a:lstStyle/>
          <a:p>
            <a:pPr marL="0" indent="0">
              <a:buNone/>
            </a:pPr>
            <a:r>
              <a:rPr lang="en-US" sz="950" dirty="0">
                <a:solidFill>
                  <a:srgbClr val="5C6B7C"/>
                </a:solidFill>
                <a:latin typeface="Arial" pitchFamily="34" charset="0"/>
                <a:ea typeface="Arial" pitchFamily="34" charset="-122"/>
                <a:cs typeface="Arial" pitchFamily="34" charset="-120"/>
              </a:rPr>
              <a:t>Autoría humana → refinamiento con IA en el Simulador, sobre el caso guía.</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292608"/>
            <a:ext cx="1005840" cy="41148"/>
          </a:xfrm>
          <a:prstGeom prst="rect">
            <a:avLst/>
          </a:prstGeom>
          <a:solidFill>
            <a:srgbClr val="FF9900"/>
          </a:solidFill>
          <a:ln/>
        </p:spPr>
      </p:sp>
      <p:sp>
        <p:nvSpPr>
          <p:cNvPr id="3" name="Text 1"/>
          <p:cNvSpPr/>
          <p:nvPr/>
        </p:nvSpPr>
        <p:spPr>
          <a:xfrm>
            <a:off x="640080" y="365760"/>
            <a:ext cx="6675120" cy="256032"/>
          </a:xfrm>
          <a:prstGeom prst="rect">
            <a:avLst/>
          </a:prstGeom>
          <a:noFill/>
          <a:ln/>
        </p:spPr>
        <p:txBody>
          <a:bodyPr wrap="square" rtlCol="0" anchor="ctr"/>
          <a:lstStyle/>
          <a:p>
            <a:pPr marL="0" indent="0">
              <a:buNone/>
            </a:pPr>
            <a:r>
              <a:rPr lang="en-US" sz="1000" b="1" kern="0" spc="150" dirty="0">
                <a:solidFill>
                  <a:srgbClr val="FC6E01"/>
                </a:solidFill>
                <a:latin typeface="Arial" pitchFamily="34" charset="0"/>
                <a:ea typeface="Arial" pitchFamily="34" charset="-122"/>
                <a:cs typeface="Arial" pitchFamily="34" charset="-120"/>
              </a:rPr>
              <a:t>VERIFICACIÓN DE TIEMPOS</a:t>
            </a:r>
            <a:endParaRPr lang="en-US" sz="1000" dirty="0"/>
          </a:p>
        </p:txBody>
      </p:sp>
      <p:sp>
        <p:nvSpPr>
          <p:cNvPr id="4" name="Text 2"/>
          <p:cNvSpPr/>
          <p:nvPr/>
        </p:nvSpPr>
        <p:spPr>
          <a:xfrm>
            <a:off x="640080" y="621792"/>
            <a:ext cx="7315200" cy="502920"/>
          </a:xfrm>
          <a:prstGeom prst="rect">
            <a:avLst/>
          </a:prstGeom>
          <a:noFill/>
          <a:ln/>
        </p:spPr>
        <p:txBody>
          <a:bodyPr wrap="square" rtlCol="0" anchor="ctr"/>
          <a:lstStyle/>
          <a:p>
            <a:pPr marL="0" indent="0">
              <a:buNone/>
            </a:pPr>
            <a:r>
              <a:rPr lang="en-US" sz="2100" b="1" dirty="0">
                <a:solidFill>
                  <a:srgbClr val="173F72"/>
                </a:solidFill>
                <a:latin typeface="Arial" pitchFamily="34" charset="0"/>
                <a:ea typeface="Arial" pitchFamily="34" charset="-122"/>
                <a:cs typeface="Arial" pitchFamily="34" charset="-120"/>
              </a:rPr>
              <a:t>Distribución Interna del Bloque 1</a:t>
            </a:r>
            <a:endParaRPr lang="en-US" sz="2100" dirty="0"/>
          </a:p>
        </p:txBody>
      </p:sp>
      <p:pic>
        <p:nvPicPr>
          <p:cNvPr id="6" name="Image 0" descr="/home/claude/taller/assets/footer_banner.png"/>
          <p:cNvPicPr>
            <a:picLocks noChangeAspect="1"/>
          </p:cNvPicPr>
          <p:nvPr/>
        </p:nvPicPr>
        <p:blipFill>
          <a:blip r:embed="rId3"/>
          <a:stretch>
            <a:fillRect/>
          </a:stretch>
        </p:blipFill>
        <p:spPr>
          <a:xfrm>
            <a:off x="0" y="4672584"/>
            <a:ext cx="9144000" cy="469087"/>
          </a:xfrm>
          <a:prstGeom prst="rect">
            <a:avLst/>
          </a:prstGeom>
        </p:spPr>
      </p:pic>
      <p:sp>
        <p:nvSpPr>
          <p:cNvPr id="7" name="Text 4"/>
          <p:cNvSpPr/>
          <p:nvPr/>
        </p:nvSpPr>
        <p:spPr>
          <a:xfrm>
            <a:off x="274320" y="4727448"/>
            <a:ext cx="5669280" cy="274320"/>
          </a:xfrm>
          <a:prstGeom prst="rect">
            <a:avLst/>
          </a:prstGeom>
          <a:noFill/>
          <a:ln/>
        </p:spPr>
        <p:txBody>
          <a:bodyPr wrap="square" lIns="0" tIns="0" rIns="0" bIns="0" rtlCol="0" anchor="ctr"/>
          <a:lstStyle/>
          <a:p>
            <a:pPr marL="0" indent="0">
              <a:buNone/>
            </a:pPr>
            <a:r>
              <a:rPr lang="en-US" sz="800" dirty="0">
                <a:solidFill>
                  <a:srgbClr val="FFFFFF"/>
                </a:solidFill>
                <a:latin typeface="Arial" pitchFamily="34" charset="0"/>
                <a:ea typeface="Arial" pitchFamily="34" charset="-122"/>
                <a:cs typeface="Arial" pitchFamily="34" charset="-120"/>
              </a:rPr>
              <a:t>Taller de Indicadores de Gestión Pública con IA</a:t>
            </a:r>
            <a:endParaRPr lang="en-US" sz="8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40080" y="1554480"/>
          <a:ext cx="8046720" cy="1828800"/>
        </p:xfrm>
        <a:graphic>
          <a:graphicData uri="http://schemas.openxmlformats.org/drawingml/2006/table">
            <a:tbl>
              <a:tblPr/>
              <a:tblGrid>
                <a:gridCol w="219456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822960">
                  <a:extLst>
                    <a:ext uri="{9D8B030D-6E8A-4147-A177-3AD203B41FA5}">
                      <a16:colId xmlns:a16="http://schemas.microsoft.com/office/drawing/2014/main" val="20004"/>
                    </a:ext>
                  </a:extLst>
                </a:gridCol>
              </a:tblGrid>
              <a:tr h="457200">
                <a:tc>
                  <a:txBody>
                    <a:bodyPr/>
                    <a:lstStyle/>
                    <a:p>
                      <a:pPr marL="0" indent="0" algn="l">
                        <a:buNone/>
                      </a:pPr>
                      <a:r>
                        <a:rPr lang="en-US" sz="1050" b="1" dirty="0">
                          <a:solidFill>
                            <a:srgbClr val="FFFFFF"/>
                          </a:solidFill>
                          <a:latin typeface="Arial" pitchFamily="34" charset="0"/>
                          <a:ea typeface="Arial" pitchFamily="34" charset="-122"/>
                          <a:cs typeface="Arial" pitchFamily="34" charset="-120"/>
                        </a:rPr>
                        <a:t>Módulo</a:t>
                      </a:r>
                      <a:endParaRPr lang="en-US" sz="10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73F72"/>
                    </a:solidFill>
                  </a:tcPr>
                </a:tc>
                <a:tc>
                  <a:txBody>
                    <a:bodyPr/>
                    <a:lstStyle/>
                    <a:p>
                      <a:pPr marL="0" indent="0" algn="l">
                        <a:buNone/>
                      </a:pPr>
                      <a:r>
                        <a:rPr lang="en-US" sz="1050" b="1" dirty="0">
                          <a:solidFill>
                            <a:srgbClr val="FFFFFF"/>
                          </a:solidFill>
                          <a:latin typeface="Arial" pitchFamily="34" charset="0"/>
                          <a:ea typeface="Arial" pitchFamily="34" charset="-122"/>
                          <a:cs typeface="Arial" pitchFamily="34" charset="-120"/>
                        </a:rPr>
                        <a:t>Exposición</a:t>
                      </a:r>
                      <a:endParaRPr lang="en-US" sz="10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73F72"/>
                    </a:solidFill>
                  </a:tcPr>
                </a:tc>
                <a:tc>
                  <a:txBody>
                    <a:bodyPr/>
                    <a:lstStyle/>
                    <a:p>
                      <a:pPr marL="0" indent="0" algn="l">
                        <a:buNone/>
                      </a:pPr>
                      <a:r>
                        <a:rPr lang="en-US" sz="1050" b="1" dirty="0">
                          <a:solidFill>
                            <a:srgbClr val="FFFFFF"/>
                          </a:solidFill>
                          <a:latin typeface="Arial" pitchFamily="34" charset="0"/>
                          <a:ea typeface="Arial" pitchFamily="34" charset="-122"/>
                          <a:cs typeface="Arial" pitchFamily="34" charset="-120"/>
                        </a:rPr>
                        <a:t>Actividad</a:t>
                      </a:r>
                      <a:endParaRPr lang="en-US" sz="10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73F72"/>
                    </a:solidFill>
                  </a:tcPr>
                </a:tc>
                <a:tc>
                  <a:txBody>
                    <a:bodyPr/>
                    <a:lstStyle/>
                    <a:p>
                      <a:pPr marL="0" indent="0" algn="l">
                        <a:buNone/>
                      </a:pPr>
                      <a:r>
                        <a:rPr lang="en-US" sz="1050" b="1" dirty="0">
                          <a:solidFill>
                            <a:srgbClr val="FFFFFF"/>
                          </a:solidFill>
                          <a:latin typeface="Arial" pitchFamily="34" charset="0"/>
                          <a:ea typeface="Arial" pitchFamily="34" charset="-122"/>
                          <a:cs typeface="Arial" pitchFamily="34" charset="-120"/>
                        </a:rPr>
                        <a:t>Cierre</a:t>
                      </a:r>
                      <a:endParaRPr lang="en-US" sz="10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73F72"/>
                    </a:solidFill>
                  </a:tcPr>
                </a:tc>
                <a:tc>
                  <a:txBody>
                    <a:bodyPr/>
                    <a:lstStyle/>
                    <a:p>
                      <a:pPr marL="0" indent="0" algn="l">
                        <a:buNone/>
                      </a:pPr>
                      <a:r>
                        <a:rPr lang="en-US" sz="1050" b="1" dirty="0">
                          <a:solidFill>
                            <a:srgbClr val="FFFFFF"/>
                          </a:solidFill>
                          <a:latin typeface="Arial" pitchFamily="34" charset="0"/>
                          <a:ea typeface="Arial" pitchFamily="34" charset="-122"/>
                          <a:cs typeface="Arial" pitchFamily="34" charset="-120"/>
                        </a:rPr>
                        <a:t>Total</a:t>
                      </a:r>
                      <a:endParaRPr lang="en-US" sz="10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73F72"/>
                    </a:solidFill>
                  </a:tcPr>
                </a:tc>
                <a:extLst>
                  <a:ext uri="{0D108BD9-81ED-4DB2-BD59-A6C34878D82A}">
                    <a16:rowId xmlns:a16="http://schemas.microsoft.com/office/drawing/2014/main" val="10000"/>
                  </a:ext>
                </a:extLst>
              </a:tr>
              <a:tr h="457200">
                <a:tc>
                  <a:txBody>
                    <a:bodyPr/>
                    <a:lstStyle/>
                    <a:p>
                      <a:pPr marL="0" indent="0" algn="l">
                        <a:buNone/>
                      </a:pPr>
                      <a:r>
                        <a:rPr lang="en-US" sz="1000" b="1" dirty="0">
                          <a:solidFill>
                            <a:srgbClr val="173F72"/>
                          </a:solidFill>
                          <a:latin typeface="Arial" pitchFamily="34" charset="0"/>
                          <a:ea typeface="Arial" pitchFamily="34" charset="-122"/>
                          <a:cs typeface="Arial" pitchFamily="34" charset="-120"/>
                        </a:rPr>
                        <a:t>Fundamentos y tipología</a:t>
                      </a:r>
                      <a:endParaRPr lang="en-US" sz="100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1000" dirty="0">
                          <a:solidFill>
                            <a:srgbClr val="2F3B4C"/>
                          </a:solidFill>
                          <a:latin typeface="Arial" pitchFamily="34" charset="0"/>
                          <a:ea typeface="Arial" pitchFamily="34" charset="-122"/>
                          <a:cs typeface="Arial" pitchFamily="34" charset="-120"/>
                        </a:rPr>
                        <a:t>18 min</a:t>
                      </a:r>
                      <a:endParaRPr lang="en-US" sz="100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2F3B4C"/>
                          </a:solidFill>
                          <a:latin typeface="Arial" pitchFamily="34" charset="0"/>
                          <a:ea typeface="Arial" pitchFamily="34" charset="-122"/>
                          <a:cs typeface="Arial" pitchFamily="34" charset="-120"/>
                        </a:rPr>
                        <a:t>14 min</a:t>
                      </a:r>
                      <a:endParaRPr lang="en-US" sz="100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2F3B4C"/>
                          </a:solidFill>
                          <a:latin typeface="Arial" pitchFamily="34" charset="0"/>
                          <a:ea typeface="Arial" pitchFamily="34" charset="-122"/>
                          <a:cs typeface="Arial" pitchFamily="34" charset="-120"/>
                        </a:rPr>
                        <a:t>3 min</a:t>
                      </a:r>
                      <a:endParaRPr lang="en-US" sz="100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2F3B4C"/>
                          </a:solidFill>
                          <a:latin typeface="Arial" pitchFamily="34" charset="0"/>
                          <a:ea typeface="Arial" pitchFamily="34" charset="-122"/>
                          <a:cs typeface="Arial" pitchFamily="34" charset="-120"/>
                        </a:rPr>
                        <a:t>35 min</a:t>
                      </a:r>
                      <a:endParaRPr lang="en-US" sz="100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lgn="l">
                        <a:buNone/>
                      </a:pPr>
                      <a:r>
                        <a:rPr lang="en-US" sz="1000" b="1" dirty="0">
                          <a:solidFill>
                            <a:srgbClr val="173F72"/>
                          </a:solidFill>
                          <a:latin typeface="Arial" pitchFamily="34" charset="0"/>
                          <a:ea typeface="Arial" pitchFamily="34" charset="-122"/>
                          <a:cs typeface="Arial" pitchFamily="34" charset="-120"/>
                        </a:rPr>
                        <a:t>Método en 5 pasos</a:t>
                      </a:r>
                      <a:endParaRPr lang="en-US" sz="100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1000" dirty="0">
                          <a:solidFill>
                            <a:srgbClr val="2F3B4C"/>
                          </a:solidFill>
                          <a:latin typeface="Arial" pitchFamily="34" charset="0"/>
                          <a:ea typeface="Arial" pitchFamily="34" charset="-122"/>
                          <a:cs typeface="Arial" pitchFamily="34" charset="-120"/>
                        </a:rPr>
                        <a:t>15 min</a:t>
                      </a:r>
                      <a:endParaRPr lang="en-US" sz="100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2F3B4C"/>
                          </a:solidFill>
                          <a:latin typeface="Arial" pitchFamily="34" charset="0"/>
                          <a:ea typeface="Arial" pitchFamily="34" charset="-122"/>
                          <a:cs typeface="Arial" pitchFamily="34" charset="-120"/>
                        </a:rPr>
                        <a:t>18 min (demo 10 + individual 8)</a:t>
                      </a:r>
                      <a:endParaRPr lang="en-US" sz="100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2F3B4C"/>
                          </a:solidFill>
                          <a:latin typeface="Arial" pitchFamily="34" charset="0"/>
                          <a:ea typeface="Arial" pitchFamily="34" charset="-122"/>
                          <a:cs typeface="Arial" pitchFamily="34" charset="-120"/>
                        </a:rPr>
                        <a:t>7 min</a:t>
                      </a:r>
                      <a:endParaRPr lang="en-US" sz="100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2F3B4C"/>
                          </a:solidFill>
                          <a:latin typeface="Arial" pitchFamily="34" charset="0"/>
                          <a:ea typeface="Arial" pitchFamily="34" charset="-122"/>
                          <a:cs typeface="Arial" pitchFamily="34" charset="-120"/>
                        </a:rPr>
                        <a:t>40 min</a:t>
                      </a:r>
                      <a:endParaRPr lang="en-US" sz="100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lgn="l">
                        <a:buNone/>
                      </a:pPr>
                      <a:r>
                        <a:rPr lang="en-US" sz="1000" b="1" dirty="0">
                          <a:solidFill>
                            <a:srgbClr val="173F72"/>
                          </a:solidFill>
                          <a:latin typeface="Arial" pitchFamily="34" charset="0"/>
                          <a:ea typeface="Arial" pitchFamily="34" charset="-122"/>
                          <a:cs typeface="Arial" pitchFamily="34" charset="-120"/>
                        </a:rPr>
                        <a:t>Errores comunes</a:t>
                      </a:r>
                      <a:endParaRPr lang="en-US" sz="100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1000" dirty="0">
                          <a:solidFill>
                            <a:srgbClr val="2F3B4C"/>
                          </a:solidFill>
                          <a:latin typeface="Arial" pitchFamily="34" charset="0"/>
                          <a:ea typeface="Arial" pitchFamily="34" charset="-122"/>
                          <a:cs typeface="Arial" pitchFamily="34" charset="-120"/>
                        </a:rPr>
                        <a:t>10 min</a:t>
                      </a:r>
                      <a:endParaRPr lang="en-US" sz="100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2F3B4C"/>
                          </a:solidFill>
                          <a:latin typeface="Arial" pitchFamily="34" charset="0"/>
                          <a:ea typeface="Arial" pitchFamily="34" charset="-122"/>
                          <a:cs typeface="Arial" pitchFamily="34" charset="-120"/>
                        </a:rPr>
                        <a:t>10 min</a:t>
                      </a:r>
                      <a:endParaRPr lang="en-US" sz="100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2F3B4C"/>
                          </a:solidFill>
                          <a:latin typeface="Arial" pitchFamily="34" charset="0"/>
                          <a:ea typeface="Arial" pitchFamily="34" charset="-122"/>
                          <a:cs typeface="Arial" pitchFamily="34" charset="-120"/>
                        </a:rPr>
                        <a:t>15 min</a:t>
                      </a:r>
                      <a:endParaRPr lang="en-US" sz="100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2F3B4C"/>
                          </a:solidFill>
                          <a:latin typeface="Arial" pitchFamily="34" charset="0"/>
                          <a:ea typeface="Arial" pitchFamily="34" charset="-122"/>
                          <a:cs typeface="Arial" pitchFamily="34" charset="-120"/>
                        </a:rPr>
                        <a:t>35 min</a:t>
                      </a:r>
                      <a:endParaRPr lang="en-US" sz="100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9" name="Text 5"/>
          <p:cNvSpPr/>
          <p:nvPr/>
        </p:nvSpPr>
        <p:spPr>
          <a:xfrm>
            <a:off x="640080" y="3566160"/>
            <a:ext cx="7863840" cy="457200"/>
          </a:xfrm>
          <a:prstGeom prst="rect">
            <a:avLst/>
          </a:prstGeom>
          <a:noFill/>
          <a:ln/>
        </p:spPr>
        <p:txBody>
          <a:bodyPr wrap="square" rtlCol="0" anchor="ctr"/>
          <a:lstStyle/>
          <a:p>
            <a:pPr marL="0" indent="0">
              <a:buNone/>
            </a:pPr>
            <a:r>
              <a:rPr lang="en-US" sz="1150" i="1" dirty="0">
                <a:solidFill>
                  <a:srgbClr val="5C6B7C"/>
                </a:solidFill>
                <a:latin typeface="Arial" pitchFamily="34" charset="0"/>
                <a:ea typeface="Arial" pitchFamily="34" charset="-122"/>
                <a:cs typeface="Arial" pitchFamily="34" charset="-120"/>
              </a:rPr>
              <a:t>Los 3 ejercicios finales quedan como trabajo autónomo para reforzar lo aprendido después del taller.</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731520" y="1828800"/>
            <a:ext cx="7680960" cy="320040"/>
          </a:xfrm>
          <a:prstGeom prst="rect">
            <a:avLst/>
          </a:prstGeom>
          <a:noFill/>
          <a:ln/>
        </p:spPr>
        <p:txBody>
          <a:bodyPr wrap="square" rtlCol="0" anchor="ctr"/>
          <a:lstStyle/>
          <a:p>
            <a:pPr marL="0" indent="0" algn="l">
              <a:buNone/>
            </a:pPr>
            <a:r>
              <a:rPr lang="en-US" sz="1200" b="1" kern="0" spc="200" dirty="0">
                <a:solidFill>
                  <a:srgbClr val="FF9900"/>
                </a:solidFill>
                <a:latin typeface="Arial" pitchFamily="34" charset="0"/>
                <a:ea typeface="Arial" pitchFamily="34" charset="-122"/>
                <a:cs typeface="Arial" pitchFamily="34" charset="-120"/>
              </a:rPr>
              <a:t>BLOQUE 1 · 110 MIN</a:t>
            </a:r>
            <a:endParaRPr lang="en-US" sz="1200" dirty="0"/>
          </a:p>
        </p:txBody>
      </p:sp>
      <p:sp>
        <p:nvSpPr>
          <p:cNvPr id="3" name="Text 1"/>
          <p:cNvSpPr/>
          <p:nvPr/>
        </p:nvSpPr>
        <p:spPr>
          <a:xfrm>
            <a:off x="731520" y="2212848"/>
            <a:ext cx="7680960" cy="1188720"/>
          </a:xfrm>
          <a:prstGeom prst="rect">
            <a:avLst/>
          </a:prstGeom>
          <a:noFill/>
          <a:ln/>
        </p:spPr>
        <p:txBody>
          <a:bodyPr wrap="square" rtlCol="0" anchor="t"/>
          <a:lstStyle/>
          <a:p>
            <a:pPr marL="0" indent="0" algn="l">
              <a:buNone/>
            </a:pPr>
            <a:r>
              <a:rPr lang="en-US" sz="3000" b="1" dirty="0">
                <a:solidFill>
                  <a:srgbClr val="FFFFFF"/>
                </a:solidFill>
                <a:latin typeface="Arial" pitchFamily="34" charset="0"/>
                <a:ea typeface="Arial" pitchFamily="34" charset="-122"/>
                <a:cs typeface="Arial" pitchFamily="34" charset="-120"/>
              </a:rPr>
              <a:t>Fundamentos y Tipología de Indicadores</a:t>
            </a:r>
            <a:endParaRPr lang="en-US" sz="3000" dirty="0"/>
          </a:p>
        </p:txBody>
      </p:sp>
      <p:sp>
        <p:nvSpPr>
          <p:cNvPr id="4" name="Text 2"/>
          <p:cNvSpPr/>
          <p:nvPr/>
        </p:nvSpPr>
        <p:spPr>
          <a:xfrm>
            <a:off x="731520" y="3447288"/>
            <a:ext cx="7680960" cy="457200"/>
          </a:xfrm>
          <a:prstGeom prst="rect">
            <a:avLst/>
          </a:prstGeom>
          <a:noFill/>
          <a:ln/>
        </p:spPr>
        <p:txBody>
          <a:bodyPr wrap="square" rtlCol="0" anchor="ctr"/>
          <a:lstStyle/>
          <a:p>
            <a:pPr marL="0" indent="0" algn="l">
              <a:buNone/>
            </a:pPr>
            <a:r>
              <a:rPr lang="en-US" sz="1400" i="1" dirty="0">
                <a:solidFill>
                  <a:srgbClr val="CADCFC"/>
                </a:solidFill>
                <a:latin typeface="Arial" pitchFamily="34" charset="0"/>
                <a:ea typeface="Arial" pitchFamily="34" charset="-122"/>
                <a:cs typeface="Arial" pitchFamily="34" charset="-120"/>
              </a:rPr>
              <a:t>Marco conceptual y metodológico</a:t>
            </a:r>
            <a:endParaRPr lang="en-US" sz="1400" dirty="0"/>
          </a:p>
        </p:txBody>
      </p:sp>
      <p:sp>
        <p:nvSpPr>
          <p:cNvPr id="5" name="Text 3"/>
          <p:cNvSpPr/>
          <p:nvPr/>
        </p:nvSpPr>
        <p:spPr>
          <a:xfrm>
            <a:off x="731520" y="3904488"/>
            <a:ext cx="7680960" cy="365760"/>
          </a:xfrm>
          <a:prstGeom prst="rect">
            <a:avLst/>
          </a:prstGeom>
          <a:noFill/>
          <a:ln/>
        </p:spPr>
        <p:txBody>
          <a:bodyPr wrap="square" rtlCol="0" anchor="ctr"/>
          <a:lstStyle/>
          <a:p>
            <a:pPr marL="0" indent="0" algn="l">
              <a:buNone/>
            </a:pPr>
            <a:r>
              <a:rPr lang="en-US" sz="1100" dirty="0">
                <a:solidFill>
                  <a:srgbClr val="9FB8D9"/>
                </a:solidFill>
                <a:latin typeface="Arial" pitchFamily="34" charset="0"/>
                <a:ea typeface="Arial" pitchFamily="34" charset="-122"/>
                <a:cs typeface="Arial" pitchFamily="34" charset="-120"/>
              </a:rPr>
              <a:t>Módulo 1 de 3</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292608"/>
            <a:ext cx="1005840" cy="41148"/>
          </a:xfrm>
          <a:prstGeom prst="rect">
            <a:avLst/>
          </a:prstGeom>
          <a:solidFill>
            <a:srgbClr val="FF9900"/>
          </a:solidFill>
          <a:ln/>
        </p:spPr>
      </p:sp>
      <p:sp>
        <p:nvSpPr>
          <p:cNvPr id="3" name="Text 1"/>
          <p:cNvSpPr/>
          <p:nvPr/>
        </p:nvSpPr>
        <p:spPr>
          <a:xfrm>
            <a:off x="640080" y="365760"/>
            <a:ext cx="6675120" cy="256032"/>
          </a:xfrm>
          <a:prstGeom prst="rect">
            <a:avLst/>
          </a:prstGeom>
          <a:noFill/>
          <a:ln/>
        </p:spPr>
        <p:txBody>
          <a:bodyPr wrap="square" rtlCol="0" anchor="ctr"/>
          <a:lstStyle/>
          <a:p>
            <a:pPr marL="0" indent="0">
              <a:buNone/>
            </a:pPr>
            <a:r>
              <a:rPr lang="en-US" sz="1000" b="1" kern="0" spc="150" dirty="0">
                <a:solidFill>
                  <a:srgbClr val="FC6E01"/>
                </a:solidFill>
                <a:latin typeface="Arial" pitchFamily="34" charset="0"/>
                <a:ea typeface="Arial" pitchFamily="34" charset="-122"/>
                <a:cs typeface="Arial" pitchFamily="34" charset="-120"/>
              </a:rPr>
              <a:t>MARCO CONCEPTUAL</a:t>
            </a:r>
            <a:endParaRPr lang="en-US" sz="1000" dirty="0"/>
          </a:p>
        </p:txBody>
      </p:sp>
      <p:sp>
        <p:nvSpPr>
          <p:cNvPr id="4" name="Text 2"/>
          <p:cNvSpPr/>
          <p:nvPr/>
        </p:nvSpPr>
        <p:spPr>
          <a:xfrm>
            <a:off x="640080" y="621792"/>
            <a:ext cx="7315200" cy="502920"/>
          </a:xfrm>
          <a:prstGeom prst="rect">
            <a:avLst/>
          </a:prstGeom>
          <a:noFill/>
          <a:ln/>
        </p:spPr>
        <p:txBody>
          <a:bodyPr wrap="square" rtlCol="0" anchor="ctr"/>
          <a:lstStyle/>
          <a:p>
            <a:pPr marL="0" indent="0">
              <a:buNone/>
            </a:pPr>
            <a:r>
              <a:rPr lang="en-US" sz="2100" b="1" dirty="0">
                <a:solidFill>
                  <a:srgbClr val="173F72"/>
                </a:solidFill>
                <a:latin typeface="Arial" pitchFamily="34" charset="0"/>
                <a:ea typeface="Arial" pitchFamily="34" charset="-122"/>
                <a:cs typeface="Arial" pitchFamily="34" charset="-120"/>
              </a:rPr>
              <a:t>Dato, Indicador y Pregunta de Gestión</a:t>
            </a:r>
            <a:endParaRPr lang="en-US" sz="2100" dirty="0"/>
          </a:p>
        </p:txBody>
      </p:sp>
      <p:pic>
        <p:nvPicPr>
          <p:cNvPr id="6" name="Image 0" descr="/home/claude/taller/assets/footer_banner.png"/>
          <p:cNvPicPr>
            <a:picLocks noChangeAspect="1"/>
          </p:cNvPicPr>
          <p:nvPr/>
        </p:nvPicPr>
        <p:blipFill>
          <a:blip r:embed="rId3"/>
          <a:stretch>
            <a:fillRect/>
          </a:stretch>
        </p:blipFill>
        <p:spPr>
          <a:xfrm>
            <a:off x="0" y="4672584"/>
            <a:ext cx="9144000" cy="469087"/>
          </a:xfrm>
          <a:prstGeom prst="rect">
            <a:avLst/>
          </a:prstGeom>
        </p:spPr>
      </p:pic>
      <p:sp>
        <p:nvSpPr>
          <p:cNvPr id="7" name="Text 4"/>
          <p:cNvSpPr/>
          <p:nvPr/>
        </p:nvSpPr>
        <p:spPr>
          <a:xfrm>
            <a:off x="274320" y="4727448"/>
            <a:ext cx="5669280" cy="274320"/>
          </a:xfrm>
          <a:prstGeom prst="rect">
            <a:avLst/>
          </a:prstGeom>
          <a:noFill/>
          <a:ln/>
        </p:spPr>
        <p:txBody>
          <a:bodyPr wrap="square" lIns="0" tIns="0" rIns="0" bIns="0" rtlCol="0" anchor="ctr"/>
          <a:lstStyle/>
          <a:p>
            <a:pPr marL="0" indent="0">
              <a:buNone/>
            </a:pPr>
            <a:r>
              <a:rPr lang="en-US" sz="800" dirty="0">
                <a:solidFill>
                  <a:srgbClr val="FFFFFF"/>
                </a:solidFill>
                <a:latin typeface="Arial" pitchFamily="34" charset="0"/>
                <a:ea typeface="Arial" pitchFamily="34" charset="-122"/>
                <a:cs typeface="Arial" pitchFamily="34" charset="-120"/>
              </a:rPr>
              <a:t>Taller de Indicadores de Gestión Pública con IA</a:t>
            </a:r>
            <a:endParaRPr lang="en-US" sz="800" dirty="0"/>
          </a:p>
        </p:txBody>
      </p:sp>
      <p:sp>
        <p:nvSpPr>
          <p:cNvPr id="8" name="Shape 5"/>
          <p:cNvSpPr/>
          <p:nvPr/>
        </p:nvSpPr>
        <p:spPr>
          <a:xfrm>
            <a:off x="640080" y="1417320"/>
            <a:ext cx="2511552" cy="2926080"/>
          </a:xfrm>
          <a:prstGeom prst="roundRect">
            <a:avLst>
              <a:gd name="adj" fmla="val 2184"/>
            </a:avLst>
          </a:prstGeom>
          <a:solidFill>
            <a:srgbClr val="EDF3F9"/>
          </a:solidFill>
          <a:ln/>
        </p:spPr>
      </p:sp>
      <p:sp>
        <p:nvSpPr>
          <p:cNvPr id="9" name="Shape 6"/>
          <p:cNvSpPr/>
          <p:nvPr/>
        </p:nvSpPr>
        <p:spPr>
          <a:xfrm>
            <a:off x="777240" y="1554480"/>
            <a:ext cx="365760" cy="365760"/>
          </a:xfrm>
          <a:prstGeom prst="ellipse">
            <a:avLst/>
          </a:prstGeom>
          <a:solidFill>
            <a:srgbClr val="FC6E01"/>
          </a:solidFill>
          <a:ln/>
        </p:spPr>
      </p:sp>
      <p:sp>
        <p:nvSpPr>
          <p:cNvPr id="10" name="Text 7"/>
          <p:cNvSpPr/>
          <p:nvPr/>
        </p:nvSpPr>
        <p:spPr>
          <a:xfrm>
            <a:off x="777240" y="1554480"/>
            <a:ext cx="365760" cy="365760"/>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11" name="Text 8"/>
          <p:cNvSpPr/>
          <p:nvPr/>
        </p:nvSpPr>
        <p:spPr>
          <a:xfrm>
            <a:off x="777240" y="1984248"/>
            <a:ext cx="2237232" cy="365760"/>
          </a:xfrm>
          <a:prstGeom prst="rect">
            <a:avLst/>
          </a:prstGeom>
          <a:noFill/>
          <a:ln/>
        </p:spPr>
        <p:txBody>
          <a:bodyPr wrap="square" rtlCol="0" anchor="t"/>
          <a:lstStyle/>
          <a:p>
            <a:pPr marL="0" indent="0">
              <a:buNone/>
            </a:pPr>
            <a:r>
              <a:rPr lang="en-US" sz="1200" b="1" dirty="0">
                <a:solidFill>
                  <a:srgbClr val="173F72"/>
                </a:solidFill>
                <a:latin typeface="Arial" pitchFamily="34" charset="0"/>
                <a:ea typeface="Arial" pitchFamily="34" charset="-122"/>
                <a:cs typeface="Arial" pitchFamily="34" charset="-120"/>
              </a:rPr>
              <a:t>D · Dato</a:t>
            </a:r>
            <a:endParaRPr lang="en-US" sz="1200" dirty="0"/>
          </a:p>
        </p:txBody>
      </p:sp>
      <p:sp>
        <p:nvSpPr>
          <p:cNvPr id="12" name="Text 9"/>
          <p:cNvSpPr/>
          <p:nvPr/>
        </p:nvSpPr>
        <p:spPr>
          <a:xfrm>
            <a:off x="777240" y="2331720"/>
            <a:ext cx="2237232" cy="1920240"/>
          </a:xfrm>
          <a:prstGeom prst="rect">
            <a:avLst/>
          </a:prstGeom>
          <a:noFill/>
          <a:ln/>
        </p:spPr>
        <p:txBody>
          <a:bodyPr wrap="square" rtlCol="0" anchor="t"/>
          <a:lstStyle/>
          <a:p>
            <a:pPr marL="0" indent="0">
              <a:buNone/>
            </a:pPr>
            <a:r>
              <a:rPr lang="en-US" sz="950" dirty="0">
                <a:solidFill>
                  <a:srgbClr val="5C6B7C"/>
                </a:solidFill>
                <a:latin typeface="Arial" pitchFamily="34" charset="0"/>
                <a:ea typeface="Arial" pitchFamily="34" charset="-122"/>
                <a:cs typeface="Arial" pitchFamily="34" charset="-120"/>
              </a:rPr>
              <a:t>Registro puntual, sin procesar ni interpretar. Ej: "350 gestantes atendidas en abril de 2026".</a:t>
            </a:r>
            <a:endParaRPr lang="en-US" sz="950" dirty="0"/>
          </a:p>
        </p:txBody>
      </p:sp>
      <p:sp>
        <p:nvSpPr>
          <p:cNvPr id="13" name="Shape 10"/>
          <p:cNvSpPr/>
          <p:nvPr/>
        </p:nvSpPr>
        <p:spPr>
          <a:xfrm>
            <a:off x="3316224" y="1417320"/>
            <a:ext cx="2511552" cy="2926080"/>
          </a:xfrm>
          <a:prstGeom prst="roundRect">
            <a:avLst>
              <a:gd name="adj" fmla="val 2184"/>
            </a:avLst>
          </a:prstGeom>
          <a:solidFill>
            <a:srgbClr val="EDF3F9"/>
          </a:solidFill>
          <a:ln/>
        </p:spPr>
      </p:sp>
      <p:sp>
        <p:nvSpPr>
          <p:cNvPr id="14" name="Shape 11"/>
          <p:cNvSpPr/>
          <p:nvPr/>
        </p:nvSpPr>
        <p:spPr>
          <a:xfrm>
            <a:off x="3453384" y="1554480"/>
            <a:ext cx="365760" cy="365760"/>
          </a:xfrm>
          <a:prstGeom prst="ellipse">
            <a:avLst/>
          </a:prstGeom>
          <a:solidFill>
            <a:srgbClr val="FC6E01"/>
          </a:solidFill>
          <a:ln/>
        </p:spPr>
      </p:sp>
      <p:sp>
        <p:nvSpPr>
          <p:cNvPr id="15" name="Text 12"/>
          <p:cNvSpPr/>
          <p:nvPr/>
        </p:nvSpPr>
        <p:spPr>
          <a:xfrm>
            <a:off x="3453384" y="1554480"/>
            <a:ext cx="365760" cy="365760"/>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6" name="Text 13"/>
          <p:cNvSpPr/>
          <p:nvPr/>
        </p:nvSpPr>
        <p:spPr>
          <a:xfrm>
            <a:off x="3453384" y="1984248"/>
            <a:ext cx="2237232" cy="365760"/>
          </a:xfrm>
          <a:prstGeom prst="rect">
            <a:avLst/>
          </a:prstGeom>
          <a:noFill/>
          <a:ln/>
        </p:spPr>
        <p:txBody>
          <a:bodyPr wrap="square" rtlCol="0" anchor="t"/>
          <a:lstStyle/>
          <a:p>
            <a:pPr marL="0" indent="0">
              <a:buNone/>
            </a:pPr>
            <a:r>
              <a:rPr lang="en-US" sz="1200" b="1" dirty="0">
                <a:solidFill>
                  <a:srgbClr val="173F72"/>
                </a:solidFill>
                <a:latin typeface="Arial" pitchFamily="34" charset="0"/>
                <a:ea typeface="Arial" pitchFamily="34" charset="-122"/>
                <a:cs typeface="Arial" pitchFamily="34" charset="-120"/>
              </a:rPr>
              <a:t>I · Indicador</a:t>
            </a:r>
            <a:endParaRPr lang="en-US" sz="1200" dirty="0"/>
          </a:p>
        </p:txBody>
      </p:sp>
      <p:sp>
        <p:nvSpPr>
          <p:cNvPr id="17" name="Text 14"/>
          <p:cNvSpPr/>
          <p:nvPr/>
        </p:nvSpPr>
        <p:spPr>
          <a:xfrm>
            <a:off x="3453384" y="2331720"/>
            <a:ext cx="2237232" cy="1920240"/>
          </a:xfrm>
          <a:prstGeom prst="rect">
            <a:avLst/>
          </a:prstGeom>
          <a:noFill/>
          <a:ln/>
        </p:spPr>
        <p:txBody>
          <a:bodyPr wrap="square" rtlCol="0" anchor="t"/>
          <a:lstStyle/>
          <a:p>
            <a:pPr marL="0" indent="0">
              <a:buNone/>
            </a:pPr>
            <a:r>
              <a:rPr lang="en-US" sz="950" dirty="0">
                <a:solidFill>
                  <a:srgbClr val="5C6B7C"/>
                </a:solidFill>
                <a:latin typeface="Arial" pitchFamily="34" charset="0"/>
                <a:ea typeface="Arial" pitchFamily="34" charset="-122"/>
                <a:cs typeface="Arial" pitchFamily="34" charset="-120"/>
              </a:rPr>
              <a:t>Relación matemática entre datos que mide cumplimiento y permite comparar. Ej: "% de gestantes con 4+ controles".</a:t>
            </a:r>
            <a:endParaRPr lang="en-US" sz="950" dirty="0"/>
          </a:p>
        </p:txBody>
      </p:sp>
      <p:sp>
        <p:nvSpPr>
          <p:cNvPr id="18" name="Shape 15"/>
          <p:cNvSpPr/>
          <p:nvPr/>
        </p:nvSpPr>
        <p:spPr>
          <a:xfrm>
            <a:off x="5992368" y="1417320"/>
            <a:ext cx="2511552" cy="2926080"/>
          </a:xfrm>
          <a:prstGeom prst="roundRect">
            <a:avLst>
              <a:gd name="adj" fmla="val 2184"/>
            </a:avLst>
          </a:prstGeom>
          <a:solidFill>
            <a:srgbClr val="EDF3F9"/>
          </a:solidFill>
          <a:ln/>
        </p:spPr>
      </p:sp>
      <p:sp>
        <p:nvSpPr>
          <p:cNvPr id="19" name="Shape 16"/>
          <p:cNvSpPr/>
          <p:nvPr/>
        </p:nvSpPr>
        <p:spPr>
          <a:xfrm>
            <a:off x="6129528" y="1554480"/>
            <a:ext cx="365760" cy="365760"/>
          </a:xfrm>
          <a:prstGeom prst="ellipse">
            <a:avLst/>
          </a:prstGeom>
          <a:solidFill>
            <a:srgbClr val="FC6E01"/>
          </a:solidFill>
          <a:ln/>
        </p:spPr>
      </p:sp>
      <p:sp>
        <p:nvSpPr>
          <p:cNvPr id="20" name="Text 17"/>
          <p:cNvSpPr/>
          <p:nvPr/>
        </p:nvSpPr>
        <p:spPr>
          <a:xfrm>
            <a:off x="6129528" y="1554480"/>
            <a:ext cx="365760" cy="365760"/>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21" name="Text 18"/>
          <p:cNvSpPr/>
          <p:nvPr/>
        </p:nvSpPr>
        <p:spPr>
          <a:xfrm>
            <a:off x="6129528" y="1984248"/>
            <a:ext cx="2237232" cy="365760"/>
          </a:xfrm>
          <a:prstGeom prst="rect">
            <a:avLst/>
          </a:prstGeom>
          <a:noFill/>
          <a:ln/>
        </p:spPr>
        <p:txBody>
          <a:bodyPr wrap="square" rtlCol="0" anchor="t"/>
          <a:lstStyle/>
          <a:p>
            <a:pPr marL="0" indent="0">
              <a:buNone/>
            </a:pPr>
            <a:r>
              <a:rPr lang="en-US" sz="1200" b="1" dirty="0">
                <a:solidFill>
                  <a:srgbClr val="173F72"/>
                </a:solidFill>
                <a:latin typeface="Arial" pitchFamily="34" charset="0"/>
                <a:ea typeface="Arial" pitchFamily="34" charset="-122"/>
                <a:cs typeface="Arial" pitchFamily="34" charset="-120"/>
              </a:rPr>
              <a:t>P · Pregunta de gestión</a:t>
            </a:r>
            <a:endParaRPr lang="en-US" sz="1200" dirty="0"/>
          </a:p>
        </p:txBody>
      </p:sp>
      <p:sp>
        <p:nvSpPr>
          <p:cNvPr id="22" name="Text 19"/>
          <p:cNvSpPr/>
          <p:nvPr/>
        </p:nvSpPr>
        <p:spPr>
          <a:xfrm>
            <a:off x="6129528" y="2331720"/>
            <a:ext cx="2237232" cy="1920240"/>
          </a:xfrm>
          <a:prstGeom prst="rect">
            <a:avLst/>
          </a:prstGeom>
          <a:noFill/>
          <a:ln/>
        </p:spPr>
        <p:txBody>
          <a:bodyPr wrap="square" rtlCol="0" anchor="t"/>
          <a:lstStyle/>
          <a:p>
            <a:pPr marL="0" indent="0">
              <a:buNone/>
            </a:pPr>
            <a:r>
              <a:rPr lang="en-US" sz="950" dirty="0">
                <a:solidFill>
                  <a:srgbClr val="5C6B7C"/>
                </a:solidFill>
                <a:latin typeface="Arial" pitchFamily="34" charset="0"/>
                <a:ea typeface="Arial" pitchFamily="34" charset="-122"/>
                <a:cs typeface="Arial" pitchFamily="34" charset="-120"/>
              </a:rPr>
              <a:t>Pregunta orientadora que determina qué medir y para qué. Ej: "¿Garantizamos controles prenatales suficientes?".</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731520" y="1737360"/>
            <a:ext cx="7680960" cy="320040"/>
          </a:xfrm>
          <a:prstGeom prst="rect">
            <a:avLst/>
          </a:prstGeom>
          <a:noFill/>
          <a:ln/>
        </p:spPr>
        <p:txBody>
          <a:bodyPr wrap="square" rtlCol="0" anchor="ctr"/>
          <a:lstStyle/>
          <a:p>
            <a:pPr marL="0" indent="0" algn="ctr">
              <a:buNone/>
            </a:pPr>
            <a:r>
              <a:rPr lang="en-US" sz="1200" b="1" kern="0" spc="200" dirty="0">
                <a:solidFill>
                  <a:srgbClr val="FF9900"/>
                </a:solidFill>
                <a:latin typeface="Arial" pitchFamily="34" charset="0"/>
                <a:ea typeface="Arial" pitchFamily="34" charset="-122"/>
                <a:cs typeface="Arial" pitchFamily="34" charset="-120"/>
              </a:rPr>
              <a:t>IDEA CENTRAL</a:t>
            </a:r>
            <a:endParaRPr lang="en-US" sz="1200" dirty="0"/>
          </a:p>
        </p:txBody>
      </p:sp>
      <p:sp>
        <p:nvSpPr>
          <p:cNvPr id="3" name="Text 1"/>
          <p:cNvSpPr/>
          <p:nvPr/>
        </p:nvSpPr>
        <p:spPr>
          <a:xfrm>
            <a:off x="822960" y="2057400"/>
            <a:ext cx="7498080" cy="1554480"/>
          </a:xfrm>
          <a:prstGeom prst="rect">
            <a:avLst/>
          </a:prstGeom>
          <a:noFill/>
          <a:ln/>
        </p:spPr>
        <p:txBody>
          <a:bodyPr wrap="square" rtlCol="0" anchor="t"/>
          <a:lstStyle/>
          <a:p>
            <a:pPr marL="0" indent="0" algn="ctr">
              <a:buNone/>
            </a:pPr>
            <a:r>
              <a:rPr lang="en-US" sz="2000" b="1" i="1" dirty="0">
                <a:solidFill>
                  <a:srgbClr val="FFFFFF"/>
                </a:solidFill>
                <a:latin typeface="Arial" pitchFamily="34" charset="0"/>
                <a:ea typeface="Arial" pitchFamily="34" charset="-122"/>
                <a:cs typeface="Arial" pitchFamily="34" charset="-120"/>
              </a:rPr>
              <a:t>El orden lógico correcto no es “tengo datos, veamos qué indicador armo”, sino “tengo una pregunta de gestión, defino qué datos necesito y con ellos construyo el indicador que la responde”.</a:t>
            </a:r>
            <a:endParaRPr 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292608"/>
            <a:ext cx="1005840" cy="41148"/>
          </a:xfrm>
          <a:prstGeom prst="rect">
            <a:avLst/>
          </a:prstGeom>
          <a:solidFill>
            <a:srgbClr val="FF9900"/>
          </a:solidFill>
          <a:ln/>
        </p:spPr>
      </p:sp>
      <p:sp>
        <p:nvSpPr>
          <p:cNvPr id="3" name="Text 1"/>
          <p:cNvSpPr/>
          <p:nvPr/>
        </p:nvSpPr>
        <p:spPr>
          <a:xfrm>
            <a:off x="640080" y="365760"/>
            <a:ext cx="6675120" cy="256032"/>
          </a:xfrm>
          <a:prstGeom prst="rect">
            <a:avLst/>
          </a:prstGeom>
          <a:noFill/>
          <a:ln/>
        </p:spPr>
        <p:txBody>
          <a:bodyPr wrap="square" rtlCol="0" anchor="ctr"/>
          <a:lstStyle/>
          <a:p>
            <a:pPr marL="0" indent="0">
              <a:buNone/>
            </a:pPr>
            <a:r>
              <a:rPr lang="en-US" sz="1000" b="1" kern="0" spc="150" dirty="0">
                <a:solidFill>
                  <a:srgbClr val="FC6E01"/>
                </a:solidFill>
                <a:latin typeface="Arial" pitchFamily="34" charset="0"/>
                <a:ea typeface="Arial" pitchFamily="34" charset="-122"/>
                <a:cs typeface="Arial" pitchFamily="34" charset="-120"/>
              </a:rPr>
              <a:t>CADENA DE VALOR PÚBLICA (DNP)</a:t>
            </a:r>
            <a:endParaRPr lang="en-US" sz="1000" dirty="0"/>
          </a:p>
        </p:txBody>
      </p:sp>
      <p:sp>
        <p:nvSpPr>
          <p:cNvPr id="4" name="Text 2"/>
          <p:cNvSpPr/>
          <p:nvPr/>
        </p:nvSpPr>
        <p:spPr>
          <a:xfrm>
            <a:off x="640080" y="621792"/>
            <a:ext cx="7315200" cy="502920"/>
          </a:xfrm>
          <a:prstGeom prst="rect">
            <a:avLst/>
          </a:prstGeom>
          <a:noFill/>
          <a:ln/>
        </p:spPr>
        <p:txBody>
          <a:bodyPr wrap="square" rtlCol="0" anchor="ctr"/>
          <a:lstStyle/>
          <a:p>
            <a:pPr marL="0" indent="0">
              <a:buNone/>
            </a:pPr>
            <a:r>
              <a:rPr lang="en-US" sz="2100" b="1" dirty="0">
                <a:solidFill>
                  <a:srgbClr val="173F72"/>
                </a:solidFill>
                <a:latin typeface="Arial" pitchFamily="34" charset="0"/>
                <a:ea typeface="Arial" pitchFamily="34" charset="-122"/>
                <a:cs typeface="Arial" pitchFamily="34" charset="-120"/>
              </a:rPr>
              <a:t>Cadena de Valor Pública</a:t>
            </a:r>
            <a:endParaRPr lang="en-US" sz="2100" dirty="0"/>
          </a:p>
        </p:txBody>
      </p:sp>
      <p:pic>
        <p:nvPicPr>
          <p:cNvPr id="6" name="Image 0" descr="/home/claude/taller/assets/footer_banner.png"/>
          <p:cNvPicPr>
            <a:picLocks noChangeAspect="1"/>
          </p:cNvPicPr>
          <p:nvPr/>
        </p:nvPicPr>
        <p:blipFill>
          <a:blip r:embed="rId3"/>
          <a:stretch>
            <a:fillRect/>
          </a:stretch>
        </p:blipFill>
        <p:spPr>
          <a:xfrm>
            <a:off x="0" y="4672584"/>
            <a:ext cx="9144000" cy="469087"/>
          </a:xfrm>
          <a:prstGeom prst="rect">
            <a:avLst/>
          </a:prstGeom>
        </p:spPr>
      </p:pic>
      <p:sp>
        <p:nvSpPr>
          <p:cNvPr id="7" name="Text 4"/>
          <p:cNvSpPr/>
          <p:nvPr/>
        </p:nvSpPr>
        <p:spPr>
          <a:xfrm>
            <a:off x="274320" y="4727448"/>
            <a:ext cx="5669280" cy="274320"/>
          </a:xfrm>
          <a:prstGeom prst="rect">
            <a:avLst/>
          </a:prstGeom>
          <a:noFill/>
          <a:ln/>
        </p:spPr>
        <p:txBody>
          <a:bodyPr wrap="square" lIns="0" tIns="0" rIns="0" bIns="0" rtlCol="0" anchor="ctr"/>
          <a:lstStyle/>
          <a:p>
            <a:pPr marL="0" indent="0">
              <a:buNone/>
            </a:pPr>
            <a:r>
              <a:rPr lang="en-US" sz="800" dirty="0">
                <a:solidFill>
                  <a:srgbClr val="FFFFFF"/>
                </a:solidFill>
                <a:latin typeface="Arial" pitchFamily="34" charset="0"/>
                <a:ea typeface="Arial" pitchFamily="34" charset="-122"/>
                <a:cs typeface="Arial" pitchFamily="34" charset="-120"/>
              </a:rPr>
              <a:t>Taller de Indicadores de Gestión Pública con IA</a:t>
            </a:r>
            <a:endParaRPr lang="en-US" sz="800" dirty="0"/>
          </a:p>
        </p:txBody>
      </p:sp>
      <p:sp>
        <p:nvSpPr>
          <p:cNvPr id="8" name="Shape 5"/>
          <p:cNvSpPr/>
          <p:nvPr/>
        </p:nvSpPr>
        <p:spPr>
          <a:xfrm>
            <a:off x="640080" y="1554480"/>
            <a:ext cx="1441094" cy="2651760"/>
          </a:xfrm>
          <a:prstGeom prst="roundRect">
            <a:avLst>
              <a:gd name="adj" fmla="val 3807"/>
            </a:avLst>
          </a:prstGeom>
          <a:solidFill>
            <a:srgbClr val="EDF3F9"/>
          </a:solidFill>
          <a:ln/>
        </p:spPr>
      </p:sp>
      <p:sp>
        <p:nvSpPr>
          <p:cNvPr id="9" name="Shape 6"/>
          <p:cNvSpPr/>
          <p:nvPr/>
        </p:nvSpPr>
        <p:spPr>
          <a:xfrm>
            <a:off x="777240" y="1691640"/>
            <a:ext cx="365760" cy="365760"/>
          </a:xfrm>
          <a:prstGeom prst="ellipse">
            <a:avLst/>
          </a:prstGeom>
          <a:solidFill>
            <a:srgbClr val="FC6E01"/>
          </a:solidFill>
          <a:ln/>
        </p:spPr>
      </p:sp>
      <p:sp>
        <p:nvSpPr>
          <p:cNvPr id="10" name="Text 7"/>
          <p:cNvSpPr/>
          <p:nvPr/>
        </p:nvSpPr>
        <p:spPr>
          <a:xfrm>
            <a:off x="777240" y="1691640"/>
            <a:ext cx="365760" cy="365760"/>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11" name="Text 8"/>
          <p:cNvSpPr/>
          <p:nvPr/>
        </p:nvSpPr>
        <p:spPr>
          <a:xfrm>
            <a:off x="777240" y="2121408"/>
            <a:ext cx="1166774" cy="365760"/>
          </a:xfrm>
          <a:prstGeom prst="rect">
            <a:avLst/>
          </a:prstGeom>
          <a:noFill/>
          <a:ln/>
        </p:spPr>
        <p:txBody>
          <a:bodyPr wrap="square" rtlCol="0" anchor="t"/>
          <a:lstStyle/>
          <a:p>
            <a:pPr marL="0" indent="0">
              <a:buNone/>
            </a:pPr>
            <a:r>
              <a:rPr lang="en-US" sz="1200" b="1" dirty="0">
                <a:solidFill>
                  <a:srgbClr val="173F72"/>
                </a:solidFill>
                <a:latin typeface="Arial" pitchFamily="34" charset="0"/>
                <a:ea typeface="Arial" pitchFamily="34" charset="-122"/>
                <a:cs typeface="Arial" pitchFamily="34" charset="-120"/>
              </a:rPr>
              <a:t>1 · Insumos</a:t>
            </a:r>
            <a:endParaRPr lang="en-US" sz="1200" dirty="0"/>
          </a:p>
        </p:txBody>
      </p:sp>
      <p:sp>
        <p:nvSpPr>
          <p:cNvPr id="12" name="Text 9"/>
          <p:cNvSpPr/>
          <p:nvPr/>
        </p:nvSpPr>
        <p:spPr>
          <a:xfrm>
            <a:off x="777240" y="2468880"/>
            <a:ext cx="1166774" cy="1645920"/>
          </a:xfrm>
          <a:prstGeom prst="rect">
            <a:avLst/>
          </a:prstGeom>
          <a:noFill/>
          <a:ln/>
        </p:spPr>
        <p:txBody>
          <a:bodyPr wrap="square" rtlCol="0" anchor="t"/>
          <a:lstStyle/>
          <a:p>
            <a:pPr marL="0" indent="0">
              <a:buNone/>
            </a:pPr>
            <a:r>
              <a:rPr lang="en-US" sz="950" dirty="0">
                <a:solidFill>
                  <a:srgbClr val="5C6B7C"/>
                </a:solidFill>
                <a:latin typeface="Arial" pitchFamily="34" charset="0"/>
                <a:ea typeface="Arial" pitchFamily="34" charset="-122"/>
                <a:cs typeface="Arial" pitchFamily="34" charset="-120"/>
              </a:rPr>
              <a:t>Recursos financieros, humanos y físicos disponibles.</a:t>
            </a:r>
            <a:endParaRPr lang="en-US" sz="950" dirty="0"/>
          </a:p>
        </p:txBody>
      </p:sp>
      <p:sp>
        <p:nvSpPr>
          <p:cNvPr id="13" name="Shape 10"/>
          <p:cNvSpPr/>
          <p:nvPr/>
        </p:nvSpPr>
        <p:spPr>
          <a:xfrm>
            <a:off x="2245766" y="1554480"/>
            <a:ext cx="1441094" cy="2651760"/>
          </a:xfrm>
          <a:prstGeom prst="roundRect">
            <a:avLst>
              <a:gd name="adj" fmla="val 3807"/>
            </a:avLst>
          </a:prstGeom>
          <a:solidFill>
            <a:srgbClr val="EDF3F9"/>
          </a:solidFill>
          <a:ln/>
        </p:spPr>
      </p:sp>
      <p:sp>
        <p:nvSpPr>
          <p:cNvPr id="14" name="Shape 11"/>
          <p:cNvSpPr/>
          <p:nvPr/>
        </p:nvSpPr>
        <p:spPr>
          <a:xfrm>
            <a:off x="2382926" y="1691640"/>
            <a:ext cx="365760" cy="365760"/>
          </a:xfrm>
          <a:prstGeom prst="ellipse">
            <a:avLst/>
          </a:prstGeom>
          <a:solidFill>
            <a:srgbClr val="FC6E01"/>
          </a:solidFill>
          <a:ln/>
        </p:spPr>
      </p:sp>
      <p:sp>
        <p:nvSpPr>
          <p:cNvPr id="15" name="Text 12"/>
          <p:cNvSpPr/>
          <p:nvPr/>
        </p:nvSpPr>
        <p:spPr>
          <a:xfrm>
            <a:off x="2382926" y="1691640"/>
            <a:ext cx="365760" cy="365760"/>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6" name="Text 13"/>
          <p:cNvSpPr/>
          <p:nvPr/>
        </p:nvSpPr>
        <p:spPr>
          <a:xfrm>
            <a:off x="2382926" y="2121408"/>
            <a:ext cx="1166774" cy="365760"/>
          </a:xfrm>
          <a:prstGeom prst="rect">
            <a:avLst/>
          </a:prstGeom>
          <a:noFill/>
          <a:ln/>
        </p:spPr>
        <p:txBody>
          <a:bodyPr wrap="square" rtlCol="0" anchor="t"/>
          <a:lstStyle/>
          <a:p>
            <a:pPr marL="0" indent="0">
              <a:buNone/>
            </a:pPr>
            <a:r>
              <a:rPr lang="en-US" sz="1200" b="1" dirty="0">
                <a:solidFill>
                  <a:srgbClr val="173F72"/>
                </a:solidFill>
                <a:latin typeface="Arial" pitchFamily="34" charset="0"/>
                <a:ea typeface="Arial" pitchFamily="34" charset="-122"/>
                <a:cs typeface="Arial" pitchFamily="34" charset="-120"/>
              </a:rPr>
              <a:t>2 · Actividades</a:t>
            </a:r>
            <a:endParaRPr lang="en-US" sz="1200" dirty="0"/>
          </a:p>
        </p:txBody>
      </p:sp>
      <p:sp>
        <p:nvSpPr>
          <p:cNvPr id="17" name="Text 14"/>
          <p:cNvSpPr/>
          <p:nvPr/>
        </p:nvSpPr>
        <p:spPr>
          <a:xfrm>
            <a:off x="2382926" y="2468880"/>
            <a:ext cx="1166774" cy="1645920"/>
          </a:xfrm>
          <a:prstGeom prst="rect">
            <a:avLst/>
          </a:prstGeom>
          <a:noFill/>
          <a:ln/>
        </p:spPr>
        <p:txBody>
          <a:bodyPr wrap="square" rtlCol="0" anchor="t"/>
          <a:lstStyle/>
          <a:p>
            <a:pPr marL="0" indent="0">
              <a:buNone/>
            </a:pPr>
            <a:r>
              <a:rPr lang="en-US" sz="950" dirty="0">
                <a:solidFill>
                  <a:srgbClr val="5C6B7C"/>
                </a:solidFill>
                <a:latin typeface="Arial" pitchFamily="34" charset="0"/>
                <a:ea typeface="Arial" pitchFamily="34" charset="-122"/>
                <a:cs typeface="Arial" pitchFamily="34" charset="-120"/>
              </a:rPr>
              <a:t>Procesos y acciones realizadas.</a:t>
            </a:r>
            <a:endParaRPr lang="en-US" sz="950" dirty="0"/>
          </a:p>
        </p:txBody>
      </p:sp>
      <p:sp>
        <p:nvSpPr>
          <p:cNvPr id="18" name="Shape 15"/>
          <p:cNvSpPr/>
          <p:nvPr/>
        </p:nvSpPr>
        <p:spPr>
          <a:xfrm>
            <a:off x="3851453" y="1554480"/>
            <a:ext cx="1441094" cy="2651760"/>
          </a:xfrm>
          <a:prstGeom prst="roundRect">
            <a:avLst>
              <a:gd name="adj" fmla="val 3807"/>
            </a:avLst>
          </a:prstGeom>
          <a:solidFill>
            <a:srgbClr val="EDF3F9"/>
          </a:solidFill>
          <a:ln/>
        </p:spPr>
      </p:sp>
      <p:sp>
        <p:nvSpPr>
          <p:cNvPr id="19" name="Shape 16"/>
          <p:cNvSpPr/>
          <p:nvPr/>
        </p:nvSpPr>
        <p:spPr>
          <a:xfrm>
            <a:off x="3988613" y="1691640"/>
            <a:ext cx="365760" cy="365760"/>
          </a:xfrm>
          <a:prstGeom prst="ellipse">
            <a:avLst/>
          </a:prstGeom>
          <a:solidFill>
            <a:srgbClr val="FC6E01"/>
          </a:solidFill>
          <a:ln/>
        </p:spPr>
      </p:sp>
      <p:sp>
        <p:nvSpPr>
          <p:cNvPr id="20" name="Text 17"/>
          <p:cNvSpPr/>
          <p:nvPr/>
        </p:nvSpPr>
        <p:spPr>
          <a:xfrm>
            <a:off x="3988613" y="1691640"/>
            <a:ext cx="365760" cy="365760"/>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21" name="Text 18"/>
          <p:cNvSpPr/>
          <p:nvPr/>
        </p:nvSpPr>
        <p:spPr>
          <a:xfrm>
            <a:off x="3988613" y="2121408"/>
            <a:ext cx="1166774" cy="365760"/>
          </a:xfrm>
          <a:prstGeom prst="rect">
            <a:avLst/>
          </a:prstGeom>
          <a:noFill/>
          <a:ln/>
        </p:spPr>
        <p:txBody>
          <a:bodyPr wrap="square" rtlCol="0" anchor="t"/>
          <a:lstStyle/>
          <a:p>
            <a:pPr marL="0" indent="0">
              <a:buNone/>
            </a:pPr>
            <a:r>
              <a:rPr lang="en-US" sz="1200" b="1" dirty="0">
                <a:solidFill>
                  <a:srgbClr val="173F72"/>
                </a:solidFill>
                <a:latin typeface="Arial" pitchFamily="34" charset="0"/>
                <a:ea typeface="Arial" pitchFamily="34" charset="-122"/>
                <a:cs typeface="Arial" pitchFamily="34" charset="-120"/>
              </a:rPr>
              <a:t>3 · Productos</a:t>
            </a:r>
            <a:endParaRPr lang="en-US" sz="1200" dirty="0"/>
          </a:p>
        </p:txBody>
      </p:sp>
      <p:sp>
        <p:nvSpPr>
          <p:cNvPr id="22" name="Text 19"/>
          <p:cNvSpPr/>
          <p:nvPr/>
        </p:nvSpPr>
        <p:spPr>
          <a:xfrm>
            <a:off x="3988613" y="2468880"/>
            <a:ext cx="1166774" cy="1645920"/>
          </a:xfrm>
          <a:prstGeom prst="rect">
            <a:avLst/>
          </a:prstGeom>
          <a:noFill/>
          <a:ln/>
        </p:spPr>
        <p:txBody>
          <a:bodyPr wrap="square" rtlCol="0" anchor="t"/>
          <a:lstStyle/>
          <a:p>
            <a:pPr marL="0" indent="0">
              <a:buNone/>
            </a:pPr>
            <a:r>
              <a:rPr lang="en-US" sz="950" dirty="0">
                <a:solidFill>
                  <a:srgbClr val="5C6B7C"/>
                </a:solidFill>
                <a:latin typeface="Arial" pitchFamily="34" charset="0"/>
                <a:ea typeface="Arial" pitchFamily="34" charset="-122"/>
                <a:cs typeface="Arial" pitchFamily="34" charset="-120"/>
              </a:rPr>
              <a:t>Bienes o servicios entregados a la población.</a:t>
            </a:r>
            <a:endParaRPr lang="en-US" sz="950" dirty="0"/>
          </a:p>
        </p:txBody>
      </p:sp>
      <p:sp>
        <p:nvSpPr>
          <p:cNvPr id="23" name="Shape 20"/>
          <p:cNvSpPr/>
          <p:nvPr/>
        </p:nvSpPr>
        <p:spPr>
          <a:xfrm>
            <a:off x="5457139" y="1554480"/>
            <a:ext cx="1441094" cy="2651760"/>
          </a:xfrm>
          <a:prstGeom prst="roundRect">
            <a:avLst>
              <a:gd name="adj" fmla="val 3807"/>
            </a:avLst>
          </a:prstGeom>
          <a:solidFill>
            <a:srgbClr val="EDF3F9"/>
          </a:solidFill>
          <a:ln/>
        </p:spPr>
      </p:sp>
      <p:sp>
        <p:nvSpPr>
          <p:cNvPr id="24" name="Shape 21"/>
          <p:cNvSpPr/>
          <p:nvPr/>
        </p:nvSpPr>
        <p:spPr>
          <a:xfrm>
            <a:off x="5594299" y="1691640"/>
            <a:ext cx="365760" cy="365760"/>
          </a:xfrm>
          <a:prstGeom prst="ellipse">
            <a:avLst/>
          </a:prstGeom>
          <a:solidFill>
            <a:srgbClr val="FC6E01"/>
          </a:solidFill>
          <a:ln/>
        </p:spPr>
      </p:sp>
      <p:sp>
        <p:nvSpPr>
          <p:cNvPr id="25" name="Text 22"/>
          <p:cNvSpPr/>
          <p:nvPr/>
        </p:nvSpPr>
        <p:spPr>
          <a:xfrm>
            <a:off x="5594299" y="1691640"/>
            <a:ext cx="365760" cy="365760"/>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6" name="Text 23"/>
          <p:cNvSpPr/>
          <p:nvPr/>
        </p:nvSpPr>
        <p:spPr>
          <a:xfrm>
            <a:off x="5594299" y="2121408"/>
            <a:ext cx="1166774" cy="365760"/>
          </a:xfrm>
          <a:prstGeom prst="rect">
            <a:avLst/>
          </a:prstGeom>
          <a:noFill/>
          <a:ln/>
        </p:spPr>
        <p:txBody>
          <a:bodyPr wrap="square" rtlCol="0" anchor="t"/>
          <a:lstStyle/>
          <a:p>
            <a:pPr marL="0" indent="0">
              <a:buNone/>
            </a:pPr>
            <a:r>
              <a:rPr lang="en-US" sz="1200" b="1" dirty="0">
                <a:solidFill>
                  <a:srgbClr val="173F72"/>
                </a:solidFill>
                <a:latin typeface="Arial" pitchFamily="34" charset="0"/>
                <a:ea typeface="Arial" pitchFamily="34" charset="-122"/>
                <a:cs typeface="Arial" pitchFamily="34" charset="-120"/>
              </a:rPr>
              <a:t>4 · Resultados</a:t>
            </a:r>
            <a:endParaRPr lang="en-US" sz="1200" dirty="0"/>
          </a:p>
        </p:txBody>
      </p:sp>
      <p:sp>
        <p:nvSpPr>
          <p:cNvPr id="27" name="Text 24"/>
          <p:cNvSpPr/>
          <p:nvPr/>
        </p:nvSpPr>
        <p:spPr>
          <a:xfrm>
            <a:off x="5594299" y="2468880"/>
            <a:ext cx="1166774" cy="1645920"/>
          </a:xfrm>
          <a:prstGeom prst="rect">
            <a:avLst/>
          </a:prstGeom>
          <a:noFill/>
          <a:ln/>
        </p:spPr>
        <p:txBody>
          <a:bodyPr wrap="square" rtlCol="0" anchor="t"/>
          <a:lstStyle/>
          <a:p>
            <a:pPr marL="0" indent="0">
              <a:buNone/>
            </a:pPr>
            <a:r>
              <a:rPr lang="en-US" sz="950" dirty="0">
                <a:solidFill>
                  <a:srgbClr val="5C6B7C"/>
                </a:solidFill>
                <a:latin typeface="Arial" pitchFamily="34" charset="0"/>
                <a:ea typeface="Arial" pitchFamily="34" charset="-122"/>
                <a:cs typeface="Arial" pitchFamily="34" charset="-120"/>
              </a:rPr>
              <a:t>Cambios en comportamiento, acceso o condición.</a:t>
            </a:r>
            <a:endParaRPr lang="en-US" sz="950" dirty="0"/>
          </a:p>
        </p:txBody>
      </p:sp>
      <p:sp>
        <p:nvSpPr>
          <p:cNvPr id="28" name="Shape 25"/>
          <p:cNvSpPr/>
          <p:nvPr/>
        </p:nvSpPr>
        <p:spPr>
          <a:xfrm>
            <a:off x="7062826" y="1554480"/>
            <a:ext cx="1441094" cy="2651760"/>
          </a:xfrm>
          <a:prstGeom prst="roundRect">
            <a:avLst>
              <a:gd name="adj" fmla="val 3807"/>
            </a:avLst>
          </a:prstGeom>
          <a:solidFill>
            <a:srgbClr val="EDF3F9"/>
          </a:solidFill>
          <a:ln/>
        </p:spPr>
      </p:sp>
      <p:sp>
        <p:nvSpPr>
          <p:cNvPr id="29" name="Shape 26"/>
          <p:cNvSpPr/>
          <p:nvPr/>
        </p:nvSpPr>
        <p:spPr>
          <a:xfrm>
            <a:off x="7199986" y="1691640"/>
            <a:ext cx="365760" cy="365760"/>
          </a:xfrm>
          <a:prstGeom prst="ellipse">
            <a:avLst/>
          </a:prstGeom>
          <a:solidFill>
            <a:srgbClr val="FC6E01"/>
          </a:solidFill>
          <a:ln/>
        </p:spPr>
      </p:sp>
      <p:sp>
        <p:nvSpPr>
          <p:cNvPr id="30" name="Text 27"/>
          <p:cNvSpPr/>
          <p:nvPr/>
        </p:nvSpPr>
        <p:spPr>
          <a:xfrm>
            <a:off x="7199986" y="1691640"/>
            <a:ext cx="365760" cy="365760"/>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31" name="Text 28"/>
          <p:cNvSpPr/>
          <p:nvPr/>
        </p:nvSpPr>
        <p:spPr>
          <a:xfrm>
            <a:off x="7199986" y="2121408"/>
            <a:ext cx="1166774" cy="365760"/>
          </a:xfrm>
          <a:prstGeom prst="rect">
            <a:avLst/>
          </a:prstGeom>
          <a:noFill/>
          <a:ln/>
        </p:spPr>
        <p:txBody>
          <a:bodyPr wrap="square" rtlCol="0" anchor="t"/>
          <a:lstStyle/>
          <a:p>
            <a:pPr marL="0" indent="0">
              <a:buNone/>
            </a:pPr>
            <a:r>
              <a:rPr lang="en-US" sz="1200" b="1" dirty="0">
                <a:solidFill>
                  <a:srgbClr val="173F72"/>
                </a:solidFill>
                <a:latin typeface="Arial" pitchFamily="34" charset="0"/>
                <a:ea typeface="Arial" pitchFamily="34" charset="-122"/>
                <a:cs typeface="Arial" pitchFamily="34" charset="-120"/>
              </a:rPr>
              <a:t>5 · Impactos</a:t>
            </a:r>
            <a:endParaRPr lang="en-US" sz="1200" dirty="0"/>
          </a:p>
        </p:txBody>
      </p:sp>
      <p:sp>
        <p:nvSpPr>
          <p:cNvPr id="32" name="Text 29"/>
          <p:cNvSpPr/>
          <p:nvPr/>
        </p:nvSpPr>
        <p:spPr>
          <a:xfrm>
            <a:off x="7199986" y="2468880"/>
            <a:ext cx="1166774" cy="1645920"/>
          </a:xfrm>
          <a:prstGeom prst="rect">
            <a:avLst/>
          </a:prstGeom>
          <a:noFill/>
          <a:ln/>
        </p:spPr>
        <p:txBody>
          <a:bodyPr wrap="square" rtlCol="0" anchor="t"/>
          <a:lstStyle/>
          <a:p>
            <a:pPr marL="0" indent="0">
              <a:buNone/>
            </a:pPr>
            <a:r>
              <a:rPr lang="en-US" sz="950" dirty="0">
                <a:solidFill>
                  <a:srgbClr val="5C6B7C"/>
                </a:solidFill>
                <a:latin typeface="Arial" pitchFamily="34" charset="0"/>
                <a:ea typeface="Arial" pitchFamily="34" charset="-122"/>
                <a:cs typeface="Arial" pitchFamily="34" charset="-120"/>
              </a:rPr>
              <a:t>Cambios estructurales de largo plazo.</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292608"/>
            <a:ext cx="1005840" cy="41148"/>
          </a:xfrm>
          <a:prstGeom prst="rect">
            <a:avLst/>
          </a:prstGeom>
          <a:solidFill>
            <a:srgbClr val="FF9900"/>
          </a:solidFill>
          <a:ln/>
        </p:spPr>
      </p:sp>
      <p:sp>
        <p:nvSpPr>
          <p:cNvPr id="3" name="Text 1"/>
          <p:cNvSpPr/>
          <p:nvPr/>
        </p:nvSpPr>
        <p:spPr>
          <a:xfrm>
            <a:off x="640080" y="365760"/>
            <a:ext cx="6675120" cy="256032"/>
          </a:xfrm>
          <a:prstGeom prst="rect">
            <a:avLst/>
          </a:prstGeom>
          <a:noFill/>
          <a:ln/>
        </p:spPr>
        <p:txBody>
          <a:bodyPr wrap="square" rtlCol="0" anchor="ctr"/>
          <a:lstStyle/>
          <a:p>
            <a:pPr marL="0" indent="0">
              <a:buNone/>
            </a:pPr>
            <a:r>
              <a:rPr lang="en-US" sz="1000" b="1" kern="0" spc="150" dirty="0">
                <a:solidFill>
                  <a:srgbClr val="FC6E01"/>
                </a:solidFill>
                <a:latin typeface="Arial" pitchFamily="34" charset="0"/>
                <a:ea typeface="Arial" pitchFamily="34" charset="-122"/>
                <a:cs typeface="Arial" pitchFamily="34" charset="-120"/>
              </a:rPr>
              <a:t>CADENA DE VALOR PÚBLICA (DNP)</a:t>
            </a:r>
            <a:endParaRPr lang="en-US" sz="1000" dirty="0"/>
          </a:p>
        </p:txBody>
      </p:sp>
      <p:sp>
        <p:nvSpPr>
          <p:cNvPr id="4" name="Text 2"/>
          <p:cNvSpPr/>
          <p:nvPr/>
        </p:nvSpPr>
        <p:spPr>
          <a:xfrm>
            <a:off x="640080" y="621792"/>
            <a:ext cx="7315200" cy="502920"/>
          </a:xfrm>
          <a:prstGeom prst="rect">
            <a:avLst/>
          </a:prstGeom>
          <a:noFill/>
          <a:ln/>
        </p:spPr>
        <p:txBody>
          <a:bodyPr wrap="square" rtlCol="0" anchor="ctr"/>
          <a:lstStyle/>
          <a:p>
            <a:pPr marL="0" indent="0">
              <a:buNone/>
            </a:pPr>
            <a:r>
              <a:rPr lang="en-US" sz="2100" b="1" dirty="0">
                <a:solidFill>
                  <a:srgbClr val="173F72"/>
                </a:solidFill>
                <a:latin typeface="Arial" pitchFamily="34" charset="0"/>
                <a:ea typeface="Arial" pitchFamily="34" charset="-122"/>
                <a:cs typeface="Arial" pitchFamily="34" charset="-120"/>
              </a:rPr>
              <a:t>Eslabones de la Cadena de Valor</a:t>
            </a:r>
            <a:endParaRPr lang="en-US" sz="2100" dirty="0"/>
          </a:p>
        </p:txBody>
      </p:sp>
      <p:pic>
        <p:nvPicPr>
          <p:cNvPr id="6" name="Image 0" descr="/home/claude/taller/assets/footer_banner.png"/>
          <p:cNvPicPr>
            <a:picLocks noChangeAspect="1"/>
          </p:cNvPicPr>
          <p:nvPr/>
        </p:nvPicPr>
        <p:blipFill>
          <a:blip r:embed="rId3"/>
          <a:stretch>
            <a:fillRect/>
          </a:stretch>
        </p:blipFill>
        <p:spPr>
          <a:xfrm>
            <a:off x="0" y="4672584"/>
            <a:ext cx="9144000" cy="469087"/>
          </a:xfrm>
          <a:prstGeom prst="rect">
            <a:avLst/>
          </a:prstGeom>
        </p:spPr>
      </p:pic>
      <p:sp>
        <p:nvSpPr>
          <p:cNvPr id="7" name="Text 4"/>
          <p:cNvSpPr/>
          <p:nvPr/>
        </p:nvSpPr>
        <p:spPr>
          <a:xfrm>
            <a:off x="274320" y="4727448"/>
            <a:ext cx="5669280" cy="274320"/>
          </a:xfrm>
          <a:prstGeom prst="rect">
            <a:avLst/>
          </a:prstGeom>
          <a:noFill/>
          <a:ln/>
        </p:spPr>
        <p:txBody>
          <a:bodyPr wrap="square" lIns="0" tIns="0" rIns="0" bIns="0" rtlCol="0" anchor="ctr"/>
          <a:lstStyle/>
          <a:p>
            <a:pPr marL="0" indent="0">
              <a:buNone/>
            </a:pPr>
            <a:r>
              <a:rPr lang="en-US" sz="800" dirty="0">
                <a:solidFill>
                  <a:srgbClr val="FFFFFF"/>
                </a:solidFill>
                <a:latin typeface="Arial" pitchFamily="34" charset="0"/>
                <a:ea typeface="Arial" pitchFamily="34" charset="-122"/>
                <a:cs typeface="Arial" pitchFamily="34" charset="-120"/>
              </a:rPr>
              <a:t>Taller de Indicadores de Gestión Pública con IA</a:t>
            </a:r>
            <a:endParaRPr lang="en-US" sz="8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40080" y="1463040"/>
          <a:ext cx="7863840" cy="2743200"/>
        </p:xfrm>
        <a:graphic>
          <a:graphicData uri="http://schemas.openxmlformats.org/drawingml/2006/table">
            <a:tbl>
              <a:tblPr/>
              <a:tblGrid>
                <a:gridCol w="164592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4480560">
                  <a:extLst>
                    <a:ext uri="{9D8B030D-6E8A-4147-A177-3AD203B41FA5}">
                      <a16:colId xmlns:a16="http://schemas.microsoft.com/office/drawing/2014/main" val="20002"/>
                    </a:ext>
                  </a:extLst>
                </a:gridCol>
              </a:tblGrid>
              <a:tr h="457200">
                <a:tc>
                  <a:txBody>
                    <a:bodyPr/>
                    <a:lstStyle/>
                    <a:p>
                      <a:pPr marL="0" indent="0" algn="l">
                        <a:buNone/>
                      </a:pPr>
                      <a:r>
                        <a:rPr lang="en-US" sz="1050" b="1" dirty="0">
                          <a:solidFill>
                            <a:srgbClr val="FFFFFF"/>
                          </a:solidFill>
                          <a:latin typeface="Arial" pitchFamily="34" charset="0"/>
                          <a:ea typeface="Arial" pitchFamily="34" charset="-122"/>
                          <a:cs typeface="Arial" pitchFamily="34" charset="-120"/>
                        </a:rPr>
                        <a:t>Eslabón</a:t>
                      </a:r>
                      <a:endParaRPr lang="en-US" sz="10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73F72"/>
                    </a:solidFill>
                  </a:tcPr>
                </a:tc>
                <a:tc>
                  <a:txBody>
                    <a:bodyPr/>
                    <a:lstStyle/>
                    <a:p>
                      <a:pPr marL="0" indent="0" algn="l">
                        <a:buNone/>
                      </a:pPr>
                      <a:r>
                        <a:rPr lang="en-US" sz="1050" b="1" dirty="0">
                          <a:solidFill>
                            <a:srgbClr val="FFFFFF"/>
                          </a:solidFill>
                          <a:latin typeface="Arial" pitchFamily="34" charset="0"/>
                          <a:ea typeface="Arial" pitchFamily="34" charset="-122"/>
                          <a:cs typeface="Arial" pitchFamily="34" charset="-120"/>
                        </a:rPr>
                        <a:t>Tipo</a:t>
                      </a:r>
                      <a:endParaRPr lang="en-US" sz="10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73F72"/>
                    </a:solidFill>
                  </a:tcPr>
                </a:tc>
                <a:tc>
                  <a:txBody>
                    <a:bodyPr/>
                    <a:lstStyle/>
                    <a:p>
                      <a:pPr marL="0" indent="0" algn="l">
                        <a:buNone/>
                      </a:pPr>
                      <a:r>
                        <a:rPr lang="en-US" sz="1050" b="1" dirty="0">
                          <a:solidFill>
                            <a:srgbClr val="FFFFFF"/>
                          </a:solidFill>
                          <a:latin typeface="Arial" pitchFamily="34" charset="0"/>
                          <a:ea typeface="Arial" pitchFamily="34" charset="-122"/>
                          <a:cs typeface="Arial" pitchFamily="34" charset="-120"/>
                        </a:rPr>
                        <a:t>Ejemplo</a:t>
                      </a:r>
                      <a:endParaRPr lang="en-US" sz="10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73F72"/>
                    </a:solidFill>
                  </a:tcPr>
                </a:tc>
                <a:extLst>
                  <a:ext uri="{0D108BD9-81ED-4DB2-BD59-A6C34878D82A}">
                    <a16:rowId xmlns:a16="http://schemas.microsoft.com/office/drawing/2014/main" val="10000"/>
                  </a:ext>
                </a:extLst>
              </a:tr>
              <a:tr h="457200">
                <a:tc>
                  <a:txBody>
                    <a:bodyPr/>
                    <a:lstStyle/>
                    <a:p>
                      <a:pPr marL="0" indent="0" algn="l">
                        <a:buNone/>
                      </a:pPr>
                      <a:r>
                        <a:rPr lang="en-US" sz="1000" b="1" dirty="0">
                          <a:solidFill>
                            <a:srgbClr val="173F72"/>
                          </a:solidFill>
                          <a:latin typeface="Arial" pitchFamily="34" charset="0"/>
                          <a:ea typeface="Arial" pitchFamily="34" charset="-122"/>
                          <a:cs typeface="Arial" pitchFamily="34" charset="-120"/>
                        </a:rPr>
                        <a:t>Insumos</a:t>
                      </a:r>
                      <a:endParaRPr lang="en-US" sz="100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1000" dirty="0">
                          <a:solidFill>
                            <a:srgbClr val="2F3B4C"/>
                          </a:solidFill>
                          <a:latin typeface="Arial" pitchFamily="34" charset="0"/>
                          <a:ea typeface="Arial" pitchFamily="34" charset="-122"/>
                          <a:cs typeface="Arial" pitchFamily="34" charset="-120"/>
                        </a:rPr>
                        <a:t>Gestión / insumo</a:t>
                      </a:r>
                      <a:endParaRPr lang="en-US" sz="100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2F3B4C"/>
                          </a:solidFill>
                          <a:latin typeface="Arial" pitchFamily="34" charset="0"/>
                          <a:ea typeface="Arial" pitchFamily="34" charset="-122"/>
                          <a:cs typeface="Arial" pitchFamily="34" charset="-120"/>
                        </a:rPr>
                        <a:t>Presupuesto ejecutado en dotación de puestos de salud rurales</a:t>
                      </a:r>
                      <a:endParaRPr lang="en-US" sz="100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lgn="l">
                        <a:buNone/>
                      </a:pPr>
                      <a:r>
                        <a:rPr lang="en-US" sz="1000" b="1" dirty="0">
                          <a:solidFill>
                            <a:srgbClr val="173F72"/>
                          </a:solidFill>
                          <a:latin typeface="Arial" pitchFamily="34" charset="0"/>
                          <a:ea typeface="Arial" pitchFamily="34" charset="-122"/>
                          <a:cs typeface="Arial" pitchFamily="34" charset="-120"/>
                        </a:rPr>
                        <a:t>Actividades</a:t>
                      </a:r>
                      <a:endParaRPr lang="en-US" sz="100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1000" dirty="0">
                          <a:solidFill>
                            <a:srgbClr val="2F3B4C"/>
                          </a:solidFill>
                          <a:latin typeface="Arial" pitchFamily="34" charset="0"/>
                          <a:ea typeface="Arial" pitchFamily="34" charset="-122"/>
                          <a:cs typeface="Arial" pitchFamily="34" charset="-120"/>
                        </a:rPr>
                        <a:t>Gestión / proceso</a:t>
                      </a:r>
                      <a:endParaRPr lang="en-US" sz="100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2F3B4C"/>
                          </a:solidFill>
                          <a:latin typeface="Arial" pitchFamily="34" charset="0"/>
                          <a:ea typeface="Arial" pitchFamily="34" charset="-122"/>
                          <a:cs typeface="Arial" pitchFamily="34" charset="-120"/>
                        </a:rPr>
                        <a:t>N.º de jornadas de control prenatal realizadas en zona rural</a:t>
                      </a:r>
                      <a:endParaRPr lang="en-US" sz="100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lgn="l">
                        <a:buNone/>
                      </a:pPr>
                      <a:r>
                        <a:rPr lang="en-US" sz="1000" b="1" dirty="0">
                          <a:solidFill>
                            <a:srgbClr val="173F72"/>
                          </a:solidFill>
                          <a:latin typeface="Arial" pitchFamily="34" charset="0"/>
                          <a:ea typeface="Arial" pitchFamily="34" charset="-122"/>
                          <a:cs typeface="Arial" pitchFamily="34" charset="-120"/>
                        </a:rPr>
                        <a:t>Productos</a:t>
                      </a:r>
                      <a:endParaRPr lang="en-US" sz="100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1000" dirty="0">
                          <a:solidFill>
                            <a:srgbClr val="2F3B4C"/>
                          </a:solidFill>
                          <a:latin typeface="Arial" pitchFamily="34" charset="0"/>
                          <a:ea typeface="Arial" pitchFamily="34" charset="-122"/>
                          <a:cs typeface="Arial" pitchFamily="34" charset="-120"/>
                        </a:rPr>
                        <a:t>Producto</a:t>
                      </a:r>
                      <a:endParaRPr lang="en-US" sz="100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2F3B4C"/>
                          </a:solidFill>
                          <a:latin typeface="Arial" pitchFamily="34" charset="0"/>
                          <a:ea typeface="Arial" pitchFamily="34" charset="-122"/>
                          <a:cs typeface="Arial" pitchFamily="34" charset="-120"/>
                        </a:rPr>
                        <a:t>N.º de gestantes rurales atendidas con al menos 1 control</a:t>
                      </a:r>
                      <a:endParaRPr lang="en-US" sz="100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lgn="l">
                        <a:buNone/>
                      </a:pPr>
                      <a:r>
                        <a:rPr lang="en-US" sz="1000" b="1" dirty="0">
                          <a:solidFill>
                            <a:srgbClr val="173F72"/>
                          </a:solidFill>
                          <a:latin typeface="Arial" pitchFamily="34" charset="0"/>
                          <a:ea typeface="Arial" pitchFamily="34" charset="-122"/>
                          <a:cs typeface="Arial" pitchFamily="34" charset="-120"/>
                        </a:rPr>
                        <a:t>Resultados</a:t>
                      </a:r>
                      <a:endParaRPr lang="en-US" sz="100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1000" dirty="0">
                          <a:solidFill>
                            <a:srgbClr val="2F3B4C"/>
                          </a:solidFill>
                          <a:latin typeface="Arial" pitchFamily="34" charset="0"/>
                          <a:ea typeface="Arial" pitchFamily="34" charset="-122"/>
                          <a:cs typeface="Arial" pitchFamily="34" charset="-120"/>
                        </a:rPr>
                        <a:t>Resultado</a:t>
                      </a:r>
                      <a:endParaRPr lang="en-US" sz="100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2F3B4C"/>
                          </a:solidFill>
                          <a:latin typeface="Arial" pitchFamily="34" charset="0"/>
                          <a:ea typeface="Arial" pitchFamily="34" charset="-122"/>
                          <a:cs typeface="Arial" pitchFamily="34" charset="-120"/>
                        </a:rPr>
                        <a:t>% de gestantes rurales con 4 o más controles prenatales</a:t>
                      </a:r>
                      <a:endParaRPr lang="en-US" sz="100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57200">
                <a:tc>
                  <a:txBody>
                    <a:bodyPr/>
                    <a:lstStyle/>
                    <a:p>
                      <a:pPr marL="0" indent="0" algn="l">
                        <a:buNone/>
                      </a:pPr>
                      <a:r>
                        <a:rPr lang="en-US" sz="1000" b="1" dirty="0">
                          <a:solidFill>
                            <a:srgbClr val="173F72"/>
                          </a:solidFill>
                          <a:latin typeface="Arial" pitchFamily="34" charset="0"/>
                          <a:ea typeface="Arial" pitchFamily="34" charset="-122"/>
                          <a:cs typeface="Arial" pitchFamily="34" charset="-120"/>
                        </a:rPr>
                        <a:t>Impactos</a:t>
                      </a:r>
                      <a:endParaRPr lang="en-US" sz="100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1000" dirty="0">
                          <a:solidFill>
                            <a:srgbClr val="2F3B4C"/>
                          </a:solidFill>
                          <a:latin typeface="Arial" pitchFamily="34" charset="0"/>
                          <a:ea typeface="Arial" pitchFamily="34" charset="-122"/>
                          <a:cs typeface="Arial" pitchFamily="34" charset="-120"/>
                        </a:rPr>
                        <a:t>Impacto</a:t>
                      </a:r>
                      <a:endParaRPr lang="en-US" sz="100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2F3B4C"/>
                          </a:solidFill>
                          <a:latin typeface="Arial" pitchFamily="34" charset="0"/>
                          <a:ea typeface="Arial" pitchFamily="34" charset="-122"/>
                          <a:cs typeface="Arial" pitchFamily="34" charset="-120"/>
                        </a:rPr>
                        <a:t>Razón de mortalidad materna en zona rural</a:t>
                      </a:r>
                      <a:endParaRPr lang="en-US" sz="100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292608"/>
            <a:ext cx="1005840" cy="41148"/>
          </a:xfrm>
          <a:prstGeom prst="rect">
            <a:avLst/>
          </a:prstGeom>
          <a:solidFill>
            <a:srgbClr val="FF9900"/>
          </a:solidFill>
          <a:ln/>
        </p:spPr>
      </p:sp>
      <p:sp>
        <p:nvSpPr>
          <p:cNvPr id="3" name="Text 1"/>
          <p:cNvSpPr/>
          <p:nvPr/>
        </p:nvSpPr>
        <p:spPr>
          <a:xfrm>
            <a:off x="640080" y="365760"/>
            <a:ext cx="6675120" cy="256032"/>
          </a:xfrm>
          <a:prstGeom prst="rect">
            <a:avLst/>
          </a:prstGeom>
          <a:noFill/>
          <a:ln/>
        </p:spPr>
        <p:txBody>
          <a:bodyPr wrap="square" rtlCol="0" anchor="ctr"/>
          <a:lstStyle/>
          <a:p>
            <a:pPr marL="0" indent="0">
              <a:buNone/>
            </a:pPr>
            <a:r>
              <a:rPr lang="en-US" sz="1000" b="1" kern="0" spc="150" dirty="0">
                <a:solidFill>
                  <a:srgbClr val="FC6E01"/>
                </a:solidFill>
                <a:latin typeface="Arial" pitchFamily="34" charset="0"/>
                <a:ea typeface="Arial" pitchFamily="34" charset="-122"/>
                <a:cs typeface="Arial" pitchFamily="34" charset="-120"/>
              </a:rPr>
              <a:t>TIPOLOGÍA DE INDICADORES</a:t>
            </a:r>
            <a:endParaRPr lang="en-US" sz="1000" dirty="0"/>
          </a:p>
        </p:txBody>
      </p:sp>
      <p:sp>
        <p:nvSpPr>
          <p:cNvPr id="4" name="Text 2"/>
          <p:cNvSpPr/>
          <p:nvPr/>
        </p:nvSpPr>
        <p:spPr>
          <a:xfrm>
            <a:off x="640080" y="621792"/>
            <a:ext cx="7315200" cy="502920"/>
          </a:xfrm>
          <a:prstGeom prst="rect">
            <a:avLst/>
          </a:prstGeom>
          <a:noFill/>
          <a:ln/>
        </p:spPr>
        <p:txBody>
          <a:bodyPr wrap="square" rtlCol="0" anchor="ctr"/>
          <a:lstStyle/>
          <a:p>
            <a:pPr marL="0" indent="0">
              <a:buNone/>
            </a:pPr>
            <a:r>
              <a:rPr lang="en-US" sz="2100" b="1" dirty="0">
                <a:solidFill>
                  <a:srgbClr val="173F72"/>
                </a:solidFill>
                <a:latin typeface="Arial" pitchFamily="34" charset="0"/>
                <a:ea typeface="Arial" pitchFamily="34" charset="-122"/>
                <a:cs typeface="Arial" pitchFamily="34" charset="-120"/>
              </a:rPr>
              <a:t>Tipología según Dimensión de Gestión</a:t>
            </a:r>
            <a:endParaRPr lang="en-US" sz="2100" dirty="0"/>
          </a:p>
        </p:txBody>
      </p:sp>
      <p:pic>
        <p:nvPicPr>
          <p:cNvPr id="6" name="Image 0" descr="/home/claude/taller/assets/footer_banner.png"/>
          <p:cNvPicPr>
            <a:picLocks noChangeAspect="1"/>
          </p:cNvPicPr>
          <p:nvPr/>
        </p:nvPicPr>
        <p:blipFill>
          <a:blip r:embed="rId3"/>
          <a:stretch>
            <a:fillRect/>
          </a:stretch>
        </p:blipFill>
        <p:spPr>
          <a:xfrm>
            <a:off x="0" y="4672584"/>
            <a:ext cx="9144000" cy="469087"/>
          </a:xfrm>
          <a:prstGeom prst="rect">
            <a:avLst/>
          </a:prstGeom>
        </p:spPr>
      </p:pic>
      <p:sp>
        <p:nvSpPr>
          <p:cNvPr id="7" name="Text 4"/>
          <p:cNvSpPr/>
          <p:nvPr/>
        </p:nvSpPr>
        <p:spPr>
          <a:xfrm>
            <a:off x="274320" y="4727448"/>
            <a:ext cx="5669280" cy="274320"/>
          </a:xfrm>
          <a:prstGeom prst="rect">
            <a:avLst/>
          </a:prstGeom>
          <a:noFill/>
          <a:ln/>
        </p:spPr>
        <p:txBody>
          <a:bodyPr wrap="square" lIns="0" tIns="0" rIns="0" bIns="0" rtlCol="0" anchor="ctr"/>
          <a:lstStyle/>
          <a:p>
            <a:pPr marL="0" indent="0">
              <a:buNone/>
            </a:pPr>
            <a:r>
              <a:rPr lang="en-US" sz="800" dirty="0">
                <a:solidFill>
                  <a:srgbClr val="FFFFFF"/>
                </a:solidFill>
                <a:latin typeface="Arial" pitchFamily="34" charset="0"/>
                <a:ea typeface="Arial" pitchFamily="34" charset="-122"/>
                <a:cs typeface="Arial" pitchFamily="34" charset="-120"/>
              </a:rPr>
              <a:t>Taller de Indicadores de Gestión Pública con IA</a:t>
            </a:r>
            <a:endParaRPr lang="en-US" sz="8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40080" y="1463040"/>
          <a:ext cx="7863840" cy="2743200"/>
        </p:xfrm>
        <a:graphic>
          <a:graphicData uri="http://schemas.openxmlformats.org/drawingml/2006/table">
            <a:tbl>
              <a:tblPr/>
              <a:tblGrid>
                <a:gridCol w="1463040">
                  <a:extLst>
                    <a:ext uri="{9D8B030D-6E8A-4147-A177-3AD203B41FA5}">
                      <a16:colId xmlns:a16="http://schemas.microsoft.com/office/drawing/2014/main" val="20000"/>
                    </a:ext>
                  </a:extLst>
                </a:gridCol>
                <a:gridCol w="3383280">
                  <a:extLst>
                    <a:ext uri="{9D8B030D-6E8A-4147-A177-3AD203B41FA5}">
                      <a16:colId xmlns:a16="http://schemas.microsoft.com/office/drawing/2014/main" val="20001"/>
                    </a:ext>
                  </a:extLst>
                </a:gridCol>
                <a:gridCol w="3017520">
                  <a:extLst>
                    <a:ext uri="{9D8B030D-6E8A-4147-A177-3AD203B41FA5}">
                      <a16:colId xmlns:a16="http://schemas.microsoft.com/office/drawing/2014/main" val="20002"/>
                    </a:ext>
                  </a:extLst>
                </a:gridCol>
              </a:tblGrid>
              <a:tr h="457200">
                <a:tc>
                  <a:txBody>
                    <a:bodyPr/>
                    <a:lstStyle/>
                    <a:p>
                      <a:pPr marL="0" indent="0" algn="l">
                        <a:buNone/>
                      </a:pPr>
                      <a:r>
                        <a:rPr lang="en-US" sz="950" b="1" dirty="0">
                          <a:solidFill>
                            <a:srgbClr val="FFFFFF"/>
                          </a:solidFill>
                          <a:latin typeface="Arial" pitchFamily="34" charset="0"/>
                          <a:ea typeface="Arial" pitchFamily="34" charset="-122"/>
                          <a:cs typeface="Arial" pitchFamily="34" charset="-120"/>
                        </a:rPr>
                        <a:t>Dimensión</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73F72"/>
                    </a:solidFill>
                  </a:tcPr>
                </a:tc>
                <a:tc>
                  <a:txBody>
                    <a:bodyPr/>
                    <a:lstStyle/>
                    <a:p>
                      <a:pPr marL="0" indent="0" algn="l">
                        <a:buNone/>
                      </a:pPr>
                      <a:r>
                        <a:rPr lang="en-US" sz="950" b="1" dirty="0">
                          <a:solidFill>
                            <a:srgbClr val="FFFFFF"/>
                          </a:solidFill>
                          <a:latin typeface="Arial" pitchFamily="34" charset="0"/>
                          <a:ea typeface="Arial" pitchFamily="34" charset="-122"/>
                          <a:cs typeface="Arial" pitchFamily="34" charset="-120"/>
                        </a:rPr>
                        <a:t>Qué mide</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73F72"/>
                    </a:solidFill>
                  </a:tcPr>
                </a:tc>
                <a:tc>
                  <a:txBody>
                    <a:bodyPr/>
                    <a:lstStyle/>
                    <a:p>
                      <a:pPr marL="0" indent="0" algn="l">
                        <a:buNone/>
                      </a:pPr>
                      <a:r>
                        <a:rPr lang="en-US" sz="950" b="1" dirty="0">
                          <a:solidFill>
                            <a:srgbClr val="FFFFFF"/>
                          </a:solidFill>
                          <a:latin typeface="Arial" pitchFamily="34" charset="0"/>
                          <a:ea typeface="Arial" pitchFamily="34" charset="-122"/>
                          <a:cs typeface="Arial" pitchFamily="34" charset="-120"/>
                        </a:rPr>
                        <a:t>Fórmula de referencia</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73F72"/>
                    </a:solidFill>
                  </a:tcPr>
                </a:tc>
                <a:extLst>
                  <a:ext uri="{0D108BD9-81ED-4DB2-BD59-A6C34878D82A}">
                    <a16:rowId xmlns:a16="http://schemas.microsoft.com/office/drawing/2014/main" val="10000"/>
                  </a:ext>
                </a:extLst>
              </a:tr>
              <a:tr h="457200">
                <a:tc>
                  <a:txBody>
                    <a:bodyPr/>
                    <a:lstStyle/>
                    <a:p>
                      <a:pPr marL="0" indent="0" algn="l">
                        <a:buNone/>
                      </a:pPr>
                      <a:r>
                        <a:rPr lang="en-US" sz="950" b="1" dirty="0">
                          <a:solidFill>
                            <a:srgbClr val="173F72"/>
                          </a:solidFill>
                          <a:latin typeface="Arial" pitchFamily="34" charset="0"/>
                          <a:ea typeface="Arial" pitchFamily="34" charset="-122"/>
                          <a:cs typeface="Arial" pitchFamily="34" charset="-120"/>
                        </a:rPr>
                        <a:t>Eficiencia</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Relación entre resultados obtenidos y recursos empleados</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Unidades de producto ÷ Recursos utilizados</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lgn="l">
                        <a:buNone/>
                      </a:pPr>
                      <a:r>
                        <a:rPr lang="en-US" sz="950" b="1" dirty="0">
                          <a:solidFill>
                            <a:srgbClr val="173F72"/>
                          </a:solidFill>
                          <a:latin typeface="Arial" pitchFamily="34" charset="0"/>
                          <a:ea typeface="Arial" pitchFamily="34" charset="-122"/>
                          <a:cs typeface="Arial" pitchFamily="34" charset="-120"/>
                        </a:rPr>
                        <a:t>Eficacia</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Grado de cumplimiento de las metas programadas</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(Meta alcanzada ÷ Meta planeada) × 100</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lgn="l">
                        <a:buNone/>
                      </a:pPr>
                      <a:r>
                        <a:rPr lang="en-US" sz="950" b="1" dirty="0">
                          <a:solidFill>
                            <a:srgbClr val="173F72"/>
                          </a:solidFill>
                          <a:latin typeface="Arial" pitchFamily="34" charset="0"/>
                          <a:ea typeface="Arial" pitchFamily="34" charset="-122"/>
                          <a:cs typeface="Arial" pitchFamily="34" charset="-120"/>
                        </a:rPr>
                        <a:t>Efectividad</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Síntesis del logro simultáneo de eficiencia y eficacia</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Se evalúa combinando ambos índices</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lgn="l">
                        <a:buNone/>
                      </a:pPr>
                      <a:r>
                        <a:rPr lang="en-US" sz="950" b="1" dirty="0">
                          <a:solidFill>
                            <a:srgbClr val="173F72"/>
                          </a:solidFill>
                          <a:latin typeface="Arial" pitchFamily="34" charset="0"/>
                          <a:ea typeface="Arial" pitchFamily="34" charset="-122"/>
                          <a:cs typeface="Arial" pitchFamily="34" charset="-120"/>
                        </a:rPr>
                        <a:t>Economía</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Capacidad de administrar recursos al menor costo posible</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(Costos de insumo ÷ Inversión total) × 100</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57200">
                <a:tc>
                  <a:txBody>
                    <a:bodyPr/>
                    <a:lstStyle/>
                    <a:p>
                      <a:pPr marL="0" indent="0" algn="l">
                        <a:buNone/>
                      </a:pPr>
                      <a:r>
                        <a:rPr lang="en-US" sz="950" b="1" dirty="0">
                          <a:solidFill>
                            <a:srgbClr val="173F72"/>
                          </a:solidFill>
                          <a:latin typeface="Arial" pitchFamily="34" charset="0"/>
                          <a:ea typeface="Arial" pitchFamily="34" charset="-122"/>
                          <a:cs typeface="Arial" pitchFamily="34" charset="-120"/>
                        </a:rPr>
                        <a:t>Calidad</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Oportunidad, accesibilidad, percepción y precisión</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Encuestas de percepción, tiempos de respuesta, tasas de error</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9" name="Text 5"/>
          <p:cNvSpPr/>
          <p:nvPr/>
        </p:nvSpPr>
        <p:spPr>
          <a:xfrm>
            <a:off x="640080" y="4343400"/>
            <a:ext cx="7863840" cy="274320"/>
          </a:xfrm>
          <a:prstGeom prst="rect">
            <a:avLst/>
          </a:prstGeom>
          <a:noFill/>
          <a:ln/>
        </p:spPr>
        <p:txBody>
          <a:bodyPr wrap="square" rtlCol="0" anchor="ctr"/>
          <a:lstStyle/>
          <a:p>
            <a:pPr marL="0" indent="0">
              <a:buNone/>
            </a:pPr>
            <a:r>
              <a:rPr lang="en-US" sz="900" i="1" dirty="0">
                <a:solidFill>
                  <a:srgbClr val="5C6B7C"/>
                </a:solidFill>
                <a:latin typeface="Arial" pitchFamily="34" charset="0"/>
                <a:ea typeface="Arial" pitchFamily="34" charset="-122"/>
                <a:cs typeface="Arial" pitchFamily="34" charset="-120"/>
              </a:rPr>
              <a:t>Fuente: DANE (EFET) · DAFP MIPG v4 (2018) · Armijo &amp; Bonnefoy, CEPAL/ILPES</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292608"/>
            <a:ext cx="1005840" cy="41148"/>
          </a:xfrm>
          <a:prstGeom prst="rect">
            <a:avLst/>
          </a:prstGeom>
          <a:solidFill>
            <a:srgbClr val="FF9900"/>
          </a:solidFill>
          <a:ln/>
        </p:spPr>
      </p:sp>
      <p:sp>
        <p:nvSpPr>
          <p:cNvPr id="3" name="Text 1"/>
          <p:cNvSpPr/>
          <p:nvPr/>
        </p:nvSpPr>
        <p:spPr>
          <a:xfrm>
            <a:off x="640080" y="365760"/>
            <a:ext cx="6675120" cy="256032"/>
          </a:xfrm>
          <a:prstGeom prst="rect">
            <a:avLst/>
          </a:prstGeom>
          <a:noFill/>
          <a:ln/>
        </p:spPr>
        <p:txBody>
          <a:bodyPr wrap="square" rtlCol="0" anchor="ctr"/>
          <a:lstStyle/>
          <a:p>
            <a:pPr marL="0" indent="0">
              <a:buNone/>
            </a:pPr>
            <a:r>
              <a:rPr lang="en-US" sz="1000" b="1" kern="0" spc="150" dirty="0">
                <a:solidFill>
                  <a:srgbClr val="FC6E01"/>
                </a:solidFill>
                <a:latin typeface="Arial" pitchFamily="34" charset="0"/>
                <a:ea typeface="Arial" pitchFamily="34" charset="-122"/>
                <a:cs typeface="Arial" pitchFamily="34" charset="-120"/>
              </a:rPr>
              <a:t>ACTIVIDAD PRÁCTICA · MÓDULO 1 (7 MIN)</a:t>
            </a:r>
            <a:endParaRPr lang="en-US" sz="1000" dirty="0"/>
          </a:p>
        </p:txBody>
      </p:sp>
      <p:sp>
        <p:nvSpPr>
          <p:cNvPr id="4" name="Text 2"/>
          <p:cNvSpPr/>
          <p:nvPr/>
        </p:nvSpPr>
        <p:spPr>
          <a:xfrm>
            <a:off x="640080" y="621792"/>
            <a:ext cx="7315200" cy="502920"/>
          </a:xfrm>
          <a:prstGeom prst="rect">
            <a:avLst/>
          </a:prstGeom>
          <a:noFill/>
          <a:ln/>
        </p:spPr>
        <p:txBody>
          <a:bodyPr wrap="square" rtlCol="0" anchor="ctr"/>
          <a:lstStyle/>
          <a:p>
            <a:pPr marL="0" indent="0">
              <a:buNone/>
            </a:pPr>
            <a:r>
              <a:rPr lang="en-US" sz="2100" b="1" dirty="0">
                <a:solidFill>
                  <a:srgbClr val="173F72"/>
                </a:solidFill>
                <a:latin typeface="Arial" pitchFamily="34" charset="0"/>
                <a:ea typeface="Arial" pitchFamily="34" charset="-122"/>
                <a:cs typeface="Arial" pitchFamily="34" charset="-120"/>
              </a:rPr>
              <a:t>Clasifique: Dato, Indicador o Pregunta de Gestión</a:t>
            </a:r>
            <a:endParaRPr lang="en-US" sz="2100" dirty="0"/>
          </a:p>
        </p:txBody>
      </p:sp>
      <p:pic>
        <p:nvPicPr>
          <p:cNvPr id="6" name="Image 0" descr="/home/claude/taller/assets/footer_banner.png"/>
          <p:cNvPicPr>
            <a:picLocks noChangeAspect="1"/>
          </p:cNvPicPr>
          <p:nvPr/>
        </p:nvPicPr>
        <p:blipFill>
          <a:blip r:embed="rId3"/>
          <a:stretch>
            <a:fillRect/>
          </a:stretch>
        </p:blipFill>
        <p:spPr>
          <a:xfrm>
            <a:off x="0" y="4672584"/>
            <a:ext cx="9144000" cy="469087"/>
          </a:xfrm>
          <a:prstGeom prst="rect">
            <a:avLst/>
          </a:prstGeom>
        </p:spPr>
      </p:pic>
      <p:sp>
        <p:nvSpPr>
          <p:cNvPr id="7" name="Text 4"/>
          <p:cNvSpPr/>
          <p:nvPr/>
        </p:nvSpPr>
        <p:spPr>
          <a:xfrm>
            <a:off x="274320" y="4727448"/>
            <a:ext cx="5669280" cy="274320"/>
          </a:xfrm>
          <a:prstGeom prst="rect">
            <a:avLst/>
          </a:prstGeom>
          <a:noFill/>
          <a:ln/>
        </p:spPr>
        <p:txBody>
          <a:bodyPr wrap="square" lIns="0" tIns="0" rIns="0" bIns="0" rtlCol="0" anchor="ctr"/>
          <a:lstStyle/>
          <a:p>
            <a:pPr marL="0" indent="0">
              <a:buNone/>
            </a:pPr>
            <a:r>
              <a:rPr lang="en-US" sz="800" dirty="0">
                <a:solidFill>
                  <a:srgbClr val="FFFFFF"/>
                </a:solidFill>
                <a:latin typeface="Arial" pitchFamily="34" charset="0"/>
                <a:ea typeface="Arial" pitchFamily="34" charset="-122"/>
                <a:cs typeface="Arial" pitchFamily="34" charset="-120"/>
              </a:rPr>
              <a:t>Taller de Indicadores de Gestión Pública con IA</a:t>
            </a:r>
            <a:endParaRPr lang="en-US" sz="800" dirty="0"/>
          </a:p>
        </p:txBody>
      </p:sp>
      <p:sp>
        <p:nvSpPr>
          <p:cNvPr id="8" name="Shape 5"/>
          <p:cNvSpPr/>
          <p:nvPr/>
        </p:nvSpPr>
        <p:spPr>
          <a:xfrm>
            <a:off x="640080" y="1325880"/>
            <a:ext cx="7863840" cy="365760"/>
          </a:xfrm>
          <a:prstGeom prst="roundRect">
            <a:avLst>
              <a:gd name="adj" fmla="val 10000"/>
            </a:avLst>
          </a:prstGeom>
          <a:solidFill>
            <a:srgbClr val="FC6E01"/>
          </a:solidFill>
          <a:ln/>
        </p:spPr>
      </p:sp>
      <p:sp>
        <p:nvSpPr>
          <p:cNvPr id="9" name="Text 6"/>
          <p:cNvSpPr/>
          <p:nvPr/>
        </p:nvSpPr>
        <p:spPr>
          <a:xfrm>
            <a:off x="777240" y="1325880"/>
            <a:ext cx="7589520" cy="365760"/>
          </a:xfrm>
          <a:prstGeom prst="rect">
            <a:avLst/>
          </a:prstGeom>
          <a:noFill/>
          <a:ln/>
        </p:spPr>
        <p:txBody>
          <a:bodyPr wrap="square" rtlCol="0" anchor="ctr"/>
          <a:lstStyle/>
          <a:p>
            <a:pPr marL="0" indent="0">
              <a:buNone/>
            </a:pPr>
            <a:r>
              <a:rPr lang="en-US" sz="1100" b="1" dirty="0">
                <a:solidFill>
                  <a:srgbClr val="FFFFFF"/>
                </a:solidFill>
                <a:latin typeface="Arial" pitchFamily="34" charset="0"/>
                <a:ea typeface="Arial" pitchFamily="34" charset="-122"/>
                <a:cs typeface="Arial" pitchFamily="34" charset="-120"/>
              </a:rPr>
              <a:t>Trabajo individual · escriban su respuesta en el chat cuando se indique</a:t>
            </a:r>
            <a:endParaRPr lang="en-US" sz="11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40080" y="1828800"/>
          <a:ext cx="7863840" cy="2688336"/>
        </p:xfrm>
        <a:graphic>
          <a:graphicData uri="http://schemas.openxmlformats.org/drawingml/2006/table">
            <a:tbl>
              <a:tblPr/>
              <a:tblGrid>
                <a:gridCol w="630936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tblGrid>
              <a:tr h="384048">
                <a:tc>
                  <a:txBody>
                    <a:bodyPr/>
                    <a:lstStyle/>
                    <a:p>
                      <a:pPr marL="0" indent="0" algn="l">
                        <a:buNone/>
                      </a:pPr>
                      <a:r>
                        <a:rPr lang="en-US" sz="950" b="1" dirty="0">
                          <a:solidFill>
                            <a:srgbClr val="FFFFFF"/>
                          </a:solidFill>
                          <a:latin typeface="Arial" pitchFamily="34" charset="0"/>
                          <a:ea typeface="Arial" pitchFamily="34" charset="-122"/>
                          <a:cs typeface="Arial" pitchFamily="34" charset="-120"/>
                        </a:rPr>
                        <a:t>Enunciado</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73F72"/>
                    </a:solidFill>
                  </a:tcPr>
                </a:tc>
                <a:tc>
                  <a:txBody>
                    <a:bodyPr/>
                    <a:lstStyle/>
                    <a:p>
                      <a:pPr marL="0" indent="0" algn="l">
                        <a:buNone/>
                      </a:pPr>
                      <a:r>
                        <a:rPr lang="en-US" sz="950" b="1" dirty="0">
                          <a:solidFill>
                            <a:srgbClr val="FFFFFF"/>
                          </a:solidFill>
                          <a:latin typeface="Arial" pitchFamily="34" charset="0"/>
                          <a:ea typeface="Arial" pitchFamily="34" charset="-122"/>
                          <a:cs typeface="Arial" pitchFamily="34" charset="-120"/>
                        </a:rPr>
                        <a:t>Clasificación</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73F72"/>
                    </a:solidFill>
                  </a:tcPr>
                </a:tc>
                <a:extLst>
                  <a:ext uri="{0D108BD9-81ED-4DB2-BD59-A6C34878D82A}">
                    <a16:rowId xmlns:a16="http://schemas.microsoft.com/office/drawing/2014/main" val="10000"/>
                  </a:ext>
                </a:extLst>
              </a:tr>
              <a:tr h="384048">
                <a:tc>
                  <a:txBody>
                    <a:bodyPr/>
                    <a:lstStyle/>
                    <a:p>
                      <a:pPr marL="0" indent="0" algn="l">
                        <a:buNone/>
                      </a:pPr>
                      <a:r>
                        <a:rPr lang="en-US" sz="950" b="1" dirty="0">
                          <a:solidFill>
                            <a:srgbClr val="173F72"/>
                          </a:solidFill>
                          <a:latin typeface="Arial" pitchFamily="34" charset="0"/>
                          <a:ea typeface="Arial" pitchFamily="34" charset="-122"/>
                          <a:cs typeface="Arial" pitchFamily="34" charset="-120"/>
                        </a:rPr>
                        <a:t>1.200 viviendas VIS entregadas en el municipio en 2025</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________</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lgn="l">
                        <a:buNone/>
                      </a:pPr>
                      <a:r>
                        <a:rPr lang="en-US" sz="950" b="1" dirty="0">
                          <a:solidFill>
                            <a:srgbClr val="173F72"/>
                          </a:solidFill>
                          <a:latin typeface="Arial" pitchFamily="34" charset="0"/>
                          <a:ea typeface="Arial" pitchFamily="34" charset="-122"/>
                          <a:cs typeface="Arial" pitchFamily="34" charset="-120"/>
                        </a:rPr>
                        <a:t>% de viviendas VIS con conexión a acueducto, respecto a la meta</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________</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4048">
                <a:tc>
                  <a:txBody>
                    <a:bodyPr/>
                    <a:lstStyle/>
                    <a:p>
                      <a:pPr marL="0" indent="0" algn="l">
                        <a:buNone/>
                      </a:pPr>
                      <a:r>
                        <a:rPr lang="en-US" sz="950" b="1" dirty="0">
                          <a:solidFill>
                            <a:srgbClr val="173F72"/>
                          </a:solidFill>
                          <a:latin typeface="Arial" pitchFamily="34" charset="0"/>
                          <a:ea typeface="Arial" pitchFamily="34" charset="-122"/>
                          <a:cs typeface="Arial" pitchFamily="34" charset="-120"/>
                        </a:rPr>
                        <a:t>¿Estamos cerrando la brecha de acceso a agua potable rural?</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________</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lgn="l">
                        <a:buNone/>
                      </a:pPr>
                      <a:r>
                        <a:rPr lang="en-US" sz="950" b="1" dirty="0">
                          <a:solidFill>
                            <a:srgbClr val="173F72"/>
                          </a:solidFill>
                          <a:latin typeface="Arial" pitchFamily="34" charset="0"/>
                          <a:ea typeface="Arial" pitchFamily="34" charset="-122"/>
                          <a:cs typeface="Arial" pitchFamily="34" charset="-120"/>
                        </a:rPr>
                        <a:t>80 kilómetros de vía pavimentados en la vigencia 2025</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________</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84048">
                <a:tc>
                  <a:txBody>
                    <a:bodyPr/>
                    <a:lstStyle/>
                    <a:p>
                      <a:pPr marL="0" indent="0" algn="l">
                        <a:buNone/>
                      </a:pPr>
                      <a:r>
                        <a:rPr lang="en-US" sz="950" b="1" dirty="0">
                          <a:solidFill>
                            <a:srgbClr val="173F72"/>
                          </a:solidFill>
                          <a:latin typeface="Arial" pitchFamily="34" charset="0"/>
                          <a:ea typeface="Arial" pitchFamily="34" charset="-122"/>
                          <a:cs typeface="Arial" pitchFamily="34" charset="-120"/>
                        </a:rPr>
                        <a:t>Tasa de cobertura de vacunación infantil frente al año anterior</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________</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84048">
                <a:tc>
                  <a:txBody>
                    <a:bodyPr/>
                    <a:lstStyle/>
                    <a:p>
                      <a:pPr marL="0" indent="0" algn="l">
                        <a:buNone/>
                      </a:pPr>
                      <a:r>
                        <a:rPr lang="en-US" sz="950" b="1" dirty="0">
                          <a:solidFill>
                            <a:srgbClr val="173F72"/>
                          </a:solidFill>
                          <a:latin typeface="Arial" pitchFamily="34" charset="0"/>
                          <a:ea typeface="Arial" pitchFamily="34" charset="-122"/>
                          <a:cs typeface="Arial" pitchFamily="34" charset="-120"/>
                        </a:rPr>
                        <a:t>¿Los programas culturales llegan a los jóvenes de las comunas alejadas?</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________</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292608"/>
            <a:ext cx="1005840" cy="41148"/>
          </a:xfrm>
          <a:prstGeom prst="rect">
            <a:avLst/>
          </a:prstGeom>
          <a:solidFill>
            <a:srgbClr val="FF9900"/>
          </a:solidFill>
          <a:ln/>
        </p:spPr>
      </p:sp>
      <p:sp>
        <p:nvSpPr>
          <p:cNvPr id="3" name="Text 1"/>
          <p:cNvSpPr/>
          <p:nvPr/>
        </p:nvSpPr>
        <p:spPr>
          <a:xfrm>
            <a:off x="640080" y="365760"/>
            <a:ext cx="6675120" cy="256032"/>
          </a:xfrm>
          <a:prstGeom prst="rect">
            <a:avLst/>
          </a:prstGeom>
          <a:noFill/>
          <a:ln/>
        </p:spPr>
        <p:txBody>
          <a:bodyPr wrap="square" rtlCol="0" anchor="ctr"/>
          <a:lstStyle/>
          <a:p>
            <a:pPr marL="0" indent="0">
              <a:buNone/>
            </a:pPr>
            <a:r>
              <a:rPr lang="en-US" sz="1000" b="1" kern="0" spc="150" dirty="0">
                <a:solidFill>
                  <a:srgbClr val="FC6E01"/>
                </a:solidFill>
                <a:latin typeface="Arial" pitchFamily="34" charset="0"/>
                <a:ea typeface="Arial" pitchFamily="34" charset="-122"/>
                <a:cs typeface="Arial" pitchFamily="34" charset="-120"/>
              </a:rPr>
              <a:t>ACTIVIDAD PRÁCTICA · MÓDULO 1 (7 MIN)</a:t>
            </a:r>
            <a:endParaRPr lang="en-US" sz="1000" dirty="0"/>
          </a:p>
        </p:txBody>
      </p:sp>
      <p:sp>
        <p:nvSpPr>
          <p:cNvPr id="4" name="Text 2"/>
          <p:cNvSpPr/>
          <p:nvPr/>
        </p:nvSpPr>
        <p:spPr>
          <a:xfrm>
            <a:off x="640080" y="621792"/>
            <a:ext cx="7315200" cy="502920"/>
          </a:xfrm>
          <a:prstGeom prst="rect">
            <a:avLst/>
          </a:prstGeom>
          <a:noFill/>
          <a:ln/>
        </p:spPr>
        <p:txBody>
          <a:bodyPr wrap="square" rtlCol="0" anchor="ctr"/>
          <a:lstStyle/>
          <a:p>
            <a:pPr marL="0" indent="0">
              <a:buNone/>
            </a:pPr>
            <a:r>
              <a:rPr lang="en-US" sz="2100" b="1" dirty="0">
                <a:solidFill>
                  <a:srgbClr val="173F72"/>
                </a:solidFill>
                <a:latin typeface="Arial" pitchFamily="34" charset="0"/>
                <a:ea typeface="Arial" pitchFamily="34" charset="-122"/>
                <a:cs typeface="Arial" pitchFamily="34" charset="-120"/>
              </a:rPr>
              <a:t>Ubique en la Cadena de Valor</a:t>
            </a:r>
            <a:endParaRPr lang="en-US" sz="2100" dirty="0"/>
          </a:p>
        </p:txBody>
      </p:sp>
      <p:pic>
        <p:nvPicPr>
          <p:cNvPr id="6" name="Image 0" descr="/home/claude/taller/assets/footer_banner.png"/>
          <p:cNvPicPr>
            <a:picLocks noChangeAspect="1"/>
          </p:cNvPicPr>
          <p:nvPr/>
        </p:nvPicPr>
        <p:blipFill>
          <a:blip r:embed="rId3"/>
          <a:stretch>
            <a:fillRect/>
          </a:stretch>
        </p:blipFill>
        <p:spPr>
          <a:xfrm>
            <a:off x="0" y="4672584"/>
            <a:ext cx="9144000" cy="469087"/>
          </a:xfrm>
          <a:prstGeom prst="rect">
            <a:avLst/>
          </a:prstGeom>
        </p:spPr>
      </p:pic>
      <p:sp>
        <p:nvSpPr>
          <p:cNvPr id="7" name="Text 4"/>
          <p:cNvSpPr/>
          <p:nvPr/>
        </p:nvSpPr>
        <p:spPr>
          <a:xfrm>
            <a:off x="274320" y="4727448"/>
            <a:ext cx="5669280" cy="274320"/>
          </a:xfrm>
          <a:prstGeom prst="rect">
            <a:avLst/>
          </a:prstGeom>
          <a:noFill/>
          <a:ln/>
        </p:spPr>
        <p:txBody>
          <a:bodyPr wrap="square" lIns="0" tIns="0" rIns="0" bIns="0" rtlCol="0" anchor="ctr"/>
          <a:lstStyle/>
          <a:p>
            <a:pPr marL="0" indent="0">
              <a:buNone/>
            </a:pPr>
            <a:r>
              <a:rPr lang="en-US" sz="800" dirty="0">
                <a:solidFill>
                  <a:srgbClr val="FFFFFF"/>
                </a:solidFill>
                <a:latin typeface="Arial" pitchFamily="34" charset="0"/>
                <a:ea typeface="Arial" pitchFamily="34" charset="-122"/>
                <a:cs typeface="Arial" pitchFamily="34" charset="-120"/>
              </a:rPr>
              <a:t>Taller de Indicadores de Gestión Pública con IA</a:t>
            </a:r>
            <a:endParaRPr lang="en-US" sz="800" dirty="0"/>
          </a:p>
        </p:txBody>
      </p:sp>
      <p:sp>
        <p:nvSpPr>
          <p:cNvPr id="8" name="Shape 5"/>
          <p:cNvSpPr/>
          <p:nvPr/>
        </p:nvSpPr>
        <p:spPr>
          <a:xfrm>
            <a:off x="640080" y="1325880"/>
            <a:ext cx="7863840" cy="365760"/>
          </a:xfrm>
          <a:prstGeom prst="roundRect">
            <a:avLst>
              <a:gd name="adj" fmla="val 10000"/>
            </a:avLst>
          </a:prstGeom>
          <a:solidFill>
            <a:srgbClr val="FC6E01"/>
          </a:solidFill>
          <a:ln/>
        </p:spPr>
      </p:sp>
      <p:sp>
        <p:nvSpPr>
          <p:cNvPr id="9" name="Text 6"/>
          <p:cNvSpPr/>
          <p:nvPr/>
        </p:nvSpPr>
        <p:spPr>
          <a:xfrm>
            <a:off x="777240" y="1325880"/>
            <a:ext cx="7589520" cy="365760"/>
          </a:xfrm>
          <a:prstGeom prst="rect">
            <a:avLst/>
          </a:prstGeom>
          <a:noFill/>
          <a:ln/>
        </p:spPr>
        <p:txBody>
          <a:bodyPr wrap="square" rtlCol="0" anchor="ctr"/>
          <a:lstStyle/>
          <a:p>
            <a:pPr marL="0" indent="0">
              <a:buNone/>
            </a:pPr>
            <a:r>
              <a:rPr lang="en-US" sz="1100" b="1" dirty="0">
                <a:solidFill>
                  <a:srgbClr val="FFFFFF"/>
                </a:solidFill>
                <a:latin typeface="Arial" pitchFamily="34" charset="0"/>
                <a:ea typeface="Arial" pitchFamily="34" charset="-122"/>
                <a:cs typeface="Arial" pitchFamily="34" charset="-120"/>
              </a:rPr>
              <a:t>Trabajo individual · misma mecánica que la actividad anterior</a:t>
            </a:r>
            <a:endParaRPr lang="en-US" sz="11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40080" y="1828800"/>
          <a:ext cx="7863840" cy="2304288"/>
        </p:xfrm>
        <a:graphic>
          <a:graphicData uri="http://schemas.openxmlformats.org/drawingml/2006/table">
            <a:tbl>
              <a:tblPr/>
              <a:tblGrid>
                <a:gridCol w="630936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tblGrid>
              <a:tr h="384048">
                <a:tc>
                  <a:txBody>
                    <a:bodyPr/>
                    <a:lstStyle/>
                    <a:p>
                      <a:pPr marL="0" indent="0" algn="l">
                        <a:buNone/>
                      </a:pPr>
                      <a:r>
                        <a:rPr lang="en-US" sz="950" b="1" dirty="0">
                          <a:solidFill>
                            <a:srgbClr val="FFFFFF"/>
                          </a:solidFill>
                          <a:latin typeface="Arial" pitchFamily="34" charset="0"/>
                          <a:ea typeface="Arial" pitchFamily="34" charset="-122"/>
                          <a:cs typeface="Arial" pitchFamily="34" charset="-120"/>
                        </a:rPr>
                        <a:t>Enunciado</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73F72"/>
                    </a:solidFill>
                  </a:tcPr>
                </a:tc>
                <a:tc>
                  <a:txBody>
                    <a:bodyPr/>
                    <a:lstStyle/>
                    <a:p>
                      <a:pPr marL="0" indent="0" algn="l">
                        <a:buNone/>
                      </a:pPr>
                      <a:r>
                        <a:rPr lang="en-US" sz="950" b="1" dirty="0">
                          <a:solidFill>
                            <a:srgbClr val="FFFFFF"/>
                          </a:solidFill>
                          <a:latin typeface="Arial" pitchFamily="34" charset="0"/>
                          <a:ea typeface="Arial" pitchFamily="34" charset="-122"/>
                          <a:cs typeface="Arial" pitchFamily="34" charset="-120"/>
                        </a:rPr>
                        <a:t>Eslabón</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73F72"/>
                    </a:solidFill>
                  </a:tcPr>
                </a:tc>
                <a:extLst>
                  <a:ext uri="{0D108BD9-81ED-4DB2-BD59-A6C34878D82A}">
                    <a16:rowId xmlns:a16="http://schemas.microsoft.com/office/drawing/2014/main" val="10000"/>
                  </a:ext>
                </a:extLst>
              </a:tr>
              <a:tr h="384048">
                <a:tc>
                  <a:txBody>
                    <a:bodyPr/>
                    <a:lstStyle/>
                    <a:p>
                      <a:pPr marL="0" indent="0" algn="l">
                        <a:buNone/>
                      </a:pPr>
                      <a:r>
                        <a:rPr lang="en-US" sz="950" b="1" dirty="0">
                          <a:solidFill>
                            <a:srgbClr val="173F72"/>
                          </a:solidFill>
                          <a:latin typeface="Arial" pitchFamily="34" charset="0"/>
                          <a:ea typeface="Arial" pitchFamily="34" charset="-122"/>
                          <a:cs typeface="Arial" pitchFamily="34" charset="-120"/>
                        </a:rPr>
                        <a:t>Presupuesto asignado para el mejoramiento de vías terciarias</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________</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lgn="l">
                        <a:buNone/>
                      </a:pPr>
                      <a:r>
                        <a:rPr lang="en-US" sz="950" b="1" dirty="0">
                          <a:solidFill>
                            <a:srgbClr val="173F72"/>
                          </a:solidFill>
                          <a:latin typeface="Arial" pitchFamily="34" charset="0"/>
                          <a:ea typeface="Arial" pitchFamily="34" charset="-122"/>
                          <a:cs typeface="Arial" pitchFamily="34" charset="-120"/>
                        </a:rPr>
                        <a:t>N.º de brigadas de bacheo realizadas en el trimestre</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________</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4048">
                <a:tc>
                  <a:txBody>
                    <a:bodyPr/>
                    <a:lstStyle/>
                    <a:p>
                      <a:pPr marL="0" indent="0" algn="l">
                        <a:buNone/>
                      </a:pPr>
                      <a:r>
                        <a:rPr lang="en-US" sz="950" b="1" dirty="0">
                          <a:solidFill>
                            <a:srgbClr val="173F72"/>
                          </a:solidFill>
                          <a:latin typeface="Arial" pitchFamily="34" charset="0"/>
                          <a:ea typeface="Arial" pitchFamily="34" charset="-122"/>
                          <a:cs typeface="Arial" pitchFamily="34" charset="-120"/>
                        </a:rPr>
                        <a:t>Kilómetros de vía terciaria mejorados en el periodo</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________</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lgn="l">
                        <a:buNone/>
                      </a:pPr>
                      <a:r>
                        <a:rPr lang="en-US" sz="950" b="1" dirty="0">
                          <a:solidFill>
                            <a:srgbClr val="173F72"/>
                          </a:solidFill>
                          <a:latin typeface="Arial" pitchFamily="34" charset="0"/>
                          <a:ea typeface="Arial" pitchFamily="34" charset="-122"/>
                          <a:cs typeface="Arial" pitchFamily="34" charset="-120"/>
                        </a:rPr>
                        <a:t>Reducción del tiempo de desplazamiento rural-urbano</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________</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84048">
                <a:tc>
                  <a:txBody>
                    <a:bodyPr/>
                    <a:lstStyle/>
                    <a:p>
                      <a:pPr marL="0" indent="0" algn="l">
                        <a:buNone/>
                      </a:pPr>
                      <a:r>
                        <a:rPr lang="en-US" sz="950" b="1" dirty="0">
                          <a:solidFill>
                            <a:srgbClr val="173F72"/>
                          </a:solidFill>
                          <a:latin typeface="Arial" pitchFamily="34" charset="0"/>
                          <a:ea typeface="Arial" pitchFamily="34" charset="-122"/>
                          <a:cs typeface="Arial" pitchFamily="34" charset="-120"/>
                        </a:rPr>
                        <a:t>Incremento del ingreso agrícola por mejor acceso a mercado</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________</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1" name="Text 7"/>
          <p:cNvSpPr/>
          <p:nvPr/>
        </p:nvSpPr>
        <p:spPr>
          <a:xfrm>
            <a:off x="640080" y="4070500"/>
            <a:ext cx="7863840" cy="548640"/>
          </a:xfrm>
          <a:prstGeom prst="rect">
            <a:avLst/>
          </a:prstGeom>
          <a:noFill/>
          <a:ln/>
        </p:spPr>
        <p:txBody>
          <a:bodyPr wrap="square" rtlCol="0" anchor="ctr"/>
          <a:lstStyle/>
          <a:p>
            <a:pPr marL="0" indent="0">
              <a:buNone/>
            </a:pPr>
            <a:r>
              <a:rPr lang="en-US" sz="900" i="1" dirty="0">
                <a:solidFill>
                  <a:srgbClr val="5C6B7C"/>
                </a:solidFill>
                <a:latin typeface="Arial" pitchFamily="34" charset="0"/>
                <a:ea typeface="Arial" pitchFamily="34" charset="-122"/>
                <a:cs typeface="Arial" pitchFamily="34" charset="-120"/>
              </a:rPr>
              <a:t>Clave — Parte A: 1.Dato · 2.Indicador · 3.Pregunta · 4.Dato · 5.Indicador · 6.Pregunta.  Parte B: 1.Insumo · 2.Actividad · 3.Producto · 4.Resultado · 5.Impacto.</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731520" y="1828800"/>
            <a:ext cx="7680960" cy="320040"/>
          </a:xfrm>
          <a:prstGeom prst="rect">
            <a:avLst/>
          </a:prstGeom>
          <a:noFill/>
          <a:ln/>
        </p:spPr>
        <p:txBody>
          <a:bodyPr wrap="square" rtlCol="0" anchor="ctr"/>
          <a:lstStyle/>
          <a:p>
            <a:pPr marL="0" indent="0" algn="l">
              <a:buNone/>
            </a:pPr>
            <a:r>
              <a:rPr lang="en-US" sz="1200" b="1" kern="0" spc="200" dirty="0">
                <a:solidFill>
                  <a:srgbClr val="FF9900"/>
                </a:solidFill>
                <a:latin typeface="Arial" pitchFamily="34" charset="0"/>
                <a:ea typeface="Arial" pitchFamily="34" charset="-122"/>
                <a:cs typeface="Arial" pitchFamily="34" charset="-120"/>
              </a:rPr>
              <a:t>BLOQUE 1 · MÓDULO 2</a:t>
            </a:r>
            <a:endParaRPr lang="en-US" sz="1200" dirty="0"/>
          </a:p>
        </p:txBody>
      </p:sp>
      <p:sp>
        <p:nvSpPr>
          <p:cNvPr id="3" name="Text 1"/>
          <p:cNvSpPr/>
          <p:nvPr/>
        </p:nvSpPr>
        <p:spPr>
          <a:xfrm>
            <a:off x="731520" y="2212848"/>
            <a:ext cx="7680960" cy="1188720"/>
          </a:xfrm>
          <a:prstGeom prst="rect">
            <a:avLst/>
          </a:prstGeom>
          <a:noFill/>
          <a:ln/>
        </p:spPr>
        <p:txBody>
          <a:bodyPr wrap="square" rtlCol="0" anchor="t"/>
          <a:lstStyle/>
          <a:p>
            <a:pPr marL="0" indent="0" algn="l">
              <a:buNone/>
            </a:pPr>
            <a:r>
              <a:rPr lang="en-US" sz="3000" b="1" dirty="0">
                <a:solidFill>
                  <a:srgbClr val="FFFFFF"/>
                </a:solidFill>
                <a:latin typeface="Arial" pitchFamily="34" charset="0"/>
                <a:ea typeface="Arial" pitchFamily="34" charset="-122"/>
                <a:cs typeface="Arial" pitchFamily="34" charset="-120"/>
              </a:rPr>
              <a:t>Método para Transformar una Pregunta Vaga en un Indicador Medible</a:t>
            </a:r>
            <a:endParaRPr lang="en-US" sz="3000" dirty="0"/>
          </a:p>
        </p:txBody>
      </p:sp>
      <p:sp>
        <p:nvSpPr>
          <p:cNvPr id="4" name="Text 2"/>
          <p:cNvSpPr/>
          <p:nvPr/>
        </p:nvSpPr>
        <p:spPr>
          <a:xfrm>
            <a:off x="731520" y="3447288"/>
            <a:ext cx="7680960" cy="457200"/>
          </a:xfrm>
          <a:prstGeom prst="rect">
            <a:avLst/>
          </a:prstGeom>
          <a:noFill/>
          <a:ln/>
        </p:spPr>
        <p:txBody>
          <a:bodyPr wrap="square" rtlCol="0" anchor="ctr"/>
          <a:lstStyle/>
          <a:p>
            <a:pPr marL="0" indent="0" algn="l">
              <a:buNone/>
            </a:pPr>
            <a:r>
              <a:rPr lang="en-US" sz="1400" i="1" dirty="0">
                <a:solidFill>
                  <a:srgbClr val="CADCFC"/>
                </a:solidFill>
                <a:latin typeface="Arial" pitchFamily="34" charset="0"/>
                <a:ea typeface="Arial" pitchFamily="34" charset="-122"/>
                <a:cs typeface="Arial" pitchFamily="34" charset="-120"/>
              </a:rPr>
              <a:t>Ruta de 5 pasos: DNP + SMART + CREMAS</a:t>
            </a:r>
            <a:endParaRPr lang="en-US" sz="1400" dirty="0"/>
          </a:p>
        </p:txBody>
      </p:sp>
      <p:sp>
        <p:nvSpPr>
          <p:cNvPr id="5" name="Text 3"/>
          <p:cNvSpPr/>
          <p:nvPr/>
        </p:nvSpPr>
        <p:spPr>
          <a:xfrm>
            <a:off x="731520" y="3904488"/>
            <a:ext cx="7680960" cy="365760"/>
          </a:xfrm>
          <a:prstGeom prst="rect">
            <a:avLst/>
          </a:prstGeom>
          <a:noFill/>
          <a:ln/>
        </p:spPr>
        <p:txBody>
          <a:bodyPr wrap="square" rtlCol="0" anchor="ctr"/>
          <a:lstStyle/>
          <a:p>
            <a:pPr marL="0" indent="0" algn="l">
              <a:buNone/>
            </a:pPr>
            <a:r>
              <a:rPr lang="en-US" sz="1100" dirty="0">
                <a:solidFill>
                  <a:srgbClr val="9FB8D9"/>
                </a:solidFill>
                <a:latin typeface="Arial" pitchFamily="34" charset="0"/>
                <a:ea typeface="Arial" pitchFamily="34" charset="-122"/>
                <a:cs typeface="Arial" pitchFamily="34" charset="-120"/>
              </a:rPr>
              <a:t>Módulo 2 de 3 · 40 min</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292608"/>
            <a:ext cx="1005840" cy="41148"/>
          </a:xfrm>
          <a:prstGeom prst="rect">
            <a:avLst/>
          </a:prstGeom>
          <a:solidFill>
            <a:srgbClr val="FF9900"/>
          </a:solidFill>
          <a:ln/>
        </p:spPr>
      </p:sp>
      <p:sp>
        <p:nvSpPr>
          <p:cNvPr id="3" name="Text 1"/>
          <p:cNvSpPr/>
          <p:nvPr/>
        </p:nvSpPr>
        <p:spPr>
          <a:xfrm>
            <a:off x="640080" y="365760"/>
            <a:ext cx="6675120" cy="256032"/>
          </a:xfrm>
          <a:prstGeom prst="rect">
            <a:avLst/>
          </a:prstGeom>
          <a:noFill/>
          <a:ln/>
        </p:spPr>
        <p:txBody>
          <a:bodyPr wrap="square" rtlCol="0" anchor="ctr"/>
          <a:lstStyle/>
          <a:p>
            <a:pPr marL="0" indent="0">
              <a:buNone/>
            </a:pPr>
            <a:r>
              <a:rPr lang="en-US" sz="1000" b="1" kern="0" spc="150" dirty="0">
                <a:solidFill>
                  <a:srgbClr val="FC6E01"/>
                </a:solidFill>
                <a:latin typeface="Arial" pitchFamily="34" charset="0"/>
                <a:ea typeface="Arial" pitchFamily="34" charset="-122"/>
                <a:cs typeface="Arial" pitchFamily="34" charset="-120"/>
              </a:rPr>
              <a:t>MÉTODO DE 5 PASOS</a:t>
            </a:r>
            <a:endParaRPr lang="en-US" sz="1000" dirty="0"/>
          </a:p>
        </p:txBody>
      </p:sp>
      <p:sp>
        <p:nvSpPr>
          <p:cNvPr id="4" name="Text 2"/>
          <p:cNvSpPr/>
          <p:nvPr/>
        </p:nvSpPr>
        <p:spPr>
          <a:xfrm>
            <a:off x="640080" y="621792"/>
            <a:ext cx="7315200" cy="502920"/>
          </a:xfrm>
          <a:prstGeom prst="rect">
            <a:avLst/>
          </a:prstGeom>
          <a:noFill/>
          <a:ln/>
        </p:spPr>
        <p:txBody>
          <a:bodyPr wrap="square" rtlCol="0" anchor="ctr"/>
          <a:lstStyle/>
          <a:p>
            <a:pPr marL="0" indent="0">
              <a:buNone/>
            </a:pPr>
            <a:r>
              <a:rPr lang="en-US" sz="2100" b="1" dirty="0">
                <a:solidFill>
                  <a:srgbClr val="173F72"/>
                </a:solidFill>
                <a:latin typeface="Arial" pitchFamily="34" charset="0"/>
                <a:ea typeface="Arial" pitchFamily="34" charset="-122"/>
                <a:cs typeface="Arial" pitchFamily="34" charset="-120"/>
              </a:rPr>
              <a:t>Paso 1 · Capturar la Pregunta Vaga</a:t>
            </a:r>
            <a:endParaRPr lang="en-US" sz="2100" dirty="0"/>
          </a:p>
        </p:txBody>
      </p:sp>
      <p:pic>
        <p:nvPicPr>
          <p:cNvPr id="6" name="Image 0" descr="/home/claude/taller/assets/footer_banner.png"/>
          <p:cNvPicPr>
            <a:picLocks noChangeAspect="1"/>
          </p:cNvPicPr>
          <p:nvPr/>
        </p:nvPicPr>
        <p:blipFill>
          <a:blip r:embed="rId3"/>
          <a:stretch>
            <a:fillRect/>
          </a:stretch>
        </p:blipFill>
        <p:spPr>
          <a:xfrm>
            <a:off x="0" y="4672584"/>
            <a:ext cx="9144000" cy="469087"/>
          </a:xfrm>
          <a:prstGeom prst="rect">
            <a:avLst/>
          </a:prstGeom>
        </p:spPr>
      </p:pic>
      <p:sp>
        <p:nvSpPr>
          <p:cNvPr id="7" name="Text 4"/>
          <p:cNvSpPr/>
          <p:nvPr/>
        </p:nvSpPr>
        <p:spPr>
          <a:xfrm>
            <a:off x="274320" y="4727448"/>
            <a:ext cx="5669280" cy="274320"/>
          </a:xfrm>
          <a:prstGeom prst="rect">
            <a:avLst/>
          </a:prstGeom>
          <a:noFill/>
          <a:ln/>
        </p:spPr>
        <p:txBody>
          <a:bodyPr wrap="square" lIns="0" tIns="0" rIns="0" bIns="0" rtlCol="0" anchor="ctr"/>
          <a:lstStyle/>
          <a:p>
            <a:pPr marL="0" indent="0">
              <a:buNone/>
            </a:pPr>
            <a:r>
              <a:rPr lang="en-US" sz="800" dirty="0">
                <a:solidFill>
                  <a:srgbClr val="FFFFFF"/>
                </a:solidFill>
                <a:latin typeface="Arial" pitchFamily="34" charset="0"/>
                <a:ea typeface="Arial" pitchFamily="34" charset="-122"/>
                <a:cs typeface="Arial" pitchFamily="34" charset="-120"/>
              </a:rPr>
              <a:t>Taller de Indicadores de Gestión Pública con IA</a:t>
            </a:r>
            <a:endParaRPr lang="en-US" sz="800" dirty="0"/>
          </a:p>
        </p:txBody>
      </p:sp>
      <p:sp>
        <p:nvSpPr>
          <p:cNvPr id="8" name="Text 5"/>
          <p:cNvSpPr/>
          <p:nvPr/>
        </p:nvSpPr>
        <p:spPr>
          <a:xfrm>
            <a:off x="640080" y="1463040"/>
            <a:ext cx="7863840" cy="3200400"/>
          </a:xfrm>
          <a:prstGeom prst="rect">
            <a:avLst/>
          </a:prstGeom>
          <a:noFill/>
          <a:ln/>
        </p:spPr>
        <p:txBody>
          <a:bodyPr wrap="square" rtlCol="0" anchor="t"/>
          <a:lstStyle/>
          <a:p>
            <a:pPr marL="177800" indent="-177800">
              <a:spcAft>
                <a:spcPts val="1000"/>
              </a:spcAft>
              <a:buSzPct val="100000"/>
              <a:buChar char="•"/>
            </a:pPr>
            <a:r>
              <a:rPr lang="en-US" sz="1400" dirty="0">
                <a:solidFill>
                  <a:srgbClr val="2F3B4C"/>
                </a:solidFill>
                <a:latin typeface="Arial" pitchFamily="34" charset="0"/>
                <a:ea typeface="Arial" pitchFamily="34" charset="-122"/>
                <a:cs typeface="Arial" pitchFamily="34" charset="-120"/>
              </a:rPr>
              <a:t>Se anota literalmente la pregunta tal como la formula el ciudadano, el directivo o el equipo técnico, sin corregirla todavía.</a:t>
            </a:r>
            <a:endParaRPr lang="en-US" sz="1400" dirty="0"/>
          </a:p>
          <a:p>
            <a:pPr marL="177800" indent="-177800">
              <a:spcAft>
                <a:spcPts val="1000"/>
              </a:spcAft>
              <a:buSzPct val="100000"/>
              <a:buChar char="•"/>
            </a:pPr>
            <a:r>
              <a:rPr lang="en-US" sz="1400" dirty="0">
                <a:solidFill>
                  <a:srgbClr val="2F3B4C"/>
                </a:solidFill>
                <a:latin typeface="Arial" pitchFamily="34" charset="0"/>
                <a:ea typeface="Arial" pitchFamily="34" charset="-122"/>
                <a:cs typeface="Arial" pitchFamily="34" charset="-120"/>
              </a:rPr>
              <a:t>Ejemplos típicos: “¿cómo va la salud?”, “¿cómo va la seguridad?”, “¿está funcionando el programa?”.</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292608"/>
            <a:ext cx="1005840" cy="41148"/>
          </a:xfrm>
          <a:prstGeom prst="rect">
            <a:avLst/>
          </a:prstGeom>
          <a:solidFill>
            <a:srgbClr val="FF9900"/>
          </a:solidFill>
          <a:ln/>
        </p:spPr>
      </p:sp>
      <p:sp>
        <p:nvSpPr>
          <p:cNvPr id="3" name="Text 1"/>
          <p:cNvSpPr/>
          <p:nvPr/>
        </p:nvSpPr>
        <p:spPr>
          <a:xfrm>
            <a:off x="640080" y="365760"/>
            <a:ext cx="6675120" cy="256032"/>
          </a:xfrm>
          <a:prstGeom prst="rect">
            <a:avLst/>
          </a:prstGeom>
          <a:noFill/>
          <a:ln/>
        </p:spPr>
        <p:txBody>
          <a:bodyPr wrap="square" rtlCol="0" anchor="ctr"/>
          <a:lstStyle/>
          <a:p>
            <a:pPr marL="0" indent="0">
              <a:buNone/>
            </a:pPr>
            <a:r>
              <a:rPr lang="en-US" sz="1000" b="1" kern="0" spc="150" dirty="0">
                <a:solidFill>
                  <a:srgbClr val="FC6E01"/>
                </a:solidFill>
                <a:latin typeface="Arial" pitchFamily="34" charset="0"/>
                <a:ea typeface="Arial" pitchFamily="34" charset="-122"/>
                <a:cs typeface="Arial" pitchFamily="34" charset="-120"/>
              </a:rPr>
              <a:t>MÉTODO DE 5 PASOS</a:t>
            </a:r>
            <a:endParaRPr lang="en-US" sz="1000" dirty="0"/>
          </a:p>
        </p:txBody>
      </p:sp>
      <p:sp>
        <p:nvSpPr>
          <p:cNvPr id="4" name="Text 2"/>
          <p:cNvSpPr/>
          <p:nvPr/>
        </p:nvSpPr>
        <p:spPr>
          <a:xfrm>
            <a:off x="640080" y="621792"/>
            <a:ext cx="7315200" cy="502920"/>
          </a:xfrm>
          <a:prstGeom prst="rect">
            <a:avLst/>
          </a:prstGeom>
          <a:noFill/>
          <a:ln/>
        </p:spPr>
        <p:txBody>
          <a:bodyPr wrap="square" rtlCol="0" anchor="ctr"/>
          <a:lstStyle/>
          <a:p>
            <a:pPr marL="0" indent="0">
              <a:buNone/>
            </a:pPr>
            <a:r>
              <a:rPr lang="en-US" sz="2100" b="1" dirty="0">
                <a:solidFill>
                  <a:srgbClr val="173F72"/>
                </a:solidFill>
                <a:latin typeface="Arial" pitchFamily="34" charset="0"/>
                <a:ea typeface="Arial" pitchFamily="34" charset="-122"/>
                <a:cs typeface="Arial" pitchFamily="34" charset="-120"/>
              </a:rPr>
              <a:t>Paso 2 · Los 4 Componentes de la Pregunta</a:t>
            </a:r>
            <a:endParaRPr lang="en-US" sz="2100" dirty="0"/>
          </a:p>
        </p:txBody>
      </p:sp>
      <p:pic>
        <p:nvPicPr>
          <p:cNvPr id="6" name="Image 0" descr="/home/claude/taller/assets/footer_banner.png"/>
          <p:cNvPicPr>
            <a:picLocks noChangeAspect="1"/>
          </p:cNvPicPr>
          <p:nvPr/>
        </p:nvPicPr>
        <p:blipFill>
          <a:blip r:embed="rId3"/>
          <a:stretch>
            <a:fillRect/>
          </a:stretch>
        </p:blipFill>
        <p:spPr>
          <a:xfrm>
            <a:off x="0" y="4672584"/>
            <a:ext cx="9144000" cy="469087"/>
          </a:xfrm>
          <a:prstGeom prst="rect">
            <a:avLst/>
          </a:prstGeom>
        </p:spPr>
      </p:pic>
      <p:sp>
        <p:nvSpPr>
          <p:cNvPr id="7" name="Text 4"/>
          <p:cNvSpPr/>
          <p:nvPr/>
        </p:nvSpPr>
        <p:spPr>
          <a:xfrm>
            <a:off x="274320" y="4727448"/>
            <a:ext cx="5669280" cy="274320"/>
          </a:xfrm>
          <a:prstGeom prst="rect">
            <a:avLst/>
          </a:prstGeom>
          <a:noFill/>
          <a:ln/>
        </p:spPr>
        <p:txBody>
          <a:bodyPr wrap="square" lIns="0" tIns="0" rIns="0" bIns="0" rtlCol="0" anchor="ctr"/>
          <a:lstStyle/>
          <a:p>
            <a:pPr marL="0" indent="0">
              <a:buNone/>
            </a:pPr>
            <a:r>
              <a:rPr lang="en-US" sz="800" dirty="0">
                <a:solidFill>
                  <a:srgbClr val="FFFFFF"/>
                </a:solidFill>
                <a:latin typeface="Arial" pitchFamily="34" charset="0"/>
                <a:ea typeface="Arial" pitchFamily="34" charset="-122"/>
                <a:cs typeface="Arial" pitchFamily="34" charset="-120"/>
              </a:rPr>
              <a:t>Taller de Indicadores de Gestión Pública con IA</a:t>
            </a:r>
            <a:endParaRPr lang="en-US" sz="800" dirty="0"/>
          </a:p>
        </p:txBody>
      </p:sp>
      <p:sp>
        <p:nvSpPr>
          <p:cNvPr id="8" name="Shape 5"/>
          <p:cNvSpPr/>
          <p:nvPr/>
        </p:nvSpPr>
        <p:spPr>
          <a:xfrm>
            <a:off x="640080" y="1463040"/>
            <a:ext cx="1842516" cy="2743200"/>
          </a:xfrm>
          <a:prstGeom prst="roundRect">
            <a:avLst>
              <a:gd name="adj" fmla="val 2978"/>
            </a:avLst>
          </a:prstGeom>
          <a:solidFill>
            <a:srgbClr val="EDF3F9"/>
          </a:solidFill>
          <a:ln/>
        </p:spPr>
      </p:sp>
      <p:sp>
        <p:nvSpPr>
          <p:cNvPr id="9" name="Shape 6"/>
          <p:cNvSpPr/>
          <p:nvPr/>
        </p:nvSpPr>
        <p:spPr>
          <a:xfrm>
            <a:off x="777240" y="1600200"/>
            <a:ext cx="365760" cy="365760"/>
          </a:xfrm>
          <a:prstGeom prst="ellipse">
            <a:avLst/>
          </a:prstGeom>
          <a:solidFill>
            <a:srgbClr val="FC6E01"/>
          </a:solidFill>
          <a:ln/>
        </p:spPr>
      </p:sp>
      <p:sp>
        <p:nvSpPr>
          <p:cNvPr id="10" name="Text 7"/>
          <p:cNvSpPr/>
          <p:nvPr/>
        </p:nvSpPr>
        <p:spPr>
          <a:xfrm>
            <a:off x="777240" y="1600200"/>
            <a:ext cx="365760" cy="365760"/>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11" name="Text 8"/>
          <p:cNvSpPr/>
          <p:nvPr/>
        </p:nvSpPr>
        <p:spPr>
          <a:xfrm>
            <a:off x="777240" y="2029968"/>
            <a:ext cx="1568196" cy="365760"/>
          </a:xfrm>
          <a:prstGeom prst="rect">
            <a:avLst/>
          </a:prstGeom>
          <a:noFill/>
          <a:ln/>
        </p:spPr>
        <p:txBody>
          <a:bodyPr wrap="square" rtlCol="0" anchor="t"/>
          <a:lstStyle/>
          <a:p>
            <a:pPr marL="0" indent="0">
              <a:buNone/>
            </a:pPr>
            <a:r>
              <a:rPr lang="en-US" sz="1200" b="1" dirty="0">
                <a:solidFill>
                  <a:srgbClr val="173F72"/>
                </a:solidFill>
                <a:latin typeface="Arial" pitchFamily="34" charset="0"/>
                <a:ea typeface="Arial" pitchFamily="34" charset="-122"/>
                <a:cs typeface="Arial" pitchFamily="34" charset="-120"/>
              </a:rPr>
              <a:t>1 · Población o unidad</a:t>
            </a:r>
            <a:endParaRPr lang="en-US" sz="1200" dirty="0"/>
          </a:p>
        </p:txBody>
      </p:sp>
      <p:sp>
        <p:nvSpPr>
          <p:cNvPr id="12" name="Text 9"/>
          <p:cNvSpPr/>
          <p:nvPr/>
        </p:nvSpPr>
        <p:spPr>
          <a:xfrm>
            <a:off x="777240" y="2377440"/>
            <a:ext cx="1568196" cy="1737360"/>
          </a:xfrm>
          <a:prstGeom prst="rect">
            <a:avLst/>
          </a:prstGeom>
          <a:noFill/>
          <a:ln/>
        </p:spPr>
        <p:txBody>
          <a:bodyPr wrap="square" rtlCol="0" anchor="t"/>
          <a:lstStyle/>
          <a:p>
            <a:pPr marL="0" indent="0">
              <a:buNone/>
            </a:pPr>
            <a:r>
              <a:rPr lang="en-US" sz="950" dirty="0">
                <a:solidFill>
                  <a:srgbClr val="5C6B7C"/>
                </a:solidFill>
                <a:latin typeface="Arial" pitchFamily="34" charset="0"/>
                <a:ea typeface="Arial" pitchFamily="34" charset="-122"/>
                <a:cs typeface="Arial" pitchFamily="34" charset="-120"/>
              </a:rPr>
              <a:t>¿Sobre quién o qué se pregunta? (gestantes, estudiantes, viviendas, hectáreas).</a:t>
            </a:r>
            <a:endParaRPr lang="en-US" sz="950" dirty="0"/>
          </a:p>
        </p:txBody>
      </p:sp>
      <p:sp>
        <p:nvSpPr>
          <p:cNvPr id="13" name="Shape 10"/>
          <p:cNvSpPr/>
          <p:nvPr/>
        </p:nvSpPr>
        <p:spPr>
          <a:xfrm>
            <a:off x="2647188" y="1463040"/>
            <a:ext cx="1842516" cy="2743200"/>
          </a:xfrm>
          <a:prstGeom prst="roundRect">
            <a:avLst>
              <a:gd name="adj" fmla="val 2978"/>
            </a:avLst>
          </a:prstGeom>
          <a:solidFill>
            <a:srgbClr val="EDF3F9"/>
          </a:solidFill>
          <a:ln/>
        </p:spPr>
      </p:sp>
      <p:sp>
        <p:nvSpPr>
          <p:cNvPr id="14" name="Shape 11"/>
          <p:cNvSpPr/>
          <p:nvPr/>
        </p:nvSpPr>
        <p:spPr>
          <a:xfrm>
            <a:off x="2784348" y="1600200"/>
            <a:ext cx="365760" cy="365760"/>
          </a:xfrm>
          <a:prstGeom prst="ellipse">
            <a:avLst/>
          </a:prstGeom>
          <a:solidFill>
            <a:srgbClr val="FC6E01"/>
          </a:solidFill>
          <a:ln/>
        </p:spPr>
      </p:sp>
      <p:sp>
        <p:nvSpPr>
          <p:cNvPr id="15" name="Text 12"/>
          <p:cNvSpPr/>
          <p:nvPr/>
        </p:nvSpPr>
        <p:spPr>
          <a:xfrm>
            <a:off x="2784348" y="1600200"/>
            <a:ext cx="365760" cy="365760"/>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6" name="Text 13"/>
          <p:cNvSpPr/>
          <p:nvPr/>
        </p:nvSpPr>
        <p:spPr>
          <a:xfrm>
            <a:off x="2784348" y="2029968"/>
            <a:ext cx="1568196" cy="365760"/>
          </a:xfrm>
          <a:prstGeom prst="rect">
            <a:avLst/>
          </a:prstGeom>
          <a:noFill/>
          <a:ln/>
        </p:spPr>
        <p:txBody>
          <a:bodyPr wrap="square" rtlCol="0" anchor="t"/>
          <a:lstStyle/>
          <a:p>
            <a:pPr marL="0" indent="0">
              <a:buNone/>
            </a:pPr>
            <a:r>
              <a:rPr lang="en-US" sz="1200" b="1" dirty="0">
                <a:solidFill>
                  <a:srgbClr val="173F72"/>
                </a:solidFill>
                <a:latin typeface="Arial" pitchFamily="34" charset="0"/>
                <a:ea typeface="Arial" pitchFamily="34" charset="-122"/>
                <a:cs typeface="Arial" pitchFamily="34" charset="-120"/>
              </a:rPr>
              <a:t>2 · Atributo o dimensión</a:t>
            </a:r>
            <a:endParaRPr lang="en-US" sz="1200" dirty="0"/>
          </a:p>
        </p:txBody>
      </p:sp>
      <p:sp>
        <p:nvSpPr>
          <p:cNvPr id="17" name="Text 14"/>
          <p:cNvSpPr/>
          <p:nvPr/>
        </p:nvSpPr>
        <p:spPr>
          <a:xfrm>
            <a:off x="2784348" y="2377440"/>
            <a:ext cx="1568196" cy="1737360"/>
          </a:xfrm>
          <a:prstGeom prst="rect">
            <a:avLst/>
          </a:prstGeom>
          <a:noFill/>
          <a:ln/>
        </p:spPr>
        <p:txBody>
          <a:bodyPr wrap="square" rtlCol="0" anchor="t"/>
          <a:lstStyle/>
          <a:p>
            <a:pPr marL="0" indent="0">
              <a:buNone/>
            </a:pPr>
            <a:r>
              <a:rPr lang="en-US" sz="950" dirty="0">
                <a:solidFill>
                  <a:srgbClr val="5C6B7C"/>
                </a:solidFill>
                <a:latin typeface="Arial" pitchFamily="34" charset="0"/>
                <a:ea typeface="Arial" pitchFamily="34" charset="-122"/>
                <a:cs typeface="Arial" pitchFamily="34" charset="-120"/>
              </a:rPr>
              <a:t>¿Qué característica interesa? (cobertura, calidad, oportunidad, resultado).</a:t>
            </a:r>
            <a:endParaRPr lang="en-US" sz="950" dirty="0"/>
          </a:p>
        </p:txBody>
      </p:sp>
      <p:sp>
        <p:nvSpPr>
          <p:cNvPr id="18" name="Shape 15"/>
          <p:cNvSpPr/>
          <p:nvPr/>
        </p:nvSpPr>
        <p:spPr>
          <a:xfrm>
            <a:off x="4654296" y="1463040"/>
            <a:ext cx="1842516" cy="2743200"/>
          </a:xfrm>
          <a:prstGeom prst="roundRect">
            <a:avLst>
              <a:gd name="adj" fmla="val 2978"/>
            </a:avLst>
          </a:prstGeom>
          <a:solidFill>
            <a:srgbClr val="EDF3F9"/>
          </a:solidFill>
          <a:ln/>
        </p:spPr>
      </p:sp>
      <p:sp>
        <p:nvSpPr>
          <p:cNvPr id="19" name="Shape 16"/>
          <p:cNvSpPr/>
          <p:nvPr/>
        </p:nvSpPr>
        <p:spPr>
          <a:xfrm>
            <a:off x="4791456" y="1600200"/>
            <a:ext cx="365760" cy="365760"/>
          </a:xfrm>
          <a:prstGeom prst="ellipse">
            <a:avLst/>
          </a:prstGeom>
          <a:solidFill>
            <a:srgbClr val="FC6E01"/>
          </a:solidFill>
          <a:ln/>
        </p:spPr>
      </p:sp>
      <p:sp>
        <p:nvSpPr>
          <p:cNvPr id="20" name="Text 17"/>
          <p:cNvSpPr/>
          <p:nvPr/>
        </p:nvSpPr>
        <p:spPr>
          <a:xfrm>
            <a:off x="4791456" y="1600200"/>
            <a:ext cx="365760" cy="365760"/>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21" name="Text 18"/>
          <p:cNvSpPr/>
          <p:nvPr/>
        </p:nvSpPr>
        <p:spPr>
          <a:xfrm>
            <a:off x="4791456" y="2029968"/>
            <a:ext cx="1568196" cy="365760"/>
          </a:xfrm>
          <a:prstGeom prst="rect">
            <a:avLst/>
          </a:prstGeom>
          <a:noFill/>
          <a:ln/>
        </p:spPr>
        <p:txBody>
          <a:bodyPr wrap="square" rtlCol="0" anchor="t"/>
          <a:lstStyle/>
          <a:p>
            <a:pPr marL="0" indent="0">
              <a:buNone/>
            </a:pPr>
            <a:r>
              <a:rPr lang="en-US" sz="1200" b="1" dirty="0">
                <a:solidFill>
                  <a:srgbClr val="173F72"/>
                </a:solidFill>
                <a:latin typeface="Arial" pitchFamily="34" charset="0"/>
                <a:ea typeface="Arial" pitchFamily="34" charset="-122"/>
                <a:cs typeface="Arial" pitchFamily="34" charset="-120"/>
              </a:rPr>
              <a:t>3 · Ámbito territorial/temporal</a:t>
            </a:r>
            <a:endParaRPr lang="en-US" sz="1200" dirty="0"/>
          </a:p>
        </p:txBody>
      </p:sp>
      <p:sp>
        <p:nvSpPr>
          <p:cNvPr id="22" name="Text 19"/>
          <p:cNvSpPr/>
          <p:nvPr/>
        </p:nvSpPr>
        <p:spPr>
          <a:xfrm>
            <a:off x="4791456" y="2377440"/>
            <a:ext cx="1568196" cy="1737360"/>
          </a:xfrm>
          <a:prstGeom prst="rect">
            <a:avLst/>
          </a:prstGeom>
          <a:noFill/>
          <a:ln/>
        </p:spPr>
        <p:txBody>
          <a:bodyPr wrap="square" rtlCol="0" anchor="t"/>
          <a:lstStyle/>
          <a:p>
            <a:pPr marL="0" indent="0">
              <a:buNone/>
            </a:pPr>
            <a:r>
              <a:rPr lang="en-US" sz="950" dirty="0">
                <a:solidFill>
                  <a:srgbClr val="5C6B7C"/>
                </a:solidFill>
                <a:latin typeface="Arial" pitchFamily="34" charset="0"/>
                <a:ea typeface="Arial" pitchFamily="34" charset="-122"/>
                <a:cs typeface="Arial" pitchFamily="34" charset="-120"/>
              </a:rPr>
              <a:t>¿Dónde y en qué periodo? (zona rural del municipio X, 2026 vs. 2025).</a:t>
            </a:r>
            <a:endParaRPr lang="en-US" sz="950" dirty="0"/>
          </a:p>
        </p:txBody>
      </p:sp>
      <p:sp>
        <p:nvSpPr>
          <p:cNvPr id="23" name="Shape 20"/>
          <p:cNvSpPr/>
          <p:nvPr/>
        </p:nvSpPr>
        <p:spPr>
          <a:xfrm>
            <a:off x="6661404" y="1463040"/>
            <a:ext cx="1842516" cy="2743200"/>
          </a:xfrm>
          <a:prstGeom prst="roundRect">
            <a:avLst>
              <a:gd name="adj" fmla="val 2978"/>
            </a:avLst>
          </a:prstGeom>
          <a:solidFill>
            <a:srgbClr val="EDF3F9"/>
          </a:solidFill>
          <a:ln/>
        </p:spPr>
      </p:sp>
      <p:sp>
        <p:nvSpPr>
          <p:cNvPr id="24" name="Shape 21"/>
          <p:cNvSpPr/>
          <p:nvPr/>
        </p:nvSpPr>
        <p:spPr>
          <a:xfrm>
            <a:off x="6798564" y="1600200"/>
            <a:ext cx="365760" cy="365760"/>
          </a:xfrm>
          <a:prstGeom prst="ellipse">
            <a:avLst/>
          </a:prstGeom>
          <a:solidFill>
            <a:srgbClr val="FC6E01"/>
          </a:solidFill>
          <a:ln/>
        </p:spPr>
      </p:sp>
      <p:sp>
        <p:nvSpPr>
          <p:cNvPr id="25" name="Text 22"/>
          <p:cNvSpPr/>
          <p:nvPr/>
        </p:nvSpPr>
        <p:spPr>
          <a:xfrm>
            <a:off x="6798564" y="1600200"/>
            <a:ext cx="365760" cy="365760"/>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6" name="Text 23"/>
          <p:cNvSpPr/>
          <p:nvPr/>
        </p:nvSpPr>
        <p:spPr>
          <a:xfrm>
            <a:off x="6798564" y="2029968"/>
            <a:ext cx="1568196" cy="365760"/>
          </a:xfrm>
          <a:prstGeom prst="rect">
            <a:avLst/>
          </a:prstGeom>
          <a:noFill/>
          <a:ln/>
        </p:spPr>
        <p:txBody>
          <a:bodyPr wrap="square" rtlCol="0" anchor="t"/>
          <a:lstStyle/>
          <a:p>
            <a:pPr marL="0" indent="0">
              <a:buNone/>
            </a:pPr>
            <a:r>
              <a:rPr lang="en-US" sz="1200" b="1" dirty="0">
                <a:solidFill>
                  <a:srgbClr val="173F72"/>
                </a:solidFill>
                <a:latin typeface="Arial" pitchFamily="34" charset="0"/>
                <a:ea typeface="Arial" pitchFamily="34" charset="-122"/>
                <a:cs typeface="Arial" pitchFamily="34" charset="-120"/>
              </a:rPr>
              <a:t>4 · Referente de comparación</a:t>
            </a:r>
            <a:endParaRPr lang="en-US" sz="1200" dirty="0"/>
          </a:p>
        </p:txBody>
      </p:sp>
      <p:sp>
        <p:nvSpPr>
          <p:cNvPr id="27" name="Text 24"/>
          <p:cNvSpPr/>
          <p:nvPr/>
        </p:nvSpPr>
        <p:spPr>
          <a:xfrm>
            <a:off x="6798564" y="2377440"/>
            <a:ext cx="1568196" cy="1737360"/>
          </a:xfrm>
          <a:prstGeom prst="rect">
            <a:avLst/>
          </a:prstGeom>
          <a:noFill/>
          <a:ln/>
        </p:spPr>
        <p:txBody>
          <a:bodyPr wrap="square" rtlCol="0" anchor="t"/>
          <a:lstStyle/>
          <a:p>
            <a:pPr marL="0" indent="0">
              <a:buNone/>
            </a:pPr>
            <a:r>
              <a:rPr lang="en-US" sz="950" dirty="0">
                <a:solidFill>
                  <a:srgbClr val="5C6B7C"/>
                </a:solidFill>
                <a:latin typeface="Arial" pitchFamily="34" charset="0"/>
                <a:ea typeface="Arial" pitchFamily="34" charset="-122"/>
                <a:cs typeface="Arial" pitchFamily="34" charset="-120"/>
              </a:rPr>
              <a:t>¿Frente a qué se evalúa? (meta, año anterior, otro territorio, estándar).</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292608"/>
            <a:ext cx="1005840" cy="41148"/>
          </a:xfrm>
          <a:prstGeom prst="rect">
            <a:avLst/>
          </a:prstGeom>
          <a:solidFill>
            <a:srgbClr val="FF9900"/>
          </a:solidFill>
          <a:ln/>
        </p:spPr>
      </p:sp>
      <p:sp>
        <p:nvSpPr>
          <p:cNvPr id="3" name="Text 1"/>
          <p:cNvSpPr/>
          <p:nvPr/>
        </p:nvSpPr>
        <p:spPr>
          <a:xfrm>
            <a:off x="640080" y="365760"/>
            <a:ext cx="6675120" cy="256032"/>
          </a:xfrm>
          <a:prstGeom prst="rect">
            <a:avLst/>
          </a:prstGeom>
          <a:noFill/>
          <a:ln/>
        </p:spPr>
        <p:txBody>
          <a:bodyPr wrap="square" rtlCol="0" anchor="ctr"/>
          <a:lstStyle/>
          <a:p>
            <a:pPr marL="0" indent="0">
              <a:buNone/>
            </a:pPr>
            <a:r>
              <a:rPr lang="en-US" sz="1000" b="1" kern="0" spc="150" dirty="0">
                <a:solidFill>
                  <a:srgbClr val="FC6E01"/>
                </a:solidFill>
                <a:latin typeface="Arial" pitchFamily="34" charset="0"/>
                <a:ea typeface="Arial" pitchFamily="34" charset="-122"/>
                <a:cs typeface="Arial" pitchFamily="34" charset="-120"/>
              </a:rPr>
              <a:t>MÉTODO DE 5 PASOS</a:t>
            </a:r>
            <a:endParaRPr lang="en-US" sz="1000" dirty="0"/>
          </a:p>
        </p:txBody>
      </p:sp>
      <p:sp>
        <p:nvSpPr>
          <p:cNvPr id="4" name="Text 2"/>
          <p:cNvSpPr/>
          <p:nvPr/>
        </p:nvSpPr>
        <p:spPr>
          <a:xfrm>
            <a:off x="640080" y="621792"/>
            <a:ext cx="7315200" cy="502920"/>
          </a:xfrm>
          <a:prstGeom prst="rect">
            <a:avLst/>
          </a:prstGeom>
          <a:noFill/>
          <a:ln/>
        </p:spPr>
        <p:txBody>
          <a:bodyPr wrap="square" rtlCol="0" anchor="ctr"/>
          <a:lstStyle/>
          <a:p>
            <a:pPr marL="0" indent="0">
              <a:buNone/>
            </a:pPr>
            <a:r>
              <a:rPr lang="en-US" sz="2100" b="1" dirty="0">
                <a:solidFill>
                  <a:srgbClr val="173F72"/>
                </a:solidFill>
                <a:latin typeface="Arial" pitchFamily="34" charset="0"/>
                <a:ea typeface="Arial" pitchFamily="34" charset="-122"/>
                <a:cs typeface="Arial" pitchFamily="34" charset="-120"/>
              </a:rPr>
              <a:t>Paso 3 · Ubicar el Objetivo en la Cadena de Valor</a:t>
            </a:r>
            <a:endParaRPr lang="en-US" sz="2100" dirty="0"/>
          </a:p>
        </p:txBody>
      </p:sp>
      <p:pic>
        <p:nvPicPr>
          <p:cNvPr id="6" name="Image 0" descr="/home/claude/taller/assets/footer_banner.png"/>
          <p:cNvPicPr>
            <a:picLocks noChangeAspect="1"/>
          </p:cNvPicPr>
          <p:nvPr/>
        </p:nvPicPr>
        <p:blipFill>
          <a:blip r:embed="rId3"/>
          <a:stretch>
            <a:fillRect/>
          </a:stretch>
        </p:blipFill>
        <p:spPr>
          <a:xfrm>
            <a:off x="0" y="4672584"/>
            <a:ext cx="9144000" cy="469087"/>
          </a:xfrm>
          <a:prstGeom prst="rect">
            <a:avLst/>
          </a:prstGeom>
        </p:spPr>
      </p:pic>
      <p:sp>
        <p:nvSpPr>
          <p:cNvPr id="7" name="Text 4"/>
          <p:cNvSpPr/>
          <p:nvPr/>
        </p:nvSpPr>
        <p:spPr>
          <a:xfrm>
            <a:off x="274320" y="4727448"/>
            <a:ext cx="5669280" cy="274320"/>
          </a:xfrm>
          <a:prstGeom prst="rect">
            <a:avLst/>
          </a:prstGeom>
          <a:noFill/>
          <a:ln/>
        </p:spPr>
        <p:txBody>
          <a:bodyPr wrap="square" lIns="0" tIns="0" rIns="0" bIns="0" rtlCol="0" anchor="ctr"/>
          <a:lstStyle/>
          <a:p>
            <a:pPr marL="0" indent="0">
              <a:buNone/>
            </a:pPr>
            <a:r>
              <a:rPr lang="en-US" sz="800" dirty="0">
                <a:solidFill>
                  <a:srgbClr val="FFFFFF"/>
                </a:solidFill>
                <a:latin typeface="Arial" pitchFamily="34" charset="0"/>
                <a:ea typeface="Arial" pitchFamily="34" charset="-122"/>
                <a:cs typeface="Arial" pitchFamily="34" charset="-120"/>
              </a:rPr>
              <a:t>Taller de Indicadores de Gestión Pública con IA</a:t>
            </a:r>
            <a:endParaRPr lang="en-US" sz="800" dirty="0"/>
          </a:p>
        </p:txBody>
      </p:sp>
      <p:sp>
        <p:nvSpPr>
          <p:cNvPr id="8" name="Text 5"/>
          <p:cNvSpPr/>
          <p:nvPr/>
        </p:nvSpPr>
        <p:spPr>
          <a:xfrm>
            <a:off x="640080" y="1463040"/>
            <a:ext cx="7863840" cy="3200400"/>
          </a:xfrm>
          <a:prstGeom prst="rect">
            <a:avLst/>
          </a:prstGeom>
          <a:noFill/>
          <a:ln/>
        </p:spPr>
        <p:txBody>
          <a:bodyPr wrap="square" rtlCol="0" anchor="t"/>
          <a:lstStyle/>
          <a:p>
            <a:pPr marL="177800" indent="-177800">
              <a:spcAft>
                <a:spcPts val="1000"/>
              </a:spcAft>
              <a:buSzPct val="100000"/>
              <a:buChar char="•"/>
            </a:pPr>
            <a:r>
              <a:rPr lang="en-US" sz="1400" dirty="0">
                <a:solidFill>
                  <a:srgbClr val="2F3B4C"/>
                </a:solidFill>
                <a:latin typeface="Arial" pitchFamily="34" charset="0"/>
                <a:ea typeface="Arial" pitchFamily="34" charset="-122"/>
                <a:cs typeface="Arial" pitchFamily="34" charset="-120"/>
              </a:rPr>
              <a:t>Con los componentes del Paso 2, se identifica si la pregunta apunta a un insumo, una actividad, un producto, un resultado o un impacto.</a:t>
            </a:r>
            <a:endParaRPr lang="en-US" sz="1400" dirty="0"/>
          </a:p>
          <a:p>
            <a:pPr marL="177800" indent="-177800">
              <a:spcAft>
                <a:spcPts val="1000"/>
              </a:spcAft>
              <a:buSzPct val="100000"/>
              <a:buChar char="•"/>
            </a:pPr>
            <a:r>
              <a:rPr lang="en-US" sz="1400" dirty="0">
                <a:solidFill>
                  <a:srgbClr val="2F3B4C"/>
                </a:solidFill>
                <a:latin typeface="Arial" pitchFamily="34" charset="0"/>
                <a:ea typeface="Arial" pitchFamily="34" charset="-122"/>
                <a:cs typeface="Arial" pitchFamily="34" charset="-120"/>
              </a:rPr>
              <a:t>Esto evita el error más común: redactar como “resultado” algo que en realidad es apenas un “producto” o un “insumo”.</a:t>
            </a:r>
            <a:endParaRPr lang="en-US" sz="1400" dirty="0"/>
          </a:p>
          <a:p>
            <a:pPr marL="177800" indent="-177800">
              <a:spcAft>
                <a:spcPts val="1000"/>
              </a:spcAft>
              <a:buSzPct val="100000"/>
              <a:buChar char="•"/>
            </a:pPr>
            <a:r>
              <a:rPr lang="en-US" sz="1400" dirty="0">
                <a:solidFill>
                  <a:srgbClr val="2F3B4C"/>
                </a:solidFill>
                <a:latin typeface="Arial" pitchFamily="34" charset="0"/>
                <a:ea typeface="Arial" pitchFamily="34" charset="-122"/>
                <a:cs typeface="Arial" pitchFamily="34" charset="-120"/>
              </a:rPr>
              <a:t>Use la tabla de eslabones (módulo 1) como referencia rápida durante este paso.</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292608"/>
            <a:ext cx="1005840" cy="41148"/>
          </a:xfrm>
          <a:prstGeom prst="rect">
            <a:avLst/>
          </a:prstGeom>
          <a:solidFill>
            <a:srgbClr val="FF9900"/>
          </a:solidFill>
          <a:ln/>
        </p:spPr>
      </p:sp>
      <p:sp>
        <p:nvSpPr>
          <p:cNvPr id="3" name="Text 1"/>
          <p:cNvSpPr/>
          <p:nvPr/>
        </p:nvSpPr>
        <p:spPr>
          <a:xfrm>
            <a:off x="640080" y="365760"/>
            <a:ext cx="6675120" cy="256032"/>
          </a:xfrm>
          <a:prstGeom prst="rect">
            <a:avLst/>
          </a:prstGeom>
          <a:noFill/>
          <a:ln/>
        </p:spPr>
        <p:txBody>
          <a:bodyPr wrap="square" rtlCol="0" anchor="ctr"/>
          <a:lstStyle/>
          <a:p>
            <a:pPr marL="0" indent="0">
              <a:buNone/>
            </a:pPr>
            <a:r>
              <a:rPr lang="en-US" sz="1000" b="1" kern="0" spc="150" dirty="0">
                <a:solidFill>
                  <a:srgbClr val="FC6E01"/>
                </a:solidFill>
                <a:latin typeface="Arial" pitchFamily="34" charset="0"/>
                <a:ea typeface="Arial" pitchFamily="34" charset="-122"/>
                <a:cs typeface="Arial" pitchFamily="34" charset="-120"/>
              </a:rPr>
              <a:t>MÉTODO DE 5 PASOS</a:t>
            </a:r>
            <a:endParaRPr lang="en-US" sz="1000" dirty="0"/>
          </a:p>
        </p:txBody>
      </p:sp>
      <p:sp>
        <p:nvSpPr>
          <p:cNvPr id="4" name="Text 2"/>
          <p:cNvSpPr/>
          <p:nvPr/>
        </p:nvSpPr>
        <p:spPr>
          <a:xfrm>
            <a:off x="640080" y="621792"/>
            <a:ext cx="7315200" cy="502920"/>
          </a:xfrm>
          <a:prstGeom prst="rect">
            <a:avLst/>
          </a:prstGeom>
          <a:noFill/>
          <a:ln/>
        </p:spPr>
        <p:txBody>
          <a:bodyPr wrap="square" rtlCol="0" anchor="ctr"/>
          <a:lstStyle/>
          <a:p>
            <a:pPr marL="0" indent="0">
              <a:buNone/>
            </a:pPr>
            <a:r>
              <a:rPr lang="en-US" sz="2100" b="1" dirty="0">
                <a:solidFill>
                  <a:srgbClr val="173F72"/>
                </a:solidFill>
                <a:latin typeface="Arial" pitchFamily="34" charset="0"/>
                <a:ea typeface="Arial" pitchFamily="34" charset="-122"/>
                <a:cs typeface="Arial" pitchFamily="34" charset="-120"/>
              </a:rPr>
              <a:t>Paso 4 · Formular el Indicador con Criterios de Calidad</a:t>
            </a:r>
            <a:endParaRPr lang="en-US" sz="2100" dirty="0"/>
          </a:p>
        </p:txBody>
      </p:sp>
      <p:pic>
        <p:nvPicPr>
          <p:cNvPr id="6" name="Image 0" descr="/home/claude/taller/assets/footer_banner.png"/>
          <p:cNvPicPr>
            <a:picLocks noChangeAspect="1"/>
          </p:cNvPicPr>
          <p:nvPr/>
        </p:nvPicPr>
        <p:blipFill>
          <a:blip r:embed="rId3"/>
          <a:stretch>
            <a:fillRect/>
          </a:stretch>
        </p:blipFill>
        <p:spPr>
          <a:xfrm>
            <a:off x="0" y="4672584"/>
            <a:ext cx="9144000" cy="469087"/>
          </a:xfrm>
          <a:prstGeom prst="rect">
            <a:avLst/>
          </a:prstGeom>
        </p:spPr>
      </p:pic>
      <p:sp>
        <p:nvSpPr>
          <p:cNvPr id="7" name="Text 4"/>
          <p:cNvSpPr/>
          <p:nvPr/>
        </p:nvSpPr>
        <p:spPr>
          <a:xfrm>
            <a:off x="274320" y="4727448"/>
            <a:ext cx="5669280" cy="274320"/>
          </a:xfrm>
          <a:prstGeom prst="rect">
            <a:avLst/>
          </a:prstGeom>
          <a:noFill/>
          <a:ln/>
        </p:spPr>
        <p:txBody>
          <a:bodyPr wrap="square" lIns="0" tIns="0" rIns="0" bIns="0" rtlCol="0" anchor="ctr"/>
          <a:lstStyle/>
          <a:p>
            <a:pPr marL="0" indent="0">
              <a:buNone/>
            </a:pPr>
            <a:r>
              <a:rPr lang="en-US" sz="800" dirty="0">
                <a:solidFill>
                  <a:srgbClr val="FFFFFF"/>
                </a:solidFill>
                <a:latin typeface="Arial" pitchFamily="34" charset="0"/>
                <a:ea typeface="Arial" pitchFamily="34" charset="-122"/>
                <a:cs typeface="Arial" pitchFamily="34" charset="-120"/>
              </a:rPr>
              <a:t>Taller de Indicadores de Gestión Pública con IA</a:t>
            </a:r>
            <a:endParaRPr lang="en-US" sz="800" dirty="0"/>
          </a:p>
        </p:txBody>
      </p:sp>
      <p:sp>
        <p:nvSpPr>
          <p:cNvPr id="8" name="Shape 5"/>
          <p:cNvSpPr/>
          <p:nvPr/>
        </p:nvSpPr>
        <p:spPr>
          <a:xfrm>
            <a:off x="640080" y="1371600"/>
            <a:ext cx="7863840" cy="621792"/>
          </a:xfrm>
          <a:prstGeom prst="roundRect">
            <a:avLst>
              <a:gd name="adj" fmla="val 5882"/>
            </a:avLst>
          </a:prstGeom>
          <a:solidFill>
            <a:srgbClr val="173F72"/>
          </a:solidFill>
          <a:ln/>
        </p:spPr>
      </p:sp>
      <p:sp>
        <p:nvSpPr>
          <p:cNvPr id="9" name="Text 6"/>
          <p:cNvSpPr/>
          <p:nvPr/>
        </p:nvSpPr>
        <p:spPr>
          <a:xfrm>
            <a:off x="777240" y="1417320"/>
            <a:ext cx="7589520" cy="274320"/>
          </a:xfrm>
          <a:prstGeom prst="rect">
            <a:avLst/>
          </a:prstGeom>
          <a:noFill/>
          <a:ln/>
        </p:spPr>
        <p:txBody>
          <a:bodyPr wrap="square" rtlCol="0" anchor="ctr"/>
          <a:lstStyle/>
          <a:p>
            <a:pPr marL="0" indent="0">
              <a:buNone/>
            </a:pPr>
            <a:r>
              <a:rPr lang="en-US" sz="1050" b="1" dirty="0">
                <a:solidFill>
                  <a:srgbClr val="FF9900"/>
                </a:solidFill>
                <a:latin typeface="Arial" pitchFamily="34" charset="0"/>
                <a:ea typeface="Arial" pitchFamily="34" charset="-122"/>
                <a:cs typeface="Arial" pitchFamily="34" charset="-120"/>
              </a:rPr>
              <a:t>Estructura del nombre = </a:t>
            </a:r>
            <a:r>
              <a:rPr lang="en-US" sz="1050" dirty="0">
                <a:solidFill>
                  <a:srgbClr val="FFFFFF"/>
                </a:solidFill>
                <a:latin typeface="Arial" pitchFamily="34" charset="0"/>
                <a:ea typeface="Arial" pitchFamily="34" charset="-122"/>
                <a:cs typeface="Arial" pitchFamily="34" charset="-120"/>
              </a:rPr>
              <a:t>Objeto de medición + Condición deseada (participio) + Contexto descriptivo</a:t>
            </a:r>
            <a:endParaRPr lang="en-US" sz="1050" dirty="0"/>
          </a:p>
        </p:txBody>
      </p:sp>
      <p:sp>
        <p:nvSpPr>
          <p:cNvPr id="10" name="Text 7"/>
          <p:cNvSpPr/>
          <p:nvPr/>
        </p:nvSpPr>
        <p:spPr>
          <a:xfrm>
            <a:off x="777240" y="1691640"/>
            <a:ext cx="7589520" cy="274320"/>
          </a:xfrm>
          <a:prstGeom prst="rect">
            <a:avLst/>
          </a:prstGeom>
          <a:noFill/>
          <a:ln/>
        </p:spPr>
        <p:txBody>
          <a:bodyPr wrap="square" rtlCol="0" anchor="ctr"/>
          <a:lstStyle/>
          <a:p>
            <a:pPr marL="0" indent="0">
              <a:buNone/>
            </a:pPr>
            <a:r>
              <a:rPr lang="en-US" sz="950" i="1" dirty="0">
                <a:solidFill>
                  <a:srgbClr val="CADCFC"/>
                </a:solidFill>
                <a:latin typeface="Arial" pitchFamily="34" charset="0"/>
                <a:ea typeface="Arial" pitchFamily="34" charset="-122"/>
                <a:cs typeface="Arial" pitchFamily="34" charset="-120"/>
              </a:rPr>
              <a:t>Ej: “Construir 45 km de vías terciarias en la zona norte” → “Kilómetros de vías terciarias construidos en la zona norte del municipio”.</a:t>
            </a:r>
            <a:endParaRPr lang="en-US" sz="95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40080" y="2148840"/>
          <a:ext cx="7863840" cy="2240280"/>
        </p:xfrm>
        <a:graphic>
          <a:graphicData uri="http://schemas.openxmlformats.org/drawingml/2006/table">
            <a:tbl>
              <a:tblPr/>
              <a:tblGrid>
                <a:gridCol w="393192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tblGrid>
              <a:tr h="320040">
                <a:tc>
                  <a:txBody>
                    <a:bodyPr/>
                    <a:lstStyle/>
                    <a:p>
                      <a:pPr marL="0" indent="0" algn="l">
                        <a:buNone/>
                      </a:pPr>
                      <a:r>
                        <a:rPr lang="en-US" sz="950" b="1" dirty="0">
                          <a:solidFill>
                            <a:srgbClr val="FFFFFF"/>
                          </a:solidFill>
                          <a:latin typeface="Arial" pitchFamily="34" charset="0"/>
                          <a:ea typeface="Arial" pitchFamily="34" charset="-122"/>
                          <a:cs typeface="Arial" pitchFamily="34" charset="-120"/>
                        </a:rPr>
                        <a:t>SMART (del objetivo)</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73F72"/>
                    </a:solidFill>
                  </a:tcPr>
                </a:tc>
                <a:tc>
                  <a:txBody>
                    <a:bodyPr/>
                    <a:lstStyle/>
                    <a:p>
                      <a:pPr marL="0" indent="0" algn="l">
                        <a:buNone/>
                      </a:pPr>
                      <a:r>
                        <a:rPr lang="en-US" sz="950" b="1" dirty="0">
                          <a:solidFill>
                            <a:srgbClr val="FFFFFF"/>
                          </a:solidFill>
                          <a:latin typeface="Arial" pitchFamily="34" charset="0"/>
                          <a:ea typeface="Arial" pitchFamily="34" charset="-122"/>
                          <a:cs typeface="Arial" pitchFamily="34" charset="-120"/>
                        </a:rPr>
                        <a:t>CREMAS (del indicador)</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73F72"/>
                    </a:solidFill>
                  </a:tcPr>
                </a:tc>
                <a:extLst>
                  <a:ext uri="{0D108BD9-81ED-4DB2-BD59-A6C34878D82A}">
                    <a16:rowId xmlns:a16="http://schemas.microsoft.com/office/drawing/2014/main" val="10000"/>
                  </a:ext>
                </a:extLst>
              </a:tr>
              <a:tr h="320040">
                <a:tc>
                  <a:txBody>
                    <a:bodyPr/>
                    <a:lstStyle/>
                    <a:p>
                      <a:pPr marL="0" indent="0" algn="l">
                        <a:buNone/>
                      </a:pPr>
                      <a:r>
                        <a:rPr lang="en-US" sz="950" b="1" dirty="0">
                          <a:solidFill>
                            <a:srgbClr val="173F72"/>
                          </a:solidFill>
                          <a:latin typeface="Arial" pitchFamily="34" charset="0"/>
                          <a:ea typeface="Arial" pitchFamily="34" charset="-122"/>
                          <a:cs typeface="Arial" pitchFamily="34" charset="-120"/>
                        </a:rPr>
                        <a:t>S · Specific (específico)</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C · Claro: preciso, sin ambigüedad</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0040">
                <a:tc>
                  <a:txBody>
                    <a:bodyPr/>
                    <a:lstStyle/>
                    <a:p>
                      <a:pPr marL="0" indent="0" algn="l">
                        <a:buNone/>
                      </a:pPr>
                      <a:r>
                        <a:rPr lang="en-US" sz="950" b="1" dirty="0">
                          <a:solidFill>
                            <a:srgbClr val="173F72"/>
                          </a:solidFill>
                          <a:latin typeface="Arial" pitchFamily="34" charset="0"/>
                          <a:ea typeface="Arial" pitchFamily="34" charset="-122"/>
                          <a:cs typeface="Arial" pitchFamily="34" charset="-120"/>
                        </a:rPr>
                        <a:t>M · Measurable (medible)</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R · Relevante: pertinente frente a lo evaluado</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20040">
                <a:tc>
                  <a:txBody>
                    <a:bodyPr/>
                    <a:lstStyle/>
                    <a:p>
                      <a:pPr marL="0" indent="0" algn="l">
                        <a:buNone/>
                      </a:pPr>
                      <a:r>
                        <a:rPr lang="en-US" sz="950" b="1" dirty="0">
                          <a:solidFill>
                            <a:srgbClr val="173F72"/>
                          </a:solidFill>
                          <a:latin typeface="Arial" pitchFamily="34" charset="0"/>
                          <a:ea typeface="Arial" pitchFamily="34" charset="-122"/>
                          <a:cs typeface="Arial" pitchFamily="34" charset="-120"/>
                        </a:rPr>
                        <a:t>A · Achievable (realizable)</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E · Económico: costo razonable de obtención</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0040">
                <a:tc>
                  <a:txBody>
                    <a:bodyPr/>
                    <a:lstStyle/>
                    <a:p>
                      <a:pPr marL="0" indent="0" algn="l">
                        <a:buNone/>
                      </a:pPr>
                      <a:r>
                        <a:rPr lang="en-US" sz="950" b="1" dirty="0">
                          <a:solidFill>
                            <a:srgbClr val="173F72"/>
                          </a:solidFill>
                          <a:latin typeface="Arial" pitchFamily="34" charset="0"/>
                          <a:ea typeface="Arial" pitchFamily="34" charset="-122"/>
                          <a:cs typeface="Arial" pitchFamily="34" charset="-120"/>
                        </a:rPr>
                        <a:t>R · Realistic (realista)</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M · Medible: verificable, con fuente identificable</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20040">
                <a:tc>
                  <a:txBody>
                    <a:bodyPr/>
                    <a:lstStyle/>
                    <a:p>
                      <a:pPr marL="0" indent="0" algn="l">
                        <a:buNone/>
                      </a:pPr>
                      <a:r>
                        <a:rPr lang="en-US" sz="950" b="1" dirty="0">
                          <a:solidFill>
                            <a:srgbClr val="173F72"/>
                          </a:solidFill>
                          <a:latin typeface="Arial" pitchFamily="34" charset="0"/>
                          <a:ea typeface="Arial" pitchFamily="34" charset="-122"/>
                          <a:cs typeface="Arial" pitchFamily="34" charset="-120"/>
                        </a:rPr>
                        <a:t>T · Time-bound (limitado en tiempo)</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A · Adecuado: base suficiente para juzgar desempeño</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20040">
                <a:tc>
                  <a:txBody>
                    <a:bodyPr/>
                    <a:lstStyle/>
                    <a:p>
                      <a:pPr marL="0" indent="0" algn="l">
                        <a:buNone/>
                      </a:pP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S · Sensible: capta cambios en el tiempo</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292608"/>
            <a:ext cx="1005840" cy="41148"/>
          </a:xfrm>
          <a:prstGeom prst="rect">
            <a:avLst/>
          </a:prstGeom>
          <a:solidFill>
            <a:srgbClr val="FF9900"/>
          </a:solidFill>
          <a:ln/>
        </p:spPr>
      </p:sp>
      <p:sp>
        <p:nvSpPr>
          <p:cNvPr id="3" name="Text 1"/>
          <p:cNvSpPr/>
          <p:nvPr/>
        </p:nvSpPr>
        <p:spPr>
          <a:xfrm>
            <a:off x="640080" y="365760"/>
            <a:ext cx="6675120" cy="256032"/>
          </a:xfrm>
          <a:prstGeom prst="rect">
            <a:avLst/>
          </a:prstGeom>
          <a:noFill/>
          <a:ln/>
        </p:spPr>
        <p:txBody>
          <a:bodyPr wrap="square" rtlCol="0" anchor="ctr"/>
          <a:lstStyle/>
          <a:p>
            <a:pPr marL="0" indent="0">
              <a:buNone/>
            </a:pPr>
            <a:r>
              <a:rPr lang="en-US" sz="1000" b="1" kern="0" spc="150" dirty="0">
                <a:solidFill>
                  <a:srgbClr val="FC6E01"/>
                </a:solidFill>
                <a:latin typeface="Arial" pitchFamily="34" charset="0"/>
                <a:ea typeface="Arial" pitchFamily="34" charset="-122"/>
                <a:cs typeface="Arial" pitchFamily="34" charset="-120"/>
              </a:rPr>
              <a:t>MÉTODO DE 5 PASOS · DEL SIMULADOR</a:t>
            </a:r>
            <a:endParaRPr lang="en-US" sz="1000" dirty="0"/>
          </a:p>
        </p:txBody>
      </p:sp>
      <p:sp>
        <p:nvSpPr>
          <p:cNvPr id="4" name="Text 2"/>
          <p:cNvSpPr/>
          <p:nvPr/>
        </p:nvSpPr>
        <p:spPr>
          <a:xfrm>
            <a:off x="640080" y="621792"/>
            <a:ext cx="7315200" cy="502920"/>
          </a:xfrm>
          <a:prstGeom prst="rect">
            <a:avLst/>
          </a:prstGeom>
          <a:noFill/>
          <a:ln/>
        </p:spPr>
        <p:txBody>
          <a:bodyPr wrap="square" rtlCol="0" anchor="ctr"/>
          <a:lstStyle/>
          <a:p>
            <a:pPr marL="0" indent="0">
              <a:buNone/>
            </a:pPr>
            <a:r>
              <a:rPr lang="en-US" sz="2100" b="1" dirty="0">
                <a:solidFill>
                  <a:srgbClr val="173F72"/>
                </a:solidFill>
                <a:latin typeface="Arial" pitchFamily="34" charset="0"/>
                <a:ea typeface="Arial" pitchFamily="34" charset="-122"/>
                <a:cs typeface="Arial" pitchFamily="34" charset="-120"/>
              </a:rPr>
              <a:t>¿Cómo se Mide? Tipos de Acumulación</a:t>
            </a:r>
            <a:endParaRPr lang="en-US" sz="2100" dirty="0"/>
          </a:p>
        </p:txBody>
      </p:sp>
      <p:pic>
        <p:nvPicPr>
          <p:cNvPr id="6" name="Image 0" descr="/home/claude/taller/assets/footer_banner.png"/>
          <p:cNvPicPr>
            <a:picLocks noChangeAspect="1"/>
          </p:cNvPicPr>
          <p:nvPr/>
        </p:nvPicPr>
        <p:blipFill>
          <a:blip r:embed="rId3"/>
          <a:stretch>
            <a:fillRect/>
          </a:stretch>
        </p:blipFill>
        <p:spPr>
          <a:xfrm>
            <a:off x="0" y="4672584"/>
            <a:ext cx="9144000" cy="469087"/>
          </a:xfrm>
          <a:prstGeom prst="rect">
            <a:avLst/>
          </a:prstGeom>
        </p:spPr>
      </p:pic>
      <p:sp>
        <p:nvSpPr>
          <p:cNvPr id="7" name="Text 4"/>
          <p:cNvSpPr/>
          <p:nvPr/>
        </p:nvSpPr>
        <p:spPr>
          <a:xfrm>
            <a:off x="274320" y="4727448"/>
            <a:ext cx="5669280" cy="274320"/>
          </a:xfrm>
          <a:prstGeom prst="rect">
            <a:avLst/>
          </a:prstGeom>
          <a:noFill/>
          <a:ln/>
        </p:spPr>
        <p:txBody>
          <a:bodyPr wrap="square" lIns="0" tIns="0" rIns="0" bIns="0" rtlCol="0" anchor="ctr"/>
          <a:lstStyle/>
          <a:p>
            <a:pPr marL="0" indent="0">
              <a:buNone/>
            </a:pPr>
            <a:r>
              <a:rPr lang="en-US" sz="800" dirty="0">
                <a:solidFill>
                  <a:srgbClr val="FFFFFF"/>
                </a:solidFill>
                <a:latin typeface="Arial" pitchFamily="34" charset="0"/>
                <a:ea typeface="Arial" pitchFamily="34" charset="-122"/>
                <a:cs typeface="Arial" pitchFamily="34" charset="-120"/>
              </a:rPr>
              <a:t>Taller de Indicadores de Gestión Pública con IA</a:t>
            </a:r>
            <a:endParaRPr lang="en-US" sz="800" dirty="0"/>
          </a:p>
        </p:txBody>
      </p:sp>
      <p:sp>
        <p:nvSpPr>
          <p:cNvPr id="8" name="Shape 5"/>
          <p:cNvSpPr/>
          <p:nvPr/>
        </p:nvSpPr>
        <p:spPr>
          <a:xfrm>
            <a:off x="640080" y="1417320"/>
            <a:ext cx="2511552" cy="1417320"/>
          </a:xfrm>
          <a:prstGeom prst="roundRect">
            <a:avLst>
              <a:gd name="adj" fmla="val 3871"/>
            </a:avLst>
          </a:prstGeom>
          <a:solidFill>
            <a:srgbClr val="EDF3F9"/>
          </a:solidFill>
          <a:ln/>
        </p:spPr>
      </p:sp>
      <p:sp>
        <p:nvSpPr>
          <p:cNvPr id="9" name="Shape 6"/>
          <p:cNvSpPr/>
          <p:nvPr/>
        </p:nvSpPr>
        <p:spPr>
          <a:xfrm>
            <a:off x="777240" y="1554480"/>
            <a:ext cx="365760" cy="365760"/>
          </a:xfrm>
          <a:prstGeom prst="ellipse">
            <a:avLst/>
          </a:prstGeom>
          <a:solidFill>
            <a:srgbClr val="FC6E01"/>
          </a:solidFill>
          <a:ln/>
        </p:spPr>
      </p:sp>
      <p:sp>
        <p:nvSpPr>
          <p:cNvPr id="10" name="Text 7"/>
          <p:cNvSpPr/>
          <p:nvPr/>
        </p:nvSpPr>
        <p:spPr>
          <a:xfrm>
            <a:off x="777240" y="1554480"/>
            <a:ext cx="365760" cy="365760"/>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11" name="Text 8"/>
          <p:cNvSpPr/>
          <p:nvPr/>
        </p:nvSpPr>
        <p:spPr>
          <a:xfrm>
            <a:off x="777240" y="1984248"/>
            <a:ext cx="2237232" cy="365760"/>
          </a:xfrm>
          <a:prstGeom prst="rect">
            <a:avLst/>
          </a:prstGeom>
          <a:noFill/>
          <a:ln/>
        </p:spPr>
        <p:txBody>
          <a:bodyPr wrap="square" rtlCol="0" anchor="t"/>
          <a:lstStyle/>
          <a:p>
            <a:pPr marL="0" indent="0">
              <a:buNone/>
            </a:pPr>
            <a:r>
              <a:rPr lang="en-US" sz="1200" b="1" dirty="0">
                <a:solidFill>
                  <a:srgbClr val="173F72"/>
                </a:solidFill>
                <a:latin typeface="Arial" pitchFamily="34" charset="0"/>
                <a:ea typeface="Arial" pitchFamily="34" charset="-122"/>
                <a:cs typeface="Arial" pitchFamily="34" charset="-120"/>
              </a:rPr>
              <a:t>Flujo</a:t>
            </a:r>
            <a:endParaRPr lang="en-US" sz="1200" dirty="0"/>
          </a:p>
        </p:txBody>
      </p:sp>
      <p:sp>
        <p:nvSpPr>
          <p:cNvPr id="12" name="Text 9"/>
          <p:cNvSpPr/>
          <p:nvPr/>
        </p:nvSpPr>
        <p:spPr>
          <a:xfrm>
            <a:off x="777240" y="2331720"/>
            <a:ext cx="2237232" cy="411480"/>
          </a:xfrm>
          <a:prstGeom prst="rect">
            <a:avLst/>
          </a:prstGeom>
          <a:noFill/>
          <a:ln/>
        </p:spPr>
        <p:txBody>
          <a:bodyPr wrap="square" rtlCol="0" anchor="t"/>
          <a:lstStyle/>
          <a:p>
            <a:pPr marL="0" indent="0">
              <a:buNone/>
            </a:pPr>
            <a:r>
              <a:rPr lang="en-US" sz="950" dirty="0">
                <a:solidFill>
                  <a:srgbClr val="5C6B7C"/>
                </a:solidFill>
                <a:latin typeface="Arial" pitchFamily="34" charset="0"/>
                <a:ea typeface="Arial" pitchFamily="34" charset="-122"/>
                <a:cs typeface="Arial" pitchFamily="34" charset="-120"/>
              </a:rPr>
              <a:t>Logros que se repiten anualmente.</a:t>
            </a:r>
            <a:endParaRPr lang="en-US" sz="950" dirty="0"/>
          </a:p>
        </p:txBody>
      </p:sp>
      <p:sp>
        <p:nvSpPr>
          <p:cNvPr id="13" name="Shape 10"/>
          <p:cNvSpPr/>
          <p:nvPr/>
        </p:nvSpPr>
        <p:spPr>
          <a:xfrm>
            <a:off x="3316224" y="1417320"/>
            <a:ext cx="2511552" cy="1417320"/>
          </a:xfrm>
          <a:prstGeom prst="roundRect">
            <a:avLst>
              <a:gd name="adj" fmla="val 3871"/>
            </a:avLst>
          </a:prstGeom>
          <a:solidFill>
            <a:srgbClr val="EDF3F9"/>
          </a:solidFill>
          <a:ln/>
        </p:spPr>
      </p:sp>
      <p:sp>
        <p:nvSpPr>
          <p:cNvPr id="14" name="Shape 11"/>
          <p:cNvSpPr/>
          <p:nvPr/>
        </p:nvSpPr>
        <p:spPr>
          <a:xfrm>
            <a:off x="3453384" y="1554480"/>
            <a:ext cx="365760" cy="365760"/>
          </a:xfrm>
          <a:prstGeom prst="ellipse">
            <a:avLst/>
          </a:prstGeom>
          <a:solidFill>
            <a:srgbClr val="FC6E01"/>
          </a:solidFill>
          <a:ln/>
        </p:spPr>
      </p:sp>
      <p:sp>
        <p:nvSpPr>
          <p:cNvPr id="15" name="Text 12"/>
          <p:cNvSpPr/>
          <p:nvPr/>
        </p:nvSpPr>
        <p:spPr>
          <a:xfrm>
            <a:off x="3453384" y="1554480"/>
            <a:ext cx="365760" cy="365760"/>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6" name="Text 13"/>
          <p:cNvSpPr/>
          <p:nvPr/>
        </p:nvSpPr>
        <p:spPr>
          <a:xfrm>
            <a:off x="3453384" y="1984248"/>
            <a:ext cx="2237232" cy="365760"/>
          </a:xfrm>
          <a:prstGeom prst="rect">
            <a:avLst/>
          </a:prstGeom>
          <a:noFill/>
          <a:ln/>
        </p:spPr>
        <p:txBody>
          <a:bodyPr wrap="square" rtlCol="0" anchor="t"/>
          <a:lstStyle/>
          <a:p>
            <a:pPr marL="0" indent="0">
              <a:buNone/>
            </a:pPr>
            <a:r>
              <a:rPr lang="en-US" sz="1200" b="1" dirty="0">
                <a:solidFill>
                  <a:srgbClr val="173F72"/>
                </a:solidFill>
                <a:latin typeface="Arial" pitchFamily="34" charset="0"/>
                <a:ea typeface="Arial" pitchFamily="34" charset="-122"/>
                <a:cs typeface="Arial" pitchFamily="34" charset="-120"/>
              </a:rPr>
              <a:t>Acumulado</a:t>
            </a:r>
            <a:endParaRPr lang="en-US" sz="1200" dirty="0"/>
          </a:p>
        </p:txBody>
      </p:sp>
      <p:sp>
        <p:nvSpPr>
          <p:cNvPr id="17" name="Text 14"/>
          <p:cNvSpPr/>
          <p:nvPr/>
        </p:nvSpPr>
        <p:spPr>
          <a:xfrm>
            <a:off x="3453384" y="2331720"/>
            <a:ext cx="2237232" cy="411480"/>
          </a:xfrm>
          <a:prstGeom prst="rect">
            <a:avLst/>
          </a:prstGeom>
          <a:noFill/>
          <a:ln/>
        </p:spPr>
        <p:txBody>
          <a:bodyPr wrap="square" rtlCol="0" anchor="t"/>
          <a:lstStyle/>
          <a:p>
            <a:pPr marL="0" indent="0">
              <a:buNone/>
            </a:pPr>
            <a:r>
              <a:rPr lang="en-US" sz="950" dirty="0">
                <a:solidFill>
                  <a:srgbClr val="5C6B7C"/>
                </a:solidFill>
                <a:latin typeface="Arial" pitchFamily="34" charset="0"/>
                <a:ea typeface="Arial" pitchFamily="34" charset="-122"/>
                <a:cs typeface="Arial" pitchFamily="34" charset="-120"/>
              </a:rPr>
              <a:t>Suma los avances de cada año.</a:t>
            </a:r>
            <a:endParaRPr lang="en-US" sz="950" dirty="0"/>
          </a:p>
        </p:txBody>
      </p:sp>
      <p:sp>
        <p:nvSpPr>
          <p:cNvPr id="18" name="Shape 15"/>
          <p:cNvSpPr/>
          <p:nvPr/>
        </p:nvSpPr>
        <p:spPr>
          <a:xfrm>
            <a:off x="5992368" y="1417320"/>
            <a:ext cx="2511552" cy="1417320"/>
          </a:xfrm>
          <a:prstGeom prst="roundRect">
            <a:avLst>
              <a:gd name="adj" fmla="val 3871"/>
            </a:avLst>
          </a:prstGeom>
          <a:solidFill>
            <a:srgbClr val="EDF3F9"/>
          </a:solidFill>
          <a:ln/>
        </p:spPr>
      </p:sp>
      <p:sp>
        <p:nvSpPr>
          <p:cNvPr id="19" name="Shape 16"/>
          <p:cNvSpPr/>
          <p:nvPr/>
        </p:nvSpPr>
        <p:spPr>
          <a:xfrm>
            <a:off x="6129528" y="1554480"/>
            <a:ext cx="365760" cy="365760"/>
          </a:xfrm>
          <a:prstGeom prst="ellipse">
            <a:avLst/>
          </a:prstGeom>
          <a:solidFill>
            <a:srgbClr val="FC6E01"/>
          </a:solidFill>
          <a:ln/>
        </p:spPr>
      </p:sp>
      <p:sp>
        <p:nvSpPr>
          <p:cNvPr id="20" name="Text 17"/>
          <p:cNvSpPr/>
          <p:nvPr/>
        </p:nvSpPr>
        <p:spPr>
          <a:xfrm>
            <a:off x="6129528" y="1554480"/>
            <a:ext cx="365760" cy="365760"/>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21" name="Text 18"/>
          <p:cNvSpPr/>
          <p:nvPr/>
        </p:nvSpPr>
        <p:spPr>
          <a:xfrm>
            <a:off x="6129528" y="1984248"/>
            <a:ext cx="2237232" cy="365760"/>
          </a:xfrm>
          <a:prstGeom prst="rect">
            <a:avLst/>
          </a:prstGeom>
          <a:noFill/>
          <a:ln/>
        </p:spPr>
        <p:txBody>
          <a:bodyPr wrap="square" rtlCol="0" anchor="t"/>
          <a:lstStyle/>
          <a:p>
            <a:pPr marL="0" indent="0">
              <a:buNone/>
            </a:pPr>
            <a:r>
              <a:rPr lang="en-US" sz="1200" b="1" dirty="0">
                <a:solidFill>
                  <a:srgbClr val="173F72"/>
                </a:solidFill>
                <a:latin typeface="Arial" pitchFamily="34" charset="0"/>
                <a:ea typeface="Arial" pitchFamily="34" charset="-122"/>
                <a:cs typeface="Arial" pitchFamily="34" charset="-120"/>
              </a:rPr>
              <a:t>Stock</a:t>
            </a:r>
            <a:endParaRPr lang="en-US" sz="1200" dirty="0"/>
          </a:p>
        </p:txBody>
      </p:sp>
      <p:sp>
        <p:nvSpPr>
          <p:cNvPr id="22" name="Text 19"/>
          <p:cNvSpPr/>
          <p:nvPr/>
        </p:nvSpPr>
        <p:spPr>
          <a:xfrm>
            <a:off x="6129528" y="2331720"/>
            <a:ext cx="2237232" cy="411480"/>
          </a:xfrm>
          <a:prstGeom prst="rect">
            <a:avLst/>
          </a:prstGeom>
          <a:noFill/>
          <a:ln/>
        </p:spPr>
        <p:txBody>
          <a:bodyPr wrap="square" rtlCol="0" anchor="t"/>
          <a:lstStyle/>
          <a:p>
            <a:pPr marL="0" indent="0">
              <a:buNone/>
            </a:pPr>
            <a:r>
              <a:rPr lang="en-US" sz="950" dirty="0">
                <a:solidFill>
                  <a:srgbClr val="5C6B7C"/>
                </a:solidFill>
                <a:latin typeface="Arial" pitchFamily="34" charset="0"/>
                <a:ea typeface="Arial" pitchFamily="34" charset="-122"/>
                <a:cs typeface="Arial" pitchFamily="34" charset="-120"/>
              </a:rPr>
              <a:t>Mide el esfuerzo por mantener un resultado.</a:t>
            </a:r>
            <a:endParaRPr lang="en-US" sz="950" dirty="0"/>
          </a:p>
        </p:txBody>
      </p:sp>
      <p:sp>
        <p:nvSpPr>
          <p:cNvPr id="23" name="Shape 20"/>
          <p:cNvSpPr/>
          <p:nvPr/>
        </p:nvSpPr>
        <p:spPr>
          <a:xfrm>
            <a:off x="640080" y="3017520"/>
            <a:ext cx="2511552" cy="1417320"/>
          </a:xfrm>
          <a:prstGeom prst="roundRect">
            <a:avLst>
              <a:gd name="adj" fmla="val 3871"/>
            </a:avLst>
          </a:prstGeom>
          <a:solidFill>
            <a:srgbClr val="EDF3F9"/>
          </a:solidFill>
          <a:ln/>
        </p:spPr>
      </p:sp>
      <p:sp>
        <p:nvSpPr>
          <p:cNvPr id="24" name="Shape 21"/>
          <p:cNvSpPr/>
          <p:nvPr/>
        </p:nvSpPr>
        <p:spPr>
          <a:xfrm>
            <a:off x="777240" y="3154680"/>
            <a:ext cx="365760" cy="365760"/>
          </a:xfrm>
          <a:prstGeom prst="ellipse">
            <a:avLst/>
          </a:prstGeom>
          <a:solidFill>
            <a:srgbClr val="FC6E01"/>
          </a:solidFill>
          <a:ln/>
        </p:spPr>
      </p:sp>
      <p:sp>
        <p:nvSpPr>
          <p:cNvPr id="25" name="Text 22"/>
          <p:cNvSpPr/>
          <p:nvPr/>
        </p:nvSpPr>
        <p:spPr>
          <a:xfrm>
            <a:off x="777240" y="3154680"/>
            <a:ext cx="365760" cy="365760"/>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26" name="Text 23"/>
          <p:cNvSpPr/>
          <p:nvPr/>
        </p:nvSpPr>
        <p:spPr>
          <a:xfrm>
            <a:off x="777240" y="3584448"/>
            <a:ext cx="2237232" cy="365760"/>
          </a:xfrm>
          <a:prstGeom prst="rect">
            <a:avLst/>
          </a:prstGeom>
          <a:noFill/>
          <a:ln/>
        </p:spPr>
        <p:txBody>
          <a:bodyPr wrap="square" rtlCol="0" anchor="t"/>
          <a:lstStyle/>
          <a:p>
            <a:pPr marL="0" indent="0">
              <a:buNone/>
            </a:pPr>
            <a:r>
              <a:rPr lang="en-US" sz="1200" b="1" dirty="0">
                <a:solidFill>
                  <a:srgbClr val="173F72"/>
                </a:solidFill>
                <a:latin typeface="Arial" pitchFamily="34" charset="0"/>
                <a:ea typeface="Arial" pitchFamily="34" charset="-122"/>
                <a:cs typeface="Arial" pitchFamily="34" charset="-120"/>
              </a:rPr>
              <a:t>Capacidad</a:t>
            </a:r>
            <a:endParaRPr lang="en-US" sz="1200" dirty="0"/>
          </a:p>
        </p:txBody>
      </p:sp>
      <p:sp>
        <p:nvSpPr>
          <p:cNvPr id="27" name="Text 24"/>
          <p:cNvSpPr/>
          <p:nvPr/>
        </p:nvSpPr>
        <p:spPr>
          <a:xfrm>
            <a:off x="777240" y="3931920"/>
            <a:ext cx="2237232" cy="411480"/>
          </a:xfrm>
          <a:prstGeom prst="rect">
            <a:avLst/>
          </a:prstGeom>
          <a:noFill/>
          <a:ln/>
        </p:spPr>
        <p:txBody>
          <a:bodyPr wrap="square" rtlCol="0" anchor="t"/>
          <a:lstStyle/>
          <a:p>
            <a:pPr marL="0" indent="0">
              <a:buNone/>
            </a:pPr>
            <a:r>
              <a:rPr lang="en-US" sz="950" dirty="0">
                <a:solidFill>
                  <a:srgbClr val="5C6B7C"/>
                </a:solidFill>
                <a:latin typeface="Arial" pitchFamily="34" charset="0"/>
                <a:ea typeface="Arial" pitchFamily="34" charset="-122"/>
                <a:cs typeface="Arial" pitchFamily="34" charset="-120"/>
              </a:rPr>
              <a:t>Avance restando línea base a la meta.</a:t>
            </a:r>
            <a:endParaRPr lang="en-US" sz="950" dirty="0"/>
          </a:p>
        </p:txBody>
      </p:sp>
      <p:sp>
        <p:nvSpPr>
          <p:cNvPr id="28" name="Shape 25"/>
          <p:cNvSpPr/>
          <p:nvPr/>
        </p:nvSpPr>
        <p:spPr>
          <a:xfrm>
            <a:off x="3316224" y="3017520"/>
            <a:ext cx="2511552" cy="1417320"/>
          </a:xfrm>
          <a:prstGeom prst="roundRect">
            <a:avLst>
              <a:gd name="adj" fmla="val 3871"/>
            </a:avLst>
          </a:prstGeom>
          <a:solidFill>
            <a:srgbClr val="EDF3F9"/>
          </a:solidFill>
          <a:ln/>
        </p:spPr>
      </p:sp>
      <p:sp>
        <p:nvSpPr>
          <p:cNvPr id="29" name="Shape 26"/>
          <p:cNvSpPr/>
          <p:nvPr/>
        </p:nvSpPr>
        <p:spPr>
          <a:xfrm>
            <a:off x="3453384" y="3154680"/>
            <a:ext cx="365760" cy="365760"/>
          </a:xfrm>
          <a:prstGeom prst="ellipse">
            <a:avLst/>
          </a:prstGeom>
          <a:solidFill>
            <a:srgbClr val="FC6E01"/>
          </a:solidFill>
          <a:ln/>
        </p:spPr>
      </p:sp>
      <p:sp>
        <p:nvSpPr>
          <p:cNvPr id="30" name="Text 27"/>
          <p:cNvSpPr/>
          <p:nvPr/>
        </p:nvSpPr>
        <p:spPr>
          <a:xfrm>
            <a:off x="3453384" y="3154680"/>
            <a:ext cx="365760" cy="365760"/>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31" name="Text 28"/>
          <p:cNvSpPr/>
          <p:nvPr/>
        </p:nvSpPr>
        <p:spPr>
          <a:xfrm>
            <a:off x="3453384" y="3584448"/>
            <a:ext cx="2237232" cy="365760"/>
          </a:xfrm>
          <a:prstGeom prst="rect">
            <a:avLst/>
          </a:prstGeom>
          <a:noFill/>
          <a:ln/>
        </p:spPr>
        <p:txBody>
          <a:bodyPr wrap="square" rtlCol="0" anchor="t"/>
          <a:lstStyle/>
          <a:p>
            <a:pPr marL="0" indent="0">
              <a:buNone/>
            </a:pPr>
            <a:r>
              <a:rPr lang="en-US" sz="1200" b="1" dirty="0">
                <a:solidFill>
                  <a:srgbClr val="173F72"/>
                </a:solidFill>
                <a:latin typeface="Arial" pitchFamily="34" charset="0"/>
                <a:ea typeface="Arial" pitchFamily="34" charset="-122"/>
                <a:cs typeface="Arial" pitchFamily="34" charset="-120"/>
              </a:rPr>
              <a:t>Reducción</a:t>
            </a:r>
            <a:endParaRPr lang="en-US" sz="1200" dirty="0"/>
          </a:p>
        </p:txBody>
      </p:sp>
      <p:sp>
        <p:nvSpPr>
          <p:cNvPr id="32" name="Text 29"/>
          <p:cNvSpPr/>
          <p:nvPr/>
        </p:nvSpPr>
        <p:spPr>
          <a:xfrm>
            <a:off x="3453384" y="3931920"/>
            <a:ext cx="2237232" cy="411480"/>
          </a:xfrm>
          <a:prstGeom prst="rect">
            <a:avLst/>
          </a:prstGeom>
          <a:noFill/>
          <a:ln/>
        </p:spPr>
        <p:txBody>
          <a:bodyPr wrap="square" rtlCol="0" anchor="t"/>
          <a:lstStyle/>
          <a:p>
            <a:pPr marL="0" indent="0">
              <a:buNone/>
            </a:pPr>
            <a:r>
              <a:rPr lang="en-US" sz="950" dirty="0">
                <a:solidFill>
                  <a:srgbClr val="5C6B7C"/>
                </a:solidFill>
                <a:latin typeface="Arial" pitchFamily="34" charset="0"/>
                <a:ea typeface="Arial" pitchFamily="34" charset="-122"/>
                <a:cs typeface="Arial" pitchFamily="34" charset="-120"/>
              </a:rPr>
              <a:t>Esfuerzo por disminuir frente a línea base.</a:t>
            </a:r>
            <a:endParaRPr lang="en-US" sz="950" dirty="0"/>
          </a:p>
        </p:txBody>
      </p:sp>
      <p:sp>
        <p:nvSpPr>
          <p:cNvPr id="33" name="Shape 30"/>
          <p:cNvSpPr/>
          <p:nvPr/>
        </p:nvSpPr>
        <p:spPr>
          <a:xfrm>
            <a:off x="5992368" y="3017520"/>
            <a:ext cx="2511552" cy="1417320"/>
          </a:xfrm>
          <a:prstGeom prst="roundRect">
            <a:avLst>
              <a:gd name="adj" fmla="val 3871"/>
            </a:avLst>
          </a:prstGeom>
          <a:solidFill>
            <a:srgbClr val="EDF3F9"/>
          </a:solidFill>
          <a:ln/>
        </p:spPr>
      </p:sp>
      <p:sp>
        <p:nvSpPr>
          <p:cNvPr id="34" name="Shape 31"/>
          <p:cNvSpPr/>
          <p:nvPr/>
        </p:nvSpPr>
        <p:spPr>
          <a:xfrm>
            <a:off x="6129528" y="3154680"/>
            <a:ext cx="365760" cy="365760"/>
          </a:xfrm>
          <a:prstGeom prst="ellipse">
            <a:avLst/>
          </a:prstGeom>
          <a:solidFill>
            <a:srgbClr val="FC6E01"/>
          </a:solidFill>
          <a:ln/>
        </p:spPr>
      </p:sp>
      <p:sp>
        <p:nvSpPr>
          <p:cNvPr id="35" name="Text 32"/>
          <p:cNvSpPr/>
          <p:nvPr/>
        </p:nvSpPr>
        <p:spPr>
          <a:xfrm>
            <a:off x="6129528" y="3154680"/>
            <a:ext cx="365760" cy="365760"/>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36" name="Text 33"/>
          <p:cNvSpPr/>
          <p:nvPr/>
        </p:nvSpPr>
        <p:spPr>
          <a:xfrm>
            <a:off x="6129528" y="3584448"/>
            <a:ext cx="2237232" cy="365760"/>
          </a:xfrm>
          <a:prstGeom prst="rect">
            <a:avLst/>
          </a:prstGeom>
          <a:noFill/>
          <a:ln/>
        </p:spPr>
        <p:txBody>
          <a:bodyPr wrap="square" rtlCol="0" anchor="t"/>
          <a:lstStyle/>
          <a:p>
            <a:pPr marL="0" indent="0">
              <a:buNone/>
            </a:pPr>
            <a:r>
              <a:rPr lang="en-US" sz="1200" b="1" dirty="0">
                <a:solidFill>
                  <a:srgbClr val="173F72"/>
                </a:solidFill>
                <a:latin typeface="Arial" pitchFamily="34" charset="0"/>
                <a:ea typeface="Arial" pitchFamily="34" charset="-122"/>
                <a:cs typeface="Arial" pitchFamily="34" charset="-120"/>
              </a:rPr>
              <a:t>Reducción Anual</a:t>
            </a:r>
            <a:endParaRPr lang="en-US" sz="1200" dirty="0"/>
          </a:p>
        </p:txBody>
      </p:sp>
      <p:sp>
        <p:nvSpPr>
          <p:cNvPr id="37" name="Text 34"/>
          <p:cNvSpPr/>
          <p:nvPr/>
        </p:nvSpPr>
        <p:spPr>
          <a:xfrm>
            <a:off x="6129528" y="3931920"/>
            <a:ext cx="2237232" cy="411480"/>
          </a:xfrm>
          <a:prstGeom prst="rect">
            <a:avLst/>
          </a:prstGeom>
          <a:noFill/>
          <a:ln/>
        </p:spPr>
        <p:txBody>
          <a:bodyPr wrap="square" rtlCol="0" anchor="t"/>
          <a:lstStyle/>
          <a:p>
            <a:pPr marL="0" indent="0">
              <a:buNone/>
            </a:pPr>
            <a:r>
              <a:rPr lang="en-US" sz="950" dirty="0">
                <a:solidFill>
                  <a:srgbClr val="5C6B7C"/>
                </a:solidFill>
                <a:latin typeface="Arial" pitchFamily="34" charset="0"/>
                <a:ea typeface="Arial" pitchFamily="34" charset="-122"/>
                <a:cs typeface="Arial" pitchFamily="34" charset="-120"/>
              </a:rPr>
              <a:t>Acumula avances para que sea menor al año anterior.</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731520" y="1737360"/>
            <a:ext cx="7680960" cy="320040"/>
          </a:xfrm>
          <a:prstGeom prst="rect">
            <a:avLst/>
          </a:prstGeom>
          <a:noFill/>
          <a:ln/>
        </p:spPr>
        <p:txBody>
          <a:bodyPr wrap="square" rtlCol="0" anchor="ctr"/>
          <a:lstStyle/>
          <a:p>
            <a:pPr marL="0" indent="0" algn="ctr">
              <a:buNone/>
            </a:pPr>
            <a:r>
              <a:rPr lang="en-US" sz="1200" b="1" kern="0" spc="200" dirty="0">
                <a:solidFill>
                  <a:srgbClr val="FF9900"/>
                </a:solidFill>
                <a:latin typeface="Arial" pitchFamily="34" charset="0"/>
                <a:ea typeface="Arial" pitchFamily="34" charset="-122"/>
                <a:cs typeface="Arial" pitchFamily="34" charset="-120"/>
              </a:rPr>
              <a:t>REGLA PRÁCTICA</a:t>
            </a:r>
            <a:endParaRPr lang="en-US" sz="1200" dirty="0"/>
          </a:p>
        </p:txBody>
      </p:sp>
      <p:sp>
        <p:nvSpPr>
          <p:cNvPr id="3" name="Text 1"/>
          <p:cNvSpPr/>
          <p:nvPr/>
        </p:nvSpPr>
        <p:spPr>
          <a:xfrm>
            <a:off x="822960" y="2057400"/>
            <a:ext cx="7498080" cy="1554480"/>
          </a:xfrm>
          <a:prstGeom prst="rect">
            <a:avLst/>
          </a:prstGeom>
          <a:noFill/>
          <a:ln/>
        </p:spPr>
        <p:txBody>
          <a:bodyPr wrap="square" rtlCol="0" anchor="t"/>
          <a:lstStyle/>
          <a:p>
            <a:pPr marL="0" indent="0" algn="ctr">
              <a:buNone/>
            </a:pPr>
            <a:r>
              <a:rPr lang="en-US" sz="2000" b="1" i="1" dirty="0">
                <a:solidFill>
                  <a:srgbClr val="FFFFFF"/>
                </a:solidFill>
                <a:latin typeface="Arial" pitchFamily="34" charset="0"/>
                <a:ea typeface="Arial" pitchFamily="34" charset="-122"/>
                <a:cs typeface="Arial" pitchFamily="34" charset="-120"/>
              </a:rPr>
              <a:t>Si al leer el indicador en voz alta no queda claro qué se cuenta, sobre quién, en qué periodo y contra qué se compara, todavía es una pregunta vaga disfrazada de indicador.</a:t>
            </a:r>
            <a:endParaRPr lang="en-US" sz="2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292608"/>
            <a:ext cx="1005840" cy="41148"/>
          </a:xfrm>
          <a:prstGeom prst="rect">
            <a:avLst/>
          </a:prstGeom>
          <a:solidFill>
            <a:srgbClr val="FF9900"/>
          </a:solidFill>
          <a:ln/>
        </p:spPr>
      </p:sp>
      <p:sp>
        <p:nvSpPr>
          <p:cNvPr id="3" name="Text 1"/>
          <p:cNvSpPr/>
          <p:nvPr/>
        </p:nvSpPr>
        <p:spPr>
          <a:xfrm>
            <a:off x="640080" y="365760"/>
            <a:ext cx="6675120" cy="256032"/>
          </a:xfrm>
          <a:prstGeom prst="rect">
            <a:avLst/>
          </a:prstGeom>
          <a:noFill/>
          <a:ln/>
        </p:spPr>
        <p:txBody>
          <a:bodyPr wrap="square" rtlCol="0" anchor="ctr"/>
          <a:lstStyle/>
          <a:p>
            <a:pPr marL="0" indent="0">
              <a:buNone/>
            </a:pPr>
            <a:r>
              <a:rPr lang="en-US" sz="1000" b="1" kern="0" spc="150" dirty="0">
                <a:solidFill>
                  <a:srgbClr val="FC6E01"/>
                </a:solidFill>
                <a:latin typeface="Arial" pitchFamily="34" charset="0"/>
                <a:ea typeface="Arial" pitchFamily="34" charset="-122"/>
                <a:cs typeface="Arial" pitchFamily="34" charset="-120"/>
              </a:rPr>
              <a:t>MÉTODO DE 5 PASOS</a:t>
            </a:r>
            <a:endParaRPr lang="en-US" sz="1000" dirty="0"/>
          </a:p>
        </p:txBody>
      </p:sp>
      <p:sp>
        <p:nvSpPr>
          <p:cNvPr id="4" name="Text 2"/>
          <p:cNvSpPr/>
          <p:nvPr/>
        </p:nvSpPr>
        <p:spPr>
          <a:xfrm>
            <a:off x="640080" y="621792"/>
            <a:ext cx="7315200" cy="502920"/>
          </a:xfrm>
          <a:prstGeom prst="rect">
            <a:avLst/>
          </a:prstGeom>
          <a:noFill/>
          <a:ln/>
        </p:spPr>
        <p:txBody>
          <a:bodyPr wrap="square" rtlCol="0" anchor="ctr"/>
          <a:lstStyle/>
          <a:p>
            <a:pPr marL="0" indent="0">
              <a:buNone/>
            </a:pPr>
            <a:r>
              <a:rPr lang="en-US" sz="2100" b="1" dirty="0">
                <a:solidFill>
                  <a:srgbClr val="173F72"/>
                </a:solidFill>
                <a:latin typeface="Arial" pitchFamily="34" charset="0"/>
                <a:ea typeface="Arial" pitchFamily="34" charset="-122"/>
                <a:cs typeface="Arial" pitchFamily="34" charset="-120"/>
              </a:rPr>
              <a:t>Paso 5 · Redactar la Ficha Técnica y Validar</a:t>
            </a:r>
            <a:endParaRPr lang="en-US" sz="2100" dirty="0"/>
          </a:p>
        </p:txBody>
      </p:sp>
      <p:pic>
        <p:nvPicPr>
          <p:cNvPr id="6" name="Image 0" descr="/home/claude/taller/assets/footer_banner.png"/>
          <p:cNvPicPr>
            <a:picLocks noChangeAspect="1"/>
          </p:cNvPicPr>
          <p:nvPr/>
        </p:nvPicPr>
        <p:blipFill>
          <a:blip r:embed="rId3"/>
          <a:stretch>
            <a:fillRect/>
          </a:stretch>
        </p:blipFill>
        <p:spPr>
          <a:xfrm>
            <a:off x="0" y="4672584"/>
            <a:ext cx="9144000" cy="469087"/>
          </a:xfrm>
          <a:prstGeom prst="rect">
            <a:avLst/>
          </a:prstGeom>
        </p:spPr>
      </p:pic>
      <p:sp>
        <p:nvSpPr>
          <p:cNvPr id="7" name="Text 4"/>
          <p:cNvSpPr/>
          <p:nvPr/>
        </p:nvSpPr>
        <p:spPr>
          <a:xfrm>
            <a:off x="274320" y="4727448"/>
            <a:ext cx="5669280" cy="274320"/>
          </a:xfrm>
          <a:prstGeom prst="rect">
            <a:avLst/>
          </a:prstGeom>
          <a:noFill/>
          <a:ln/>
        </p:spPr>
        <p:txBody>
          <a:bodyPr wrap="square" lIns="0" tIns="0" rIns="0" bIns="0" rtlCol="0" anchor="ctr"/>
          <a:lstStyle/>
          <a:p>
            <a:pPr marL="0" indent="0">
              <a:buNone/>
            </a:pPr>
            <a:r>
              <a:rPr lang="en-US" sz="800" dirty="0">
                <a:solidFill>
                  <a:srgbClr val="FFFFFF"/>
                </a:solidFill>
                <a:latin typeface="Arial" pitchFamily="34" charset="0"/>
                <a:ea typeface="Arial" pitchFamily="34" charset="-122"/>
                <a:cs typeface="Arial" pitchFamily="34" charset="-120"/>
              </a:rPr>
              <a:t>Taller de Indicadores de Gestión Pública con IA</a:t>
            </a:r>
            <a:endParaRPr lang="en-US" sz="800" dirty="0"/>
          </a:p>
        </p:txBody>
      </p:sp>
      <p:sp>
        <p:nvSpPr>
          <p:cNvPr id="8" name="Text 5"/>
          <p:cNvSpPr/>
          <p:nvPr/>
        </p:nvSpPr>
        <p:spPr>
          <a:xfrm>
            <a:off x="640080" y="1463040"/>
            <a:ext cx="7863840" cy="3200400"/>
          </a:xfrm>
          <a:prstGeom prst="rect">
            <a:avLst/>
          </a:prstGeom>
          <a:noFill/>
          <a:ln/>
        </p:spPr>
        <p:txBody>
          <a:bodyPr wrap="square" rtlCol="0" anchor="t"/>
          <a:lstStyle/>
          <a:p>
            <a:pPr marL="177800" indent="-177800">
              <a:spcAft>
                <a:spcPts val="1000"/>
              </a:spcAft>
              <a:buSzPct val="100000"/>
              <a:buChar char="•"/>
            </a:pPr>
            <a:r>
              <a:rPr lang="en-US" sz="1400" dirty="0">
                <a:solidFill>
                  <a:srgbClr val="2F3B4C"/>
                </a:solidFill>
                <a:latin typeface="Arial" pitchFamily="34" charset="0"/>
                <a:ea typeface="Arial" pitchFamily="34" charset="-122"/>
                <a:cs typeface="Arial" pitchFamily="34" charset="-120"/>
              </a:rPr>
              <a:t>El indicador se documenta en una ficha técnica estandarizada.</a:t>
            </a:r>
            <a:endParaRPr lang="en-US" sz="1400" dirty="0"/>
          </a:p>
          <a:p>
            <a:pPr marL="177800" indent="-177800">
              <a:spcAft>
                <a:spcPts val="1000"/>
              </a:spcAft>
              <a:buSzPct val="100000"/>
              <a:buChar char="•"/>
            </a:pPr>
            <a:r>
              <a:rPr lang="en-US" sz="1400" dirty="0">
                <a:solidFill>
                  <a:srgbClr val="2F3B4C"/>
                </a:solidFill>
                <a:latin typeface="Arial" pitchFamily="34" charset="0"/>
                <a:ea typeface="Arial" pitchFamily="34" charset="-122"/>
                <a:cs typeface="Arial" pitchFamily="34" charset="-120"/>
              </a:rPr>
              <a:t>Se somete a validación con quienes tomarán decisiones a partir de él.</a:t>
            </a:r>
            <a:endParaRPr lang="en-US" sz="1400" dirty="0"/>
          </a:p>
        </p:txBody>
      </p:sp>
      <p:sp>
        <p:nvSpPr>
          <p:cNvPr id="9" name="Text 6"/>
          <p:cNvSpPr/>
          <p:nvPr/>
        </p:nvSpPr>
        <p:spPr>
          <a:xfrm>
            <a:off x="640080" y="2468880"/>
            <a:ext cx="7863840" cy="274320"/>
          </a:xfrm>
          <a:prstGeom prst="rect">
            <a:avLst/>
          </a:prstGeom>
          <a:noFill/>
          <a:ln/>
        </p:spPr>
        <p:txBody>
          <a:bodyPr wrap="square" rtlCol="0" anchor="ctr"/>
          <a:lstStyle/>
          <a:p>
            <a:pPr marL="0" indent="0">
              <a:buNone/>
            </a:pPr>
            <a:r>
              <a:rPr lang="en-US" sz="1200" b="1" dirty="0">
                <a:solidFill>
                  <a:srgbClr val="173F72"/>
                </a:solidFill>
                <a:latin typeface="Arial" pitchFamily="34" charset="0"/>
                <a:ea typeface="Arial" pitchFamily="34" charset="-122"/>
                <a:cs typeface="Arial" pitchFamily="34" charset="-120"/>
              </a:rPr>
              <a:t>Preguntas clave de validación:</a:t>
            </a:r>
            <a:endParaRPr lang="en-US" sz="1200" dirty="0"/>
          </a:p>
        </p:txBody>
      </p:sp>
      <p:sp>
        <p:nvSpPr>
          <p:cNvPr id="10" name="Text 7"/>
          <p:cNvSpPr/>
          <p:nvPr/>
        </p:nvSpPr>
        <p:spPr>
          <a:xfrm>
            <a:off x="640080" y="2788920"/>
            <a:ext cx="7863840" cy="3200400"/>
          </a:xfrm>
          <a:prstGeom prst="rect">
            <a:avLst/>
          </a:prstGeom>
          <a:noFill/>
          <a:ln/>
        </p:spPr>
        <p:txBody>
          <a:bodyPr wrap="square" rtlCol="0" anchor="t"/>
          <a:lstStyle/>
          <a:p>
            <a:pPr marL="177800" indent="-177800">
              <a:spcAft>
                <a:spcPts val="1000"/>
              </a:spcAft>
              <a:buSzPct val="100000"/>
              <a:buChar char="•"/>
            </a:pPr>
            <a:r>
              <a:rPr lang="en-US" sz="1300" dirty="0">
                <a:solidFill>
                  <a:srgbClr val="2F3B4C"/>
                </a:solidFill>
                <a:latin typeface="Arial" pitchFamily="34" charset="0"/>
                <a:ea typeface="Arial" pitchFamily="34" charset="-122"/>
                <a:cs typeface="Arial" pitchFamily="34" charset="-120"/>
              </a:rPr>
              <a:t>¿La fuente es confiable y accesible?</a:t>
            </a:r>
            <a:endParaRPr lang="en-US" sz="1300" dirty="0"/>
          </a:p>
          <a:p>
            <a:pPr marL="177800" indent="-177800">
              <a:spcAft>
                <a:spcPts val="1000"/>
              </a:spcAft>
              <a:buSzPct val="100000"/>
              <a:buChar char="•"/>
            </a:pPr>
            <a:r>
              <a:rPr lang="en-US" sz="1300" dirty="0">
                <a:solidFill>
                  <a:srgbClr val="2F3B4C"/>
                </a:solidFill>
                <a:latin typeface="Arial" pitchFamily="34" charset="0"/>
                <a:ea typeface="Arial" pitchFamily="34" charset="-122"/>
                <a:cs typeface="Arial" pitchFamily="34" charset="-120"/>
              </a:rPr>
              <a:t>¿La periodicidad permite decidir a tiempo?</a:t>
            </a:r>
            <a:endParaRPr lang="en-US" sz="1300" dirty="0"/>
          </a:p>
          <a:p>
            <a:pPr marL="177800" indent="-177800">
              <a:spcAft>
                <a:spcPts val="1000"/>
              </a:spcAft>
              <a:buSzPct val="100000"/>
              <a:buChar char="•"/>
            </a:pPr>
            <a:r>
              <a:rPr lang="en-US" sz="1300" dirty="0">
                <a:solidFill>
                  <a:srgbClr val="2F3B4C"/>
                </a:solidFill>
                <a:latin typeface="Arial" pitchFamily="34" charset="0"/>
                <a:ea typeface="Arial" pitchFamily="34" charset="-122"/>
                <a:cs typeface="Arial" pitchFamily="34" charset="-120"/>
              </a:rPr>
              <a:t>¿La meta es realista?</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292608"/>
            <a:ext cx="1005840" cy="41148"/>
          </a:xfrm>
          <a:prstGeom prst="rect">
            <a:avLst/>
          </a:prstGeom>
          <a:solidFill>
            <a:srgbClr val="FF9900"/>
          </a:solidFill>
          <a:ln/>
        </p:spPr>
      </p:sp>
      <p:sp>
        <p:nvSpPr>
          <p:cNvPr id="3" name="Text 1"/>
          <p:cNvSpPr/>
          <p:nvPr/>
        </p:nvSpPr>
        <p:spPr>
          <a:xfrm>
            <a:off x="640080" y="365760"/>
            <a:ext cx="6675120" cy="256032"/>
          </a:xfrm>
          <a:prstGeom prst="rect">
            <a:avLst/>
          </a:prstGeom>
          <a:noFill/>
          <a:ln/>
        </p:spPr>
        <p:txBody>
          <a:bodyPr wrap="square" rtlCol="0" anchor="ctr"/>
          <a:lstStyle/>
          <a:p>
            <a:pPr marL="0" indent="0">
              <a:buNone/>
            </a:pPr>
            <a:r>
              <a:rPr lang="en-US" sz="1000" b="1" kern="0" spc="150" dirty="0">
                <a:solidFill>
                  <a:srgbClr val="FC6E01"/>
                </a:solidFill>
                <a:latin typeface="Arial" pitchFamily="34" charset="0"/>
                <a:ea typeface="Arial" pitchFamily="34" charset="-122"/>
                <a:cs typeface="Arial" pitchFamily="34" charset="-120"/>
              </a:rPr>
              <a:t>MÉTODO DE 5 PASOS</a:t>
            </a:r>
            <a:endParaRPr lang="en-US" sz="1000" dirty="0"/>
          </a:p>
        </p:txBody>
      </p:sp>
      <p:sp>
        <p:nvSpPr>
          <p:cNvPr id="4" name="Text 2"/>
          <p:cNvSpPr/>
          <p:nvPr/>
        </p:nvSpPr>
        <p:spPr>
          <a:xfrm>
            <a:off x="640080" y="621792"/>
            <a:ext cx="7315200" cy="502920"/>
          </a:xfrm>
          <a:prstGeom prst="rect">
            <a:avLst/>
          </a:prstGeom>
          <a:noFill/>
          <a:ln/>
        </p:spPr>
        <p:txBody>
          <a:bodyPr wrap="square" rtlCol="0" anchor="ctr"/>
          <a:lstStyle/>
          <a:p>
            <a:pPr marL="0" indent="0">
              <a:buNone/>
            </a:pPr>
            <a:r>
              <a:rPr lang="en-US" sz="2100" b="1" dirty="0">
                <a:solidFill>
                  <a:srgbClr val="173F72"/>
                </a:solidFill>
                <a:latin typeface="Arial" pitchFamily="34" charset="0"/>
                <a:ea typeface="Arial" pitchFamily="34" charset="-122"/>
                <a:cs typeface="Arial" pitchFamily="34" charset="-120"/>
              </a:rPr>
              <a:t>Demostración en Vivo del Facilitador (10 min)</a:t>
            </a:r>
            <a:endParaRPr lang="en-US" sz="2100" dirty="0"/>
          </a:p>
        </p:txBody>
      </p:sp>
      <p:pic>
        <p:nvPicPr>
          <p:cNvPr id="6" name="Image 0" descr="/home/claude/taller/assets/footer_banner.png"/>
          <p:cNvPicPr>
            <a:picLocks noChangeAspect="1"/>
          </p:cNvPicPr>
          <p:nvPr/>
        </p:nvPicPr>
        <p:blipFill>
          <a:blip r:embed="rId3"/>
          <a:stretch>
            <a:fillRect/>
          </a:stretch>
        </p:blipFill>
        <p:spPr>
          <a:xfrm>
            <a:off x="0" y="4672584"/>
            <a:ext cx="9144000" cy="469087"/>
          </a:xfrm>
          <a:prstGeom prst="rect">
            <a:avLst/>
          </a:prstGeom>
        </p:spPr>
      </p:pic>
      <p:sp>
        <p:nvSpPr>
          <p:cNvPr id="7" name="Text 4"/>
          <p:cNvSpPr/>
          <p:nvPr/>
        </p:nvSpPr>
        <p:spPr>
          <a:xfrm>
            <a:off x="274320" y="4727448"/>
            <a:ext cx="5669280" cy="274320"/>
          </a:xfrm>
          <a:prstGeom prst="rect">
            <a:avLst/>
          </a:prstGeom>
          <a:noFill/>
          <a:ln/>
        </p:spPr>
        <p:txBody>
          <a:bodyPr wrap="square" lIns="0" tIns="0" rIns="0" bIns="0" rtlCol="0" anchor="ctr"/>
          <a:lstStyle/>
          <a:p>
            <a:pPr marL="0" indent="0">
              <a:buNone/>
            </a:pPr>
            <a:r>
              <a:rPr lang="en-US" sz="800" dirty="0">
                <a:solidFill>
                  <a:srgbClr val="FFFFFF"/>
                </a:solidFill>
                <a:latin typeface="Arial" pitchFamily="34" charset="0"/>
                <a:ea typeface="Arial" pitchFamily="34" charset="-122"/>
                <a:cs typeface="Arial" pitchFamily="34" charset="-120"/>
              </a:rPr>
              <a:t>Taller de Indicadores de Gestión Pública con IA</a:t>
            </a:r>
            <a:endParaRPr lang="en-US" sz="800" dirty="0"/>
          </a:p>
        </p:txBody>
      </p:sp>
      <p:sp>
        <p:nvSpPr>
          <p:cNvPr id="8" name="Shape 5"/>
          <p:cNvSpPr/>
          <p:nvPr/>
        </p:nvSpPr>
        <p:spPr>
          <a:xfrm>
            <a:off x="640080" y="1463040"/>
            <a:ext cx="7863840" cy="2377440"/>
          </a:xfrm>
          <a:prstGeom prst="roundRect">
            <a:avLst>
              <a:gd name="adj" fmla="val 1923"/>
            </a:avLst>
          </a:prstGeom>
          <a:solidFill>
            <a:srgbClr val="EDF3F9"/>
          </a:solidFill>
          <a:ln/>
        </p:spPr>
      </p:sp>
      <p:sp>
        <p:nvSpPr>
          <p:cNvPr id="9" name="Text 6"/>
          <p:cNvSpPr/>
          <p:nvPr/>
        </p:nvSpPr>
        <p:spPr>
          <a:xfrm>
            <a:off x="822960" y="1645920"/>
            <a:ext cx="7498080" cy="320040"/>
          </a:xfrm>
          <a:prstGeom prst="rect">
            <a:avLst/>
          </a:prstGeom>
          <a:noFill/>
          <a:ln/>
        </p:spPr>
        <p:txBody>
          <a:bodyPr wrap="square" rtlCol="0" anchor="ctr"/>
          <a:lstStyle/>
          <a:p>
            <a:pPr marL="0" indent="0">
              <a:buNone/>
            </a:pPr>
            <a:r>
              <a:rPr lang="en-US" sz="1200" b="1" dirty="0">
                <a:solidFill>
                  <a:srgbClr val="173F72"/>
                </a:solidFill>
                <a:latin typeface="Arial" pitchFamily="34" charset="0"/>
                <a:ea typeface="Arial" pitchFamily="34" charset="-122"/>
                <a:cs typeface="Arial" pitchFamily="34" charset="-120"/>
              </a:rPr>
              <a:t>Nota para el facilitador</a:t>
            </a:r>
            <a:endParaRPr lang="en-US" sz="1200" dirty="0"/>
          </a:p>
        </p:txBody>
      </p:sp>
      <p:sp>
        <p:nvSpPr>
          <p:cNvPr id="10" name="Text 7"/>
          <p:cNvSpPr/>
          <p:nvPr/>
        </p:nvSpPr>
        <p:spPr>
          <a:xfrm>
            <a:off x="822960" y="2011680"/>
            <a:ext cx="7498080" cy="1737360"/>
          </a:xfrm>
          <a:prstGeom prst="rect">
            <a:avLst/>
          </a:prstGeom>
          <a:noFill/>
          <a:ln/>
        </p:spPr>
        <p:txBody>
          <a:bodyPr wrap="square" rtlCol="0" anchor="t"/>
          <a:lstStyle/>
          <a:p>
            <a:pPr marL="0" indent="0">
              <a:buNone/>
            </a:pPr>
            <a:r>
              <a:rPr lang="en-US" sz="1200" i="1" dirty="0">
                <a:solidFill>
                  <a:srgbClr val="2F3B4C"/>
                </a:solidFill>
                <a:latin typeface="Arial" pitchFamily="34" charset="0"/>
                <a:ea typeface="Arial" pitchFamily="34" charset="-122"/>
                <a:cs typeface="Arial" pitchFamily="34" charset="-120"/>
              </a:rPr>
              <a:t>Antes de la actividad individual, recorra en voz alta y frente al grupo los 5 pasos completos usando el caso guía de salud materna rural, mostrando cómo la pregunta vaga se transforma paso a paso hasta la ficha técnica final. Se recomienda hacerlo directamente en el Simulador, proyectando pantalla, para que el grupo vea el flujo de la herramienta antes de usarla ellos mismos. Es una demostración modelo; el grupo aún no participa activamente.</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292608"/>
            <a:ext cx="1005840" cy="41148"/>
          </a:xfrm>
          <a:prstGeom prst="rect">
            <a:avLst/>
          </a:prstGeom>
          <a:solidFill>
            <a:srgbClr val="FF9900"/>
          </a:solidFill>
          <a:ln/>
        </p:spPr>
      </p:sp>
      <p:sp>
        <p:nvSpPr>
          <p:cNvPr id="3" name="Text 1"/>
          <p:cNvSpPr/>
          <p:nvPr/>
        </p:nvSpPr>
        <p:spPr>
          <a:xfrm>
            <a:off x="640080" y="365760"/>
            <a:ext cx="6675120" cy="256032"/>
          </a:xfrm>
          <a:prstGeom prst="rect">
            <a:avLst/>
          </a:prstGeom>
          <a:noFill/>
          <a:ln/>
        </p:spPr>
        <p:txBody>
          <a:bodyPr wrap="square" rtlCol="0" anchor="ctr"/>
          <a:lstStyle/>
          <a:p>
            <a:pPr marL="0" indent="0">
              <a:buNone/>
            </a:pPr>
            <a:r>
              <a:rPr lang="en-US" sz="1000" b="1" kern="0" spc="150" dirty="0">
                <a:solidFill>
                  <a:srgbClr val="FC6E01"/>
                </a:solidFill>
                <a:latin typeface="Arial" pitchFamily="34" charset="0"/>
                <a:ea typeface="Arial" pitchFamily="34" charset="-122"/>
                <a:cs typeface="Arial" pitchFamily="34" charset="-120"/>
              </a:rPr>
              <a:t>ACTIVIDAD PRÁCTICA INDIVIDUAL · 8 MIN</a:t>
            </a:r>
            <a:endParaRPr lang="en-US" sz="1000" dirty="0"/>
          </a:p>
        </p:txBody>
      </p:sp>
      <p:sp>
        <p:nvSpPr>
          <p:cNvPr id="4" name="Text 2"/>
          <p:cNvSpPr/>
          <p:nvPr/>
        </p:nvSpPr>
        <p:spPr>
          <a:xfrm>
            <a:off x="640080" y="621792"/>
            <a:ext cx="7315200" cy="502920"/>
          </a:xfrm>
          <a:prstGeom prst="rect">
            <a:avLst/>
          </a:prstGeom>
          <a:noFill/>
          <a:ln/>
        </p:spPr>
        <p:txBody>
          <a:bodyPr wrap="square" rtlCol="0" anchor="ctr"/>
          <a:lstStyle/>
          <a:p>
            <a:pPr marL="0" indent="0">
              <a:buNone/>
            </a:pPr>
            <a:r>
              <a:rPr lang="en-US" sz="2100" b="1" dirty="0">
                <a:solidFill>
                  <a:srgbClr val="173F72"/>
                </a:solidFill>
                <a:latin typeface="Arial" pitchFamily="34" charset="0"/>
                <a:ea typeface="Arial" pitchFamily="34" charset="-122"/>
                <a:cs typeface="Arial" pitchFamily="34" charset="-120"/>
              </a:rPr>
              <a:t>Aplicación de los Pasos 1 y 2</a:t>
            </a:r>
            <a:endParaRPr lang="en-US" sz="2100" dirty="0"/>
          </a:p>
        </p:txBody>
      </p:sp>
      <p:pic>
        <p:nvPicPr>
          <p:cNvPr id="6" name="Image 0" descr="/home/claude/taller/assets/footer_banner.png"/>
          <p:cNvPicPr>
            <a:picLocks noChangeAspect="1"/>
          </p:cNvPicPr>
          <p:nvPr/>
        </p:nvPicPr>
        <p:blipFill>
          <a:blip r:embed="rId3"/>
          <a:stretch>
            <a:fillRect/>
          </a:stretch>
        </p:blipFill>
        <p:spPr>
          <a:xfrm>
            <a:off x="0" y="4672584"/>
            <a:ext cx="9144000" cy="469087"/>
          </a:xfrm>
          <a:prstGeom prst="rect">
            <a:avLst/>
          </a:prstGeom>
        </p:spPr>
      </p:pic>
      <p:sp>
        <p:nvSpPr>
          <p:cNvPr id="7" name="Text 4"/>
          <p:cNvSpPr/>
          <p:nvPr/>
        </p:nvSpPr>
        <p:spPr>
          <a:xfrm>
            <a:off x="274320" y="4727448"/>
            <a:ext cx="5669280" cy="274320"/>
          </a:xfrm>
          <a:prstGeom prst="rect">
            <a:avLst/>
          </a:prstGeom>
          <a:noFill/>
          <a:ln/>
        </p:spPr>
        <p:txBody>
          <a:bodyPr wrap="square" lIns="0" tIns="0" rIns="0" bIns="0" rtlCol="0" anchor="ctr"/>
          <a:lstStyle/>
          <a:p>
            <a:pPr marL="0" indent="0">
              <a:buNone/>
            </a:pPr>
            <a:r>
              <a:rPr lang="en-US" sz="800" dirty="0">
                <a:solidFill>
                  <a:srgbClr val="FFFFFF"/>
                </a:solidFill>
                <a:latin typeface="Arial" pitchFamily="34" charset="0"/>
                <a:ea typeface="Arial" pitchFamily="34" charset="-122"/>
                <a:cs typeface="Arial" pitchFamily="34" charset="-120"/>
              </a:rPr>
              <a:t>Taller de Indicadores de Gestión Pública con IA</a:t>
            </a:r>
            <a:endParaRPr lang="en-US" sz="800" dirty="0"/>
          </a:p>
        </p:txBody>
      </p:sp>
      <p:sp>
        <p:nvSpPr>
          <p:cNvPr id="8" name="Text 5"/>
          <p:cNvSpPr/>
          <p:nvPr/>
        </p:nvSpPr>
        <p:spPr>
          <a:xfrm>
            <a:off x="640080" y="1371600"/>
            <a:ext cx="7863840" cy="320040"/>
          </a:xfrm>
          <a:prstGeom prst="rect">
            <a:avLst/>
          </a:prstGeom>
          <a:noFill/>
          <a:ln/>
        </p:spPr>
        <p:txBody>
          <a:bodyPr wrap="square" rtlCol="0" anchor="ctr"/>
          <a:lstStyle/>
          <a:p>
            <a:pPr marL="0" indent="0">
              <a:buNone/>
            </a:pPr>
            <a:r>
              <a:rPr lang="en-US" sz="1150" dirty="0">
                <a:solidFill>
                  <a:srgbClr val="2F3B4C"/>
                </a:solidFill>
                <a:latin typeface="Arial" pitchFamily="34" charset="0"/>
                <a:ea typeface="Arial" pitchFamily="34" charset="-122"/>
                <a:cs typeface="Arial" pitchFamily="34" charset="-120"/>
              </a:rPr>
              <a:t>Escenario: pregunta vaga distinta a los casos guía, para trabajar de forma individual y en silencio.</a:t>
            </a:r>
            <a:endParaRPr lang="en-US" sz="1150" dirty="0"/>
          </a:p>
        </p:txBody>
      </p:sp>
      <p:sp>
        <p:nvSpPr>
          <p:cNvPr id="9" name="Text 6"/>
          <p:cNvSpPr/>
          <p:nvPr/>
        </p:nvSpPr>
        <p:spPr>
          <a:xfrm>
            <a:off x="640080" y="1691640"/>
            <a:ext cx="7863840" cy="365760"/>
          </a:xfrm>
          <a:prstGeom prst="rect">
            <a:avLst/>
          </a:prstGeom>
          <a:noFill/>
          <a:ln/>
        </p:spPr>
        <p:txBody>
          <a:bodyPr wrap="square" rtlCol="0" anchor="ctr"/>
          <a:lstStyle/>
          <a:p>
            <a:pPr marL="0" indent="0">
              <a:buNone/>
            </a:pPr>
            <a:r>
              <a:rPr lang="en-US" sz="1250" b="1" i="1" dirty="0">
                <a:solidFill>
                  <a:srgbClr val="173F72"/>
                </a:solidFill>
                <a:latin typeface="Arial" pitchFamily="34" charset="0"/>
                <a:ea typeface="Arial" pitchFamily="34" charset="-122"/>
                <a:cs typeface="Arial" pitchFamily="34" charset="-120"/>
              </a:rPr>
              <a:t>Pregunta del directivo: “¿El programa de bibliotecas públicas municipales está funcionando?”</a:t>
            </a:r>
            <a:endParaRPr lang="en-US" sz="125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640080" y="2194560"/>
          <a:ext cx="7863840" cy="1920240"/>
        </p:xfrm>
        <a:graphic>
          <a:graphicData uri="http://schemas.openxmlformats.org/drawingml/2006/table">
            <a:tbl>
              <a:tblPr/>
              <a:tblGrid>
                <a:gridCol w="3108960">
                  <a:extLst>
                    <a:ext uri="{9D8B030D-6E8A-4147-A177-3AD203B41FA5}">
                      <a16:colId xmlns:a16="http://schemas.microsoft.com/office/drawing/2014/main" val="20000"/>
                    </a:ext>
                  </a:extLst>
                </a:gridCol>
                <a:gridCol w="4754880">
                  <a:extLst>
                    <a:ext uri="{9D8B030D-6E8A-4147-A177-3AD203B41FA5}">
                      <a16:colId xmlns:a16="http://schemas.microsoft.com/office/drawing/2014/main" val="20001"/>
                    </a:ext>
                  </a:extLst>
                </a:gridCol>
              </a:tblGrid>
              <a:tr h="384048">
                <a:tc>
                  <a:txBody>
                    <a:bodyPr/>
                    <a:lstStyle/>
                    <a:p>
                      <a:pPr marL="0" indent="0" algn="l">
                        <a:buNone/>
                      </a:pPr>
                      <a:r>
                        <a:rPr lang="en-US" sz="1050" b="1" dirty="0">
                          <a:solidFill>
                            <a:srgbClr val="FFFFFF"/>
                          </a:solidFill>
                          <a:latin typeface="Arial" pitchFamily="34" charset="0"/>
                          <a:ea typeface="Arial" pitchFamily="34" charset="-122"/>
                          <a:cs typeface="Arial" pitchFamily="34" charset="-120"/>
                        </a:rPr>
                        <a:t>Componente</a:t>
                      </a:r>
                      <a:endParaRPr lang="en-US" sz="10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73F72"/>
                    </a:solidFill>
                  </a:tcPr>
                </a:tc>
                <a:tc>
                  <a:txBody>
                    <a:bodyPr/>
                    <a:lstStyle/>
                    <a:p>
                      <a:pPr marL="0" indent="0" algn="l">
                        <a:buNone/>
                      </a:pPr>
                      <a:r>
                        <a:rPr lang="en-US" sz="1050" b="1" dirty="0">
                          <a:solidFill>
                            <a:srgbClr val="FFFFFF"/>
                          </a:solidFill>
                          <a:latin typeface="Arial" pitchFamily="34" charset="0"/>
                          <a:ea typeface="Arial" pitchFamily="34" charset="-122"/>
                          <a:cs typeface="Arial" pitchFamily="34" charset="-120"/>
                        </a:rPr>
                        <a:t>Su respuesta</a:t>
                      </a:r>
                      <a:endParaRPr lang="en-US" sz="10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73F72"/>
                    </a:solidFill>
                  </a:tcPr>
                </a:tc>
                <a:extLst>
                  <a:ext uri="{0D108BD9-81ED-4DB2-BD59-A6C34878D82A}">
                    <a16:rowId xmlns:a16="http://schemas.microsoft.com/office/drawing/2014/main" val="10000"/>
                  </a:ext>
                </a:extLst>
              </a:tr>
              <a:tr h="384048">
                <a:tc>
                  <a:txBody>
                    <a:bodyPr/>
                    <a:lstStyle/>
                    <a:p>
                      <a:pPr marL="0" indent="0" algn="l">
                        <a:buNone/>
                      </a:pPr>
                      <a:r>
                        <a:rPr lang="en-US" sz="1000" b="1" dirty="0">
                          <a:solidFill>
                            <a:srgbClr val="173F72"/>
                          </a:solidFill>
                          <a:latin typeface="Arial" pitchFamily="34" charset="0"/>
                          <a:ea typeface="Arial" pitchFamily="34" charset="-122"/>
                          <a:cs typeface="Arial" pitchFamily="34" charset="-120"/>
                        </a:rPr>
                        <a:t>Población o unidad de análisis</a:t>
                      </a:r>
                      <a:endParaRPr lang="en-US" sz="100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1000" dirty="0">
                          <a:solidFill>
                            <a:srgbClr val="2F3B4C"/>
                          </a:solidFill>
                          <a:latin typeface="Arial" pitchFamily="34" charset="0"/>
                          <a:ea typeface="Arial" pitchFamily="34" charset="-122"/>
                          <a:cs typeface="Arial" pitchFamily="34" charset="-120"/>
                        </a:rPr>
                        <a:t>________________________</a:t>
                      </a:r>
                      <a:endParaRPr lang="en-US" sz="100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lgn="l">
                        <a:buNone/>
                      </a:pPr>
                      <a:r>
                        <a:rPr lang="en-US" sz="1000" b="1" dirty="0">
                          <a:solidFill>
                            <a:srgbClr val="173F72"/>
                          </a:solidFill>
                          <a:latin typeface="Arial" pitchFamily="34" charset="0"/>
                          <a:ea typeface="Arial" pitchFamily="34" charset="-122"/>
                          <a:cs typeface="Arial" pitchFamily="34" charset="-120"/>
                        </a:rPr>
                        <a:t>Atributo o dimensión</a:t>
                      </a:r>
                      <a:endParaRPr lang="en-US" sz="100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1000" dirty="0">
                          <a:solidFill>
                            <a:srgbClr val="2F3B4C"/>
                          </a:solidFill>
                          <a:latin typeface="Arial" pitchFamily="34" charset="0"/>
                          <a:ea typeface="Arial" pitchFamily="34" charset="-122"/>
                          <a:cs typeface="Arial" pitchFamily="34" charset="-120"/>
                        </a:rPr>
                        <a:t>________________________</a:t>
                      </a:r>
                      <a:endParaRPr lang="en-US" sz="100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4048">
                <a:tc>
                  <a:txBody>
                    <a:bodyPr/>
                    <a:lstStyle/>
                    <a:p>
                      <a:pPr marL="0" indent="0" algn="l">
                        <a:buNone/>
                      </a:pPr>
                      <a:r>
                        <a:rPr lang="en-US" sz="1000" b="1" dirty="0">
                          <a:solidFill>
                            <a:srgbClr val="173F72"/>
                          </a:solidFill>
                          <a:latin typeface="Arial" pitchFamily="34" charset="0"/>
                          <a:ea typeface="Arial" pitchFamily="34" charset="-122"/>
                          <a:cs typeface="Arial" pitchFamily="34" charset="-120"/>
                        </a:rPr>
                        <a:t>Ámbito territorial y temporal</a:t>
                      </a:r>
                      <a:endParaRPr lang="en-US" sz="100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1000" dirty="0">
                          <a:solidFill>
                            <a:srgbClr val="2F3B4C"/>
                          </a:solidFill>
                          <a:latin typeface="Arial" pitchFamily="34" charset="0"/>
                          <a:ea typeface="Arial" pitchFamily="34" charset="-122"/>
                          <a:cs typeface="Arial" pitchFamily="34" charset="-120"/>
                        </a:rPr>
                        <a:t>________________________</a:t>
                      </a:r>
                      <a:endParaRPr lang="en-US" sz="100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lgn="l">
                        <a:buNone/>
                      </a:pPr>
                      <a:r>
                        <a:rPr lang="en-US" sz="1000" b="1" dirty="0">
                          <a:solidFill>
                            <a:srgbClr val="173F72"/>
                          </a:solidFill>
                          <a:latin typeface="Arial" pitchFamily="34" charset="0"/>
                          <a:ea typeface="Arial" pitchFamily="34" charset="-122"/>
                          <a:cs typeface="Arial" pitchFamily="34" charset="-120"/>
                        </a:rPr>
                        <a:t>Referente de comparación</a:t>
                      </a:r>
                      <a:endParaRPr lang="en-US" sz="100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1000" dirty="0">
                          <a:solidFill>
                            <a:srgbClr val="2F3B4C"/>
                          </a:solidFill>
                          <a:latin typeface="Arial" pitchFamily="34" charset="0"/>
                          <a:ea typeface="Arial" pitchFamily="34" charset="-122"/>
                          <a:cs typeface="Arial" pitchFamily="34" charset="-120"/>
                        </a:rPr>
                        <a:t>________________________</a:t>
                      </a:r>
                      <a:endParaRPr lang="en-US" sz="100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731520" y="1737360"/>
            <a:ext cx="7680960" cy="320040"/>
          </a:xfrm>
          <a:prstGeom prst="rect">
            <a:avLst/>
          </a:prstGeom>
          <a:noFill/>
          <a:ln/>
        </p:spPr>
        <p:txBody>
          <a:bodyPr wrap="square" rtlCol="0" anchor="ctr"/>
          <a:lstStyle/>
          <a:p>
            <a:pPr marL="0" indent="0" algn="ctr">
              <a:buNone/>
            </a:pPr>
            <a:r>
              <a:rPr lang="en-US" sz="1200" b="1" kern="0" spc="200" dirty="0">
                <a:solidFill>
                  <a:srgbClr val="FF9900"/>
                </a:solidFill>
                <a:latin typeface="Arial" pitchFamily="34" charset="0"/>
                <a:ea typeface="Arial" pitchFamily="34" charset="-122"/>
                <a:cs typeface="Arial" pitchFamily="34" charset="-120"/>
              </a:rPr>
              <a:t>PREGUNTA DE GESTIÓN REFINADA (EJEMPLO POSIBLE)</a:t>
            </a:r>
            <a:endParaRPr lang="en-US" sz="1200" dirty="0"/>
          </a:p>
        </p:txBody>
      </p:sp>
      <p:sp>
        <p:nvSpPr>
          <p:cNvPr id="3" name="Text 1"/>
          <p:cNvSpPr/>
          <p:nvPr/>
        </p:nvSpPr>
        <p:spPr>
          <a:xfrm>
            <a:off x="822960" y="2057400"/>
            <a:ext cx="7498080" cy="1554480"/>
          </a:xfrm>
          <a:prstGeom prst="rect">
            <a:avLst/>
          </a:prstGeom>
          <a:noFill/>
          <a:ln/>
        </p:spPr>
        <p:txBody>
          <a:bodyPr wrap="square" rtlCol="0" anchor="t"/>
          <a:lstStyle/>
          <a:p>
            <a:pPr marL="0" indent="0" algn="ctr">
              <a:buNone/>
            </a:pPr>
            <a:r>
              <a:rPr lang="en-US" sz="2000" b="1" i="1" dirty="0">
                <a:solidFill>
                  <a:srgbClr val="FFFFFF"/>
                </a:solidFill>
                <a:latin typeface="Arial" pitchFamily="34" charset="0"/>
                <a:ea typeface="Arial" pitchFamily="34" charset="-122"/>
                <a:cs typeface="Arial" pitchFamily="34" charset="-120"/>
              </a:rPr>
              <a:t>¿Los usuarios de las bibliotecas públicas municipales están accediendo con la frecuencia y diversidad de servicios previstos en el plan de desarrollo, frente al año anterior?</a:t>
            </a:r>
            <a:endParaRPr lang="en-US" sz="2000" dirty="0"/>
          </a:p>
        </p:txBody>
      </p:sp>
      <p:sp>
        <p:nvSpPr>
          <p:cNvPr id="4" name="Text 2"/>
          <p:cNvSpPr/>
          <p:nvPr/>
        </p:nvSpPr>
        <p:spPr>
          <a:xfrm>
            <a:off x="822960" y="3749040"/>
            <a:ext cx="7498080" cy="320040"/>
          </a:xfrm>
          <a:prstGeom prst="rect">
            <a:avLst/>
          </a:prstGeom>
          <a:noFill/>
          <a:ln/>
        </p:spPr>
        <p:txBody>
          <a:bodyPr wrap="square" rtlCol="0" anchor="ctr"/>
          <a:lstStyle/>
          <a:p>
            <a:pPr marL="0" indent="0" algn="ctr">
              <a:buNone/>
            </a:pPr>
            <a:r>
              <a:rPr lang="en-US" sz="1100" dirty="0">
                <a:solidFill>
                  <a:srgbClr val="9FB8D9"/>
                </a:solidFill>
                <a:latin typeface="Arial" pitchFamily="34" charset="0"/>
                <a:ea typeface="Arial" pitchFamily="34" charset="-122"/>
                <a:cs typeface="Arial" pitchFamily="34" charset="-120"/>
              </a:rPr>
              <a:t>No hay una única respuesta correcta</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292608"/>
            <a:ext cx="1005840" cy="41148"/>
          </a:xfrm>
          <a:prstGeom prst="rect">
            <a:avLst/>
          </a:prstGeom>
          <a:solidFill>
            <a:srgbClr val="FF9900"/>
          </a:solidFill>
          <a:ln/>
        </p:spPr>
      </p:sp>
      <p:sp>
        <p:nvSpPr>
          <p:cNvPr id="3" name="Text 1"/>
          <p:cNvSpPr/>
          <p:nvPr/>
        </p:nvSpPr>
        <p:spPr>
          <a:xfrm>
            <a:off x="640080" y="365760"/>
            <a:ext cx="6675120" cy="256032"/>
          </a:xfrm>
          <a:prstGeom prst="rect">
            <a:avLst/>
          </a:prstGeom>
          <a:noFill/>
          <a:ln/>
        </p:spPr>
        <p:txBody>
          <a:bodyPr wrap="square" rtlCol="0" anchor="ctr"/>
          <a:lstStyle/>
          <a:p>
            <a:pPr marL="0" indent="0">
              <a:buNone/>
            </a:pPr>
            <a:r>
              <a:rPr lang="en-US" sz="1000" b="1" kern="0" spc="150" dirty="0">
                <a:solidFill>
                  <a:srgbClr val="FC6E01"/>
                </a:solidFill>
                <a:latin typeface="Arial" pitchFamily="34" charset="0"/>
                <a:ea typeface="Arial" pitchFamily="34" charset="-122"/>
                <a:cs typeface="Arial" pitchFamily="34" charset="-120"/>
              </a:rPr>
              <a:t>MÉTODO DE 5 PASOS</a:t>
            </a:r>
            <a:endParaRPr lang="en-US" sz="1000" dirty="0"/>
          </a:p>
        </p:txBody>
      </p:sp>
      <p:sp>
        <p:nvSpPr>
          <p:cNvPr id="4" name="Text 2"/>
          <p:cNvSpPr/>
          <p:nvPr/>
        </p:nvSpPr>
        <p:spPr>
          <a:xfrm>
            <a:off x="640080" y="621792"/>
            <a:ext cx="7315200" cy="502920"/>
          </a:xfrm>
          <a:prstGeom prst="rect">
            <a:avLst/>
          </a:prstGeom>
          <a:noFill/>
          <a:ln/>
        </p:spPr>
        <p:txBody>
          <a:bodyPr wrap="square" rtlCol="0" anchor="ctr"/>
          <a:lstStyle/>
          <a:p>
            <a:pPr marL="0" indent="0">
              <a:buNone/>
            </a:pPr>
            <a:r>
              <a:rPr lang="en-US" sz="2100" b="1" dirty="0">
                <a:solidFill>
                  <a:srgbClr val="173F72"/>
                </a:solidFill>
                <a:latin typeface="Arial" pitchFamily="34" charset="0"/>
                <a:ea typeface="Arial" pitchFamily="34" charset="-122"/>
                <a:cs typeface="Arial" pitchFamily="34" charset="-120"/>
              </a:rPr>
              <a:t>Plantilla de Ficha Técnica del Indicador</a:t>
            </a:r>
            <a:endParaRPr lang="en-US" sz="2100" dirty="0"/>
          </a:p>
        </p:txBody>
      </p:sp>
      <p:pic>
        <p:nvPicPr>
          <p:cNvPr id="6" name="Image 0" descr="/home/claude/taller/assets/footer_banner.png"/>
          <p:cNvPicPr>
            <a:picLocks noChangeAspect="1"/>
          </p:cNvPicPr>
          <p:nvPr/>
        </p:nvPicPr>
        <p:blipFill>
          <a:blip r:embed="rId3"/>
          <a:stretch>
            <a:fillRect/>
          </a:stretch>
        </p:blipFill>
        <p:spPr>
          <a:xfrm>
            <a:off x="0" y="4672584"/>
            <a:ext cx="9144000" cy="469087"/>
          </a:xfrm>
          <a:prstGeom prst="rect">
            <a:avLst/>
          </a:prstGeom>
        </p:spPr>
      </p:pic>
      <p:sp>
        <p:nvSpPr>
          <p:cNvPr id="7" name="Text 4"/>
          <p:cNvSpPr/>
          <p:nvPr/>
        </p:nvSpPr>
        <p:spPr>
          <a:xfrm>
            <a:off x="274320" y="4727448"/>
            <a:ext cx="5669280" cy="274320"/>
          </a:xfrm>
          <a:prstGeom prst="rect">
            <a:avLst/>
          </a:prstGeom>
          <a:noFill/>
          <a:ln/>
        </p:spPr>
        <p:txBody>
          <a:bodyPr wrap="square" lIns="0" tIns="0" rIns="0" bIns="0" rtlCol="0" anchor="ctr"/>
          <a:lstStyle/>
          <a:p>
            <a:pPr marL="0" indent="0">
              <a:buNone/>
            </a:pPr>
            <a:r>
              <a:rPr lang="en-US" sz="800" dirty="0">
                <a:solidFill>
                  <a:srgbClr val="FFFFFF"/>
                </a:solidFill>
                <a:latin typeface="Arial" pitchFamily="34" charset="0"/>
                <a:ea typeface="Arial" pitchFamily="34" charset="-122"/>
                <a:cs typeface="Arial" pitchFamily="34" charset="-120"/>
              </a:rPr>
              <a:t>Taller de Indicadores de Gestión Pública con IA</a:t>
            </a:r>
            <a:endParaRPr lang="en-US" sz="8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640080" y="1417320"/>
          <a:ext cx="7863840" cy="3072384"/>
        </p:xfrm>
        <a:graphic>
          <a:graphicData uri="http://schemas.openxmlformats.org/drawingml/2006/table">
            <a:tbl>
              <a:tblPr/>
              <a:tblGrid>
                <a:gridCol w="1965960">
                  <a:extLst>
                    <a:ext uri="{9D8B030D-6E8A-4147-A177-3AD203B41FA5}">
                      <a16:colId xmlns:a16="http://schemas.microsoft.com/office/drawing/2014/main" val="20000"/>
                    </a:ext>
                  </a:extLst>
                </a:gridCol>
                <a:gridCol w="2834640">
                  <a:extLst>
                    <a:ext uri="{9D8B030D-6E8A-4147-A177-3AD203B41FA5}">
                      <a16:colId xmlns:a16="http://schemas.microsoft.com/office/drawing/2014/main" val="20001"/>
                    </a:ext>
                  </a:extLst>
                </a:gridCol>
                <a:gridCol w="3063240">
                  <a:extLst>
                    <a:ext uri="{9D8B030D-6E8A-4147-A177-3AD203B41FA5}">
                      <a16:colId xmlns:a16="http://schemas.microsoft.com/office/drawing/2014/main" val="20002"/>
                    </a:ext>
                  </a:extLst>
                </a:gridCol>
              </a:tblGrid>
              <a:tr h="438912">
                <a:tc>
                  <a:txBody>
                    <a:bodyPr/>
                    <a:lstStyle/>
                    <a:p>
                      <a:pPr marL="0" indent="0" algn="l">
                        <a:buNone/>
                      </a:pPr>
                      <a:r>
                        <a:rPr lang="en-US" sz="850" b="1" dirty="0">
                          <a:solidFill>
                            <a:srgbClr val="FFFFFF"/>
                          </a:solidFill>
                          <a:latin typeface="Arial" pitchFamily="34" charset="0"/>
                          <a:ea typeface="Arial" pitchFamily="34" charset="-122"/>
                          <a:cs typeface="Arial" pitchFamily="34" charset="-120"/>
                        </a:rPr>
                        <a:t>Campo</a:t>
                      </a:r>
                      <a:endParaRPr lang="en-US" sz="8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73F72"/>
                    </a:solidFill>
                  </a:tcPr>
                </a:tc>
                <a:tc>
                  <a:txBody>
                    <a:bodyPr/>
                    <a:lstStyle/>
                    <a:p>
                      <a:pPr marL="0" indent="0" algn="l">
                        <a:buNone/>
                      </a:pPr>
                      <a:r>
                        <a:rPr lang="en-US" sz="850" b="1" dirty="0">
                          <a:solidFill>
                            <a:srgbClr val="FFFFFF"/>
                          </a:solidFill>
                          <a:latin typeface="Arial" pitchFamily="34" charset="0"/>
                          <a:ea typeface="Arial" pitchFamily="34" charset="-122"/>
                          <a:cs typeface="Arial" pitchFamily="34" charset="-120"/>
                        </a:rPr>
                        <a:t>Plantilla</a:t>
                      </a:r>
                      <a:endParaRPr lang="en-US" sz="8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73F72"/>
                    </a:solidFill>
                  </a:tcPr>
                </a:tc>
                <a:tc>
                  <a:txBody>
                    <a:bodyPr/>
                    <a:lstStyle/>
                    <a:p>
                      <a:pPr marL="0" indent="0" algn="l">
                        <a:buNone/>
                      </a:pPr>
                      <a:r>
                        <a:rPr lang="en-US" sz="850" b="1" dirty="0">
                          <a:solidFill>
                            <a:srgbClr val="FFFFFF"/>
                          </a:solidFill>
                          <a:latin typeface="Arial" pitchFamily="34" charset="0"/>
                          <a:ea typeface="Arial" pitchFamily="34" charset="-122"/>
                          <a:cs typeface="Arial" pitchFamily="34" charset="-120"/>
                        </a:rPr>
                        <a:t>Ejemplo: Salud Materna Rural</a:t>
                      </a:r>
                      <a:endParaRPr lang="en-US" sz="8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73F72"/>
                    </a:solidFill>
                  </a:tcPr>
                </a:tc>
                <a:extLst>
                  <a:ext uri="{0D108BD9-81ED-4DB2-BD59-A6C34878D82A}">
                    <a16:rowId xmlns:a16="http://schemas.microsoft.com/office/drawing/2014/main" val="10000"/>
                  </a:ext>
                </a:extLst>
              </a:tr>
              <a:tr h="438912">
                <a:tc>
                  <a:txBody>
                    <a:bodyPr/>
                    <a:lstStyle/>
                    <a:p>
                      <a:pPr marL="0" indent="0" algn="l">
                        <a:buNone/>
                      </a:pPr>
                      <a:r>
                        <a:rPr lang="en-US" sz="850" b="1" dirty="0">
                          <a:solidFill>
                            <a:srgbClr val="173F72"/>
                          </a:solidFill>
                          <a:latin typeface="Arial" pitchFamily="34" charset="0"/>
                          <a:ea typeface="Arial" pitchFamily="34" charset="-122"/>
                          <a:cs typeface="Arial" pitchFamily="34" charset="-120"/>
                        </a:rPr>
                        <a:t>Pregunta de gestión</a:t>
                      </a:r>
                      <a:endParaRPr lang="en-US" sz="8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850" dirty="0">
                          <a:solidFill>
                            <a:srgbClr val="2F3B4C"/>
                          </a:solidFill>
                          <a:latin typeface="Arial" pitchFamily="34" charset="0"/>
                          <a:ea typeface="Arial" pitchFamily="34" charset="-122"/>
                          <a:cs typeface="Arial" pitchFamily="34" charset="-120"/>
                        </a:rPr>
                        <a:t>[Pregunta ya refinada]</a:t>
                      </a:r>
                      <a:endParaRPr lang="en-US" sz="8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marL="0" indent="0" algn="l">
                        <a:buNone/>
                      </a:pPr>
                      <a:r>
                        <a:rPr lang="en-US" sz="850" dirty="0">
                          <a:solidFill>
                            <a:srgbClr val="2F3B4C"/>
                          </a:solidFill>
                          <a:latin typeface="Arial" pitchFamily="34" charset="0"/>
                          <a:ea typeface="Arial" pitchFamily="34" charset="-122"/>
                          <a:cs typeface="Arial" pitchFamily="34" charset="-120"/>
                        </a:rPr>
                        <a:t>¿Garantizamos controles prenatales adecuados y mejoramos frente al año anterior?</a:t>
                      </a:r>
                      <a:endParaRPr lang="en-US" sz="8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38912">
                <a:tc>
                  <a:txBody>
                    <a:bodyPr/>
                    <a:lstStyle/>
                    <a:p>
                      <a:pPr marL="0" indent="0" algn="l">
                        <a:buNone/>
                      </a:pPr>
                      <a:r>
                        <a:rPr lang="en-US" sz="850" b="1" dirty="0">
                          <a:solidFill>
                            <a:srgbClr val="173F72"/>
                          </a:solidFill>
                          <a:latin typeface="Arial" pitchFamily="34" charset="0"/>
                          <a:ea typeface="Arial" pitchFamily="34" charset="-122"/>
                          <a:cs typeface="Arial" pitchFamily="34" charset="-120"/>
                        </a:rPr>
                        <a:t>Nombre del indicador</a:t>
                      </a:r>
                      <a:endParaRPr lang="en-US" sz="8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850" dirty="0">
                          <a:solidFill>
                            <a:srgbClr val="2F3B4C"/>
                          </a:solidFill>
                          <a:latin typeface="Arial" pitchFamily="34" charset="0"/>
                          <a:ea typeface="Arial" pitchFamily="34" charset="-122"/>
                          <a:cs typeface="Arial" pitchFamily="34" charset="-120"/>
                        </a:rPr>
                        <a:t>[Nombre corto y descriptivo]</a:t>
                      </a:r>
                      <a:endParaRPr lang="en-US" sz="8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marL="0" indent="0" algn="l">
                        <a:buNone/>
                      </a:pPr>
                      <a:r>
                        <a:rPr lang="en-US" sz="850" dirty="0">
                          <a:solidFill>
                            <a:srgbClr val="2F3B4C"/>
                          </a:solidFill>
                          <a:latin typeface="Arial" pitchFamily="34" charset="0"/>
                          <a:ea typeface="Arial" pitchFamily="34" charset="-122"/>
                          <a:cs typeface="Arial" pitchFamily="34" charset="-120"/>
                        </a:rPr>
                        <a:t>% de gestantes rurales con 4+ controles prenatales</a:t>
                      </a:r>
                      <a:endParaRPr lang="en-US" sz="8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38912">
                <a:tc>
                  <a:txBody>
                    <a:bodyPr/>
                    <a:lstStyle/>
                    <a:p>
                      <a:pPr marL="0" indent="0" algn="l">
                        <a:buNone/>
                      </a:pPr>
                      <a:r>
                        <a:rPr lang="en-US" sz="850" b="1" dirty="0">
                          <a:solidFill>
                            <a:srgbClr val="173F72"/>
                          </a:solidFill>
                          <a:latin typeface="Arial" pitchFamily="34" charset="0"/>
                          <a:ea typeface="Arial" pitchFamily="34" charset="-122"/>
                          <a:cs typeface="Arial" pitchFamily="34" charset="-120"/>
                        </a:rPr>
                        <a:t>Eslabón cadena de valor</a:t>
                      </a:r>
                      <a:endParaRPr lang="en-US" sz="8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850" dirty="0">
                          <a:solidFill>
                            <a:srgbClr val="2F3B4C"/>
                          </a:solidFill>
                          <a:latin typeface="Arial" pitchFamily="34" charset="0"/>
                          <a:ea typeface="Arial" pitchFamily="34" charset="-122"/>
                          <a:cs typeface="Arial" pitchFamily="34" charset="-120"/>
                        </a:rPr>
                        <a:t>[Insumo/Actividad/Producto/Resultado/Impacto]</a:t>
                      </a:r>
                      <a:endParaRPr lang="en-US" sz="8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marL="0" indent="0" algn="l">
                        <a:buNone/>
                      </a:pPr>
                      <a:r>
                        <a:rPr lang="en-US" sz="850" dirty="0">
                          <a:solidFill>
                            <a:srgbClr val="2F3B4C"/>
                          </a:solidFill>
                          <a:latin typeface="Arial" pitchFamily="34" charset="0"/>
                          <a:ea typeface="Arial" pitchFamily="34" charset="-122"/>
                          <a:cs typeface="Arial" pitchFamily="34" charset="-120"/>
                        </a:rPr>
                        <a:t>Resultado</a:t>
                      </a:r>
                      <a:endParaRPr lang="en-US" sz="8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38912">
                <a:tc>
                  <a:txBody>
                    <a:bodyPr/>
                    <a:lstStyle/>
                    <a:p>
                      <a:pPr marL="0" indent="0" algn="l">
                        <a:buNone/>
                      </a:pPr>
                      <a:r>
                        <a:rPr lang="en-US" sz="850" b="1" dirty="0">
                          <a:solidFill>
                            <a:srgbClr val="173F72"/>
                          </a:solidFill>
                          <a:latin typeface="Arial" pitchFamily="34" charset="0"/>
                          <a:ea typeface="Arial" pitchFamily="34" charset="-122"/>
                          <a:cs typeface="Arial" pitchFamily="34" charset="-120"/>
                        </a:rPr>
                        <a:t>Fórmula de cálculo</a:t>
                      </a:r>
                      <a:endParaRPr lang="en-US" sz="8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850" dirty="0">
                          <a:solidFill>
                            <a:srgbClr val="2F3B4C"/>
                          </a:solidFill>
                          <a:latin typeface="Arial" pitchFamily="34" charset="0"/>
                          <a:ea typeface="Arial" pitchFamily="34" charset="-122"/>
                          <a:cs typeface="Arial" pitchFamily="34" charset="-120"/>
                        </a:rPr>
                        <a:t>[Numerador/Denominador × 100]</a:t>
                      </a:r>
                      <a:endParaRPr lang="en-US" sz="8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marL="0" indent="0" algn="l">
                        <a:buNone/>
                      </a:pPr>
                      <a:r>
                        <a:rPr lang="en-US" sz="850" dirty="0">
                          <a:solidFill>
                            <a:srgbClr val="2F3B4C"/>
                          </a:solidFill>
                          <a:latin typeface="Arial" pitchFamily="34" charset="0"/>
                          <a:ea typeface="Arial" pitchFamily="34" charset="-122"/>
                          <a:cs typeface="Arial" pitchFamily="34" charset="-120"/>
                        </a:rPr>
                        <a:t>(gestantes con ≥4 controles / total gestantes) × 100</a:t>
                      </a:r>
                      <a:endParaRPr lang="en-US" sz="8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38912">
                <a:tc>
                  <a:txBody>
                    <a:bodyPr/>
                    <a:lstStyle/>
                    <a:p>
                      <a:pPr marL="0" indent="0" algn="l">
                        <a:buNone/>
                      </a:pPr>
                      <a:r>
                        <a:rPr lang="en-US" sz="850" b="1" dirty="0">
                          <a:solidFill>
                            <a:srgbClr val="173F72"/>
                          </a:solidFill>
                          <a:latin typeface="Arial" pitchFamily="34" charset="0"/>
                          <a:ea typeface="Arial" pitchFamily="34" charset="-122"/>
                          <a:cs typeface="Arial" pitchFamily="34" charset="-120"/>
                        </a:rPr>
                        <a:t>Fuente de información</a:t>
                      </a:r>
                      <a:endParaRPr lang="en-US" sz="8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850" dirty="0">
                          <a:solidFill>
                            <a:srgbClr val="2F3B4C"/>
                          </a:solidFill>
                          <a:latin typeface="Arial" pitchFamily="34" charset="0"/>
                          <a:ea typeface="Arial" pitchFamily="34" charset="-122"/>
                          <a:cs typeface="Arial" pitchFamily="34" charset="-120"/>
                        </a:rPr>
                        <a:t>[Sistema o registro oficial]</a:t>
                      </a:r>
                      <a:endParaRPr lang="en-US" sz="8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marL="0" indent="0" algn="l">
                        <a:buNone/>
                      </a:pPr>
                      <a:r>
                        <a:rPr lang="en-US" sz="850" dirty="0">
                          <a:solidFill>
                            <a:srgbClr val="2F3B4C"/>
                          </a:solidFill>
                          <a:latin typeface="Arial" pitchFamily="34" charset="0"/>
                          <a:ea typeface="Arial" pitchFamily="34" charset="-122"/>
                          <a:cs typeface="Arial" pitchFamily="34" charset="-120"/>
                        </a:rPr>
                        <a:t>RIPS – SISPRO (MinSalud)</a:t>
                      </a:r>
                      <a:endParaRPr lang="en-US" sz="8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38912">
                <a:tc>
                  <a:txBody>
                    <a:bodyPr/>
                    <a:lstStyle/>
                    <a:p>
                      <a:pPr marL="0" indent="0" algn="l">
                        <a:buNone/>
                      </a:pPr>
                      <a:r>
                        <a:rPr lang="en-US" sz="850" b="1" dirty="0">
                          <a:solidFill>
                            <a:srgbClr val="173F72"/>
                          </a:solidFill>
                          <a:latin typeface="Arial" pitchFamily="34" charset="0"/>
                          <a:ea typeface="Arial" pitchFamily="34" charset="-122"/>
                          <a:cs typeface="Arial" pitchFamily="34" charset="-120"/>
                        </a:rPr>
                        <a:t>Línea base / Meta</a:t>
                      </a:r>
                      <a:endParaRPr lang="en-US" sz="8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850" dirty="0">
                          <a:solidFill>
                            <a:srgbClr val="2F3B4C"/>
                          </a:solidFill>
                          <a:latin typeface="Arial" pitchFamily="34" charset="0"/>
                          <a:ea typeface="Arial" pitchFamily="34" charset="-122"/>
                          <a:cs typeface="Arial" pitchFamily="34" charset="-120"/>
                        </a:rPr>
                        <a:t>[Valor y año de referencia]</a:t>
                      </a:r>
                      <a:endParaRPr lang="en-US" sz="8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marL="0" indent="0" algn="l">
                        <a:buNone/>
                      </a:pPr>
                      <a:r>
                        <a:rPr lang="en-US" sz="850" dirty="0">
                          <a:solidFill>
                            <a:srgbClr val="2F3B4C"/>
                          </a:solidFill>
                          <a:latin typeface="Arial" pitchFamily="34" charset="0"/>
                          <a:ea typeface="Arial" pitchFamily="34" charset="-122"/>
                          <a:cs typeface="Arial" pitchFamily="34" charset="-120"/>
                        </a:rPr>
                        <a:t>Valor año t-1 / incremento definido por la entidad</a:t>
                      </a:r>
                      <a:endParaRPr lang="en-US" sz="8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731520" y="1828800"/>
            <a:ext cx="7680960" cy="320040"/>
          </a:xfrm>
          <a:prstGeom prst="rect">
            <a:avLst/>
          </a:prstGeom>
          <a:noFill/>
          <a:ln/>
        </p:spPr>
        <p:txBody>
          <a:bodyPr wrap="square" rtlCol="0" anchor="ctr"/>
          <a:lstStyle/>
          <a:p>
            <a:pPr marL="0" indent="0" algn="l">
              <a:buNone/>
            </a:pPr>
            <a:r>
              <a:rPr lang="en-US" sz="1200" b="1" kern="0" spc="200" dirty="0">
                <a:solidFill>
                  <a:srgbClr val="FF9900"/>
                </a:solidFill>
                <a:latin typeface="Arial" pitchFamily="34" charset="0"/>
                <a:ea typeface="Arial" pitchFamily="34" charset="-122"/>
                <a:cs typeface="Arial" pitchFamily="34" charset="-120"/>
              </a:rPr>
              <a:t>BLOQUE 1 · MÓDULO 3</a:t>
            </a:r>
            <a:endParaRPr lang="en-US" sz="1200" dirty="0"/>
          </a:p>
        </p:txBody>
      </p:sp>
      <p:sp>
        <p:nvSpPr>
          <p:cNvPr id="3" name="Text 1"/>
          <p:cNvSpPr/>
          <p:nvPr/>
        </p:nvSpPr>
        <p:spPr>
          <a:xfrm>
            <a:off x="731520" y="2212848"/>
            <a:ext cx="7680960" cy="1188720"/>
          </a:xfrm>
          <a:prstGeom prst="rect">
            <a:avLst/>
          </a:prstGeom>
          <a:noFill/>
          <a:ln/>
        </p:spPr>
        <p:txBody>
          <a:bodyPr wrap="square" rtlCol="0" anchor="t"/>
          <a:lstStyle/>
          <a:p>
            <a:pPr marL="0" indent="0" algn="l">
              <a:buNone/>
            </a:pPr>
            <a:r>
              <a:rPr lang="en-US" sz="3000" b="1" dirty="0">
                <a:solidFill>
                  <a:srgbClr val="FFFFFF"/>
                </a:solidFill>
                <a:latin typeface="Arial" pitchFamily="34" charset="0"/>
                <a:ea typeface="Arial" pitchFamily="34" charset="-122"/>
                <a:cs typeface="Arial" pitchFamily="34" charset="-120"/>
              </a:rPr>
              <a:t>Errores Comunes al Formular Indicadores</a:t>
            </a:r>
            <a:endParaRPr lang="en-US" sz="3000" dirty="0"/>
          </a:p>
        </p:txBody>
      </p:sp>
      <p:sp>
        <p:nvSpPr>
          <p:cNvPr id="4" name="Text 2"/>
          <p:cNvSpPr/>
          <p:nvPr/>
        </p:nvSpPr>
        <p:spPr>
          <a:xfrm>
            <a:off x="731520" y="3447288"/>
            <a:ext cx="7680960" cy="457200"/>
          </a:xfrm>
          <a:prstGeom prst="rect">
            <a:avLst/>
          </a:prstGeom>
          <a:noFill/>
          <a:ln/>
        </p:spPr>
        <p:txBody>
          <a:bodyPr wrap="square" rtlCol="0" anchor="ctr"/>
          <a:lstStyle/>
          <a:p>
            <a:pPr marL="0" indent="0" algn="l">
              <a:buNone/>
            </a:pPr>
            <a:r>
              <a:rPr lang="en-US" sz="1400" i="1" dirty="0">
                <a:solidFill>
                  <a:srgbClr val="CADCFC"/>
                </a:solidFill>
                <a:latin typeface="Arial" pitchFamily="34" charset="0"/>
                <a:ea typeface="Arial" pitchFamily="34" charset="-122"/>
                <a:cs typeface="Arial" pitchFamily="34" charset="-120"/>
              </a:rPr>
              <a:t>5 errores frecuentes, con ejemplo antes/después</a:t>
            </a:r>
            <a:endParaRPr lang="en-US" sz="1400" dirty="0"/>
          </a:p>
        </p:txBody>
      </p:sp>
      <p:sp>
        <p:nvSpPr>
          <p:cNvPr id="5" name="Text 3"/>
          <p:cNvSpPr/>
          <p:nvPr/>
        </p:nvSpPr>
        <p:spPr>
          <a:xfrm>
            <a:off x="731520" y="3904488"/>
            <a:ext cx="7680960" cy="365760"/>
          </a:xfrm>
          <a:prstGeom prst="rect">
            <a:avLst/>
          </a:prstGeom>
          <a:noFill/>
          <a:ln/>
        </p:spPr>
        <p:txBody>
          <a:bodyPr wrap="square" rtlCol="0" anchor="ctr"/>
          <a:lstStyle/>
          <a:p>
            <a:pPr marL="0" indent="0" algn="l">
              <a:buNone/>
            </a:pPr>
            <a:r>
              <a:rPr lang="en-US" sz="1100" dirty="0">
                <a:solidFill>
                  <a:srgbClr val="9FB8D9"/>
                </a:solidFill>
                <a:latin typeface="Arial" pitchFamily="34" charset="0"/>
                <a:ea typeface="Arial" pitchFamily="34" charset="-122"/>
                <a:cs typeface="Arial" pitchFamily="34" charset="-120"/>
              </a:rPr>
              <a:t>Módulo 3 de 3 · 35 min</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292608"/>
            <a:ext cx="1005840" cy="41148"/>
          </a:xfrm>
          <a:prstGeom prst="rect">
            <a:avLst/>
          </a:prstGeom>
          <a:solidFill>
            <a:srgbClr val="FF9900"/>
          </a:solidFill>
          <a:ln/>
        </p:spPr>
      </p:sp>
      <p:sp>
        <p:nvSpPr>
          <p:cNvPr id="3" name="Text 1"/>
          <p:cNvSpPr/>
          <p:nvPr/>
        </p:nvSpPr>
        <p:spPr>
          <a:xfrm>
            <a:off x="640080" y="365760"/>
            <a:ext cx="6675120" cy="256032"/>
          </a:xfrm>
          <a:prstGeom prst="rect">
            <a:avLst/>
          </a:prstGeom>
          <a:noFill/>
          <a:ln/>
        </p:spPr>
        <p:txBody>
          <a:bodyPr wrap="square" rtlCol="0" anchor="ctr"/>
          <a:lstStyle/>
          <a:p>
            <a:pPr marL="0" indent="0">
              <a:buNone/>
            </a:pPr>
            <a:r>
              <a:rPr lang="en-US" sz="1000" b="1" kern="0" spc="150" dirty="0">
                <a:solidFill>
                  <a:srgbClr val="FC6E01"/>
                </a:solidFill>
                <a:latin typeface="Arial" pitchFamily="34" charset="0"/>
                <a:ea typeface="Arial" pitchFamily="34" charset="-122"/>
                <a:cs typeface="Arial" pitchFamily="34" charset="-120"/>
              </a:rPr>
              <a:t>ERRORES COMUNES</a:t>
            </a:r>
            <a:endParaRPr lang="en-US" sz="1000" dirty="0"/>
          </a:p>
        </p:txBody>
      </p:sp>
      <p:sp>
        <p:nvSpPr>
          <p:cNvPr id="4" name="Text 2"/>
          <p:cNvSpPr/>
          <p:nvPr/>
        </p:nvSpPr>
        <p:spPr>
          <a:xfrm>
            <a:off x="640080" y="621792"/>
            <a:ext cx="7315200" cy="502920"/>
          </a:xfrm>
          <a:prstGeom prst="rect">
            <a:avLst/>
          </a:prstGeom>
          <a:noFill/>
          <a:ln/>
        </p:spPr>
        <p:txBody>
          <a:bodyPr wrap="square" rtlCol="0" anchor="ctr"/>
          <a:lstStyle/>
          <a:p>
            <a:pPr marL="0" indent="0">
              <a:buNone/>
            </a:pPr>
            <a:r>
              <a:rPr lang="en-US" sz="2100" b="1" dirty="0">
                <a:solidFill>
                  <a:srgbClr val="173F72"/>
                </a:solidFill>
                <a:latin typeface="Arial" pitchFamily="34" charset="0"/>
                <a:ea typeface="Arial" pitchFamily="34" charset="-122"/>
                <a:cs typeface="Arial" pitchFamily="34" charset="-120"/>
              </a:rPr>
              <a:t>Confundir Producto con Resultado</a:t>
            </a:r>
            <a:endParaRPr lang="en-US" sz="2100" dirty="0"/>
          </a:p>
        </p:txBody>
      </p:sp>
      <p:pic>
        <p:nvPicPr>
          <p:cNvPr id="6" name="Image 0" descr="/home/claude/taller/assets/footer_banner.png"/>
          <p:cNvPicPr>
            <a:picLocks noChangeAspect="1"/>
          </p:cNvPicPr>
          <p:nvPr/>
        </p:nvPicPr>
        <p:blipFill>
          <a:blip r:embed="rId3"/>
          <a:stretch>
            <a:fillRect/>
          </a:stretch>
        </p:blipFill>
        <p:spPr>
          <a:xfrm>
            <a:off x="0" y="4672584"/>
            <a:ext cx="9144000" cy="469087"/>
          </a:xfrm>
          <a:prstGeom prst="rect">
            <a:avLst/>
          </a:prstGeom>
        </p:spPr>
      </p:pic>
      <p:sp>
        <p:nvSpPr>
          <p:cNvPr id="7" name="Text 4"/>
          <p:cNvSpPr/>
          <p:nvPr/>
        </p:nvSpPr>
        <p:spPr>
          <a:xfrm>
            <a:off x="274320" y="4727448"/>
            <a:ext cx="5669280" cy="274320"/>
          </a:xfrm>
          <a:prstGeom prst="rect">
            <a:avLst/>
          </a:prstGeom>
          <a:noFill/>
          <a:ln/>
        </p:spPr>
        <p:txBody>
          <a:bodyPr wrap="square" lIns="0" tIns="0" rIns="0" bIns="0" rtlCol="0" anchor="ctr"/>
          <a:lstStyle/>
          <a:p>
            <a:pPr marL="0" indent="0">
              <a:buNone/>
            </a:pPr>
            <a:r>
              <a:rPr lang="en-US" sz="800" dirty="0">
                <a:solidFill>
                  <a:srgbClr val="FFFFFF"/>
                </a:solidFill>
                <a:latin typeface="Arial" pitchFamily="34" charset="0"/>
                <a:ea typeface="Arial" pitchFamily="34" charset="-122"/>
                <a:cs typeface="Arial" pitchFamily="34" charset="-120"/>
              </a:rPr>
              <a:t>Taller de Indicadores de Gestión Pública con IA</a:t>
            </a:r>
            <a:endParaRPr lang="en-US" sz="800" dirty="0"/>
          </a:p>
        </p:txBody>
      </p:sp>
      <p:sp>
        <p:nvSpPr>
          <p:cNvPr id="8" name="Shape 5"/>
          <p:cNvSpPr/>
          <p:nvPr/>
        </p:nvSpPr>
        <p:spPr>
          <a:xfrm>
            <a:off x="640080" y="1737360"/>
            <a:ext cx="3794760" cy="1828800"/>
          </a:xfrm>
          <a:prstGeom prst="roundRect">
            <a:avLst>
              <a:gd name="adj" fmla="val 2500"/>
            </a:avLst>
          </a:prstGeom>
          <a:solidFill>
            <a:srgbClr val="FBEAE8"/>
          </a:solidFill>
          <a:ln w="9525">
            <a:solidFill>
              <a:srgbClr val="D9534F"/>
            </a:solidFill>
            <a:prstDash val="solid"/>
          </a:ln>
        </p:spPr>
      </p:sp>
      <p:sp>
        <p:nvSpPr>
          <p:cNvPr id="9" name="Text 6"/>
          <p:cNvSpPr/>
          <p:nvPr/>
        </p:nvSpPr>
        <p:spPr>
          <a:xfrm>
            <a:off x="777240" y="1810512"/>
            <a:ext cx="3520440" cy="256032"/>
          </a:xfrm>
          <a:prstGeom prst="rect">
            <a:avLst/>
          </a:prstGeom>
          <a:noFill/>
          <a:ln/>
        </p:spPr>
        <p:txBody>
          <a:bodyPr wrap="square" rtlCol="0" anchor="ctr"/>
          <a:lstStyle/>
          <a:p>
            <a:pPr marL="0" indent="0">
              <a:buNone/>
            </a:pPr>
            <a:r>
              <a:rPr lang="en-US" sz="1000" b="1" dirty="0">
                <a:solidFill>
                  <a:srgbClr val="D9534F"/>
                </a:solidFill>
                <a:latin typeface="Arial" pitchFamily="34" charset="0"/>
                <a:ea typeface="Arial" pitchFamily="34" charset="-122"/>
                <a:cs typeface="Arial" pitchFamily="34" charset="-120"/>
              </a:rPr>
              <a:t>✗ Versión con el error</a:t>
            </a:r>
            <a:endParaRPr lang="en-US" sz="1000" dirty="0"/>
          </a:p>
        </p:txBody>
      </p:sp>
      <p:sp>
        <p:nvSpPr>
          <p:cNvPr id="10" name="Text 7"/>
          <p:cNvSpPr/>
          <p:nvPr/>
        </p:nvSpPr>
        <p:spPr>
          <a:xfrm>
            <a:off x="777240" y="2066544"/>
            <a:ext cx="3520440" cy="1417320"/>
          </a:xfrm>
          <a:prstGeom prst="rect">
            <a:avLst/>
          </a:prstGeom>
          <a:noFill/>
          <a:ln/>
        </p:spPr>
        <p:txBody>
          <a:bodyPr wrap="square" rtlCol="0" anchor="t"/>
          <a:lstStyle/>
          <a:p>
            <a:pPr marL="0" indent="0">
              <a:buNone/>
            </a:pPr>
            <a:r>
              <a:rPr lang="en-US" sz="1000" i="1" dirty="0">
                <a:solidFill>
                  <a:srgbClr val="2F3B4C"/>
                </a:solidFill>
                <a:latin typeface="Arial" pitchFamily="34" charset="0"/>
                <a:ea typeface="Arial" pitchFamily="34" charset="-122"/>
                <a:cs typeface="Arial" pitchFamily="34" charset="-120"/>
              </a:rPr>
              <a:t>“Número de talleres de emprendimiento realizados” — esto es un producto, no un resultado.</a:t>
            </a:r>
            <a:endParaRPr lang="en-US" sz="1000" dirty="0"/>
          </a:p>
        </p:txBody>
      </p:sp>
      <p:sp>
        <p:nvSpPr>
          <p:cNvPr id="11" name="Shape 8"/>
          <p:cNvSpPr/>
          <p:nvPr/>
        </p:nvSpPr>
        <p:spPr>
          <a:xfrm>
            <a:off x="4709160" y="1737360"/>
            <a:ext cx="3794760" cy="1828800"/>
          </a:xfrm>
          <a:prstGeom prst="roundRect">
            <a:avLst>
              <a:gd name="adj" fmla="val 2500"/>
            </a:avLst>
          </a:prstGeom>
          <a:solidFill>
            <a:srgbClr val="E9F6EC"/>
          </a:solidFill>
          <a:ln w="9525">
            <a:solidFill>
              <a:srgbClr val="4CAF50"/>
            </a:solidFill>
            <a:prstDash val="solid"/>
          </a:ln>
        </p:spPr>
      </p:sp>
      <p:sp>
        <p:nvSpPr>
          <p:cNvPr id="12" name="Text 9"/>
          <p:cNvSpPr/>
          <p:nvPr/>
        </p:nvSpPr>
        <p:spPr>
          <a:xfrm>
            <a:off x="4846320" y="1810512"/>
            <a:ext cx="3520440" cy="256032"/>
          </a:xfrm>
          <a:prstGeom prst="rect">
            <a:avLst/>
          </a:prstGeom>
          <a:noFill/>
          <a:ln/>
        </p:spPr>
        <p:txBody>
          <a:bodyPr wrap="square" rtlCol="0" anchor="ctr"/>
          <a:lstStyle/>
          <a:p>
            <a:pPr marL="0" indent="0">
              <a:buNone/>
            </a:pPr>
            <a:r>
              <a:rPr lang="en-US" sz="1000" b="1" dirty="0">
                <a:solidFill>
                  <a:srgbClr val="2E7D32"/>
                </a:solidFill>
                <a:latin typeface="Arial" pitchFamily="34" charset="0"/>
                <a:ea typeface="Arial" pitchFamily="34" charset="-122"/>
                <a:cs typeface="Arial" pitchFamily="34" charset="-120"/>
              </a:rPr>
              <a:t>✓ Versión corregida</a:t>
            </a:r>
            <a:endParaRPr lang="en-US" sz="1000" dirty="0"/>
          </a:p>
        </p:txBody>
      </p:sp>
      <p:sp>
        <p:nvSpPr>
          <p:cNvPr id="13" name="Text 10"/>
          <p:cNvSpPr/>
          <p:nvPr/>
        </p:nvSpPr>
        <p:spPr>
          <a:xfrm>
            <a:off x="4846320" y="2066544"/>
            <a:ext cx="3520440" cy="1417320"/>
          </a:xfrm>
          <a:prstGeom prst="rect">
            <a:avLst/>
          </a:prstGeom>
          <a:noFill/>
          <a:ln/>
        </p:spPr>
        <p:txBody>
          <a:bodyPr wrap="square" rtlCol="0" anchor="t"/>
          <a:lstStyle/>
          <a:p>
            <a:pPr marL="0" indent="0">
              <a:buNone/>
            </a:pPr>
            <a:r>
              <a:rPr lang="en-US" sz="1000" i="1" dirty="0">
                <a:solidFill>
                  <a:srgbClr val="2F3B4C"/>
                </a:solidFill>
                <a:latin typeface="Arial" pitchFamily="34" charset="0"/>
                <a:ea typeface="Arial" pitchFamily="34" charset="-122"/>
                <a:cs typeface="Arial" pitchFamily="34" charset="-120"/>
              </a:rPr>
              <a:t>“% de participantes del taller que reportan ingresos formales seis meses después”.</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292608"/>
            <a:ext cx="1005840" cy="41148"/>
          </a:xfrm>
          <a:prstGeom prst="rect">
            <a:avLst/>
          </a:prstGeom>
          <a:solidFill>
            <a:srgbClr val="FF9900"/>
          </a:solidFill>
          <a:ln/>
        </p:spPr>
      </p:sp>
      <p:sp>
        <p:nvSpPr>
          <p:cNvPr id="3" name="Text 1"/>
          <p:cNvSpPr/>
          <p:nvPr/>
        </p:nvSpPr>
        <p:spPr>
          <a:xfrm>
            <a:off x="640080" y="365760"/>
            <a:ext cx="6675120" cy="256032"/>
          </a:xfrm>
          <a:prstGeom prst="rect">
            <a:avLst/>
          </a:prstGeom>
          <a:noFill/>
          <a:ln/>
        </p:spPr>
        <p:txBody>
          <a:bodyPr wrap="square" rtlCol="0" anchor="ctr"/>
          <a:lstStyle/>
          <a:p>
            <a:pPr marL="0" indent="0">
              <a:buNone/>
            </a:pPr>
            <a:r>
              <a:rPr lang="en-US" sz="1000" b="1" kern="0" spc="150" dirty="0">
                <a:solidFill>
                  <a:srgbClr val="FC6E01"/>
                </a:solidFill>
                <a:latin typeface="Arial" pitchFamily="34" charset="0"/>
                <a:ea typeface="Arial" pitchFamily="34" charset="-122"/>
                <a:cs typeface="Arial" pitchFamily="34" charset="-120"/>
              </a:rPr>
              <a:t>ERRORES COMUNES</a:t>
            </a:r>
            <a:endParaRPr lang="en-US" sz="1000" dirty="0"/>
          </a:p>
        </p:txBody>
      </p:sp>
      <p:sp>
        <p:nvSpPr>
          <p:cNvPr id="4" name="Text 2"/>
          <p:cNvSpPr/>
          <p:nvPr/>
        </p:nvSpPr>
        <p:spPr>
          <a:xfrm>
            <a:off x="640080" y="621792"/>
            <a:ext cx="7315200" cy="502920"/>
          </a:xfrm>
          <a:prstGeom prst="rect">
            <a:avLst/>
          </a:prstGeom>
          <a:noFill/>
          <a:ln/>
        </p:spPr>
        <p:txBody>
          <a:bodyPr wrap="square" rtlCol="0" anchor="ctr"/>
          <a:lstStyle/>
          <a:p>
            <a:pPr marL="0" indent="0">
              <a:buNone/>
            </a:pPr>
            <a:r>
              <a:rPr lang="en-US" sz="2100" b="1" dirty="0">
                <a:solidFill>
                  <a:srgbClr val="173F72"/>
                </a:solidFill>
                <a:latin typeface="Arial" pitchFamily="34" charset="0"/>
                <a:ea typeface="Arial" pitchFamily="34" charset="-122"/>
                <a:cs typeface="Arial" pitchFamily="34" charset="-120"/>
              </a:rPr>
              <a:t>Formular sin Fuente de Datos Identificada</a:t>
            </a:r>
            <a:endParaRPr lang="en-US" sz="2100" dirty="0"/>
          </a:p>
        </p:txBody>
      </p:sp>
      <p:pic>
        <p:nvPicPr>
          <p:cNvPr id="6" name="Image 0" descr="/home/claude/taller/assets/footer_banner.png"/>
          <p:cNvPicPr>
            <a:picLocks noChangeAspect="1"/>
          </p:cNvPicPr>
          <p:nvPr/>
        </p:nvPicPr>
        <p:blipFill>
          <a:blip r:embed="rId3"/>
          <a:stretch>
            <a:fillRect/>
          </a:stretch>
        </p:blipFill>
        <p:spPr>
          <a:xfrm>
            <a:off x="0" y="4672584"/>
            <a:ext cx="9144000" cy="469087"/>
          </a:xfrm>
          <a:prstGeom prst="rect">
            <a:avLst/>
          </a:prstGeom>
        </p:spPr>
      </p:pic>
      <p:sp>
        <p:nvSpPr>
          <p:cNvPr id="7" name="Text 4"/>
          <p:cNvSpPr/>
          <p:nvPr/>
        </p:nvSpPr>
        <p:spPr>
          <a:xfrm>
            <a:off x="274320" y="4727448"/>
            <a:ext cx="5669280" cy="274320"/>
          </a:xfrm>
          <a:prstGeom prst="rect">
            <a:avLst/>
          </a:prstGeom>
          <a:noFill/>
          <a:ln/>
        </p:spPr>
        <p:txBody>
          <a:bodyPr wrap="square" lIns="0" tIns="0" rIns="0" bIns="0" rtlCol="0" anchor="ctr"/>
          <a:lstStyle/>
          <a:p>
            <a:pPr marL="0" indent="0">
              <a:buNone/>
            </a:pPr>
            <a:r>
              <a:rPr lang="en-US" sz="800" dirty="0">
                <a:solidFill>
                  <a:srgbClr val="FFFFFF"/>
                </a:solidFill>
                <a:latin typeface="Arial" pitchFamily="34" charset="0"/>
                <a:ea typeface="Arial" pitchFamily="34" charset="-122"/>
                <a:cs typeface="Arial" pitchFamily="34" charset="-120"/>
              </a:rPr>
              <a:t>Taller de Indicadores de Gestión Pública con IA</a:t>
            </a:r>
            <a:endParaRPr lang="en-US" sz="800" dirty="0"/>
          </a:p>
        </p:txBody>
      </p:sp>
      <p:sp>
        <p:nvSpPr>
          <p:cNvPr id="8" name="Shape 5"/>
          <p:cNvSpPr/>
          <p:nvPr/>
        </p:nvSpPr>
        <p:spPr>
          <a:xfrm>
            <a:off x="640080" y="1737360"/>
            <a:ext cx="3794760" cy="1828800"/>
          </a:xfrm>
          <a:prstGeom prst="roundRect">
            <a:avLst>
              <a:gd name="adj" fmla="val 2500"/>
            </a:avLst>
          </a:prstGeom>
          <a:solidFill>
            <a:srgbClr val="FBEAE8"/>
          </a:solidFill>
          <a:ln w="9525">
            <a:solidFill>
              <a:srgbClr val="D9534F"/>
            </a:solidFill>
            <a:prstDash val="solid"/>
          </a:ln>
        </p:spPr>
      </p:sp>
      <p:sp>
        <p:nvSpPr>
          <p:cNvPr id="9" name="Text 6"/>
          <p:cNvSpPr/>
          <p:nvPr/>
        </p:nvSpPr>
        <p:spPr>
          <a:xfrm>
            <a:off x="777240" y="1810512"/>
            <a:ext cx="3520440" cy="256032"/>
          </a:xfrm>
          <a:prstGeom prst="rect">
            <a:avLst/>
          </a:prstGeom>
          <a:noFill/>
          <a:ln/>
        </p:spPr>
        <p:txBody>
          <a:bodyPr wrap="square" rtlCol="0" anchor="ctr"/>
          <a:lstStyle/>
          <a:p>
            <a:pPr marL="0" indent="0">
              <a:buNone/>
            </a:pPr>
            <a:r>
              <a:rPr lang="en-US" sz="1000" b="1" dirty="0">
                <a:solidFill>
                  <a:srgbClr val="D9534F"/>
                </a:solidFill>
                <a:latin typeface="Arial" pitchFamily="34" charset="0"/>
                <a:ea typeface="Arial" pitchFamily="34" charset="-122"/>
                <a:cs typeface="Arial" pitchFamily="34" charset="-120"/>
              </a:rPr>
              <a:t>✗ Versión con el error</a:t>
            </a:r>
            <a:endParaRPr lang="en-US" sz="1000" dirty="0"/>
          </a:p>
        </p:txBody>
      </p:sp>
      <p:sp>
        <p:nvSpPr>
          <p:cNvPr id="10" name="Text 7"/>
          <p:cNvSpPr/>
          <p:nvPr/>
        </p:nvSpPr>
        <p:spPr>
          <a:xfrm>
            <a:off x="777240" y="2066544"/>
            <a:ext cx="3520440" cy="1417320"/>
          </a:xfrm>
          <a:prstGeom prst="rect">
            <a:avLst/>
          </a:prstGeom>
          <a:noFill/>
          <a:ln/>
        </p:spPr>
        <p:txBody>
          <a:bodyPr wrap="square" rtlCol="0" anchor="t"/>
          <a:lstStyle/>
          <a:p>
            <a:pPr marL="0" indent="0">
              <a:buNone/>
            </a:pPr>
            <a:r>
              <a:rPr lang="en-US" sz="1000" i="1" dirty="0">
                <a:solidFill>
                  <a:srgbClr val="2F3B4C"/>
                </a:solidFill>
                <a:latin typeface="Arial" pitchFamily="34" charset="0"/>
                <a:ea typeface="Arial" pitchFamily="34" charset="-122"/>
                <a:cs typeface="Arial" pitchFamily="34" charset="-120"/>
              </a:rPr>
              <a:t>“Nivel de satisfacción ciudadana con el espacio público” — sin decir cómo ni con qué instrumento se mide.</a:t>
            </a:r>
            <a:endParaRPr lang="en-US" sz="1000" dirty="0"/>
          </a:p>
        </p:txBody>
      </p:sp>
      <p:sp>
        <p:nvSpPr>
          <p:cNvPr id="11" name="Shape 8"/>
          <p:cNvSpPr/>
          <p:nvPr/>
        </p:nvSpPr>
        <p:spPr>
          <a:xfrm>
            <a:off x="4709160" y="1737360"/>
            <a:ext cx="3794760" cy="1828800"/>
          </a:xfrm>
          <a:prstGeom prst="roundRect">
            <a:avLst>
              <a:gd name="adj" fmla="val 2500"/>
            </a:avLst>
          </a:prstGeom>
          <a:solidFill>
            <a:srgbClr val="E9F6EC"/>
          </a:solidFill>
          <a:ln w="9525">
            <a:solidFill>
              <a:srgbClr val="4CAF50"/>
            </a:solidFill>
            <a:prstDash val="solid"/>
          </a:ln>
        </p:spPr>
      </p:sp>
      <p:sp>
        <p:nvSpPr>
          <p:cNvPr id="12" name="Text 9"/>
          <p:cNvSpPr/>
          <p:nvPr/>
        </p:nvSpPr>
        <p:spPr>
          <a:xfrm>
            <a:off x="4846320" y="1810512"/>
            <a:ext cx="3520440" cy="256032"/>
          </a:xfrm>
          <a:prstGeom prst="rect">
            <a:avLst/>
          </a:prstGeom>
          <a:noFill/>
          <a:ln/>
        </p:spPr>
        <p:txBody>
          <a:bodyPr wrap="square" rtlCol="0" anchor="ctr"/>
          <a:lstStyle/>
          <a:p>
            <a:pPr marL="0" indent="0">
              <a:buNone/>
            </a:pPr>
            <a:r>
              <a:rPr lang="en-US" sz="1000" b="1" dirty="0">
                <a:solidFill>
                  <a:srgbClr val="2E7D32"/>
                </a:solidFill>
                <a:latin typeface="Arial" pitchFamily="34" charset="0"/>
                <a:ea typeface="Arial" pitchFamily="34" charset="-122"/>
                <a:cs typeface="Arial" pitchFamily="34" charset="-120"/>
              </a:rPr>
              <a:t>✓ Versión corregida</a:t>
            </a:r>
            <a:endParaRPr lang="en-US" sz="1000" dirty="0"/>
          </a:p>
        </p:txBody>
      </p:sp>
      <p:sp>
        <p:nvSpPr>
          <p:cNvPr id="13" name="Text 10"/>
          <p:cNvSpPr/>
          <p:nvPr/>
        </p:nvSpPr>
        <p:spPr>
          <a:xfrm>
            <a:off x="4846320" y="2066544"/>
            <a:ext cx="3520440" cy="1417320"/>
          </a:xfrm>
          <a:prstGeom prst="rect">
            <a:avLst/>
          </a:prstGeom>
          <a:noFill/>
          <a:ln/>
        </p:spPr>
        <p:txBody>
          <a:bodyPr wrap="square" rtlCol="0" anchor="t"/>
          <a:lstStyle/>
          <a:p>
            <a:pPr marL="0" indent="0">
              <a:buNone/>
            </a:pPr>
            <a:r>
              <a:rPr lang="en-US" sz="1000" i="1" dirty="0">
                <a:solidFill>
                  <a:srgbClr val="2F3B4C"/>
                </a:solidFill>
                <a:latin typeface="Arial" pitchFamily="34" charset="0"/>
                <a:ea typeface="Arial" pitchFamily="34" charset="-122"/>
                <a:cs typeface="Arial" pitchFamily="34" charset="-120"/>
              </a:rPr>
              <a:t>El mismo indicador, medido mediante encuesta de percepción ciudadana aplicada anualmente por la oficina de planeación.</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292608"/>
            <a:ext cx="1005840" cy="41148"/>
          </a:xfrm>
          <a:prstGeom prst="rect">
            <a:avLst/>
          </a:prstGeom>
          <a:solidFill>
            <a:srgbClr val="FF9900"/>
          </a:solidFill>
          <a:ln/>
        </p:spPr>
      </p:sp>
      <p:sp>
        <p:nvSpPr>
          <p:cNvPr id="3" name="Text 1"/>
          <p:cNvSpPr/>
          <p:nvPr/>
        </p:nvSpPr>
        <p:spPr>
          <a:xfrm>
            <a:off x="640080" y="365760"/>
            <a:ext cx="6675120" cy="256032"/>
          </a:xfrm>
          <a:prstGeom prst="rect">
            <a:avLst/>
          </a:prstGeom>
          <a:noFill/>
          <a:ln/>
        </p:spPr>
        <p:txBody>
          <a:bodyPr wrap="square" rtlCol="0" anchor="ctr"/>
          <a:lstStyle/>
          <a:p>
            <a:pPr marL="0" indent="0">
              <a:buNone/>
            </a:pPr>
            <a:r>
              <a:rPr lang="en-US" sz="1000" b="1" kern="0" spc="150" dirty="0">
                <a:solidFill>
                  <a:srgbClr val="FC6E01"/>
                </a:solidFill>
                <a:latin typeface="Arial" pitchFamily="34" charset="0"/>
                <a:ea typeface="Arial" pitchFamily="34" charset="-122"/>
                <a:cs typeface="Arial" pitchFamily="34" charset="-120"/>
              </a:rPr>
              <a:t>ERRORES COMUNES</a:t>
            </a:r>
            <a:endParaRPr lang="en-US" sz="1000" dirty="0"/>
          </a:p>
        </p:txBody>
      </p:sp>
      <p:sp>
        <p:nvSpPr>
          <p:cNvPr id="4" name="Text 2"/>
          <p:cNvSpPr/>
          <p:nvPr/>
        </p:nvSpPr>
        <p:spPr>
          <a:xfrm>
            <a:off x="640080" y="621792"/>
            <a:ext cx="7315200" cy="502920"/>
          </a:xfrm>
          <a:prstGeom prst="rect">
            <a:avLst/>
          </a:prstGeom>
          <a:noFill/>
          <a:ln/>
        </p:spPr>
        <p:txBody>
          <a:bodyPr wrap="square" rtlCol="0" anchor="ctr"/>
          <a:lstStyle/>
          <a:p>
            <a:pPr marL="0" indent="0">
              <a:buNone/>
            </a:pPr>
            <a:r>
              <a:rPr lang="en-US" sz="2100" b="1" dirty="0">
                <a:solidFill>
                  <a:srgbClr val="173F72"/>
                </a:solidFill>
                <a:latin typeface="Arial" pitchFamily="34" charset="0"/>
                <a:ea typeface="Arial" pitchFamily="34" charset="-122"/>
                <a:cs typeface="Arial" pitchFamily="34" charset="-120"/>
              </a:rPr>
              <a:t>Definir Metas “a Ojo”, sin Línea Base Verificada</a:t>
            </a:r>
            <a:endParaRPr lang="en-US" sz="2100" dirty="0"/>
          </a:p>
        </p:txBody>
      </p:sp>
      <p:pic>
        <p:nvPicPr>
          <p:cNvPr id="6" name="Image 0" descr="/home/claude/taller/assets/footer_banner.png"/>
          <p:cNvPicPr>
            <a:picLocks noChangeAspect="1"/>
          </p:cNvPicPr>
          <p:nvPr/>
        </p:nvPicPr>
        <p:blipFill>
          <a:blip r:embed="rId3"/>
          <a:stretch>
            <a:fillRect/>
          </a:stretch>
        </p:blipFill>
        <p:spPr>
          <a:xfrm>
            <a:off x="0" y="4672584"/>
            <a:ext cx="9144000" cy="469087"/>
          </a:xfrm>
          <a:prstGeom prst="rect">
            <a:avLst/>
          </a:prstGeom>
        </p:spPr>
      </p:pic>
      <p:sp>
        <p:nvSpPr>
          <p:cNvPr id="7" name="Text 4"/>
          <p:cNvSpPr/>
          <p:nvPr/>
        </p:nvSpPr>
        <p:spPr>
          <a:xfrm>
            <a:off x="274320" y="4727448"/>
            <a:ext cx="5669280" cy="274320"/>
          </a:xfrm>
          <a:prstGeom prst="rect">
            <a:avLst/>
          </a:prstGeom>
          <a:noFill/>
          <a:ln/>
        </p:spPr>
        <p:txBody>
          <a:bodyPr wrap="square" lIns="0" tIns="0" rIns="0" bIns="0" rtlCol="0" anchor="ctr"/>
          <a:lstStyle/>
          <a:p>
            <a:pPr marL="0" indent="0">
              <a:buNone/>
            </a:pPr>
            <a:r>
              <a:rPr lang="en-US" sz="800" dirty="0">
                <a:solidFill>
                  <a:srgbClr val="FFFFFF"/>
                </a:solidFill>
                <a:latin typeface="Arial" pitchFamily="34" charset="0"/>
                <a:ea typeface="Arial" pitchFamily="34" charset="-122"/>
                <a:cs typeface="Arial" pitchFamily="34" charset="-120"/>
              </a:rPr>
              <a:t>Taller de Indicadores de Gestión Pública con IA</a:t>
            </a:r>
            <a:endParaRPr lang="en-US" sz="800" dirty="0"/>
          </a:p>
        </p:txBody>
      </p:sp>
      <p:sp>
        <p:nvSpPr>
          <p:cNvPr id="8" name="Shape 5"/>
          <p:cNvSpPr/>
          <p:nvPr/>
        </p:nvSpPr>
        <p:spPr>
          <a:xfrm>
            <a:off x="640080" y="1737360"/>
            <a:ext cx="3794760" cy="1828800"/>
          </a:xfrm>
          <a:prstGeom prst="roundRect">
            <a:avLst>
              <a:gd name="adj" fmla="val 2500"/>
            </a:avLst>
          </a:prstGeom>
          <a:solidFill>
            <a:srgbClr val="FBEAE8"/>
          </a:solidFill>
          <a:ln w="9525">
            <a:solidFill>
              <a:srgbClr val="D9534F"/>
            </a:solidFill>
            <a:prstDash val="solid"/>
          </a:ln>
        </p:spPr>
      </p:sp>
      <p:sp>
        <p:nvSpPr>
          <p:cNvPr id="9" name="Text 6"/>
          <p:cNvSpPr/>
          <p:nvPr/>
        </p:nvSpPr>
        <p:spPr>
          <a:xfrm>
            <a:off x="777240" y="1810512"/>
            <a:ext cx="3520440" cy="256032"/>
          </a:xfrm>
          <a:prstGeom prst="rect">
            <a:avLst/>
          </a:prstGeom>
          <a:noFill/>
          <a:ln/>
        </p:spPr>
        <p:txBody>
          <a:bodyPr wrap="square" rtlCol="0" anchor="ctr"/>
          <a:lstStyle/>
          <a:p>
            <a:pPr marL="0" indent="0">
              <a:buNone/>
            </a:pPr>
            <a:r>
              <a:rPr lang="en-US" sz="1000" b="1" dirty="0">
                <a:solidFill>
                  <a:srgbClr val="D9534F"/>
                </a:solidFill>
                <a:latin typeface="Arial" pitchFamily="34" charset="0"/>
                <a:ea typeface="Arial" pitchFamily="34" charset="-122"/>
                <a:cs typeface="Arial" pitchFamily="34" charset="-120"/>
              </a:rPr>
              <a:t>✗ Versión con el error</a:t>
            </a:r>
            <a:endParaRPr lang="en-US" sz="1000" dirty="0"/>
          </a:p>
        </p:txBody>
      </p:sp>
      <p:sp>
        <p:nvSpPr>
          <p:cNvPr id="10" name="Text 7"/>
          <p:cNvSpPr/>
          <p:nvPr/>
        </p:nvSpPr>
        <p:spPr>
          <a:xfrm>
            <a:off x="777240" y="2066544"/>
            <a:ext cx="3520440" cy="1417320"/>
          </a:xfrm>
          <a:prstGeom prst="rect">
            <a:avLst/>
          </a:prstGeom>
          <a:noFill/>
          <a:ln/>
        </p:spPr>
        <p:txBody>
          <a:bodyPr wrap="square" rtlCol="0" anchor="t"/>
          <a:lstStyle/>
          <a:p>
            <a:pPr marL="0" indent="0">
              <a:buNone/>
            </a:pPr>
            <a:r>
              <a:rPr lang="en-US" sz="1000" i="1" dirty="0">
                <a:solidFill>
                  <a:srgbClr val="2F3B4C"/>
                </a:solidFill>
                <a:latin typeface="Arial" pitchFamily="34" charset="0"/>
                <a:ea typeface="Arial" pitchFamily="34" charset="-122"/>
                <a:cs typeface="Arial" pitchFamily="34" charset="-120"/>
              </a:rPr>
              <a:t>“Reducir la deserción escolar a la mitad” — sin cifra de partida.</a:t>
            </a:r>
            <a:endParaRPr lang="en-US" sz="1000" dirty="0"/>
          </a:p>
        </p:txBody>
      </p:sp>
      <p:sp>
        <p:nvSpPr>
          <p:cNvPr id="11" name="Shape 8"/>
          <p:cNvSpPr/>
          <p:nvPr/>
        </p:nvSpPr>
        <p:spPr>
          <a:xfrm>
            <a:off x="4709160" y="1737360"/>
            <a:ext cx="3794760" cy="1828800"/>
          </a:xfrm>
          <a:prstGeom prst="roundRect">
            <a:avLst>
              <a:gd name="adj" fmla="val 2500"/>
            </a:avLst>
          </a:prstGeom>
          <a:solidFill>
            <a:srgbClr val="E9F6EC"/>
          </a:solidFill>
          <a:ln w="9525">
            <a:solidFill>
              <a:srgbClr val="4CAF50"/>
            </a:solidFill>
            <a:prstDash val="solid"/>
          </a:ln>
        </p:spPr>
      </p:sp>
      <p:sp>
        <p:nvSpPr>
          <p:cNvPr id="12" name="Text 9"/>
          <p:cNvSpPr/>
          <p:nvPr/>
        </p:nvSpPr>
        <p:spPr>
          <a:xfrm>
            <a:off x="4846320" y="1810512"/>
            <a:ext cx="3520440" cy="256032"/>
          </a:xfrm>
          <a:prstGeom prst="rect">
            <a:avLst/>
          </a:prstGeom>
          <a:noFill/>
          <a:ln/>
        </p:spPr>
        <p:txBody>
          <a:bodyPr wrap="square" rtlCol="0" anchor="ctr"/>
          <a:lstStyle/>
          <a:p>
            <a:pPr marL="0" indent="0">
              <a:buNone/>
            </a:pPr>
            <a:r>
              <a:rPr lang="en-US" sz="1000" b="1" dirty="0">
                <a:solidFill>
                  <a:srgbClr val="2E7D32"/>
                </a:solidFill>
                <a:latin typeface="Arial" pitchFamily="34" charset="0"/>
                <a:ea typeface="Arial" pitchFamily="34" charset="-122"/>
                <a:cs typeface="Arial" pitchFamily="34" charset="-120"/>
              </a:rPr>
              <a:t>✓ Versión corregida</a:t>
            </a:r>
            <a:endParaRPr lang="en-US" sz="1000" dirty="0"/>
          </a:p>
        </p:txBody>
      </p:sp>
      <p:sp>
        <p:nvSpPr>
          <p:cNvPr id="13" name="Text 10"/>
          <p:cNvSpPr/>
          <p:nvPr/>
        </p:nvSpPr>
        <p:spPr>
          <a:xfrm>
            <a:off x="4846320" y="2066544"/>
            <a:ext cx="3520440" cy="1417320"/>
          </a:xfrm>
          <a:prstGeom prst="rect">
            <a:avLst/>
          </a:prstGeom>
          <a:noFill/>
          <a:ln/>
        </p:spPr>
        <p:txBody>
          <a:bodyPr wrap="square" rtlCol="0" anchor="t"/>
          <a:lstStyle/>
          <a:p>
            <a:pPr marL="0" indent="0">
              <a:buNone/>
            </a:pPr>
            <a:r>
              <a:rPr lang="en-US" sz="1000" i="1" dirty="0">
                <a:solidFill>
                  <a:srgbClr val="2F3B4C"/>
                </a:solidFill>
                <a:latin typeface="Arial" pitchFamily="34" charset="0"/>
                <a:ea typeface="Arial" pitchFamily="34" charset="-122"/>
                <a:cs typeface="Arial" pitchFamily="34" charset="-120"/>
              </a:rPr>
              <a:t>“Reducir la deserción escolar del 8,2% (línea base 2025) al 4,1% en 2027”.</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292608"/>
            <a:ext cx="1005840" cy="41148"/>
          </a:xfrm>
          <a:prstGeom prst="rect">
            <a:avLst/>
          </a:prstGeom>
          <a:solidFill>
            <a:srgbClr val="FF9900"/>
          </a:solidFill>
          <a:ln/>
        </p:spPr>
      </p:sp>
      <p:sp>
        <p:nvSpPr>
          <p:cNvPr id="3" name="Text 1"/>
          <p:cNvSpPr/>
          <p:nvPr/>
        </p:nvSpPr>
        <p:spPr>
          <a:xfrm>
            <a:off x="640080" y="365760"/>
            <a:ext cx="6675120" cy="256032"/>
          </a:xfrm>
          <a:prstGeom prst="rect">
            <a:avLst/>
          </a:prstGeom>
          <a:noFill/>
          <a:ln/>
        </p:spPr>
        <p:txBody>
          <a:bodyPr wrap="square" rtlCol="0" anchor="ctr"/>
          <a:lstStyle/>
          <a:p>
            <a:pPr marL="0" indent="0">
              <a:buNone/>
            </a:pPr>
            <a:r>
              <a:rPr lang="en-US" sz="1000" b="1" kern="0" spc="150" dirty="0">
                <a:solidFill>
                  <a:srgbClr val="FC6E01"/>
                </a:solidFill>
                <a:latin typeface="Arial" pitchFamily="34" charset="0"/>
                <a:ea typeface="Arial" pitchFamily="34" charset="-122"/>
                <a:cs typeface="Arial" pitchFamily="34" charset="-120"/>
              </a:rPr>
              <a:t>ERRORES COMUNES</a:t>
            </a:r>
            <a:endParaRPr lang="en-US" sz="1000" dirty="0"/>
          </a:p>
        </p:txBody>
      </p:sp>
      <p:sp>
        <p:nvSpPr>
          <p:cNvPr id="4" name="Text 2"/>
          <p:cNvSpPr/>
          <p:nvPr/>
        </p:nvSpPr>
        <p:spPr>
          <a:xfrm>
            <a:off x="640080" y="621792"/>
            <a:ext cx="7315200" cy="502920"/>
          </a:xfrm>
          <a:prstGeom prst="rect">
            <a:avLst/>
          </a:prstGeom>
          <a:noFill/>
          <a:ln/>
        </p:spPr>
        <p:txBody>
          <a:bodyPr wrap="square" rtlCol="0" anchor="ctr"/>
          <a:lstStyle/>
          <a:p>
            <a:pPr marL="0" indent="0">
              <a:buNone/>
            </a:pPr>
            <a:r>
              <a:rPr lang="en-US" sz="2100" b="1" dirty="0">
                <a:solidFill>
                  <a:srgbClr val="173F72"/>
                </a:solidFill>
                <a:latin typeface="Arial" pitchFamily="34" charset="0"/>
                <a:ea typeface="Arial" pitchFamily="34" charset="-122"/>
                <a:cs typeface="Arial" pitchFamily="34" charset="-120"/>
              </a:rPr>
              <a:t>Redactar Preguntas que Presuponen la Respuesta</a:t>
            </a:r>
            <a:endParaRPr lang="en-US" sz="2100" dirty="0"/>
          </a:p>
        </p:txBody>
      </p:sp>
      <p:pic>
        <p:nvPicPr>
          <p:cNvPr id="6" name="Image 0" descr="/home/claude/taller/assets/footer_banner.png"/>
          <p:cNvPicPr>
            <a:picLocks noChangeAspect="1"/>
          </p:cNvPicPr>
          <p:nvPr/>
        </p:nvPicPr>
        <p:blipFill>
          <a:blip r:embed="rId3"/>
          <a:stretch>
            <a:fillRect/>
          </a:stretch>
        </p:blipFill>
        <p:spPr>
          <a:xfrm>
            <a:off x="0" y="4672584"/>
            <a:ext cx="9144000" cy="469087"/>
          </a:xfrm>
          <a:prstGeom prst="rect">
            <a:avLst/>
          </a:prstGeom>
        </p:spPr>
      </p:pic>
      <p:sp>
        <p:nvSpPr>
          <p:cNvPr id="7" name="Text 4"/>
          <p:cNvSpPr/>
          <p:nvPr/>
        </p:nvSpPr>
        <p:spPr>
          <a:xfrm>
            <a:off x="274320" y="4727448"/>
            <a:ext cx="5669280" cy="274320"/>
          </a:xfrm>
          <a:prstGeom prst="rect">
            <a:avLst/>
          </a:prstGeom>
          <a:noFill/>
          <a:ln/>
        </p:spPr>
        <p:txBody>
          <a:bodyPr wrap="square" lIns="0" tIns="0" rIns="0" bIns="0" rtlCol="0" anchor="ctr"/>
          <a:lstStyle/>
          <a:p>
            <a:pPr marL="0" indent="0">
              <a:buNone/>
            </a:pPr>
            <a:r>
              <a:rPr lang="en-US" sz="800" dirty="0">
                <a:solidFill>
                  <a:srgbClr val="FFFFFF"/>
                </a:solidFill>
                <a:latin typeface="Arial" pitchFamily="34" charset="0"/>
                <a:ea typeface="Arial" pitchFamily="34" charset="-122"/>
                <a:cs typeface="Arial" pitchFamily="34" charset="-120"/>
              </a:rPr>
              <a:t>Taller de Indicadores de Gestión Pública con IA</a:t>
            </a:r>
            <a:endParaRPr lang="en-US" sz="800" dirty="0"/>
          </a:p>
        </p:txBody>
      </p:sp>
      <p:sp>
        <p:nvSpPr>
          <p:cNvPr id="8" name="Shape 5"/>
          <p:cNvSpPr/>
          <p:nvPr/>
        </p:nvSpPr>
        <p:spPr>
          <a:xfrm>
            <a:off x="640080" y="1737360"/>
            <a:ext cx="3794760" cy="1828800"/>
          </a:xfrm>
          <a:prstGeom prst="roundRect">
            <a:avLst>
              <a:gd name="adj" fmla="val 2500"/>
            </a:avLst>
          </a:prstGeom>
          <a:solidFill>
            <a:srgbClr val="FBEAE8"/>
          </a:solidFill>
          <a:ln w="9525">
            <a:solidFill>
              <a:srgbClr val="D9534F"/>
            </a:solidFill>
            <a:prstDash val="solid"/>
          </a:ln>
        </p:spPr>
      </p:sp>
      <p:sp>
        <p:nvSpPr>
          <p:cNvPr id="9" name="Text 6"/>
          <p:cNvSpPr/>
          <p:nvPr/>
        </p:nvSpPr>
        <p:spPr>
          <a:xfrm>
            <a:off x="777240" y="1810512"/>
            <a:ext cx="3520440" cy="256032"/>
          </a:xfrm>
          <a:prstGeom prst="rect">
            <a:avLst/>
          </a:prstGeom>
          <a:noFill/>
          <a:ln/>
        </p:spPr>
        <p:txBody>
          <a:bodyPr wrap="square" rtlCol="0" anchor="ctr"/>
          <a:lstStyle/>
          <a:p>
            <a:pPr marL="0" indent="0">
              <a:buNone/>
            </a:pPr>
            <a:r>
              <a:rPr lang="en-US" sz="1000" b="1" dirty="0">
                <a:solidFill>
                  <a:srgbClr val="D9534F"/>
                </a:solidFill>
                <a:latin typeface="Arial" pitchFamily="34" charset="0"/>
                <a:ea typeface="Arial" pitchFamily="34" charset="-122"/>
                <a:cs typeface="Arial" pitchFamily="34" charset="-120"/>
              </a:rPr>
              <a:t>✗ Versión con el error</a:t>
            </a:r>
            <a:endParaRPr lang="en-US" sz="1000" dirty="0"/>
          </a:p>
        </p:txBody>
      </p:sp>
      <p:sp>
        <p:nvSpPr>
          <p:cNvPr id="10" name="Text 7"/>
          <p:cNvSpPr/>
          <p:nvPr/>
        </p:nvSpPr>
        <p:spPr>
          <a:xfrm>
            <a:off x="777240" y="2066544"/>
            <a:ext cx="3520440" cy="1417320"/>
          </a:xfrm>
          <a:prstGeom prst="rect">
            <a:avLst/>
          </a:prstGeom>
          <a:noFill/>
          <a:ln/>
        </p:spPr>
        <p:txBody>
          <a:bodyPr wrap="square" rtlCol="0" anchor="t"/>
          <a:lstStyle/>
          <a:p>
            <a:pPr marL="0" indent="0">
              <a:buNone/>
            </a:pPr>
            <a:r>
              <a:rPr lang="en-US" sz="1000" i="1" dirty="0">
                <a:solidFill>
                  <a:srgbClr val="2F3B4C"/>
                </a:solidFill>
                <a:latin typeface="Arial" pitchFamily="34" charset="0"/>
                <a:ea typeface="Arial" pitchFamily="34" charset="-122"/>
                <a:cs typeface="Arial" pitchFamily="34" charset="-120"/>
              </a:rPr>
              <a:t>“¿Por qué ha mejorado tanto la cobertura de salud rural?” — asume que sí mejoró.</a:t>
            </a:r>
            <a:endParaRPr lang="en-US" sz="1000" dirty="0"/>
          </a:p>
        </p:txBody>
      </p:sp>
      <p:sp>
        <p:nvSpPr>
          <p:cNvPr id="11" name="Shape 8"/>
          <p:cNvSpPr/>
          <p:nvPr/>
        </p:nvSpPr>
        <p:spPr>
          <a:xfrm>
            <a:off x="4709160" y="1737360"/>
            <a:ext cx="3794760" cy="1828800"/>
          </a:xfrm>
          <a:prstGeom prst="roundRect">
            <a:avLst>
              <a:gd name="adj" fmla="val 2500"/>
            </a:avLst>
          </a:prstGeom>
          <a:solidFill>
            <a:srgbClr val="E9F6EC"/>
          </a:solidFill>
          <a:ln w="9525">
            <a:solidFill>
              <a:srgbClr val="4CAF50"/>
            </a:solidFill>
            <a:prstDash val="solid"/>
          </a:ln>
        </p:spPr>
      </p:sp>
      <p:sp>
        <p:nvSpPr>
          <p:cNvPr id="12" name="Text 9"/>
          <p:cNvSpPr/>
          <p:nvPr/>
        </p:nvSpPr>
        <p:spPr>
          <a:xfrm>
            <a:off x="4846320" y="1810512"/>
            <a:ext cx="3520440" cy="256032"/>
          </a:xfrm>
          <a:prstGeom prst="rect">
            <a:avLst/>
          </a:prstGeom>
          <a:noFill/>
          <a:ln/>
        </p:spPr>
        <p:txBody>
          <a:bodyPr wrap="square" rtlCol="0" anchor="ctr"/>
          <a:lstStyle/>
          <a:p>
            <a:pPr marL="0" indent="0">
              <a:buNone/>
            </a:pPr>
            <a:r>
              <a:rPr lang="en-US" sz="1000" b="1" dirty="0">
                <a:solidFill>
                  <a:srgbClr val="2E7D32"/>
                </a:solidFill>
                <a:latin typeface="Arial" pitchFamily="34" charset="0"/>
                <a:ea typeface="Arial" pitchFamily="34" charset="-122"/>
                <a:cs typeface="Arial" pitchFamily="34" charset="-120"/>
              </a:rPr>
              <a:t>✓ Versión corregida</a:t>
            </a:r>
            <a:endParaRPr lang="en-US" sz="1000" dirty="0"/>
          </a:p>
        </p:txBody>
      </p:sp>
      <p:sp>
        <p:nvSpPr>
          <p:cNvPr id="13" name="Text 10"/>
          <p:cNvSpPr/>
          <p:nvPr/>
        </p:nvSpPr>
        <p:spPr>
          <a:xfrm>
            <a:off x="4846320" y="2066544"/>
            <a:ext cx="3520440" cy="1417320"/>
          </a:xfrm>
          <a:prstGeom prst="rect">
            <a:avLst/>
          </a:prstGeom>
          <a:noFill/>
          <a:ln/>
        </p:spPr>
        <p:txBody>
          <a:bodyPr wrap="square" rtlCol="0" anchor="t"/>
          <a:lstStyle/>
          <a:p>
            <a:pPr marL="0" indent="0">
              <a:buNone/>
            </a:pPr>
            <a:r>
              <a:rPr lang="en-US" sz="1000" i="1" dirty="0">
                <a:solidFill>
                  <a:srgbClr val="2F3B4C"/>
                </a:solidFill>
                <a:latin typeface="Arial" pitchFamily="34" charset="0"/>
                <a:ea typeface="Arial" pitchFamily="34" charset="-122"/>
                <a:cs typeface="Arial" pitchFamily="34" charset="-120"/>
              </a:rPr>
              <a:t>“¿Ha mejorado la cobertura de salud rural en el último año, y en qué magnitud?”.</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292608"/>
            <a:ext cx="1005840" cy="41148"/>
          </a:xfrm>
          <a:prstGeom prst="rect">
            <a:avLst/>
          </a:prstGeom>
          <a:solidFill>
            <a:srgbClr val="FF9900"/>
          </a:solidFill>
          <a:ln/>
        </p:spPr>
      </p:sp>
      <p:sp>
        <p:nvSpPr>
          <p:cNvPr id="3" name="Text 1"/>
          <p:cNvSpPr/>
          <p:nvPr/>
        </p:nvSpPr>
        <p:spPr>
          <a:xfrm>
            <a:off x="640080" y="365760"/>
            <a:ext cx="6675120" cy="256032"/>
          </a:xfrm>
          <a:prstGeom prst="rect">
            <a:avLst/>
          </a:prstGeom>
          <a:noFill/>
          <a:ln/>
        </p:spPr>
        <p:txBody>
          <a:bodyPr wrap="square" rtlCol="0" anchor="ctr"/>
          <a:lstStyle/>
          <a:p>
            <a:pPr marL="0" indent="0">
              <a:buNone/>
            </a:pPr>
            <a:r>
              <a:rPr lang="en-US" sz="1000" b="1" kern="0" spc="150" dirty="0">
                <a:solidFill>
                  <a:srgbClr val="FC6E01"/>
                </a:solidFill>
                <a:latin typeface="Arial" pitchFamily="34" charset="0"/>
                <a:ea typeface="Arial" pitchFamily="34" charset="-122"/>
                <a:cs typeface="Arial" pitchFamily="34" charset="-120"/>
              </a:rPr>
              <a:t>ERRORES COMUNES</a:t>
            </a:r>
            <a:endParaRPr lang="en-US" sz="1000" dirty="0"/>
          </a:p>
        </p:txBody>
      </p:sp>
      <p:sp>
        <p:nvSpPr>
          <p:cNvPr id="4" name="Text 2"/>
          <p:cNvSpPr/>
          <p:nvPr/>
        </p:nvSpPr>
        <p:spPr>
          <a:xfrm>
            <a:off x="640080" y="621792"/>
            <a:ext cx="7315200" cy="502920"/>
          </a:xfrm>
          <a:prstGeom prst="rect">
            <a:avLst/>
          </a:prstGeom>
          <a:noFill/>
          <a:ln/>
        </p:spPr>
        <p:txBody>
          <a:bodyPr wrap="square" rtlCol="0" anchor="ctr"/>
          <a:lstStyle/>
          <a:p>
            <a:pPr marL="0" indent="0">
              <a:buNone/>
            </a:pPr>
            <a:r>
              <a:rPr lang="en-US" sz="2100" b="1" dirty="0">
                <a:solidFill>
                  <a:srgbClr val="173F72"/>
                </a:solidFill>
                <a:latin typeface="Arial" pitchFamily="34" charset="0"/>
                <a:ea typeface="Arial" pitchFamily="34" charset="-122"/>
                <a:cs typeface="Arial" pitchFamily="34" charset="-120"/>
              </a:rPr>
              <a:t>Aceptar el Primer Borrador de la IA sin Contrastar</a:t>
            </a:r>
            <a:endParaRPr lang="en-US" sz="2100" dirty="0"/>
          </a:p>
        </p:txBody>
      </p:sp>
      <p:pic>
        <p:nvPicPr>
          <p:cNvPr id="6" name="Image 0" descr="/home/claude/taller/assets/footer_banner.png"/>
          <p:cNvPicPr>
            <a:picLocks noChangeAspect="1"/>
          </p:cNvPicPr>
          <p:nvPr/>
        </p:nvPicPr>
        <p:blipFill>
          <a:blip r:embed="rId3"/>
          <a:stretch>
            <a:fillRect/>
          </a:stretch>
        </p:blipFill>
        <p:spPr>
          <a:xfrm>
            <a:off x="0" y="4672584"/>
            <a:ext cx="9144000" cy="469087"/>
          </a:xfrm>
          <a:prstGeom prst="rect">
            <a:avLst/>
          </a:prstGeom>
        </p:spPr>
      </p:pic>
      <p:sp>
        <p:nvSpPr>
          <p:cNvPr id="7" name="Text 4"/>
          <p:cNvSpPr/>
          <p:nvPr/>
        </p:nvSpPr>
        <p:spPr>
          <a:xfrm>
            <a:off x="274320" y="4727448"/>
            <a:ext cx="5669280" cy="274320"/>
          </a:xfrm>
          <a:prstGeom prst="rect">
            <a:avLst/>
          </a:prstGeom>
          <a:noFill/>
          <a:ln/>
        </p:spPr>
        <p:txBody>
          <a:bodyPr wrap="square" lIns="0" tIns="0" rIns="0" bIns="0" rtlCol="0" anchor="ctr"/>
          <a:lstStyle/>
          <a:p>
            <a:pPr marL="0" indent="0">
              <a:buNone/>
            </a:pPr>
            <a:r>
              <a:rPr lang="en-US" sz="800" dirty="0">
                <a:solidFill>
                  <a:srgbClr val="FFFFFF"/>
                </a:solidFill>
                <a:latin typeface="Arial" pitchFamily="34" charset="0"/>
                <a:ea typeface="Arial" pitchFamily="34" charset="-122"/>
                <a:cs typeface="Arial" pitchFamily="34" charset="-120"/>
              </a:rPr>
              <a:t>Taller de Indicadores de Gestión Pública con IA</a:t>
            </a:r>
            <a:endParaRPr lang="en-US" sz="800" dirty="0"/>
          </a:p>
        </p:txBody>
      </p:sp>
      <p:sp>
        <p:nvSpPr>
          <p:cNvPr id="8" name="Shape 5"/>
          <p:cNvSpPr/>
          <p:nvPr/>
        </p:nvSpPr>
        <p:spPr>
          <a:xfrm>
            <a:off x="640080" y="1737360"/>
            <a:ext cx="3794760" cy="1828800"/>
          </a:xfrm>
          <a:prstGeom prst="roundRect">
            <a:avLst>
              <a:gd name="adj" fmla="val 2500"/>
            </a:avLst>
          </a:prstGeom>
          <a:solidFill>
            <a:srgbClr val="FBEAE8"/>
          </a:solidFill>
          <a:ln w="9525">
            <a:solidFill>
              <a:srgbClr val="D9534F"/>
            </a:solidFill>
            <a:prstDash val="solid"/>
          </a:ln>
        </p:spPr>
      </p:sp>
      <p:sp>
        <p:nvSpPr>
          <p:cNvPr id="9" name="Text 6"/>
          <p:cNvSpPr/>
          <p:nvPr/>
        </p:nvSpPr>
        <p:spPr>
          <a:xfrm>
            <a:off x="777240" y="1810512"/>
            <a:ext cx="3520440" cy="256032"/>
          </a:xfrm>
          <a:prstGeom prst="rect">
            <a:avLst/>
          </a:prstGeom>
          <a:noFill/>
          <a:ln/>
        </p:spPr>
        <p:txBody>
          <a:bodyPr wrap="square" rtlCol="0" anchor="ctr"/>
          <a:lstStyle/>
          <a:p>
            <a:pPr marL="0" indent="0">
              <a:buNone/>
            </a:pPr>
            <a:r>
              <a:rPr lang="en-US" sz="1000" b="1" dirty="0">
                <a:solidFill>
                  <a:srgbClr val="D9534F"/>
                </a:solidFill>
                <a:latin typeface="Arial" pitchFamily="34" charset="0"/>
                <a:ea typeface="Arial" pitchFamily="34" charset="-122"/>
                <a:cs typeface="Arial" pitchFamily="34" charset="-120"/>
              </a:rPr>
              <a:t>✗ Versión con el error</a:t>
            </a:r>
            <a:endParaRPr lang="en-US" sz="1000" dirty="0"/>
          </a:p>
        </p:txBody>
      </p:sp>
      <p:sp>
        <p:nvSpPr>
          <p:cNvPr id="10" name="Text 7"/>
          <p:cNvSpPr/>
          <p:nvPr/>
        </p:nvSpPr>
        <p:spPr>
          <a:xfrm>
            <a:off x="777240" y="2066544"/>
            <a:ext cx="3520440" cy="1417320"/>
          </a:xfrm>
          <a:prstGeom prst="rect">
            <a:avLst/>
          </a:prstGeom>
          <a:noFill/>
          <a:ln/>
        </p:spPr>
        <p:txBody>
          <a:bodyPr wrap="square" rtlCol="0" anchor="t"/>
          <a:lstStyle/>
          <a:p>
            <a:pPr marL="0" indent="0">
              <a:buNone/>
            </a:pPr>
            <a:r>
              <a:rPr lang="en-US" sz="1000" i="1" dirty="0">
                <a:solidFill>
                  <a:srgbClr val="2F3B4C"/>
                </a:solidFill>
                <a:latin typeface="Arial" pitchFamily="34" charset="0"/>
                <a:ea typeface="Arial" pitchFamily="34" charset="-122"/>
                <a:cs typeface="Arial" pitchFamily="34" charset="-120"/>
              </a:rPr>
              <a:t>Ficha técnica publicada con línea base “62% (estimado por el modelo de IA)”.</a:t>
            </a:r>
            <a:endParaRPr lang="en-US" sz="1000" dirty="0"/>
          </a:p>
        </p:txBody>
      </p:sp>
      <p:sp>
        <p:nvSpPr>
          <p:cNvPr id="11" name="Shape 8"/>
          <p:cNvSpPr/>
          <p:nvPr/>
        </p:nvSpPr>
        <p:spPr>
          <a:xfrm>
            <a:off x="4709160" y="1737360"/>
            <a:ext cx="3794760" cy="1828800"/>
          </a:xfrm>
          <a:prstGeom prst="roundRect">
            <a:avLst>
              <a:gd name="adj" fmla="val 2500"/>
            </a:avLst>
          </a:prstGeom>
          <a:solidFill>
            <a:srgbClr val="E9F6EC"/>
          </a:solidFill>
          <a:ln w="9525">
            <a:solidFill>
              <a:srgbClr val="4CAF50"/>
            </a:solidFill>
            <a:prstDash val="solid"/>
          </a:ln>
        </p:spPr>
      </p:sp>
      <p:sp>
        <p:nvSpPr>
          <p:cNvPr id="12" name="Text 9"/>
          <p:cNvSpPr/>
          <p:nvPr/>
        </p:nvSpPr>
        <p:spPr>
          <a:xfrm>
            <a:off x="4846320" y="1810512"/>
            <a:ext cx="3520440" cy="256032"/>
          </a:xfrm>
          <a:prstGeom prst="rect">
            <a:avLst/>
          </a:prstGeom>
          <a:noFill/>
          <a:ln/>
        </p:spPr>
        <p:txBody>
          <a:bodyPr wrap="square" rtlCol="0" anchor="ctr"/>
          <a:lstStyle/>
          <a:p>
            <a:pPr marL="0" indent="0">
              <a:buNone/>
            </a:pPr>
            <a:r>
              <a:rPr lang="en-US" sz="1000" b="1" dirty="0">
                <a:solidFill>
                  <a:srgbClr val="2E7D32"/>
                </a:solidFill>
                <a:latin typeface="Arial" pitchFamily="34" charset="0"/>
                <a:ea typeface="Arial" pitchFamily="34" charset="-122"/>
                <a:cs typeface="Arial" pitchFamily="34" charset="-120"/>
              </a:rPr>
              <a:t>✓ Versión corregida</a:t>
            </a:r>
            <a:endParaRPr lang="en-US" sz="1000" dirty="0"/>
          </a:p>
        </p:txBody>
      </p:sp>
      <p:sp>
        <p:nvSpPr>
          <p:cNvPr id="13" name="Text 10"/>
          <p:cNvSpPr/>
          <p:nvPr/>
        </p:nvSpPr>
        <p:spPr>
          <a:xfrm>
            <a:off x="4846320" y="2066544"/>
            <a:ext cx="3520440" cy="1417320"/>
          </a:xfrm>
          <a:prstGeom prst="rect">
            <a:avLst/>
          </a:prstGeom>
          <a:noFill/>
          <a:ln/>
        </p:spPr>
        <p:txBody>
          <a:bodyPr wrap="square" rtlCol="0" anchor="t"/>
          <a:lstStyle/>
          <a:p>
            <a:pPr marL="0" indent="0">
              <a:buNone/>
            </a:pPr>
            <a:r>
              <a:rPr lang="en-US" sz="1000" i="1" dirty="0">
                <a:solidFill>
                  <a:srgbClr val="2F3B4C"/>
                </a:solidFill>
                <a:latin typeface="Arial" pitchFamily="34" charset="0"/>
                <a:ea typeface="Arial" pitchFamily="34" charset="-122"/>
                <a:cs typeface="Arial" pitchFamily="34" charset="-120"/>
              </a:rPr>
              <a:t>Línea base marcada como [VERIFICAR EN ENTIDAD] hasta confirmarla con la fuente oficial.</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292608"/>
            <a:ext cx="1005840" cy="41148"/>
          </a:xfrm>
          <a:prstGeom prst="rect">
            <a:avLst/>
          </a:prstGeom>
          <a:solidFill>
            <a:srgbClr val="FF9900"/>
          </a:solidFill>
          <a:ln/>
        </p:spPr>
      </p:sp>
      <p:sp>
        <p:nvSpPr>
          <p:cNvPr id="3" name="Text 1"/>
          <p:cNvSpPr/>
          <p:nvPr/>
        </p:nvSpPr>
        <p:spPr>
          <a:xfrm>
            <a:off x="640080" y="365760"/>
            <a:ext cx="6675120" cy="256032"/>
          </a:xfrm>
          <a:prstGeom prst="rect">
            <a:avLst/>
          </a:prstGeom>
          <a:noFill/>
          <a:ln/>
        </p:spPr>
        <p:txBody>
          <a:bodyPr wrap="square" rtlCol="0" anchor="ctr"/>
          <a:lstStyle/>
          <a:p>
            <a:pPr marL="0" indent="0">
              <a:buNone/>
            </a:pPr>
            <a:r>
              <a:rPr lang="en-US" sz="1000" b="1" kern="0" spc="150" dirty="0">
                <a:solidFill>
                  <a:srgbClr val="FC6E01"/>
                </a:solidFill>
                <a:latin typeface="Arial" pitchFamily="34" charset="0"/>
                <a:ea typeface="Arial" pitchFamily="34" charset="-122"/>
                <a:cs typeface="Arial" pitchFamily="34" charset="-120"/>
              </a:rPr>
              <a:t>ACTIVIDAD PRÁCTICA · MÓDULO 3 (10 MIN)</a:t>
            </a:r>
            <a:endParaRPr lang="en-US" sz="1000" dirty="0"/>
          </a:p>
        </p:txBody>
      </p:sp>
      <p:sp>
        <p:nvSpPr>
          <p:cNvPr id="4" name="Text 2"/>
          <p:cNvSpPr/>
          <p:nvPr/>
        </p:nvSpPr>
        <p:spPr>
          <a:xfrm>
            <a:off x="640080" y="621792"/>
            <a:ext cx="7315200" cy="502920"/>
          </a:xfrm>
          <a:prstGeom prst="rect">
            <a:avLst/>
          </a:prstGeom>
          <a:noFill/>
          <a:ln/>
        </p:spPr>
        <p:txBody>
          <a:bodyPr wrap="square" rtlCol="0" anchor="ctr"/>
          <a:lstStyle/>
          <a:p>
            <a:pPr marL="0" indent="0">
              <a:buNone/>
            </a:pPr>
            <a:r>
              <a:rPr lang="en-US" sz="2100" b="1" dirty="0">
                <a:solidFill>
                  <a:srgbClr val="173F72"/>
                </a:solidFill>
                <a:latin typeface="Arial" pitchFamily="34" charset="0"/>
                <a:ea typeface="Arial" pitchFamily="34" charset="-122"/>
                <a:cs typeface="Arial" pitchFamily="34" charset="-120"/>
              </a:rPr>
              <a:t>Detecte el Error</a:t>
            </a:r>
            <a:endParaRPr lang="en-US" sz="2100" dirty="0"/>
          </a:p>
        </p:txBody>
      </p:sp>
      <p:pic>
        <p:nvPicPr>
          <p:cNvPr id="6" name="Image 0" descr="/home/claude/taller/assets/footer_banner.png"/>
          <p:cNvPicPr>
            <a:picLocks noChangeAspect="1"/>
          </p:cNvPicPr>
          <p:nvPr/>
        </p:nvPicPr>
        <p:blipFill>
          <a:blip r:embed="rId3"/>
          <a:stretch>
            <a:fillRect/>
          </a:stretch>
        </p:blipFill>
        <p:spPr>
          <a:xfrm>
            <a:off x="0" y="4672584"/>
            <a:ext cx="9144000" cy="469087"/>
          </a:xfrm>
          <a:prstGeom prst="rect">
            <a:avLst/>
          </a:prstGeom>
        </p:spPr>
      </p:pic>
      <p:sp>
        <p:nvSpPr>
          <p:cNvPr id="7" name="Text 4"/>
          <p:cNvSpPr/>
          <p:nvPr/>
        </p:nvSpPr>
        <p:spPr>
          <a:xfrm>
            <a:off x="274320" y="4727448"/>
            <a:ext cx="5669280" cy="274320"/>
          </a:xfrm>
          <a:prstGeom prst="rect">
            <a:avLst/>
          </a:prstGeom>
          <a:noFill/>
          <a:ln/>
        </p:spPr>
        <p:txBody>
          <a:bodyPr wrap="square" lIns="0" tIns="0" rIns="0" bIns="0" rtlCol="0" anchor="ctr"/>
          <a:lstStyle/>
          <a:p>
            <a:pPr marL="0" indent="0">
              <a:buNone/>
            </a:pPr>
            <a:r>
              <a:rPr lang="en-US" sz="800" dirty="0">
                <a:solidFill>
                  <a:srgbClr val="FFFFFF"/>
                </a:solidFill>
                <a:latin typeface="Arial" pitchFamily="34" charset="0"/>
                <a:ea typeface="Arial" pitchFamily="34" charset="-122"/>
                <a:cs typeface="Arial" pitchFamily="34" charset="-120"/>
              </a:rPr>
              <a:t>Taller de Indicadores de Gestión Pública con IA</a:t>
            </a:r>
            <a:endParaRPr lang="en-US" sz="800" dirty="0"/>
          </a:p>
        </p:txBody>
      </p:sp>
      <p:sp>
        <p:nvSpPr>
          <p:cNvPr id="8" name="Shape 5"/>
          <p:cNvSpPr/>
          <p:nvPr/>
        </p:nvSpPr>
        <p:spPr>
          <a:xfrm>
            <a:off x="640080" y="1325880"/>
            <a:ext cx="7863840" cy="347472"/>
          </a:xfrm>
          <a:prstGeom prst="roundRect">
            <a:avLst>
              <a:gd name="adj" fmla="val 10526"/>
            </a:avLst>
          </a:prstGeom>
          <a:solidFill>
            <a:srgbClr val="FC6E01"/>
          </a:solidFill>
          <a:ln/>
        </p:spPr>
      </p:sp>
      <p:sp>
        <p:nvSpPr>
          <p:cNvPr id="9" name="Text 6"/>
          <p:cNvSpPr/>
          <p:nvPr/>
        </p:nvSpPr>
        <p:spPr>
          <a:xfrm>
            <a:off x="777240" y="1325880"/>
            <a:ext cx="7589520" cy="347472"/>
          </a:xfrm>
          <a:prstGeom prst="rect">
            <a:avLst/>
          </a:prstGeom>
          <a:noFill/>
          <a:ln/>
        </p:spPr>
        <p:txBody>
          <a:bodyPr wrap="square" rtlCol="0" anchor="ctr"/>
          <a:lstStyle/>
          <a:p>
            <a:pPr marL="0" indent="0">
              <a:buNone/>
            </a:pPr>
            <a:r>
              <a:rPr lang="en-US" sz="1050" b="1" dirty="0">
                <a:solidFill>
                  <a:srgbClr val="FFFFFF"/>
                </a:solidFill>
                <a:latin typeface="Arial" pitchFamily="34" charset="0"/>
                <a:ea typeface="Arial" pitchFamily="34" charset="-122"/>
                <a:cs typeface="Arial" pitchFamily="34" charset="-120"/>
              </a:rPr>
              <a:t>Trabajo individual · cada enunciado tiene exactamente uno de los 5 errores vistos</a:t>
            </a:r>
            <a:endParaRPr lang="en-US" sz="105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640080" y="1828800"/>
          <a:ext cx="7863840" cy="2304288"/>
        </p:xfrm>
        <a:graphic>
          <a:graphicData uri="http://schemas.openxmlformats.org/drawingml/2006/table">
            <a:tbl>
              <a:tblPr/>
              <a:tblGrid>
                <a:gridCol w="667512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tblGrid>
              <a:tr h="384048">
                <a:tc>
                  <a:txBody>
                    <a:bodyPr/>
                    <a:lstStyle/>
                    <a:p>
                      <a:pPr marL="0" indent="0" algn="l">
                        <a:buNone/>
                      </a:pPr>
                      <a:r>
                        <a:rPr lang="en-US" sz="950" b="1" dirty="0">
                          <a:solidFill>
                            <a:srgbClr val="FFFFFF"/>
                          </a:solidFill>
                          <a:latin typeface="Arial" pitchFamily="34" charset="0"/>
                          <a:ea typeface="Arial" pitchFamily="34" charset="-122"/>
                          <a:cs typeface="Arial" pitchFamily="34" charset="-120"/>
                        </a:rPr>
                        <a:t>Enunciado</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73F72"/>
                    </a:solidFill>
                  </a:tcPr>
                </a:tc>
                <a:tc>
                  <a:txBody>
                    <a:bodyPr/>
                    <a:lstStyle/>
                    <a:p>
                      <a:pPr marL="0" indent="0" algn="l">
                        <a:buNone/>
                      </a:pPr>
                      <a:r>
                        <a:rPr lang="en-US" sz="950" b="1" dirty="0">
                          <a:solidFill>
                            <a:srgbClr val="FFFFFF"/>
                          </a:solidFill>
                          <a:latin typeface="Arial" pitchFamily="34" charset="0"/>
                          <a:ea typeface="Arial" pitchFamily="34" charset="-122"/>
                          <a:cs typeface="Arial" pitchFamily="34" charset="-120"/>
                        </a:rPr>
                        <a:t>Error (1-5)</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73F72"/>
                    </a:solidFill>
                  </a:tcPr>
                </a:tc>
                <a:extLst>
                  <a:ext uri="{0D108BD9-81ED-4DB2-BD59-A6C34878D82A}">
                    <a16:rowId xmlns:a16="http://schemas.microsoft.com/office/drawing/2014/main" val="10000"/>
                  </a:ext>
                </a:extLst>
              </a:tr>
              <a:tr h="384048">
                <a:tc>
                  <a:txBody>
                    <a:bodyPr/>
                    <a:lstStyle/>
                    <a:p>
                      <a:pPr marL="0" indent="0" algn="l">
                        <a:buNone/>
                      </a:pPr>
                      <a:r>
                        <a:rPr lang="en-US" sz="950" b="1" dirty="0">
                          <a:solidFill>
                            <a:srgbClr val="173F72"/>
                          </a:solidFill>
                          <a:latin typeface="Arial" pitchFamily="34" charset="0"/>
                          <a:ea typeface="Arial" pitchFamily="34" charset="-122"/>
                          <a:cs typeface="Arial" pitchFamily="34" charset="-120"/>
                        </a:rPr>
                        <a:t>A. “Computadores entregados”, presentado como indicador de resultado</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____</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lgn="l">
                        <a:buNone/>
                      </a:pPr>
                      <a:r>
                        <a:rPr lang="en-US" sz="950" b="1" dirty="0">
                          <a:solidFill>
                            <a:srgbClr val="173F72"/>
                          </a:solidFill>
                          <a:latin typeface="Arial" pitchFamily="34" charset="0"/>
                          <a:ea typeface="Arial" pitchFamily="34" charset="-122"/>
                          <a:cs typeface="Arial" pitchFamily="34" charset="-120"/>
                        </a:rPr>
                        <a:t>B. “Índice de confianza ciudadana”, sin especificar instrumento ni fuente</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____</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4048">
                <a:tc>
                  <a:txBody>
                    <a:bodyPr/>
                    <a:lstStyle/>
                    <a:p>
                      <a:pPr marL="0" indent="0" algn="l">
                        <a:buNone/>
                      </a:pPr>
                      <a:r>
                        <a:rPr lang="en-US" sz="950" b="1" dirty="0">
                          <a:solidFill>
                            <a:srgbClr val="173F72"/>
                          </a:solidFill>
                          <a:latin typeface="Arial" pitchFamily="34" charset="0"/>
                          <a:ea typeface="Arial" pitchFamily="34" charset="-122"/>
                          <a:cs typeface="Arial" pitchFamily="34" charset="-120"/>
                        </a:rPr>
                        <a:t>C. “Aumentar significativamente la cobertura de agua para 2027”, sin cifra</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____</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lgn="l">
                        <a:buNone/>
                      </a:pPr>
                      <a:r>
                        <a:rPr lang="en-US" sz="950" b="1" dirty="0">
                          <a:solidFill>
                            <a:srgbClr val="173F72"/>
                          </a:solidFill>
                          <a:latin typeface="Arial" pitchFamily="34" charset="0"/>
                          <a:ea typeface="Arial" pitchFamily="34" charset="-122"/>
                          <a:cs typeface="Arial" pitchFamily="34" charset="-120"/>
                        </a:rPr>
                        <a:t>D. “¿Por qué ha bajado tanto la inseguridad este año?”</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____</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84048">
                <a:tc>
                  <a:txBody>
                    <a:bodyPr/>
                    <a:lstStyle/>
                    <a:p>
                      <a:pPr marL="0" indent="0" algn="l">
                        <a:buNone/>
                      </a:pPr>
                      <a:r>
                        <a:rPr lang="en-US" sz="950" b="1" dirty="0">
                          <a:solidFill>
                            <a:srgbClr val="173F72"/>
                          </a:solidFill>
                          <a:latin typeface="Arial" pitchFamily="34" charset="0"/>
                          <a:ea typeface="Arial" pitchFamily="34" charset="-122"/>
                          <a:cs typeface="Arial" pitchFamily="34" charset="-120"/>
                        </a:rPr>
                        <a:t>E. Ficha con línea base “62% estimado por IA, sin verificar”</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____</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1" name="Text 7"/>
          <p:cNvSpPr/>
          <p:nvPr/>
        </p:nvSpPr>
        <p:spPr>
          <a:xfrm>
            <a:off x="640080" y="4313225"/>
            <a:ext cx="7863840" cy="274320"/>
          </a:xfrm>
          <a:prstGeom prst="rect">
            <a:avLst/>
          </a:prstGeom>
          <a:noFill/>
          <a:ln/>
        </p:spPr>
        <p:txBody>
          <a:bodyPr wrap="square" rtlCol="0" anchor="ctr"/>
          <a:lstStyle/>
          <a:p>
            <a:pPr marL="0" indent="0">
              <a:buNone/>
            </a:pPr>
            <a:r>
              <a:rPr lang="en-US" sz="900" i="1" dirty="0">
                <a:solidFill>
                  <a:srgbClr val="5C6B7C"/>
                </a:solidFill>
                <a:latin typeface="Arial" pitchFamily="34" charset="0"/>
                <a:ea typeface="Arial" pitchFamily="34" charset="-122"/>
                <a:cs typeface="Arial" pitchFamily="34" charset="-120"/>
              </a:rPr>
              <a:t>Clave: A→1 · B→2 · C→3 · D→4 · E→5. Revisión guiada: 12 min con el grupo completo.</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731520" y="1828800"/>
            <a:ext cx="7680960" cy="320040"/>
          </a:xfrm>
          <a:prstGeom prst="rect">
            <a:avLst/>
          </a:prstGeom>
          <a:noFill/>
          <a:ln/>
        </p:spPr>
        <p:txBody>
          <a:bodyPr wrap="square" rtlCol="0" anchor="ctr"/>
          <a:lstStyle/>
          <a:p>
            <a:pPr marL="0" indent="0" algn="l">
              <a:buNone/>
            </a:pPr>
            <a:r>
              <a:rPr lang="en-US" sz="1200" b="1" kern="0" spc="200" dirty="0">
                <a:solidFill>
                  <a:srgbClr val="FF9900"/>
                </a:solidFill>
                <a:latin typeface="Arial" pitchFamily="34" charset="0"/>
                <a:ea typeface="Arial" pitchFamily="34" charset="-122"/>
                <a:cs typeface="Arial" pitchFamily="34" charset="-120"/>
              </a:rPr>
              <a:t>BLOQUE 2 · 40 MIN</a:t>
            </a:r>
            <a:endParaRPr lang="en-US" sz="1200" dirty="0"/>
          </a:p>
        </p:txBody>
      </p:sp>
      <p:sp>
        <p:nvSpPr>
          <p:cNvPr id="3" name="Text 1"/>
          <p:cNvSpPr/>
          <p:nvPr/>
        </p:nvSpPr>
        <p:spPr>
          <a:xfrm>
            <a:off x="731520" y="2212848"/>
            <a:ext cx="7680960" cy="1188720"/>
          </a:xfrm>
          <a:prstGeom prst="rect">
            <a:avLst/>
          </a:prstGeom>
          <a:noFill/>
          <a:ln/>
        </p:spPr>
        <p:txBody>
          <a:bodyPr wrap="square" rtlCol="0" anchor="t"/>
          <a:lstStyle/>
          <a:p>
            <a:pPr marL="0" indent="0" algn="l">
              <a:buNone/>
            </a:pPr>
            <a:r>
              <a:rPr lang="en-US" sz="3000" b="1" dirty="0">
                <a:solidFill>
                  <a:srgbClr val="FFFFFF"/>
                </a:solidFill>
                <a:latin typeface="Arial" pitchFamily="34" charset="0"/>
                <a:ea typeface="Arial" pitchFamily="34" charset="-122"/>
                <a:cs typeface="Arial" pitchFamily="34" charset="-120"/>
              </a:rPr>
              <a:t>La Inteligencia Artificial como Potenciador, no como Reemplazo</a:t>
            </a:r>
            <a:endParaRPr lang="en-US" sz="3000" dirty="0"/>
          </a:p>
        </p:txBody>
      </p:sp>
      <p:sp>
        <p:nvSpPr>
          <p:cNvPr id="4" name="Text 2"/>
          <p:cNvSpPr/>
          <p:nvPr/>
        </p:nvSpPr>
        <p:spPr>
          <a:xfrm>
            <a:off x="731520" y="3447288"/>
            <a:ext cx="7680960" cy="457200"/>
          </a:xfrm>
          <a:prstGeom prst="rect">
            <a:avLst/>
          </a:prstGeom>
          <a:noFill/>
          <a:ln/>
        </p:spPr>
        <p:txBody>
          <a:bodyPr wrap="square" rtlCol="0" anchor="ctr"/>
          <a:lstStyle/>
          <a:p>
            <a:pPr marL="0" indent="0" algn="l">
              <a:buNone/>
            </a:pPr>
            <a:r>
              <a:rPr lang="en-US" sz="1400" i="1" dirty="0">
                <a:solidFill>
                  <a:srgbClr val="CADCFC"/>
                </a:solidFill>
                <a:latin typeface="Arial" pitchFamily="34" charset="0"/>
                <a:ea typeface="Arial" pitchFamily="34" charset="-122"/>
                <a:cs typeface="Arial" pitchFamily="34" charset="-120"/>
              </a:rPr>
              <a:t>El rol de la IA en la construcción de indicadores</a:t>
            </a:r>
            <a:endParaRPr lang="en-US" sz="1400" dirty="0"/>
          </a:p>
        </p:txBody>
      </p:sp>
      <p:sp>
        <p:nvSpPr>
          <p:cNvPr id="5" name="Text 3"/>
          <p:cNvSpPr/>
          <p:nvPr/>
        </p:nvSpPr>
        <p:spPr>
          <a:xfrm>
            <a:off x="731520" y="3904488"/>
            <a:ext cx="7680960" cy="365760"/>
          </a:xfrm>
          <a:prstGeom prst="rect">
            <a:avLst/>
          </a:prstGeom>
          <a:noFill/>
          <a:ln/>
        </p:spPr>
        <p:txBody>
          <a:bodyPr wrap="square" rtlCol="0" anchor="ctr"/>
          <a:lstStyle/>
          <a:p>
            <a:pPr marL="0" indent="0" algn="l">
              <a:buNone/>
            </a:pPr>
            <a:r>
              <a:rPr lang="en-US" sz="1100" dirty="0">
                <a:solidFill>
                  <a:srgbClr val="9FB8D9"/>
                </a:solidFill>
                <a:latin typeface="Arial" pitchFamily="34" charset="0"/>
                <a:ea typeface="Arial" pitchFamily="34" charset="-122"/>
                <a:cs typeface="Arial" pitchFamily="34" charset="-120"/>
              </a:rPr>
              <a:t>Bloque 2 de 3</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731520" y="1737360"/>
            <a:ext cx="7680960" cy="320040"/>
          </a:xfrm>
          <a:prstGeom prst="rect">
            <a:avLst/>
          </a:prstGeom>
          <a:noFill/>
          <a:ln/>
        </p:spPr>
        <p:txBody>
          <a:bodyPr wrap="square" rtlCol="0" anchor="ctr"/>
          <a:lstStyle/>
          <a:p>
            <a:pPr marL="0" indent="0" algn="ctr">
              <a:buNone/>
            </a:pPr>
            <a:r>
              <a:rPr lang="en-US" sz="1200" b="1" kern="0" spc="200" dirty="0">
                <a:solidFill>
                  <a:srgbClr val="FF9900"/>
                </a:solidFill>
                <a:latin typeface="Arial" pitchFamily="34" charset="0"/>
                <a:ea typeface="Arial" pitchFamily="34" charset="-122"/>
                <a:cs typeface="Arial" pitchFamily="34" charset="-120"/>
              </a:rPr>
              <a:t>PRINCIPIO RECTOR</a:t>
            </a:r>
            <a:endParaRPr lang="en-US" sz="1200" dirty="0"/>
          </a:p>
        </p:txBody>
      </p:sp>
      <p:sp>
        <p:nvSpPr>
          <p:cNvPr id="3" name="Text 1"/>
          <p:cNvSpPr/>
          <p:nvPr/>
        </p:nvSpPr>
        <p:spPr>
          <a:xfrm>
            <a:off x="822960" y="2057400"/>
            <a:ext cx="7498080" cy="1554480"/>
          </a:xfrm>
          <a:prstGeom prst="rect">
            <a:avLst/>
          </a:prstGeom>
          <a:noFill/>
          <a:ln/>
        </p:spPr>
        <p:txBody>
          <a:bodyPr wrap="square" rtlCol="0" anchor="t"/>
          <a:lstStyle/>
          <a:p>
            <a:pPr marL="0" indent="0" algn="ctr">
              <a:buNone/>
            </a:pPr>
            <a:r>
              <a:rPr lang="en-US" sz="2000" b="1" i="1" dirty="0">
                <a:solidFill>
                  <a:srgbClr val="FFFFFF"/>
                </a:solidFill>
                <a:latin typeface="Arial" pitchFamily="34" charset="0"/>
                <a:ea typeface="Arial" pitchFamily="34" charset="-122"/>
                <a:cs typeface="Arial" pitchFamily="34" charset="-120"/>
              </a:rPr>
              <a:t>La IA es un potenciador de actividades, no un sustituto del juicio técnico y político. La pregunta de gestión la formula el equipo que conoce el problema público, el territorio y la ciudadanía; la IA ayuda a que quede mejor redactada, mejor estructurada y más rápido documentada.</a:t>
            </a:r>
            <a:endParaRPr lang="en-US" sz="2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292608"/>
            <a:ext cx="1005840" cy="41148"/>
          </a:xfrm>
          <a:prstGeom prst="rect">
            <a:avLst/>
          </a:prstGeom>
          <a:solidFill>
            <a:srgbClr val="FF9900"/>
          </a:solidFill>
          <a:ln/>
        </p:spPr>
      </p:sp>
      <p:sp>
        <p:nvSpPr>
          <p:cNvPr id="3" name="Text 1"/>
          <p:cNvSpPr/>
          <p:nvPr/>
        </p:nvSpPr>
        <p:spPr>
          <a:xfrm>
            <a:off x="640080" y="365760"/>
            <a:ext cx="6675120" cy="256032"/>
          </a:xfrm>
          <a:prstGeom prst="rect">
            <a:avLst/>
          </a:prstGeom>
          <a:noFill/>
          <a:ln/>
        </p:spPr>
        <p:txBody>
          <a:bodyPr wrap="square" rtlCol="0" anchor="ctr"/>
          <a:lstStyle/>
          <a:p>
            <a:pPr marL="0" indent="0">
              <a:buNone/>
            </a:pPr>
            <a:r>
              <a:rPr lang="en-US" sz="1000" b="1" kern="0" spc="150" dirty="0">
                <a:solidFill>
                  <a:srgbClr val="FC6E01"/>
                </a:solidFill>
                <a:latin typeface="Arial" pitchFamily="34" charset="0"/>
                <a:ea typeface="Arial" pitchFamily="34" charset="-122"/>
                <a:cs typeface="Arial" pitchFamily="34" charset="-120"/>
              </a:rPr>
              <a:t>LA IA COMO POTENCIADOR</a:t>
            </a:r>
            <a:endParaRPr lang="en-US" sz="1000" dirty="0"/>
          </a:p>
        </p:txBody>
      </p:sp>
      <p:sp>
        <p:nvSpPr>
          <p:cNvPr id="4" name="Text 2"/>
          <p:cNvSpPr/>
          <p:nvPr/>
        </p:nvSpPr>
        <p:spPr>
          <a:xfrm>
            <a:off x="640080" y="621792"/>
            <a:ext cx="7315200" cy="502920"/>
          </a:xfrm>
          <a:prstGeom prst="rect">
            <a:avLst/>
          </a:prstGeom>
          <a:noFill/>
          <a:ln/>
        </p:spPr>
        <p:txBody>
          <a:bodyPr wrap="square" rtlCol="0" anchor="ctr"/>
          <a:lstStyle/>
          <a:p>
            <a:pPr marL="0" indent="0">
              <a:buNone/>
            </a:pPr>
            <a:r>
              <a:rPr lang="en-US" sz="2100" b="1" dirty="0">
                <a:solidFill>
                  <a:srgbClr val="173F72"/>
                </a:solidFill>
                <a:latin typeface="Arial" pitchFamily="34" charset="0"/>
                <a:ea typeface="Arial" pitchFamily="34" charset="-122"/>
                <a:cs typeface="Arial" pitchFamily="34" charset="-120"/>
              </a:rPr>
              <a:t>Dónde Sí Ayuda la IA (con rigor)</a:t>
            </a:r>
            <a:endParaRPr lang="en-US" sz="2100" dirty="0"/>
          </a:p>
        </p:txBody>
      </p:sp>
      <p:pic>
        <p:nvPicPr>
          <p:cNvPr id="6" name="Image 0" descr="/home/claude/taller/assets/footer_banner.png"/>
          <p:cNvPicPr>
            <a:picLocks noChangeAspect="1"/>
          </p:cNvPicPr>
          <p:nvPr/>
        </p:nvPicPr>
        <p:blipFill>
          <a:blip r:embed="rId3"/>
          <a:stretch>
            <a:fillRect/>
          </a:stretch>
        </p:blipFill>
        <p:spPr>
          <a:xfrm>
            <a:off x="0" y="4672584"/>
            <a:ext cx="9144000" cy="469087"/>
          </a:xfrm>
          <a:prstGeom prst="rect">
            <a:avLst/>
          </a:prstGeom>
        </p:spPr>
      </p:pic>
      <p:sp>
        <p:nvSpPr>
          <p:cNvPr id="7" name="Text 4"/>
          <p:cNvSpPr/>
          <p:nvPr/>
        </p:nvSpPr>
        <p:spPr>
          <a:xfrm>
            <a:off x="274320" y="4727448"/>
            <a:ext cx="5669280" cy="274320"/>
          </a:xfrm>
          <a:prstGeom prst="rect">
            <a:avLst/>
          </a:prstGeom>
          <a:noFill/>
          <a:ln/>
        </p:spPr>
        <p:txBody>
          <a:bodyPr wrap="square" lIns="0" tIns="0" rIns="0" bIns="0" rtlCol="0" anchor="ctr"/>
          <a:lstStyle/>
          <a:p>
            <a:pPr marL="0" indent="0">
              <a:buNone/>
            </a:pPr>
            <a:r>
              <a:rPr lang="en-US" sz="800" dirty="0">
                <a:solidFill>
                  <a:srgbClr val="FFFFFF"/>
                </a:solidFill>
                <a:latin typeface="Arial" pitchFamily="34" charset="0"/>
                <a:ea typeface="Arial" pitchFamily="34" charset="-122"/>
                <a:cs typeface="Arial" pitchFamily="34" charset="-120"/>
              </a:rPr>
              <a:t>Taller de Indicadores de Gestión Pública con IA</a:t>
            </a:r>
            <a:endParaRPr lang="en-US" sz="800" dirty="0"/>
          </a:p>
        </p:txBody>
      </p:sp>
      <p:sp>
        <p:nvSpPr>
          <p:cNvPr id="8" name="Text 5"/>
          <p:cNvSpPr/>
          <p:nvPr/>
        </p:nvSpPr>
        <p:spPr>
          <a:xfrm>
            <a:off x="640080" y="1417320"/>
            <a:ext cx="7863840" cy="3200400"/>
          </a:xfrm>
          <a:prstGeom prst="rect">
            <a:avLst/>
          </a:prstGeom>
          <a:noFill/>
          <a:ln/>
        </p:spPr>
        <p:txBody>
          <a:bodyPr wrap="square" rtlCol="0" anchor="t"/>
          <a:lstStyle/>
          <a:p>
            <a:pPr marL="177800" indent="-177800">
              <a:spcAft>
                <a:spcPts val="1000"/>
              </a:spcAft>
              <a:buSzPct val="100000"/>
              <a:buChar char="•"/>
            </a:pPr>
            <a:r>
              <a:rPr lang="en-US" sz="1150" dirty="0">
                <a:solidFill>
                  <a:srgbClr val="2F3B4C"/>
                </a:solidFill>
                <a:latin typeface="Arial" pitchFamily="34" charset="0"/>
                <a:ea typeface="Arial" pitchFamily="34" charset="-122"/>
                <a:cs typeface="Arial" pitchFamily="34" charset="-120"/>
              </a:rPr>
              <a:t>Diagnóstico de preguntas vagas — chequear si cumple los 4 componentes del Paso 2 y señalar cuáles faltan.</a:t>
            </a:r>
            <a:endParaRPr lang="en-US" sz="1150" dirty="0"/>
          </a:p>
          <a:p>
            <a:pPr marL="177800" indent="-177800">
              <a:spcAft>
                <a:spcPts val="1000"/>
              </a:spcAft>
              <a:buSzPct val="100000"/>
              <a:buChar char="•"/>
            </a:pPr>
            <a:r>
              <a:rPr lang="en-US" sz="1150" dirty="0">
                <a:solidFill>
                  <a:srgbClr val="2F3B4C"/>
                </a:solidFill>
                <a:latin typeface="Arial" pitchFamily="34" charset="0"/>
                <a:ea typeface="Arial" pitchFamily="34" charset="-122"/>
                <a:cs typeface="Arial" pitchFamily="34" charset="-120"/>
              </a:rPr>
              <a:t>Generación de alternativas de indicador — proponer 3-5 formulaciones posibles para que el equipo elija y ajuste.</a:t>
            </a:r>
            <a:endParaRPr lang="en-US" sz="1150" dirty="0"/>
          </a:p>
          <a:p>
            <a:pPr marL="177800" indent="-177800">
              <a:spcAft>
                <a:spcPts val="1000"/>
              </a:spcAft>
              <a:buSzPct val="100000"/>
              <a:buChar char="•"/>
            </a:pPr>
            <a:r>
              <a:rPr lang="en-US" sz="1150" dirty="0">
                <a:solidFill>
                  <a:srgbClr val="2F3B4C"/>
                </a:solidFill>
                <a:latin typeface="Arial" pitchFamily="34" charset="0"/>
                <a:ea typeface="Arial" pitchFamily="34" charset="-122"/>
                <a:cs typeface="Arial" pitchFamily="34" charset="-120"/>
              </a:rPr>
              <a:t>Borrador de ficha técnica — redactar un primer borrador completo (fórmula, unidad, posibles fuentes).</a:t>
            </a:r>
            <a:endParaRPr lang="en-US" sz="1150" dirty="0"/>
          </a:p>
          <a:p>
            <a:pPr marL="177800" indent="-177800">
              <a:spcAft>
                <a:spcPts val="1000"/>
              </a:spcAft>
              <a:buSzPct val="100000"/>
              <a:buChar char="•"/>
            </a:pPr>
            <a:r>
              <a:rPr lang="en-US" sz="1150" dirty="0">
                <a:solidFill>
                  <a:srgbClr val="2F3B4C"/>
                </a:solidFill>
                <a:latin typeface="Arial" pitchFamily="34" charset="0"/>
                <a:ea typeface="Arial" pitchFamily="34" charset="-122"/>
                <a:cs typeface="Arial" pitchFamily="34" charset="-120"/>
              </a:rPr>
              <a:t>Traducción a lenguaje ciudadano — convertir la ficha técnica en una explicación breve para rendición de cuentas.</a:t>
            </a:r>
            <a:endParaRPr lang="en-US" sz="1150" dirty="0"/>
          </a:p>
          <a:p>
            <a:pPr marL="177800" indent="-177800">
              <a:spcAft>
                <a:spcPts val="1000"/>
              </a:spcAft>
              <a:buSzPct val="100000"/>
              <a:buChar char="•"/>
            </a:pPr>
            <a:r>
              <a:rPr lang="en-US" sz="1150" dirty="0">
                <a:solidFill>
                  <a:srgbClr val="2F3B4C"/>
                </a:solidFill>
                <a:latin typeface="Arial" pitchFamily="34" charset="0"/>
                <a:ea typeface="Arial" pitchFamily="34" charset="-122"/>
                <a:cs typeface="Arial" pitchFamily="34" charset="-120"/>
              </a:rPr>
              <a:t>Revisión cruzada de calidad — aplicar sistemáticamente los criterios SMART/CREMAS y señalar inconsistencias.</a:t>
            </a:r>
            <a:endParaRPr lang="en-US" sz="1150" dirty="0"/>
          </a:p>
          <a:p>
            <a:pPr marL="177800" indent="-177800">
              <a:spcAft>
                <a:spcPts val="1000"/>
              </a:spcAft>
              <a:buSzPct val="100000"/>
              <a:buChar char="•"/>
            </a:pPr>
            <a:r>
              <a:rPr lang="en-US" sz="1150" dirty="0">
                <a:solidFill>
                  <a:srgbClr val="2F3B4C"/>
                </a:solidFill>
                <a:latin typeface="Arial" pitchFamily="34" charset="0"/>
                <a:ea typeface="Arial" pitchFamily="34" charset="-122"/>
                <a:cs typeface="Arial" pitchFamily="34" charset="-120"/>
              </a:rPr>
              <a:t>Organización y documentación — consolidar las fichas técnicas en una matriz ordenada (Word/Excel).</a:t>
            </a:r>
            <a:endParaRPr lang="en-US" sz="11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292608"/>
            <a:ext cx="1005840" cy="41148"/>
          </a:xfrm>
          <a:prstGeom prst="rect">
            <a:avLst/>
          </a:prstGeom>
          <a:solidFill>
            <a:srgbClr val="FF9900"/>
          </a:solidFill>
          <a:ln/>
        </p:spPr>
      </p:sp>
      <p:sp>
        <p:nvSpPr>
          <p:cNvPr id="3" name="Text 1"/>
          <p:cNvSpPr/>
          <p:nvPr/>
        </p:nvSpPr>
        <p:spPr>
          <a:xfrm>
            <a:off x="640080" y="365760"/>
            <a:ext cx="6675120" cy="256032"/>
          </a:xfrm>
          <a:prstGeom prst="rect">
            <a:avLst/>
          </a:prstGeom>
          <a:noFill/>
          <a:ln/>
        </p:spPr>
        <p:txBody>
          <a:bodyPr wrap="square" rtlCol="0" anchor="ctr"/>
          <a:lstStyle/>
          <a:p>
            <a:pPr marL="0" indent="0">
              <a:buNone/>
            </a:pPr>
            <a:r>
              <a:rPr lang="en-US" sz="1000" b="1" kern="0" spc="150" dirty="0">
                <a:solidFill>
                  <a:srgbClr val="FC6E01"/>
                </a:solidFill>
                <a:latin typeface="Arial" pitchFamily="34" charset="0"/>
                <a:ea typeface="Arial" pitchFamily="34" charset="-122"/>
                <a:cs typeface="Arial" pitchFamily="34" charset="-120"/>
              </a:rPr>
              <a:t>LA IA COMO POTENCIADOR</a:t>
            </a:r>
            <a:endParaRPr lang="en-US" sz="1000" dirty="0"/>
          </a:p>
        </p:txBody>
      </p:sp>
      <p:sp>
        <p:nvSpPr>
          <p:cNvPr id="4" name="Text 2"/>
          <p:cNvSpPr/>
          <p:nvPr/>
        </p:nvSpPr>
        <p:spPr>
          <a:xfrm>
            <a:off x="640080" y="621792"/>
            <a:ext cx="7315200" cy="502920"/>
          </a:xfrm>
          <a:prstGeom prst="rect">
            <a:avLst/>
          </a:prstGeom>
          <a:noFill/>
          <a:ln/>
        </p:spPr>
        <p:txBody>
          <a:bodyPr wrap="square" rtlCol="0" anchor="ctr"/>
          <a:lstStyle/>
          <a:p>
            <a:pPr marL="0" indent="0">
              <a:buNone/>
            </a:pPr>
            <a:r>
              <a:rPr lang="en-US" sz="2100" b="1" dirty="0">
                <a:solidFill>
                  <a:srgbClr val="173F72"/>
                </a:solidFill>
                <a:latin typeface="Arial" pitchFamily="34" charset="0"/>
                <a:ea typeface="Arial" pitchFamily="34" charset="-122"/>
                <a:cs typeface="Arial" pitchFamily="34" charset="-120"/>
              </a:rPr>
              <a:t>Dónde NO Debe Decidir la IA</a:t>
            </a:r>
            <a:endParaRPr lang="en-US" sz="2100" dirty="0"/>
          </a:p>
        </p:txBody>
      </p:sp>
      <p:pic>
        <p:nvPicPr>
          <p:cNvPr id="6" name="Image 0" descr="/home/claude/taller/assets/footer_banner.png"/>
          <p:cNvPicPr>
            <a:picLocks noChangeAspect="1"/>
          </p:cNvPicPr>
          <p:nvPr/>
        </p:nvPicPr>
        <p:blipFill>
          <a:blip r:embed="rId3"/>
          <a:stretch>
            <a:fillRect/>
          </a:stretch>
        </p:blipFill>
        <p:spPr>
          <a:xfrm>
            <a:off x="0" y="4672584"/>
            <a:ext cx="9144000" cy="469087"/>
          </a:xfrm>
          <a:prstGeom prst="rect">
            <a:avLst/>
          </a:prstGeom>
        </p:spPr>
      </p:pic>
      <p:sp>
        <p:nvSpPr>
          <p:cNvPr id="7" name="Text 4"/>
          <p:cNvSpPr/>
          <p:nvPr/>
        </p:nvSpPr>
        <p:spPr>
          <a:xfrm>
            <a:off x="274320" y="4727448"/>
            <a:ext cx="5669280" cy="274320"/>
          </a:xfrm>
          <a:prstGeom prst="rect">
            <a:avLst/>
          </a:prstGeom>
          <a:noFill/>
          <a:ln/>
        </p:spPr>
        <p:txBody>
          <a:bodyPr wrap="square" lIns="0" tIns="0" rIns="0" bIns="0" rtlCol="0" anchor="ctr"/>
          <a:lstStyle/>
          <a:p>
            <a:pPr marL="0" indent="0">
              <a:buNone/>
            </a:pPr>
            <a:r>
              <a:rPr lang="en-US" sz="800" dirty="0">
                <a:solidFill>
                  <a:srgbClr val="FFFFFF"/>
                </a:solidFill>
                <a:latin typeface="Arial" pitchFamily="34" charset="0"/>
                <a:ea typeface="Arial" pitchFamily="34" charset="-122"/>
                <a:cs typeface="Arial" pitchFamily="34" charset="-120"/>
              </a:rPr>
              <a:t>Taller de Indicadores de Gestión Pública con IA</a:t>
            </a:r>
            <a:endParaRPr lang="en-US" sz="800" dirty="0"/>
          </a:p>
        </p:txBody>
      </p:sp>
      <p:sp>
        <p:nvSpPr>
          <p:cNvPr id="8" name="Shape 5"/>
          <p:cNvSpPr/>
          <p:nvPr/>
        </p:nvSpPr>
        <p:spPr>
          <a:xfrm>
            <a:off x="640080" y="1463040"/>
            <a:ext cx="1842516" cy="2743200"/>
          </a:xfrm>
          <a:prstGeom prst="roundRect">
            <a:avLst>
              <a:gd name="adj" fmla="val 2978"/>
            </a:avLst>
          </a:prstGeom>
          <a:solidFill>
            <a:srgbClr val="EDF3F9"/>
          </a:solidFill>
          <a:ln/>
        </p:spPr>
      </p:sp>
      <p:sp>
        <p:nvSpPr>
          <p:cNvPr id="9" name="Shape 6"/>
          <p:cNvSpPr/>
          <p:nvPr/>
        </p:nvSpPr>
        <p:spPr>
          <a:xfrm>
            <a:off x="777240" y="1600200"/>
            <a:ext cx="365760" cy="365760"/>
          </a:xfrm>
          <a:prstGeom prst="ellipse">
            <a:avLst/>
          </a:prstGeom>
          <a:solidFill>
            <a:srgbClr val="FC6E01"/>
          </a:solidFill>
          <a:ln/>
        </p:spPr>
      </p:sp>
      <p:sp>
        <p:nvSpPr>
          <p:cNvPr id="10" name="Text 7"/>
          <p:cNvSpPr/>
          <p:nvPr/>
        </p:nvSpPr>
        <p:spPr>
          <a:xfrm>
            <a:off x="777240" y="1600200"/>
            <a:ext cx="365760" cy="365760"/>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11" name="Text 8"/>
          <p:cNvSpPr/>
          <p:nvPr/>
        </p:nvSpPr>
        <p:spPr>
          <a:xfrm>
            <a:off x="777240" y="2029968"/>
            <a:ext cx="1568196" cy="365760"/>
          </a:xfrm>
          <a:prstGeom prst="rect">
            <a:avLst/>
          </a:prstGeom>
          <a:noFill/>
          <a:ln/>
        </p:spPr>
        <p:txBody>
          <a:bodyPr wrap="square" rtlCol="0" anchor="t"/>
          <a:lstStyle/>
          <a:p>
            <a:pPr marL="0" indent="0">
              <a:buNone/>
            </a:pPr>
            <a:r>
              <a:rPr lang="en-US" sz="1200" b="1" dirty="0">
                <a:solidFill>
                  <a:srgbClr val="173F72"/>
                </a:solidFill>
                <a:latin typeface="Arial" pitchFamily="34" charset="0"/>
                <a:ea typeface="Arial" pitchFamily="34" charset="-122"/>
                <a:cs typeface="Arial" pitchFamily="34" charset="-120"/>
              </a:rPr>
              <a:t>1 · Prioridad de la pregunta</a:t>
            </a:r>
            <a:endParaRPr lang="en-US" sz="1200" dirty="0"/>
          </a:p>
        </p:txBody>
      </p:sp>
      <p:sp>
        <p:nvSpPr>
          <p:cNvPr id="12" name="Text 9"/>
          <p:cNvSpPr/>
          <p:nvPr/>
        </p:nvSpPr>
        <p:spPr>
          <a:xfrm>
            <a:off x="777240" y="2377440"/>
            <a:ext cx="1568196" cy="1737360"/>
          </a:xfrm>
          <a:prstGeom prst="rect">
            <a:avLst/>
          </a:prstGeom>
          <a:noFill/>
          <a:ln/>
        </p:spPr>
        <p:txBody>
          <a:bodyPr wrap="square" rtlCol="0" anchor="t"/>
          <a:lstStyle/>
          <a:p>
            <a:pPr marL="0" indent="0">
              <a:buNone/>
            </a:pPr>
            <a:r>
              <a:rPr lang="en-US" sz="950" dirty="0">
                <a:solidFill>
                  <a:srgbClr val="5C6B7C"/>
                </a:solidFill>
                <a:latin typeface="Arial" pitchFamily="34" charset="0"/>
                <a:ea typeface="Arial" pitchFamily="34" charset="-122"/>
                <a:cs typeface="Arial" pitchFamily="34" charset="-120"/>
              </a:rPr>
              <a:t>Depende del mandato, el contexto político y las necesidades ciudadanas.</a:t>
            </a:r>
            <a:endParaRPr lang="en-US" sz="950" dirty="0"/>
          </a:p>
        </p:txBody>
      </p:sp>
      <p:sp>
        <p:nvSpPr>
          <p:cNvPr id="13" name="Shape 10"/>
          <p:cNvSpPr/>
          <p:nvPr/>
        </p:nvSpPr>
        <p:spPr>
          <a:xfrm>
            <a:off x="2647188" y="1463040"/>
            <a:ext cx="1842516" cy="2743200"/>
          </a:xfrm>
          <a:prstGeom prst="roundRect">
            <a:avLst>
              <a:gd name="adj" fmla="val 2978"/>
            </a:avLst>
          </a:prstGeom>
          <a:solidFill>
            <a:srgbClr val="EDF3F9"/>
          </a:solidFill>
          <a:ln/>
        </p:spPr>
      </p:sp>
      <p:sp>
        <p:nvSpPr>
          <p:cNvPr id="14" name="Shape 11"/>
          <p:cNvSpPr/>
          <p:nvPr/>
        </p:nvSpPr>
        <p:spPr>
          <a:xfrm>
            <a:off x="2784348" y="1600200"/>
            <a:ext cx="365760" cy="365760"/>
          </a:xfrm>
          <a:prstGeom prst="ellipse">
            <a:avLst/>
          </a:prstGeom>
          <a:solidFill>
            <a:srgbClr val="FC6E01"/>
          </a:solidFill>
          <a:ln/>
        </p:spPr>
      </p:sp>
      <p:sp>
        <p:nvSpPr>
          <p:cNvPr id="15" name="Text 12"/>
          <p:cNvSpPr/>
          <p:nvPr/>
        </p:nvSpPr>
        <p:spPr>
          <a:xfrm>
            <a:off x="2784348" y="1600200"/>
            <a:ext cx="365760" cy="365760"/>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6" name="Text 13"/>
          <p:cNvSpPr/>
          <p:nvPr/>
        </p:nvSpPr>
        <p:spPr>
          <a:xfrm>
            <a:off x="2784348" y="2029968"/>
            <a:ext cx="1568196" cy="365760"/>
          </a:xfrm>
          <a:prstGeom prst="rect">
            <a:avLst/>
          </a:prstGeom>
          <a:noFill/>
          <a:ln/>
        </p:spPr>
        <p:txBody>
          <a:bodyPr wrap="square" rtlCol="0" anchor="t"/>
          <a:lstStyle/>
          <a:p>
            <a:pPr marL="0" indent="0">
              <a:buNone/>
            </a:pPr>
            <a:r>
              <a:rPr lang="en-US" sz="1200" b="1" dirty="0">
                <a:solidFill>
                  <a:srgbClr val="173F72"/>
                </a:solidFill>
                <a:latin typeface="Arial" pitchFamily="34" charset="0"/>
                <a:ea typeface="Arial" pitchFamily="34" charset="-122"/>
                <a:cs typeface="Arial" pitchFamily="34" charset="-120"/>
              </a:rPr>
              <a:t>2 · Meta o línea base</a:t>
            </a:r>
            <a:endParaRPr lang="en-US" sz="1200" dirty="0"/>
          </a:p>
        </p:txBody>
      </p:sp>
      <p:sp>
        <p:nvSpPr>
          <p:cNvPr id="17" name="Text 14"/>
          <p:cNvSpPr/>
          <p:nvPr/>
        </p:nvSpPr>
        <p:spPr>
          <a:xfrm>
            <a:off x="2784348" y="2377440"/>
            <a:ext cx="1568196" cy="1737360"/>
          </a:xfrm>
          <a:prstGeom prst="rect">
            <a:avLst/>
          </a:prstGeom>
          <a:noFill/>
          <a:ln/>
        </p:spPr>
        <p:txBody>
          <a:bodyPr wrap="square" rtlCol="0" anchor="t"/>
          <a:lstStyle/>
          <a:p>
            <a:pPr marL="0" indent="0">
              <a:buNone/>
            </a:pPr>
            <a:r>
              <a:rPr lang="en-US" sz="950" dirty="0">
                <a:solidFill>
                  <a:srgbClr val="5C6B7C"/>
                </a:solidFill>
                <a:latin typeface="Arial" pitchFamily="34" charset="0"/>
                <a:ea typeface="Arial" pitchFamily="34" charset="-122"/>
                <a:cs typeface="Arial" pitchFamily="34" charset="-120"/>
              </a:rPr>
              <a:t>Deben salir de datos oficiales verificados, no de estimaciones del modelo.</a:t>
            </a:r>
            <a:endParaRPr lang="en-US" sz="950" dirty="0"/>
          </a:p>
        </p:txBody>
      </p:sp>
      <p:sp>
        <p:nvSpPr>
          <p:cNvPr id="18" name="Shape 15"/>
          <p:cNvSpPr/>
          <p:nvPr/>
        </p:nvSpPr>
        <p:spPr>
          <a:xfrm>
            <a:off x="4654296" y="1463040"/>
            <a:ext cx="1842516" cy="2743200"/>
          </a:xfrm>
          <a:prstGeom prst="roundRect">
            <a:avLst>
              <a:gd name="adj" fmla="val 2978"/>
            </a:avLst>
          </a:prstGeom>
          <a:solidFill>
            <a:srgbClr val="EDF3F9"/>
          </a:solidFill>
          <a:ln/>
        </p:spPr>
      </p:sp>
      <p:sp>
        <p:nvSpPr>
          <p:cNvPr id="19" name="Shape 16"/>
          <p:cNvSpPr/>
          <p:nvPr/>
        </p:nvSpPr>
        <p:spPr>
          <a:xfrm>
            <a:off x="4791456" y="1600200"/>
            <a:ext cx="365760" cy="365760"/>
          </a:xfrm>
          <a:prstGeom prst="ellipse">
            <a:avLst/>
          </a:prstGeom>
          <a:solidFill>
            <a:srgbClr val="FC6E01"/>
          </a:solidFill>
          <a:ln/>
        </p:spPr>
      </p:sp>
      <p:sp>
        <p:nvSpPr>
          <p:cNvPr id="20" name="Text 17"/>
          <p:cNvSpPr/>
          <p:nvPr/>
        </p:nvSpPr>
        <p:spPr>
          <a:xfrm>
            <a:off x="4791456" y="1600200"/>
            <a:ext cx="365760" cy="365760"/>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21" name="Text 18"/>
          <p:cNvSpPr/>
          <p:nvPr/>
        </p:nvSpPr>
        <p:spPr>
          <a:xfrm>
            <a:off x="4791456" y="2029968"/>
            <a:ext cx="1568196" cy="365760"/>
          </a:xfrm>
          <a:prstGeom prst="rect">
            <a:avLst/>
          </a:prstGeom>
          <a:noFill/>
          <a:ln/>
        </p:spPr>
        <p:txBody>
          <a:bodyPr wrap="square" rtlCol="0" anchor="t"/>
          <a:lstStyle/>
          <a:p>
            <a:pPr marL="0" indent="0">
              <a:buNone/>
            </a:pPr>
            <a:r>
              <a:rPr lang="en-US" sz="1200" b="1" dirty="0">
                <a:solidFill>
                  <a:srgbClr val="173F72"/>
                </a:solidFill>
                <a:latin typeface="Arial" pitchFamily="34" charset="0"/>
                <a:ea typeface="Arial" pitchFamily="34" charset="-122"/>
                <a:cs typeface="Arial" pitchFamily="34" charset="-120"/>
              </a:rPr>
              <a:t>3 · Interpretación política</a:t>
            </a:r>
            <a:endParaRPr lang="en-US" sz="1200" dirty="0"/>
          </a:p>
        </p:txBody>
      </p:sp>
      <p:sp>
        <p:nvSpPr>
          <p:cNvPr id="22" name="Text 19"/>
          <p:cNvSpPr/>
          <p:nvPr/>
        </p:nvSpPr>
        <p:spPr>
          <a:xfrm>
            <a:off x="4791456" y="2377440"/>
            <a:ext cx="1568196" cy="1737360"/>
          </a:xfrm>
          <a:prstGeom prst="rect">
            <a:avLst/>
          </a:prstGeom>
          <a:noFill/>
          <a:ln/>
        </p:spPr>
        <p:txBody>
          <a:bodyPr wrap="square" rtlCol="0" anchor="t"/>
          <a:lstStyle/>
          <a:p>
            <a:pPr marL="0" indent="0">
              <a:buNone/>
            </a:pPr>
            <a:r>
              <a:rPr lang="en-US" sz="950" dirty="0">
                <a:solidFill>
                  <a:srgbClr val="5C6B7C"/>
                </a:solidFill>
                <a:latin typeface="Arial" pitchFamily="34" charset="0"/>
                <a:ea typeface="Arial" pitchFamily="34" charset="-122"/>
                <a:cs typeface="Arial" pitchFamily="34" charset="-120"/>
              </a:rPr>
              <a:t>La lectura política o social del resultado de un indicador.</a:t>
            </a:r>
            <a:endParaRPr lang="en-US" sz="950" dirty="0"/>
          </a:p>
        </p:txBody>
      </p:sp>
      <p:sp>
        <p:nvSpPr>
          <p:cNvPr id="23" name="Shape 20"/>
          <p:cNvSpPr/>
          <p:nvPr/>
        </p:nvSpPr>
        <p:spPr>
          <a:xfrm>
            <a:off x="6661404" y="1463040"/>
            <a:ext cx="1842516" cy="2743200"/>
          </a:xfrm>
          <a:prstGeom prst="roundRect">
            <a:avLst>
              <a:gd name="adj" fmla="val 2978"/>
            </a:avLst>
          </a:prstGeom>
          <a:solidFill>
            <a:srgbClr val="EDF3F9"/>
          </a:solidFill>
          <a:ln/>
        </p:spPr>
      </p:sp>
      <p:sp>
        <p:nvSpPr>
          <p:cNvPr id="24" name="Shape 21"/>
          <p:cNvSpPr/>
          <p:nvPr/>
        </p:nvSpPr>
        <p:spPr>
          <a:xfrm>
            <a:off x="6798564" y="1600200"/>
            <a:ext cx="365760" cy="365760"/>
          </a:xfrm>
          <a:prstGeom prst="ellipse">
            <a:avLst/>
          </a:prstGeom>
          <a:solidFill>
            <a:srgbClr val="FC6E01"/>
          </a:solidFill>
          <a:ln/>
        </p:spPr>
      </p:sp>
      <p:sp>
        <p:nvSpPr>
          <p:cNvPr id="25" name="Text 22"/>
          <p:cNvSpPr/>
          <p:nvPr/>
        </p:nvSpPr>
        <p:spPr>
          <a:xfrm>
            <a:off x="6798564" y="1600200"/>
            <a:ext cx="365760" cy="365760"/>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6" name="Text 23"/>
          <p:cNvSpPr/>
          <p:nvPr/>
        </p:nvSpPr>
        <p:spPr>
          <a:xfrm>
            <a:off x="6798564" y="2029968"/>
            <a:ext cx="1568196" cy="365760"/>
          </a:xfrm>
          <a:prstGeom prst="rect">
            <a:avLst/>
          </a:prstGeom>
          <a:noFill/>
          <a:ln/>
        </p:spPr>
        <p:txBody>
          <a:bodyPr wrap="square" rtlCol="0" anchor="t"/>
          <a:lstStyle/>
          <a:p>
            <a:pPr marL="0" indent="0">
              <a:buNone/>
            </a:pPr>
            <a:r>
              <a:rPr lang="en-US" sz="1200" b="1" dirty="0">
                <a:solidFill>
                  <a:srgbClr val="173F72"/>
                </a:solidFill>
                <a:latin typeface="Arial" pitchFamily="34" charset="0"/>
                <a:ea typeface="Arial" pitchFamily="34" charset="-122"/>
                <a:cs typeface="Arial" pitchFamily="34" charset="-120"/>
              </a:rPr>
              <a:t>4 · Validación de la fuente</a:t>
            </a:r>
            <a:endParaRPr lang="en-US" sz="1200" dirty="0"/>
          </a:p>
        </p:txBody>
      </p:sp>
      <p:sp>
        <p:nvSpPr>
          <p:cNvPr id="27" name="Text 24"/>
          <p:cNvSpPr/>
          <p:nvPr/>
        </p:nvSpPr>
        <p:spPr>
          <a:xfrm>
            <a:off x="6798564" y="2377440"/>
            <a:ext cx="1568196" cy="1737360"/>
          </a:xfrm>
          <a:prstGeom prst="rect">
            <a:avLst/>
          </a:prstGeom>
          <a:noFill/>
          <a:ln/>
        </p:spPr>
        <p:txBody>
          <a:bodyPr wrap="square" rtlCol="0" anchor="t"/>
          <a:lstStyle/>
          <a:p>
            <a:pPr marL="0" indent="0">
              <a:buNone/>
            </a:pPr>
            <a:r>
              <a:rPr lang="en-US" sz="950" dirty="0">
                <a:solidFill>
                  <a:srgbClr val="5C6B7C"/>
                </a:solidFill>
                <a:latin typeface="Arial" pitchFamily="34" charset="0"/>
                <a:ea typeface="Arial" pitchFamily="34" charset="-122"/>
                <a:cs typeface="Arial" pitchFamily="34" charset="-120"/>
              </a:rPr>
              <a:t>Siempre debe confirmarse contra el sistema oficial (DANE, SISPRO, TerriData, etc.).</a:t>
            </a:r>
            <a:endParaRPr lang="en-US" sz="9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292608"/>
            <a:ext cx="1005840" cy="41148"/>
          </a:xfrm>
          <a:prstGeom prst="rect">
            <a:avLst/>
          </a:prstGeom>
          <a:solidFill>
            <a:srgbClr val="FF9900"/>
          </a:solidFill>
          <a:ln/>
        </p:spPr>
      </p:sp>
      <p:sp>
        <p:nvSpPr>
          <p:cNvPr id="3" name="Text 1"/>
          <p:cNvSpPr/>
          <p:nvPr/>
        </p:nvSpPr>
        <p:spPr>
          <a:xfrm>
            <a:off x="640080" y="365760"/>
            <a:ext cx="6675120" cy="256032"/>
          </a:xfrm>
          <a:prstGeom prst="rect">
            <a:avLst/>
          </a:prstGeom>
          <a:noFill/>
          <a:ln/>
        </p:spPr>
        <p:txBody>
          <a:bodyPr wrap="square" rtlCol="0" anchor="ctr"/>
          <a:lstStyle/>
          <a:p>
            <a:pPr marL="0" indent="0">
              <a:buNone/>
            </a:pPr>
            <a:r>
              <a:rPr lang="en-US" sz="1000" b="1" kern="0" spc="150" dirty="0">
                <a:solidFill>
                  <a:srgbClr val="FC6E01"/>
                </a:solidFill>
                <a:latin typeface="Arial" pitchFamily="34" charset="0"/>
                <a:ea typeface="Arial" pitchFamily="34" charset="-122"/>
                <a:cs typeface="Arial" pitchFamily="34" charset="-120"/>
              </a:rPr>
              <a:t>LA IA COMO POTENCIADOR</a:t>
            </a:r>
            <a:endParaRPr lang="en-US" sz="1000" dirty="0"/>
          </a:p>
        </p:txBody>
      </p:sp>
      <p:sp>
        <p:nvSpPr>
          <p:cNvPr id="4" name="Text 2"/>
          <p:cNvSpPr/>
          <p:nvPr/>
        </p:nvSpPr>
        <p:spPr>
          <a:xfrm>
            <a:off x="640080" y="621792"/>
            <a:ext cx="7315200" cy="502920"/>
          </a:xfrm>
          <a:prstGeom prst="rect">
            <a:avLst/>
          </a:prstGeom>
          <a:noFill/>
          <a:ln/>
        </p:spPr>
        <p:txBody>
          <a:bodyPr wrap="square" rtlCol="0" anchor="ctr"/>
          <a:lstStyle/>
          <a:p>
            <a:pPr marL="0" indent="0">
              <a:buNone/>
            </a:pPr>
            <a:r>
              <a:rPr lang="en-US" sz="2100" b="1" dirty="0">
                <a:solidFill>
                  <a:srgbClr val="173F72"/>
                </a:solidFill>
                <a:latin typeface="Arial" pitchFamily="34" charset="0"/>
                <a:ea typeface="Arial" pitchFamily="34" charset="-122"/>
                <a:cs typeface="Arial" pitchFamily="34" charset="-120"/>
              </a:rPr>
              <a:t>Claude.ai para Equipos de Gestión Pública</a:t>
            </a:r>
            <a:endParaRPr lang="en-US" sz="2100" dirty="0"/>
          </a:p>
        </p:txBody>
      </p:sp>
      <p:pic>
        <p:nvPicPr>
          <p:cNvPr id="6" name="Image 0" descr="/home/claude/taller/assets/footer_banner.png"/>
          <p:cNvPicPr>
            <a:picLocks noChangeAspect="1"/>
          </p:cNvPicPr>
          <p:nvPr/>
        </p:nvPicPr>
        <p:blipFill>
          <a:blip r:embed="rId3"/>
          <a:stretch>
            <a:fillRect/>
          </a:stretch>
        </p:blipFill>
        <p:spPr>
          <a:xfrm>
            <a:off x="0" y="4672584"/>
            <a:ext cx="9144000" cy="469087"/>
          </a:xfrm>
          <a:prstGeom prst="rect">
            <a:avLst/>
          </a:prstGeom>
        </p:spPr>
      </p:pic>
      <p:sp>
        <p:nvSpPr>
          <p:cNvPr id="7" name="Text 4"/>
          <p:cNvSpPr/>
          <p:nvPr/>
        </p:nvSpPr>
        <p:spPr>
          <a:xfrm>
            <a:off x="274320" y="4727448"/>
            <a:ext cx="5669280" cy="274320"/>
          </a:xfrm>
          <a:prstGeom prst="rect">
            <a:avLst/>
          </a:prstGeom>
          <a:noFill/>
          <a:ln/>
        </p:spPr>
        <p:txBody>
          <a:bodyPr wrap="square" lIns="0" tIns="0" rIns="0" bIns="0" rtlCol="0" anchor="ctr"/>
          <a:lstStyle/>
          <a:p>
            <a:pPr marL="0" indent="0">
              <a:buNone/>
            </a:pPr>
            <a:r>
              <a:rPr lang="en-US" sz="800" dirty="0">
                <a:solidFill>
                  <a:srgbClr val="FFFFFF"/>
                </a:solidFill>
                <a:latin typeface="Arial" pitchFamily="34" charset="0"/>
                <a:ea typeface="Arial" pitchFamily="34" charset="-122"/>
                <a:cs typeface="Arial" pitchFamily="34" charset="-120"/>
              </a:rPr>
              <a:t>Taller de Indicadores de Gestión Pública con IA</a:t>
            </a:r>
            <a:endParaRPr lang="en-US" sz="800" dirty="0"/>
          </a:p>
        </p:txBody>
      </p:sp>
      <p:sp>
        <p:nvSpPr>
          <p:cNvPr id="8" name="Shape 5"/>
          <p:cNvSpPr/>
          <p:nvPr/>
        </p:nvSpPr>
        <p:spPr>
          <a:xfrm>
            <a:off x="640080" y="1554480"/>
            <a:ext cx="2511552" cy="2468880"/>
          </a:xfrm>
          <a:prstGeom prst="roundRect">
            <a:avLst>
              <a:gd name="adj" fmla="val 2222"/>
            </a:avLst>
          </a:prstGeom>
          <a:solidFill>
            <a:srgbClr val="EDF3F9"/>
          </a:solidFill>
          <a:ln/>
        </p:spPr>
      </p:sp>
      <p:sp>
        <p:nvSpPr>
          <p:cNvPr id="9" name="Shape 6"/>
          <p:cNvSpPr/>
          <p:nvPr/>
        </p:nvSpPr>
        <p:spPr>
          <a:xfrm>
            <a:off x="777240" y="1691640"/>
            <a:ext cx="365760" cy="365760"/>
          </a:xfrm>
          <a:prstGeom prst="ellipse">
            <a:avLst/>
          </a:prstGeom>
          <a:solidFill>
            <a:srgbClr val="FC6E01"/>
          </a:solidFill>
          <a:ln/>
        </p:spPr>
      </p:sp>
      <p:sp>
        <p:nvSpPr>
          <p:cNvPr id="10" name="Text 7"/>
          <p:cNvSpPr/>
          <p:nvPr/>
        </p:nvSpPr>
        <p:spPr>
          <a:xfrm>
            <a:off x="777240" y="1691640"/>
            <a:ext cx="365760" cy="365760"/>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11" name="Text 8"/>
          <p:cNvSpPr/>
          <p:nvPr/>
        </p:nvSpPr>
        <p:spPr>
          <a:xfrm>
            <a:off x="777240" y="2121408"/>
            <a:ext cx="2237232" cy="365760"/>
          </a:xfrm>
          <a:prstGeom prst="rect">
            <a:avLst/>
          </a:prstGeom>
          <a:noFill/>
          <a:ln/>
        </p:spPr>
        <p:txBody>
          <a:bodyPr wrap="square" rtlCol="0" anchor="t"/>
          <a:lstStyle/>
          <a:p>
            <a:pPr marL="0" indent="0">
              <a:buNone/>
            </a:pPr>
            <a:r>
              <a:rPr lang="en-US" sz="1200" b="1" dirty="0">
                <a:solidFill>
                  <a:srgbClr val="173F72"/>
                </a:solidFill>
                <a:latin typeface="Arial" pitchFamily="34" charset="0"/>
                <a:ea typeface="Arial" pitchFamily="34" charset="-122"/>
                <a:cs typeface="Arial" pitchFamily="34" charset="-120"/>
              </a:rPr>
              <a:t>Acceso inmediato</a:t>
            </a:r>
            <a:endParaRPr lang="en-US" sz="1200" dirty="0"/>
          </a:p>
        </p:txBody>
      </p:sp>
      <p:sp>
        <p:nvSpPr>
          <p:cNvPr id="12" name="Text 9"/>
          <p:cNvSpPr/>
          <p:nvPr/>
        </p:nvSpPr>
        <p:spPr>
          <a:xfrm>
            <a:off x="777240" y="2468880"/>
            <a:ext cx="2237232" cy="1463040"/>
          </a:xfrm>
          <a:prstGeom prst="rect">
            <a:avLst/>
          </a:prstGeom>
          <a:noFill/>
          <a:ln/>
        </p:spPr>
        <p:txBody>
          <a:bodyPr wrap="square" rtlCol="0" anchor="t"/>
          <a:lstStyle/>
          <a:p>
            <a:pPr marL="0" indent="0">
              <a:buNone/>
            </a:pPr>
            <a:r>
              <a:rPr lang="en-US" sz="950" dirty="0">
                <a:solidFill>
                  <a:srgbClr val="5C6B7C"/>
                </a:solidFill>
                <a:latin typeface="Arial" pitchFamily="34" charset="0"/>
                <a:ea typeface="Arial" pitchFamily="34" charset="-122"/>
                <a:cs typeface="Arial" pitchFamily="34" charset="-120"/>
              </a:rPr>
              <a:t>Funciona desde el navegador, sin instalación; plan gratuito para practicar en el taller.</a:t>
            </a:r>
            <a:endParaRPr lang="en-US" sz="950" dirty="0"/>
          </a:p>
        </p:txBody>
      </p:sp>
      <p:sp>
        <p:nvSpPr>
          <p:cNvPr id="13" name="Shape 10"/>
          <p:cNvSpPr/>
          <p:nvPr/>
        </p:nvSpPr>
        <p:spPr>
          <a:xfrm>
            <a:off x="3316224" y="1554480"/>
            <a:ext cx="2511552" cy="2468880"/>
          </a:xfrm>
          <a:prstGeom prst="roundRect">
            <a:avLst>
              <a:gd name="adj" fmla="val 2222"/>
            </a:avLst>
          </a:prstGeom>
          <a:solidFill>
            <a:srgbClr val="EDF3F9"/>
          </a:solidFill>
          <a:ln/>
        </p:spPr>
      </p:sp>
      <p:sp>
        <p:nvSpPr>
          <p:cNvPr id="14" name="Shape 11"/>
          <p:cNvSpPr/>
          <p:nvPr/>
        </p:nvSpPr>
        <p:spPr>
          <a:xfrm>
            <a:off x="3453384" y="1691640"/>
            <a:ext cx="365760" cy="365760"/>
          </a:xfrm>
          <a:prstGeom prst="ellipse">
            <a:avLst/>
          </a:prstGeom>
          <a:solidFill>
            <a:srgbClr val="FC6E01"/>
          </a:solidFill>
          <a:ln/>
        </p:spPr>
      </p:sp>
      <p:sp>
        <p:nvSpPr>
          <p:cNvPr id="15" name="Text 12"/>
          <p:cNvSpPr/>
          <p:nvPr/>
        </p:nvSpPr>
        <p:spPr>
          <a:xfrm>
            <a:off x="3453384" y="1691640"/>
            <a:ext cx="365760" cy="365760"/>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6" name="Text 13"/>
          <p:cNvSpPr/>
          <p:nvPr/>
        </p:nvSpPr>
        <p:spPr>
          <a:xfrm>
            <a:off x="3453384" y="2121408"/>
            <a:ext cx="2237232" cy="365760"/>
          </a:xfrm>
          <a:prstGeom prst="rect">
            <a:avLst/>
          </a:prstGeom>
          <a:noFill/>
          <a:ln/>
        </p:spPr>
        <p:txBody>
          <a:bodyPr wrap="square" rtlCol="0" anchor="t"/>
          <a:lstStyle/>
          <a:p>
            <a:pPr marL="0" indent="0">
              <a:buNone/>
            </a:pPr>
            <a:r>
              <a:rPr lang="en-US" sz="1200" b="1" dirty="0">
                <a:solidFill>
                  <a:srgbClr val="173F72"/>
                </a:solidFill>
                <a:latin typeface="Arial" pitchFamily="34" charset="0"/>
                <a:ea typeface="Arial" pitchFamily="34" charset="-122"/>
                <a:cs typeface="Arial" pitchFamily="34" charset="-120"/>
              </a:rPr>
              <a:t>Trabaja con documentos</a:t>
            </a:r>
            <a:endParaRPr lang="en-US" sz="1200" dirty="0"/>
          </a:p>
        </p:txBody>
      </p:sp>
      <p:sp>
        <p:nvSpPr>
          <p:cNvPr id="17" name="Text 14"/>
          <p:cNvSpPr/>
          <p:nvPr/>
        </p:nvSpPr>
        <p:spPr>
          <a:xfrm>
            <a:off x="3453384" y="2468880"/>
            <a:ext cx="2237232" cy="1463040"/>
          </a:xfrm>
          <a:prstGeom prst="rect">
            <a:avLst/>
          </a:prstGeom>
          <a:noFill/>
          <a:ln/>
        </p:spPr>
        <p:txBody>
          <a:bodyPr wrap="square" rtlCol="0" anchor="t"/>
          <a:lstStyle/>
          <a:p>
            <a:pPr marL="0" indent="0">
              <a:buNone/>
            </a:pPr>
            <a:r>
              <a:rPr lang="en-US" sz="950" dirty="0">
                <a:solidFill>
                  <a:srgbClr val="5C6B7C"/>
                </a:solidFill>
                <a:latin typeface="Arial" pitchFamily="34" charset="0"/>
                <a:ea typeface="Arial" pitchFamily="34" charset="-122"/>
                <a:cs typeface="Arial" pitchFamily="34" charset="-120"/>
              </a:rPr>
              <a:t>Permite subir la matriz de indicadores en Word o Excel y trabajar sobre ella, en español.</a:t>
            </a:r>
            <a:endParaRPr lang="en-US" sz="950" dirty="0"/>
          </a:p>
        </p:txBody>
      </p:sp>
      <p:sp>
        <p:nvSpPr>
          <p:cNvPr id="18" name="Shape 15"/>
          <p:cNvSpPr/>
          <p:nvPr/>
        </p:nvSpPr>
        <p:spPr>
          <a:xfrm>
            <a:off x="5992368" y="1554480"/>
            <a:ext cx="2511552" cy="2468880"/>
          </a:xfrm>
          <a:prstGeom prst="roundRect">
            <a:avLst>
              <a:gd name="adj" fmla="val 2222"/>
            </a:avLst>
          </a:prstGeom>
          <a:solidFill>
            <a:srgbClr val="EDF3F9"/>
          </a:solidFill>
          <a:ln/>
        </p:spPr>
      </p:sp>
      <p:sp>
        <p:nvSpPr>
          <p:cNvPr id="19" name="Shape 16"/>
          <p:cNvSpPr/>
          <p:nvPr/>
        </p:nvSpPr>
        <p:spPr>
          <a:xfrm>
            <a:off x="6129528" y="1691640"/>
            <a:ext cx="365760" cy="365760"/>
          </a:xfrm>
          <a:prstGeom prst="ellipse">
            <a:avLst/>
          </a:prstGeom>
          <a:solidFill>
            <a:srgbClr val="FC6E01"/>
          </a:solidFill>
          <a:ln/>
        </p:spPr>
      </p:sp>
      <p:sp>
        <p:nvSpPr>
          <p:cNvPr id="20" name="Text 17"/>
          <p:cNvSpPr/>
          <p:nvPr/>
        </p:nvSpPr>
        <p:spPr>
          <a:xfrm>
            <a:off x="6129528" y="1691640"/>
            <a:ext cx="365760" cy="365760"/>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21" name="Text 18"/>
          <p:cNvSpPr/>
          <p:nvPr/>
        </p:nvSpPr>
        <p:spPr>
          <a:xfrm>
            <a:off x="6129528" y="2121408"/>
            <a:ext cx="2237232" cy="365760"/>
          </a:xfrm>
          <a:prstGeom prst="rect">
            <a:avLst/>
          </a:prstGeom>
          <a:noFill/>
          <a:ln/>
        </p:spPr>
        <p:txBody>
          <a:bodyPr wrap="square" rtlCol="0" anchor="t"/>
          <a:lstStyle/>
          <a:p>
            <a:pPr marL="0" indent="0">
              <a:buNone/>
            </a:pPr>
            <a:r>
              <a:rPr lang="en-US" sz="1200" b="1" dirty="0">
                <a:solidFill>
                  <a:srgbClr val="173F72"/>
                </a:solidFill>
                <a:latin typeface="Arial" pitchFamily="34" charset="0"/>
                <a:ea typeface="Arial" pitchFamily="34" charset="-122"/>
                <a:cs typeface="Arial" pitchFamily="34" charset="-120"/>
              </a:rPr>
              <a:t>Entregables usables</a:t>
            </a:r>
            <a:endParaRPr lang="en-US" sz="1200" dirty="0"/>
          </a:p>
        </p:txBody>
      </p:sp>
      <p:sp>
        <p:nvSpPr>
          <p:cNvPr id="22" name="Text 19"/>
          <p:cNvSpPr/>
          <p:nvPr/>
        </p:nvSpPr>
        <p:spPr>
          <a:xfrm>
            <a:off x="6129528" y="2468880"/>
            <a:ext cx="2237232" cy="1463040"/>
          </a:xfrm>
          <a:prstGeom prst="rect">
            <a:avLst/>
          </a:prstGeom>
          <a:noFill/>
          <a:ln/>
        </p:spPr>
        <p:txBody>
          <a:bodyPr wrap="square" rtlCol="0" anchor="t"/>
          <a:lstStyle/>
          <a:p>
            <a:pPr marL="0" indent="0">
              <a:buNone/>
            </a:pPr>
            <a:r>
              <a:rPr lang="en-US" sz="950" dirty="0">
                <a:solidFill>
                  <a:srgbClr val="5C6B7C"/>
                </a:solidFill>
                <a:latin typeface="Arial" pitchFamily="34" charset="0"/>
                <a:ea typeface="Arial" pitchFamily="34" charset="-122"/>
                <a:cs typeface="Arial" pitchFamily="34" charset="-120"/>
              </a:rPr>
              <a:t>Produce la ficha técnica en formato de documento o tabla, lista para revisión del equipo.</a:t>
            </a:r>
            <a:endParaRPr lang="en-US" sz="950" dirty="0"/>
          </a:p>
        </p:txBody>
      </p:sp>
      <p:sp>
        <p:nvSpPr>
          <p:cNvPr id="23" name="Text 20"/>
          <p:cNvSpPr/>
          <p:nvPr/>
        </p:nvSpPr>
        <p:spPr>
          <a:xfrm>
            <a:off x="640080" y="4251960"/>
            <a:ext cx="7863840" cy="365760"/>
          </a:xfrm>
          <a:prstGeom prst="rect">
            <a:avLst/>
          </a:prstGeom>
          <a:noFill/>
          <a:ln/>
        </p:spPr>
        <p:txBody>
          <a:bodyPr wrap="square" rtlCol="0" anchor="ctr"/>
          <a:lstStyle/>
          <a:p>
            <a:pPr marL="0" indent="0">
              <a:buNone/>
            </a:pPr>
            <a:r>
              <a:rPr lang="en-US" sz="950" i="1" dirty="0">
                <a:solidFill>
                  <a:srgbClr val="5C6B7C"/>
                </a:solidFill>
                <a:latin typeface="Arial" pitchFamily="34" charset="0"/>
                <a:ea typeface="Arial" pitchFamily="34" charset="-122"/>
                <a:cs typeface="Arial" pitchFamily="34" charset="-120"/>
              </a:rPr>
              <a:t>Nota: los planes y límites de uso cambian con el tiempo; revise las condiciones vigentes en claude.ai o support.claude.com antes del taller.</a:t>
            </a:r>
            <a:endParaRPr lang="en-US" sz="9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292608"/>
            <a:ext cx="1005840" cy="41148"/>
          </a:xfrm>
          <a:prstGeom prst="rect">
            <a:avLst/>
          </a:prstGeom>
          <a:solidFill>
            <a:srgbClr val="FF9900"/>
          </a:solidFill>
          <a:ln/>
        </p:spPr>
      </p:sp>
      <p:sp>
        <p:nvSpPr>
          <p:cNvPr id="3" name="Text 1"/>
          <p:cNvSpPr/>
          <p:nvPr/>
        </p:nvSpPr>
        <p:spPr>
          <a:xfrm>
            <a:off x="640080" y="365760"/>
            <a:ext cx="6675120" cy="256032"/>
          </a:xfrm>
          <a:prstGeom prst="rect">
            <a:avLst/>
          </a:prstGeom>
          <a:noFill/>
          <a:ln/>
        </p:spPr>
        <p:txBody>
          <a:bodyPr wrap="square" rtlCol="0" anchor="ctr"/>
          <a:lstStyle/>
          <a:p>
            <a:pPr marL="0" indent="0">
              <a:buNone/>
            </a:pPr>
            <a:r>
              <a:rPr lang="en-US" sz="1000" b="1" kern="0" spc="150" dirty="0">
                <a:solidFill>
                  <a:srgbClr val="FC6E01"/>
                </a:solidFill>
                <a:latin typeface="Arial" pitchFamily="34" charset="0"/>
                <a:ea typeface="Arial" pitchFamily="34" charset="-122"/>
                <a:cs typeface="Arial" pitchFamily="34" charset="-120"/>
              </a:rPr>
              <a:t>DEL SIMULADOR · ¿QUÉ ES UN INDICADOR?</a:t>
            </a:r>
            <a:endParaRPr lang="en-US" sz="1000" dirty="0"/>
          </a:p>
        </p:txBody>
      </p:sp>
      <p:sp>
        <p:nvSpPr>
          <p:cNvPr id="4" name="Text 2"/>
          <p:cNvSpPr/>
          <p:nvPr/>
        </p:nvSpPr>
        <p:spPr>
          <a:xfrm>
            <a:off x="640080" y="621792"/>
            <a:ext cx="7315200" cy="502920"/>
          </a:xfrm>
          <a:prstGeom prst="rect">
            <a:avLst/>
          </a:prstGeom>
          <a:noFill/>
          <a:ln/>
        </p:spPr>
        <p:txBody>
          <a:bodyPr wrap="square" rtlCol="0" anchor="ctr"/>
          <a:lstStyle/>
          <a:p>
            <a:pPr marL="0" indent="0">
              <a:buNone/>
            </a:pPr>
            <a:r>
              <a:rPr lang="en-US" sz="2100" b="1" dirty="0">
                <a:solidFill>
                  <a:srgbClr val="173F72"/>
                </a:solidFill>
                <a:latin typeface="Arial" pitchFamily="34" charset="0"/>
                <a:ea typeface="Arial" pitchFamily="34" charset="-122"/>
                <a:cs typeface="Arial" pitchFamily="34" charset="-120"/>
              </a:rPr>
              <a:t>Jerarquías: Niveles de Intervención</a:t>
            </a:r>
            <a:endParaRPr lang="en-US" sz="2100" dirty="0"/>
          </a:p>
        </p:txBody>
      </p:sp>
      <p:pic>
        <p:nvPicPr>
          <p:cNvPr id="6" name="Image 0" descr="/home/claude/taller/assets/footer_banner.png"/>
          <p:cNvPicPr>
            <a:picLocks noChangeAspect="1"/>
          </p:cNvPicPr>
          <p:nvPr/>
        </p:nvPicPr>
        <p:blipFill>
          <a:blip r:embed="rId3"/>
          <a:stretch>
            <a:fillRect/>
          </a:stretch>
        </p:blipFill>
        <p:spPr>
          <a:xfrm>
            <a:off x="0" y="4672584"/>
            <a:ext cx="9144000" cy="469087"/>
          </a:xfrm>
          <a:prstGeom prst="rect">
            <a:avLst/>
          </a:prstGeom>
        </p:spPr>
      </p:pic>
      <p:sp>
        <p:nvSpPr>
          <p:cNvPr id="7" name="Text 4"/>
          <p:cNvSpPr/>
          <p:nvPr/>
        </p:nvSpPr>
        <p:spPr>
          <a:xfrm>
            <a:off x="274320" y="4727448"/>
            <a:ext cx="5669280" cy="274320"/>
          </a:xfrm>
          <a:prstGeom prst="rect">
            <a:avLst/>
          </a:prstGeom>
          <a:noFill/>
          <a:ln/>
        </p:spPr>
        <p:txBody>
          <a:bodyPr wrap="square" lIns="0" tIns="0" rIns="0" bIns="0" rtlCol="0" anchor="ctr"/>
          <a:lstStyle/>
          <a:p>
            <a:pPr marL="0" indent="0">
              <a:buNone/>
            </a:pPr>
            <a:r>
              <a:rPr lang="en-US" sz="800" dirty="0">
                <a:solidFill>
                  <a:srgbClr val="FFFFFF"/>
                </a:solidFill>
                <a:latin typeface="Arial" pitchFamily="34" charset="0"/>
                <a:ea typeface="Arial" pitchFamily="34" charset="-122"/>
                <a:cs typeface="Arial" pitchFamily="34" charset="-120"/>
              </a:rPr>
              <a:t>Taller de Indicadores de Gestión Pública con IA</a:t>
            </a:r>
            <a:endParaRPr lang="en-US" sz="800" dirty="0"/>
          </a:p>
        </p:txBody>
      </p:sp>
      <p:sp>
        <p:nvSpPr>
          <p:cNvPr id="8" name="Shape 5"/>
          <p:cNvSpPr/>
          <p:nvPr/>
        </p:nvSpPr>
        <p:spPr>
          <a:xfrm>
            <a:off x="640080" y="1645920"/>
            <a:ext cx="3849624" cy="2194560"/>
          </a:xfrm>
          <a:prstGeom prst="roundRect">
            <a:avLst>
              <a:gd name="adj" fmla="val 2500"/>
            </a:avLst>
          </a:prstGeom>
          <a:solidFill>
            <a:srgbClr val="EDF3F9"/>
          </a:solidFill>
          <a:ln/>
        </p:spPr>
      </p:sp>
      <p:sp>
        <p:nvSpPr>
          <p:cNvPr id="9" name="Shape 6"/>
          <p:cNvSpPr/>
          <p:nvPr/>
        </p:nvSpPr>
        <p:spPr>
          <a:xfrm>
            <a:off x="777240" y="1783080"/>
            <a:ext cx="365760" cy="365760"/>
          </a:xfrm>
          <a:prstGeom prst="ellipse">
            <a:avLst/>
          </a:prstGeom>
          <a:solidFill>
            <a:srgbClr val="FC6E01"/>
          </a:solidFill>
          <a:ln/>
        </p:spPr>
      </p:sp>
      <p:sp>
        <p:nvSpPr>
          <p:cNvPr id="10" name="Text 7"/>
          <p:cNvSpPr/>
          <p:nvPr/>
        </p:nvSpPr>
        <p:spPr>
          <a:xfrm>
            <a:off x="777240" y="1783080"/>
            <a:ext cx="365760" cy="365760"/>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11" name="Text 8"/>
          <p:cNvSpPr/>
          <p:nvPr/>
        </p:nvSpPr>
        <p:spPr>
          <a:xfrm>
            <a:off x="777240" y="2212848"/>
            <a:ext cx="3575304" cy="365760"/>
          </a:xfrm>
          <a:prstGeom prst="rect">
            <a:avLst/>
          </a:prstGeom>
          <a:noFill/>
          <a:ln/>
        </p:spPr>
        <p:txBody>
          <a:bodyPr wrap="square" rtlCol="0" anchor="t"/>
          <a:lstStyle/>
          <a:p>
            <a:pPr marL="0" indent="0">
              <a:buNone/>
            </a:pPr>
            <a:r>
              <a:rPr lang="en-US" sz="1200" b="1" dirty="0">
                <a:solidFill>
                  <a:srgbClr val="173F72"/>
                </a:solidFill>
                <a:latin typeface="Arial" pitchFamily="34" charset="0"/>
                <a:ea typeface="Arial" pitchFamily="34" charset="-122"/>
                <a:cs typeface="Arial" pitchFamily="34" charset="-120"/>
              </a:rPr>
              <a:t>Indicadores Estratégicos</a:t>
            </a:r>
            <a:endParaRPr lang="en-US" sz="1200" dirty="0"/>
          </a:p>
        </p:txBody>
      </p:sp>
      <p:sp>
        <p:nvSpPr>
          <p:cNvPr id="12" name="Text 9"/>
          <p:cNvSpPr/>
          <p:nvPr/>
        </p:nvSpPr>
        <p:spPr>
          <a:xfrm>
            <a:off x="777240" y="2560320"/>
            <a:ext cx="3575304" cy="1188720"/>
          </a:xfrm>
          <a:prstGeom prst="rect">
            <a:avLst/>
          </a:prstGeom>
          <a:noFill/>
          <a:ln/>
        </p:spPr>
        <p:txBody>
          <a:bodyPr wrap="square" rtlCol="0" anchor="t"/>
          <a:lstStyle/>
          <a:p>
            <a:pPr marL="0" indent="0">
              <a:buNone/>
            </a:pPr>
            <a:r>
              <a:rPr lang="en-US" sz="950" dirty="0">
                <a:solidFill>
                  <a:srgbClr val="5C6B7C"/>
                </a:solidFill>
                <a:latin typeface="Arial" pitchFamily="34" charset="0"/>
                <a:ea typeface="Arial" pitchFamily="34" charset="-122"/>
                <a:cs typeface="Arial" pitchFamily="34" charset="-120"/>
              </a:rPr>
              <a:t>Miden los resultados finales e impactos: cambios en el bienestar de la población objetivo.</a:t>
            </a:r>
            <a:endParaRPr lang="en-US" sz="950" dirty="0"/>
          </a:p>
        </p:txBody>
      </p:sp>
      <p:sp>
        <p:nvSpPr>
          <p:cNvPr id="13" name="Shape 10"/>
          <p:cNvSpPr/>
          <p:nvPr/>
        </p:nvSpPr>
        <p:spPr>
          <a:xfrm>
            <a:off x="4654296" y="1645920"/>
            <a:ext cx="3849624" cy="2194560"/>
          </a:xfrm>
          <a:prstGeom prst="roundRect">
            <a:avLst>
              <a:gd name="adj" fmla="val 2500"/>
            </a:avLst>
          </a:prstGeom>
          <a:solidFill>
            <a:srgbClr val="EDF3F9"/>
          </a:solidFill>
          <a:ln/>
        </p:spPr>
      </p:sp>
      <p:sp>
        <p:nvSpPr>
          <p:cNvPr id="14" name="Shape 11"/>
          <p:cNvSpPr/>
          <p:nvPr/>
        </p:nvSpPr>
        <p:spPr>
          <a:xfrm>
            <a:off x="4791456" y="1783080"/>
            <a:ext cx="365760" cy="365760"/>
          </a:xfrm>
          <a:prstGeom prst="ellipse">
            <a:avLst/>
          </a:prstGeom>
          <a:solidFill>
            <a:srgbClr val="FC6E01"/>
          </a:solidFill>
          <a:ln/>
        </p:spPr>
      </p:sp>
      <p:sp>
        <p:nvSpPr>
          <p:cNvPr id="15" name="Text 12"/>
          <p:cNvSpPr/>
          <p:nvPr/>
        </p:nvSpPr>
        <p:spPr>
          <a:xfrm>
            <a:off x="4791456" y="1783080"/>
            <a:ext cx="365760" cy="365760"/>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6" name="Text 13"/>
          <p:cNvSpPr/>
          <p:nvPr/>
        </p:nvSpPr>
        <p:spPr>
          <a:xfrm>
            <a:off x="4791456" y="2212848"/>
            <a:ext cx="3575304" cy="365760"/>
          </a:xfrm>
          <a:prstGeom prst="rect">
            <a:avLst/>
          </a:prstGeom>
          <a:noFill/>
          <a:ln/>
        </p:spPr>
        <p:txBody>
          <a:bodyPr wrap="square" rtlCol="0" anchor="t"/>
          <a:lstStyle/>
          <a:p>
            <a:pPr marL="0" indent="0">
              <a:buNone/>
            </a:pPr>
            <a:r>
              <a:rPr lang="en-US" sz="1200" b="1" dirty="0">
                <a:solidFill>
                  <a:srgbClr val="173F72"/>
                </a:solidFill>
                <a:latin typeface="Arial" pitchFamily="34" charset="0"/>
                <a:ea typeface="Arial" pitchFamily="34" charset="-122"/>
                <a:cs typeface="Arial" pitchFamily="34" charset="-120"/>
              </a:rPr>
              <a:t>Indicadores de Gestión / Operativos</a:t>
            </a:r>
            <a:endParaRPr lang="en-US" sz="1200" dirty="0"/>
          </a:p>
        </p:txBody>
      </p:sp>
      <p:sp>
        <p:nvSpPr>
          <p:cNvPr id="17" name="Text 14"/>
          <p:cNvSpPr/>
          <p:nvPr/>
        </p:nvSpPr>
        <p:spPr>
          <a:xfrm>
            <a:off x="4791456" y="2560320"/>
            <a:ext cx="3575304" cy="1188720"/>
          </a:xfrm>
          <a:prstGeom prst="rect">
            <a:avLst/>
          </a:prstGeom>
          <a:noFill/>
          <a:ln/>
        </p:spPr>
        <p:txBody>
          <a:bodyPr wrap="square" rtlCol="0" anchor="t"/>
          <a:lstStyle/>
          <a:p>
            <a:pPr marL="0" indent="0">
              <a:buNone/>
            </a:pPr>
            <a:r>
              <a:rPr lang="en-US" sz="950" dirty="0">
                <a:solidFill>
                  <a:srgbClr val="5C6B7C"/>
                </a:solidFill>
                <a:latin typeface="Arial" pitchFamily="34" charset="0"/>
                <a:ea typeface="Arial" pitchFamily="34" charset="-122"/>
                <a:cs typeface="Arial" pitchFamily="34" charset="-120"/>
              </a:rPr>
              <a:t>Miden los procesos, actividades e insumos internos de la entidad — el día a día operativo.</a:t>
            </a:r>
            <a:endParaRPr lang="en-US" sz="950" dirty="0"/>
          </a:p>
        </p:txBody>
      </p:sp>
      <p:sp>
        <p:nvSpPr>
          <p:cNvPr id="18" name="Text 15"/>
          <p:cNvSpPr/>
          <p:nvPr/>
        </p:nvSpPr>
        <p:spPr>
          <a:xfrm>
            <a:off x="640080" y="3977640"/>
            <a:ext cx="7863840" cy="502920"/>
          </a:xfrm>
          <a:prstGeom prst="rect">
            <a:avLst/>
          </a:prstGeom>
          <a:noFill/>
          <a:ln/>
        </p:spPr>
        <p:txBody>
          <a:bodyPr wrap="square" rtlCol="0" anchor="ctr"/>
          <a:lstStyle/>
          <a:p>
            <a:pPr marL="0" indent="0">
              <a:buNone/>
            </a:pPr>
            <a:r>
              <a:rPr lang="en-US" sz="1000" i="1" dirty="0">
                <a:solidFill>
                  <a:srgbClr val="5C6B7C"/>
                </a:solidFill>
                <a:latin typeface="Arial" pitchFamily="34" charset="0"/>
                <a:ea typeface="Arial" pitchFamily="34" charset="-122"/>
                <a:cs typeface="Arial" pitchFamily="34" charset="-120"/>
              </a:rPr>
              <a:t>Un indicador es una representación cuantitativa o cualitativa que describe características o comportamientos de la realidad en el tiempo, comparada con metas o periodos anteriores (DANE/ESAP).</a:t>
            </a:r>
            <a:endParaRPr lang="en-US" sz="1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731520" y="1828800"/>
            <a:ext cx="7680960" cy="320040"/>
          </a:xfrm>
          <a:prstGeom prst="rect">
            <a:avLst/>
          </a:prstGeom>
          <a:noFill/>
          <a:ln/>
        </p:spPr>
        <p:txBody>
          <a:bodyPr wrap="square" rtlCol="0" anchor="ctr"/>
          <a:lstStyle/>
          <a:p>
            <a:pPr marL="0" indent="0" algn="l">
              <a:buNone/>
            </a:pPr>
            <a:r>
              <a:rPr lang="en-US" sz="1200" b="1" kern="0" spc="200" dirty="0">
                <a:solidFill>
                  <a:srgbClr val="FF9900"/>
                </a:solidFill>
                <a:latin typeface="Arial" pitchFamily="34" charset="0"/>
                <a:ea typeface="Arial" pitchFamily="34" charset="-122"/>
                <a:cs typeface="Arial" pitchFamily="34" charset="-120"/>
              </a:rPr>
              <a:t>BLOQUE 2 · KIT DE PROMPTS</a:t>
            </a:r>
            <a:endParaRPr lang="en-US" sz="1200" dirty="0"/>
          </a:p>
        </p:txBody>
      </p:sp>
      <p:sp>
        <p:nvSpPr>
          <p:cNvPr id="3" name="Text 1"/>
          <p:cNvSpPr/>
          <p:nvPr/>
        </p:nvSpPr>
        <p:spPr>
          <a:xfrm>
            <a:off x="731520" y="2212848"/>
            <a:ext cx="7680960" cy="1188720"/>
          </a:xfrm>
          <a:prstGeom prst="rect">
            <a:avLst/>
          </a:prstGeom>
          <a:noFill/>
          <a:ln/>
        </p:spPr>
        <p:txBody>
          <a:bodyPr wrap="square" rtlCol="0" anchor="t"/>
          <a:lstStyle/>
          <a:p>
            <a:pPr marL="0" indent="0" algn="l">
              <a:buNone/>
            </a:pPr>
            <a:r>
              <a:rPr lang="en-US" sz="3000" b="1" dirty="0">
                <a:solidFill>
                  <a:srgbClr val="FFFFFF"/>
                </a:solidFill>
                <a:latin typeface="Arial" pitchFamily="34" charset="0"/>
                <a:ea typeface="Arial" pitchFamily="34" charset="-122"/>
                <a:cs typeface="Arial" pitchFamily="34" charset="-120"/>
              </a:rPr>
              <a:t>Cómo Generar Prompts para Automatizar el Proceso</a:t>
            </a:r>
            <a:endParaRPr lang="en-US" sz="3000" dirty="0"/>
          </a:p>
        </p:txBody>
      </p:sp>
      <p:sp>
        <p:nvSpPr>
          <p:cNvPr id="4" name="Text 2"/>
          <p:cNvSpPr/>
          <p:nvPr/>
        </p:nvSpPr>
        <p:spPr>
          <a:xfrm>
            <a:off x="731520" y="3447288"/>
            <a:ext cx="7680960" cy="457200"/>
          </a:xfrm>
          <a:prstGeom prst="rect">
            <a:avLst/>
          </a:prstGeom>
          <a:noFill/>
          <a:ln/>
        </p:spPr>
        <p:txBody>
          <a:bodyPr wrap="square" rtlCol="0" anchor="ctr"/>
          <a:lstStyle/>
          <a:p>
            <a:pPr marL="0" indent="0" algn="l">
              <a:buNone/>
            </a:pPr>
            <a:r>
              <a:rPr lang="en-US" sz="1400" i="1" dirty="0">
                <a:solidFill>
                  <a:srgbClr val="CADCFC"/>
                </a:solidFill>
                <a:latin typeface="Arial" pitchFamily="34" charset="0"/>
                <a:ea typeface="Arial" pitchFamily="34" charset="-122"/>
                <a:cs typeface="Arial" pitchFamily="34" charset="-120"/>
              </a:rPr>
              <a:t>Rol claro + insumo + instrucciones + criterio de calidad</a:t>
            </a:r>
            <a:endParaRPr lang="en-US" sz="1400" dirty="0"/>
          </a:p>
        </p:txBody>
      </p:sp>
      <p:sp>
        <p:nvSpPr>
          <p:cNvPr id="5" name="Text 3"/>
          <p:cNvSpPr/>
          <p:nvPr/>
        </p:nvSpPr>
        <p:spPr>
          <a:xfrm>
            <a:off x="731520" y="3904488"/>
            <a:ext cx="7680960" cy="365760"/>
          </a:xfrm>
          <a:prstGeom prst="rect">
            <a:avLst/>
          </a:prstGeom>
          <a:noFill/>
          <a:ln/>
        </p:spPr>
        <p:txBody>
          <a:bodyPr wrap="square" rtlCol="0" anchor="ctr"/>
          <a:lstStyle/>
          <a:p>
            <a:pPr marL="0" indent="0" algn="l">
              <a:buNone/>
            </a:pPr>
            <a:r>
              <a:rPr lang="en-US" sz="1100" dirty="0">
                <a:solidFill>
                  <a:srgbClr val="9FB8D9"/>
                </a:solidFill>
                <a:latin typeface="Arial" pitchFamily="34" charset="0"/>
                <a:ea typeface="Arial" pitchFamily="34" charset="-122"/>
                <a:cs typeface="Arial" pitchFamily="34" charset="-120"/>
              </a:rPr>
              <a:t>20 min</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292608"/>
            <a:ext cx="1005840" cy="41148"/>
          </a:xfrm>
          <a:prstGeom prst="rect">
            <a:avLst/>
          </a:prstGeom>
          <a:solidFill>
            <a:srgbClr val="FF9900"/>
          </a:solidFill>
          <a:ln/>
        </p:spPr>
      </p:sp>
      <p:sp>
        <p:nvSpPr>
          <p:cNvPr id="3" name="Text 1"/>
          <p:cNvSpPr/>
          <p:nvPr/>
        </p:nvSpPr>
        <p:spPr>
          <a:xfrm>
            <a:off x="640080" y="365760"/>
            <a:ext cx="6675120" cy="256032"/>
          </a:xfrm>
          <a:prstGeom prst="rect">
            <a:avLst/>
          </a:prstGeom>
          <a:noFill/>
          <a:ln/>
        </p:spPr>
        <p:txBody>
          <a:bodyPr wrap="square" rtlCol="0" anchor="ctr"/>
          <a:lstStyle/>
          <a:p>
            <a:pPr marL="0" indent="0">
              <a:buNone/>
            </a:pPr>
            <a:r>
              <a:rPr lang="en-US" sz="1000" b="1" kern="0" spc="150" dirty="0">
                <a:solidFill>
                  <a:srgbClr val="FC6E01"/>
                </a:solidFill>
                <a:latin typeface="Arial" pitchFamily="34" charset="0"/>
                <a:ea typeface="Arial" pitchFamily="34" charset="-122"/>
                <a:cs typeface="Arial" pitchFamily="34" charset="-120"/>
              </a:rPr>
              <a:t>KIT DE PROMPTS</a:t>
            </a:r>
            <a:endParaRPr lang="en-US" sz="1000" dirty="0"/>
          </a:p>
        </p:txBody>
      </p:sp>
      <p:sp>
        <p:nvSpPr>
          <p:cNvPr id="4" name="Text 2"/>
          <p:cNvSpPr/>
          <p:nvPr/>
        </p:nvSpPr>
        <p:spPr>
          <a:xfrm>
            <a:off x="640080" y="621792"/>
            <a:ext cx="7315200" cy="502920"/>
          </a:xfrm>
          <a:prstGeom prst="rect">
            <a:avLst/>
          </a:prstGeom>
          <a:noFill/>
          <a:ln/>
        </p:spPr>
        <p:txBody>
          <a:bodyPr wrap="square" rtlCol="0" anchor="ctr"/>
          <a:lstStyle/>
          <a:p>
            <a:pPr marL="0" indent="0">
              <a:buNone/>
            </a:pPr>
            <a:r>
              <a:rPr lang="en-US" sz="2100" b="1" dirty="0">
                <a:solidFill>
                  <a:srgbClr val="173F72"/>
                </a:solidFill>
                <a:latin typeface="Arial" pitchFamily="34" charset="0"/>
                <a:ea typeface="Arial" pitchFamily="34" charset="-122"/>
                <a:cs typeface="Arial" pitchFamily="34" charset="-120"/>
              </a:rPr>
              <a:t>Anatomía de un Buen Prompt Técnico</a:t>
            </a:r>
            <a:endParaRPr lang="en-US" sz="2100" dirty="0"/>
          </a:p>
        </p:txBody>
      </p:sp>
      <p:pic>
        <p:nvPicPr>
          <p:cNvPr id="6" name="Image 0" descr="/home/claude/taller/assets/footer_banner.png"/>
          <p:cNvPicPr>
            <a:picLocks noChangeAspect="1"/>
          </p:cNvPicPr>
          <p:nvPr/>
        </p:nvPicPr>
        <p:blipFill>
          <a:blip r:embed="rId3"/>
          <a:stretch>
            <a:fillRect/>
          </a:stretch>
        </p:blipFill>
        <p:spPr>
          <a:xfrm>
            <a:off x="0" y="4672584"/>
            <a:ext cx="9144000" cy="469087"/>
          </a:xfrm>
          <a:prstGeom prst="rect">
            <a:avLst/>
          </a:prstGeom>
        </p:spPr>
      </p:pic>
      <p:sp>
        <p:nvSpPr>
          <p:cNvPr id="7" name="Text 4"/>
          <p:cNvSpPr/>
          <p:nvPr/>
        </p:nvSpPr>
        <p:spPr>
          <a:xfrm>
            <a:off x="274320" y="4727448"/>
            <a:ext cx="5669280" cy="274320"/>
          </a:xfrm>
          <a:prstGeom prst="rect">
            <a:avLst/>
          </a:prstGeom>
          <a:noFill/>
          <a:ln/>
        </p:spPr>
        <p:txBody>
          <a:bodyPr wrap="square" lIns="0" tIns="0" rIns="0" bIns="0" rtlCol="0" anchor="ctr"/>
          <a:lstStyle/>
          <a:p>
            <a:pPr marL="0" indent="0">
              <a:buNone/>
            </a:pPr>
            <a:r>
              <a:rPr lang="en-US" sz="800" dirty="0">
                <a:solidFill>
                  <a:srgbClr val="FFFFFF"/>
                </a:solidFill>
                <a:latin typeface="Arial" pitchFamily="34" charset="0"/>
                <a:ea typeface="Arial" pitchFamily="34" charset="-122"/>
                <a:cs typeface="Arial" pitchFamily="34" charset="-120"/>
              </a:rPr>
              <a:t>Taller de Indicadores de Gestión Pública con IA</a:t>
            </a:r>
            <a:endParaRPr lang="en-US" sz="800" dirty="0"/>
          </a:p>
        </p:txBody>
      </p:sp>
      <p:sp>
        <p:nvSpPr>
          <p:cNvPr id="8" name="Text 5"/>
          <p:cNvSpPr/>
          <p:nvPr/>
        </p:nvSpPr>
        <p:spPr>
          <a:xfrm>
            <a:off x="640080" y="1463040"/>
            <a:ext cx="7863840" cy="3200400"/>
          </a:xfrm>
          <a:prstGeom prst="rect">
            <a:avLst/>
          </a:prstGeom>
          <a:noFill/>
          <a:ln/>
        </p:spPr>
        <p:txBody>
          <a:bodyPr wrap="square" rtlCol="0" anchor="t"/>
          <a:lstStyle/>
          <a:p>
            <a:pPr marL="177800" indent="-177800">
              <a:spcAft>
                <a:spcPts val="1000"/>
              </a:spcAft>
              <a:buSzPct val="100000"/>
              <a:buChar char="•"/>
            </a:pPr>
            <a:r>
              <a:rPr lang="en-US" sz="1300" dirty="0">
                <a:solidFill>
                  <a:srgbClr val="2F3B4C"/>
                </a:solidFill>
                <a:latin typeface="Arial" pitchFamily="34" charset="0"/>
                <a:ea typeface="Arial" pitchFamily="34" charset="-122"/>
                <a:cs typeface="Arial" pitchFamily="34" charset="-120"/>
              </a:rPr>
              <a:t>Rol claro para el modelo — “Actúa como experto en indicadores de salud pública (metodologías DNP y MinSalud)”.</a:t>
            </a:r>
            <a:endParaRPr lang="en-US" sz="1300" dirty="0"/>
          </a:p>
          <a:p>
            <a:pPr marL="177800" indent="-177800">
              <a:spcAft>
                <a:spcPts val="1000"/>
              </a:spcAft>
              <a:buSzPct val="100000"/>
              <a:buChar char="•"/>
            </a:pPr>
            <a:r>
              <a:rPr lang="en-US" sz="1300" dirty="0">
                <a:solidFill>
                  <a:srgbClr val="2F3B4C"/>
                </a:solidFill>
                <a:latin typeface="Arial" pitchFamily="34" charset="0"/>
                <a:ea typeface="Arial" pitchFamily="34" charset="-122"/>
                <a:cs typeface="Arial" pitchFamily="34" charset="-120"/>
              </a:rPr>
              <a:t>Insumo concreto que se pega — la pregunta de gestión, el borrador de indicador o la batería completa.</a:t>
            </a:r>
            <a:endParaRPr lang="en-US" sz="1300" dirty="0"/>
          </a:p>
          <a:p>
            <a:pPr marL="177800" indent="-177800">
              <a:spcAft>
                <a:spcPts val="1000"/>
              </a:spcAft>
              <a:buSzPct val="100000"/>
              <a:buChar char="•"/>
            </a:pPr>
            <a:r>
              <a:rPr lang="en-US" sz="1300" dirty="0">
                <a:solidFill>
                  <a:srgbClr val="2F3B4C"/>
                </a:solidFill>
                <a:latin typeface="Arial" pitchFamily="34" charset="0"/>
                <a:ea typeface="Arial" pitchFamily="34" charset="-122"/>
                <a:cs typeface="Arial" pitchFamily="34" charset="-120"/>
              </a:rPr>
              <a:t>Instrucciones explícitas y numeradas — qué debe producir el modelo, paso a paso.</a:t>
            </a:r>
            <a:endParaRPr lang="en-US" sz="1300" dirty="0"/>
          </a:p>
          <a:p>
            <a:pPr marL="177800" indent="-177800">
              <a:spcAft>
                <a:spcPts val="1000"/>
              </a:spcAft>
              <a:buSzPct val="100000"/>
              <a:buChar char="•"/>
            </a:pPr>
            <a:r>
              <a:rPr lang="en-US" sz="1300" dirty="0">
                <a:solidFill>
                  <a:srgbClr val="2F3B4C"/>
                </a:solidFill>
                <a:latin typeface="Arial" pitchFamily="34" charset="0"/>
                <a:ea typeface="Arial" pitchFamily="34" charset="-122"/>
                <a:cs typeface="Arial" pitchFamily="34" charset="-120"/>
              </a:rPr>
              <a:t>Criterio de calidad para validar su respuesta — SMART, CREMAS, cadena de valor.</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292608"/>
            <a:ext cx="1005840" cy="41148"/>
          </a:xfrm>
          <a:prstGeom prst="rect">
            <a:avLst/>
          </a:prstGeom>
          <a:solidFill>
            <a:srgbClr val="FF9900"/>
          </a:solidFill>
          <a:ln/>
        </p:spPr>
      </p:sp>
      <p:sp>
        <p:nvSpPr>
          <p:cNvPr id="3" name="Text 1"/>
          <p:cNvSpPr/>
          <p:nvPr/>
        </p:nvSpPr>
        <p:spPr>
          <a:xfrm>
            <a:off x="640080" y="365760"/>
            <a:ext cx="6675120" cy="256032"/>
          </a:xfrm>
          <a:prstGeom prst="rect">
            <a:avLst/>
          </a:prstGeom>
          <a:noFill/>
          <a:ln/>
        </p:spPr>
        <p:txBody>
          <a:bodyPr wrap="square" rtlCol="0" anchor="ctr"/>
          <a:lstStyle/>
          <a:p>
            <a:pPr marL="0" indent="0">
              <a:buNone/>
            </a:pPr>
            <a:r>
              <a:rPr lang="en-US" sz="1000" b="1" kern="0" spc="150" dirty="0">
                <a:solidFill>
                  <a:srgbClr val="FC6E01"/>
                </a:solidFill>
                <a:latin typeface="Arial" pitchFamily="34" charset="0"/>
                <a:ea typeface="Arial" pitchFamily="34" charset="-122"/>
                <a:cs typeface="Arial" pitchFamily="34" charset="-120"/>
              </a:rPr>
              <a:t>KIT DE PROMPTS</a:t>
            </a:r>
            <a:endParaRPr lang="en-US" sz="1000" dirty="0"/>
          </a:p>
        </p:txBody>
      </p:sp>
      <p:sp>
        <p:nvSpPr>
          <p:cNvPr id="4" name="Text 2"/>
          <p:cNvSpPr/>
          <p:nvPr/>
        </p:nvSpPr>
        <p:spPr>
          <a:xfrm>
            <a:off x="640080" y="621792"/>
            <a:ext cx="7315200" cy="502920"/>
          </a:xfrm>
          <a:prstGeom prst="rect">
            <a:avLst/>
          </a:prstGeom>
          <a:noFill/>
          <a:ln/>
        </p:spPr>
        <p:txBody>
          <a:bodyPr wrap="square" rtlCol="0" anchor="ctr"/>
          <a:lstStyle/>
          <a:p>
            <a:pPr marL="0" indent="0">
              <a:buNone/>
            </a:pPr>
            <a:r>
              <a:rPr lang="en-US" sz="2100" b="1" dirty="0">
                <a:solidFill>
                  <a:srgbClr val="173F72"/>
                </a:solidFill>
                <a:latin typeface="Arial" pitchFamily="34" charset="0"/>
                <a:ea typeface="Arial" pitchFamily="34" charset="-122"/>
                <a:cs typeface="Arial" pitchFamily="34" charset="-120"/>
              </a:rPr>
              <a:t>Prompts 1 y 2</a:t>
            </a:r>
            <a:endParaRPr lang="en-US" sz="2100" dirty="0"/>
          </a:p>
        </p:txBody>
      </p:sp>
      <p:pic>
        <p:nvPicPr>
          <p:cNvPr id="6" name="Image 0" descr="/home/claude/taller/assets/footer_banner.png"/>
          <p:cNvPicPr>
            <a:picLocks noChangeAspect="1"/>
          </p:cNvPicPr>
          <p:nvPr/>
        </p:nvPicPr>
        <p:blipFill>
          <a:blip r:embed="rId3"/>
          <a:stretch>
            <a:fillRect/>
          </a:stretch>
        </p:blipFill>
        <p:spPr>
          <a:xfrm>
            <a:off x="0" y="4672584"/>
            <a:ext cx="9144000" cy="469087"/>
          </a:xfrm>
          <a:prstGeom prst="rect">
            <a:avLst/>
          </a:prstGeom>
        </p:spPr>
      </p:pic>
      <p:sp>
        <p:nvSpPr>
          <p:cNvPr id="7" name="Text 4"/>
          <p:cNvSpPr/>
          <p:nvPr/>
        </p:nvSpPr>
        <p:spPr>
          <a:xfrm>
            <a:off x="274320" y="4727448"/>
            <a:ext cx="5669280" cy="274320"/>
          </a:xfrm>
          <a:prstGeom prst="rect">
            <a:avLst/>
          </a:prstGeom>
          <a:noFill/>
          <a:ln/>
        </p:spPr>
        <p:txBody>
          <a:bodyPr wrap="square" lIns="0" tIns="0" rIns="0" bIns="0" rtlCol="0" anchor="ctr"/>
          <a:lstStyle/>
          <a:p>
            <a:pPr marL="0" indent="0">
              <a:buNone/>
            </a:pPr>
            <a:r>
              <a:rPr lang="en-US" sz="800" dirty="0">
                <a:solidFill>
                  <a:srgbClr val="FFFFFF"/>
                </a:solidFill>
                <a:latin typeface="Arial" pitchFamily="34" charset="0"/>
                <a:ea typeface="Arial" pitchFamily="34" charset="-122"/>
                <a:cs typeface="Arial" pitchFamily="34" charset="-120"/>
              </a:rPr>
              <a:t>Taller de Indicadores de Gestión Pública con IA</a:t>
            </a:r>
            <a:endParaRPr lang="en-US" sz="800" dirty="0"/>
          </a:p>
        </p:txBody>
      </p:sp>
      <p:sp>
        <p:nvSpPr>
          <p:cNvPr id="8" name="Text 5"/>
          <p:cNvSpPr/>
          <p:nvPr/>
        </p:nvSpPr>
        <p:spPr>
          <a:xfrm>
            <a:off x="640080" y="1280160"/>
            <a:ext cx="7863840" cy="274320"/>
          </a:xfrm>
          <a:prstGeom prst="rect">
            <a:avLst/>
          </a:prstGeom>
          <a:noFill/>
          <a:ln/>
        </p:spPr>
        <p:txBody>
          <a:bodyPr wrap="square" rtlCol="0" anchor="ctr"/>
          <a:lstStyle/>
          <a:p>
            <a:pPr marL="0" indent="0">
              <a:buNone/>
            </a:pPr>
            <a:r>
              <a:rPr lang="en-US" sz="950" i="1" dirty="0">
                <a:solidFill>
                  <a:srgbClr val="5C6B7C"/>
                </a:solidFill>
                <a:latin typeface="Arial" pitchFamily="34" charset="0"/>
                <a:ea typeface="Arial" pitchFamily="34" charset="-122"/>
                <a:cs typeface="Arial" pitchFamily="34" charset="-120"/>
              </a:rPr>
              <a:t>Nota: son 4 herramientas independientes para momentos distintos del método — no es obligatorio encadenarlas en orden.</a:t>
            </a:r>
            <a:endParaRPr lang="en-US" sz="950" dirty="0"/>
          </a:p>
        </p:txBody>
      </p:sp>
      <p:sp>
        <p:nvSpPr>
          <p:cNvPr id="9" name="Text 6"/>
          <p:cNvSpPr/>
          <p:nvPr/>
        </p:nvSpPr>
        <p:spPr>
          <a:xfrm>
            <a:off x="640080" y="1645920"/>
            <a:ext cx="7863840" cy="274320"/>
          </a:xfrm>
          <a:prstGeom prst="rect">
            <a:avLst/>
          </a:prstGeom>
          <a:noFill/>
          <a:ln/>
        </p:spPr>
        <p:txBody>
          <a:bodyPr wrap="square" rtlCol="0" anchor="ctr"/>
          <a:lstStyle/>
          <a:p>
            <a:pPr marL="0" indent="0">
              <a:buNone/>
            </a:pPr>
            <a:r>
              <a:rPr lang="en-US" sz="1100" b="1" dirty="0">
                <a:solidFill>
                  <a:srgbClr val="173F72"/>
                </a:solidFill>
                <a:latin typeface="Arial" pitchFamily="34" charset="0"/>
                <a:ea typeface="Arial" pitchFamily="34" charset="-122"/>
                <a:cs typeface="Arial" pitchFamily="34" charset="-120"/>
              </a:rPr>
              <a:t>Prompt sugerido para IA (Claude.ai)</a:t>
            </a:r>
            <a:endParaRPr lang="en-US" sz="1100" dirty="0"/>
          </a:p>
        </p:txBody>
      </p:sp>
      <p:sp>
        <p:nvSpPr>
          <p:cNvPr id="10" name="Shape 7"/>
          <p:cNvSpPr/>
          <p:nvPr/>
        </p:nvSpPr>
        <p:spPr>
          <a:xfrm>
            <a:off x="640080" y="1938528"/>
            <a:ext cx="7863840" cy="1097280"/>
          </a:xfrm>
          <a:prstGeom prst="roundRect">
            <a:avLst>
              <a:gd name="adj" fmla="val 3333"/>
            </a:avLst>
          </a:prstGeom>
          <a:solidFill>
            <a:srgbClr val="F5F5F5"/>
          </a:solidFill>
          <a:ln w="6350">
            <a:solidFill>
              <a:srgbClr val="C9C9C9"/>
            </a:solidFill>
            <a:prstDash val="solid"/>
          </a:ln>
        </p:spPr>
      </p:sp>
      <p:sp>
        <p:nvSpPr>
          <p:cNvPr id="11" name="Text 8"/>
          <p:cNvSpPr/>
          <p:nvPr/>
        </p:nvSpPr>
        <p:spPr>
          <a:xfrm>
            <a:off x="822960" y="2029968"/>
            <a:ext cx="7498080" cy="914400"/>
          </a:xfrm>
          <a:prstGeom prst="rect">
            <a:avLst/>
          </a:prstGeom>
          <a:noFill/>
          <a:ln/>
        </p:spPr>
        <p:txBody>
          <a:bodyPr wrap="square" rtlCol="0" anchor="t"/>
          <a:lstStyle/>
          <a:p>
            <a:pPr marL="0" indent="0">
              <a:buNone/>
            </a:pPr>
            <a:r>
              <a:rPr lang="en-US" sz="950" i="1" dirty="0">
                <a:solidFill>
                  <a:srgbClr val="2F3B4C"/>
                </a:solidFill>
                <a:latin typeface="Consolas" pitchFamily="34" charset="0"/>
                <a:ea typeface="Consolas" pitchFamily="34" charset="-122"/>
                <a:cs typeface="Consolas" pitchFamily="34" charset="-120"/>
              </a:rPr>
              <a:t>Prompt 1 — Diagnóstico: “Tengo esta pregunta de gestión: [pegar]. Evalúa si cumple los 4 componentes (población, atributo, ámbito, referente) y dime cuáles faltan. Propón 3 opciones de reformulación.”</a:t>
            </a:r>
            <a:endParaRPr lang="en-US" sz="950" dirty="0"/>
          </a:p>
        </p:txBody>
      </p:sp>
      <p:sp>
        <p:nvSpPr>
          <p:cNvPr id="12" name="Text 9"/>
          <p:cNvSpPr/>
          <p:nvPr/>
        </p:nvSpPr>
        <p:spPr>
          <a:xfrm>
            <a:off x="640080" y="3063240"/>
            <a:ext cx="7863840" cy="274320"/>
          </a:xfrm>
          <a:prstGeom prst="rect">
            <a:avLst/>
          </a:prstGeom>
          <a:noFill/>
          <a:ln/>
        </p:spPr>
        <p:txBody>
          <a:bodyPr wrap="square" rtlCol="0" anchor="ctr"/>
          <a:lstStyle/>
          <a:p>
            <a:pPr marL="0" indent="0">
              <a:buNone/>
            </a:pPr>
            <a:r>
              <a:rPr lang="en-US" sz="1100" b="1" dirty="0">
                <a:solidFill>
                  <a:srgbClr val="173F72"/>
                </a:solidFill>
                <a:latin typeface="Arial" pitchFamily="34" charset="0"/>
                <a:ea typeface="Arial" pitchFamily="34" charset="-122"/>
                <a:cs typeface="Arial" pitchFamily="34" charset="-120"/>
              </a:rPr>
              <a:t>Prompt sugerido para IA (Claude.ai)</a:t>
            </a:r>
            <a:endParaRPr lang="en-US" sz="1100" dirty="0"/>
          </a:p>
        </p:txBody>
      </p:sp>
      <p:sp>
        <p:nvSpPr>
          <p:cNvPr id="13" name="Shape 10"/>
          <p:cNvSpPr/>
          <p:nvPr/>
        </p:nvSpPr>
        <p:spPr>
          <a:xfrm>
            <a:off x="640080" y="3355848"/>
            <a:ext cx="7863840" cy="1097280"/>
          </a:xfrm>
          <a:prstGeom prst="roundRect">
            <a:avLst>
              <a:gd name="adj" fmla="val 3333"/>
            </a:avLst>
          </a:prstGeom>
          <a:solidFill>
            <a:srgbClr val="F5F5F5"/>
          </a:solidFill>
          <a:ln w="6350">
            <a:solidFill>
              <a:srgbClr val="C9C9C9"/>
            </a:solidFill>
            <a:prstDash val="solid"/>
          </a:ln>
        </p:spPr>
      </p:sp>
      <p:sp>
        <p:nvSpPr>
          <p:cNvPr id="14" name="Text 11"/>
          <p:cNvSpPr/>
          <p:nvPr/>
        </p:nvSpPr>
        <p:spPr>
          <a:xfrm>
            <a:off x="822960" y="3447288"/>
            <a:ext cx="7498080" cy="914400"/>
          </a:xfrm>
          <a:prstGeom prst="rect">
            <a:avLst/>
          </a:prstGeom>
          <a:noFill/>
          <a:ln/>
        </p:spPr>
        <p:txBody>
          <a:bodyPr wrap="square" rtlCol="0" anchor="t"/>
          <a:lstStyle/>
          <a:p>
            <a:pPr marL="0" indent="0">
              <a:buNone/>
            </a:pPr>
            <a:r>
              <a:rPr lang="en-US" sz="950" i="1" dirty="0">
                <a:solidFill>
                  <a:srgbClr val="2F3B4C"/>
                </a:solidFill>
                <a:latin typeface="Consolas" pitchFamily="34" charset="0"/>
                <a:ea typeface="Consolas" pitchFamily="34" charset="-122"/>
                <a:cs typeface="Consolas" pitchFamily="34" charset="-120"/>
              </a:rPr>
              <a:t>Prompt 2 — Generación de alternativas: “A partir de esta pregunta ya refinada: [pegar], propón 3 indicadores con fórmula, unidad, eslabón y fuente posible, siguiendo CREMAS.”</a:t>
            </a:r>
            <a:endParaRPr lang="en-US" sz="9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292608"/>
            <a:ext cx="1005840" cy="41148"/>
          </a:xfrm>
          <a:prstGeom prst="rect">
            <a:avLst/>
          </a:prstGeom>
          <a:solidFill>
            <a:srgbClr val="FF9900"/>
          </a:solidFill>
          <a:ln/>
        </p:spPr>
      </p:sp>
      <p:sp>
        <p:nvSpPr>
          <p:cNvPr id="3" name="Text 1"/>
          <p:cNvSpPr/>
          <p:nvPr/>
        </p:nvSpPr>
        <p:spPr>
          <a:xfrm>
            <a:off x="640080" y="365760"/>
            <a:ext cx="6675120" cy="256032"/>
          </a:xfrm>
          <a:prstGeom prst="rect">
            <a:avLst/>
          </a:prstGeom>
          <a:noFill/>
          <a:ln/>
        </p:spPr>
        <p:txBody>
          <a:bodyPr wrap="square" rtlCol="0" anchor="ctr"/>
          <a:lstStyle/>
          <a:p>
            <a:pPr marL="0" indent="0">
              <a:buNone/>
            </a:pPr>
            <a:r>
              <a:rPr lang="en-US" sz="1000" b="1" kern="0" spc="150" dirty="0">
                <a:solidFill>
                  <a:srgbClr val="FC6E01"/>
                </a:solidFill>
                <a:latin typeface="Arial" pitchFamily="34" charset="0"/>
                <a:ea typeface="Arial" pitchFamily="34" charset="-122"/>
                <a:cs typeface="Arial" pitchFamily="34" charset="-120"/>
              </a:rPr>
              <a:t>KIT DE PROMPTS</a:t>
            </a:r>
            <a:endParaRPr lang="en-US" sz="1000" dirty="0"/>
          </a:p>
        </p:txBody>
      </p:sp>
      <p:sp>
        <p:nvSpPr>
          <p:cNvPr id="4" name="Text 2"/>
          <p:cNvSpPr/>
          <p:nvPr/>
        </p:nvSpPr>
        <p:spPr>
          <a:xfrm>
            <a:off x="640080" y="621792"/>
            <a:ext cx="7315200" cy="502920"/>
          </a:xfrm>
          <a:prstGeom prst="rect">
            <a:avLst/>
          </a:prstGeom>
          <a:noFill/>
          <a:ln/>
        </p:spPr>
        <p:txBody>
          <a:bodyPr wrap="square" rtlCol="0" anchor="ctr"/>
          <a:lstStyle/>
          <a:p>
            <a:pPr marL="0" indent="0">
              <a:buNone/>
            </a:pPr>
            <a:r>
              <a:rPr lang="en-US" sz="2100" b="1" dirty="0">
                <a:solidFill>
                  <a:srgbClr val="173F72"/>
                </a:solidFill>
                <a:latin typeface="Arial" pitchFamily="34" charset="0"/>
                <a:ea typeface="Arial" pitchFamily="34" charset="-122"/>
                <a:cs typeface="Arial" pitchFamily="34" charset="-120"/>
              </a:rPr>
              <a:t>Prompts 3 y 4</a:t>
            </a:r>
            <a:endParaRPr lang="en-US" sz="2100" dirty="0"/>
          </a:p>
        </p:txBody>
      </p:sp>
      <p:pic>
        <p:nvPicPr>
          <p:cNvPr id="6" name="Image 0" descr="/home/claude/taller/assets/footer_banner.png"/>
          <p:cNvPicPr>
            <a:picLocks noChangeAspect="1"/>
          </p:cNvPicPr>
          <p:nvPr/>
        </p:nvPicPr>
        <p:blipFill>
          <a:blip r:embed="rId3"/>
          <a:stretch>
            <a:fillRect/>
          </a:stretch>
        </p:blipFill>
        <p:spPr>
          <a:xfrm>
            <a:off x="0" y="4672584"/>
            <a:ext cx="9144000" cy="469087"/>
          </a:xfrm>
          <a:prstGeom prst="rect">
            <a:avLst/>
          </a:prstGeom>
        </p:spPr>
      </p:pic>
      <p:sp>
        <p:nvSpPr>
          <p:cNvPr id="7" name="Text 4"/>
          <p:cNvSpPr/>
          <p:nvPr/>
        </p:nvSpPr>
        <p:spPr>
          <a:xfrm>
            <a:off x="274320" y="4727448"/>
            <a:ext cx="5669280" cy="274320"/>
          </a:xfrm>
          <a:prstGeom prst="rect">
            <a:avLst/>
          </a:prstGeom>
          <a:noFill/>
          <a:ln/>
        </p:spPr>
        <p:txBody>
          <a:bodyPr wrap="square" lIns="0" tIns="0" rIns="0" bIns="0" rtlCol="0" anchor="ctr"/>
          <a:lstStyle/>
          <a:p>
            <a:pPr marL="0" indent="0">
              <a:buNone/>
            </a:pPr>
            <a:r>
              <a:rPr lang="en-US" sz="800" dirty="0">
                <a:solidFill>
                  <a:srgbClr val="FFFFFF"/>
                </a:solidFill>
                <a:latin typeface="Arial" pitchFamily="34" charset="0"/>
                <a:ea typeface="Arial" pitchFamily="34" charset="-122"/>
                <a:cs typeface="Arial" pitchFamily="34" charset="-120"/>
              </a:rPr>
              <a:t>Taller de Indicadores de Gestión Pública con IA</a:t>
            </a:r>
            <a:endParaRPr lang="en-US" sz="800" dirty="0"/>
          </a:p>
        </p:txBody>
      </p:sp>
      <p:sp>
        <p:nvSpPr>
          <p:cNvPr id="8" name="Text 5"/>
          <p:cNvSpPr/>
          <p:nvPr/>
        </p:nvSpPr>
        <p:spPr>
          <a:xfrm>
            <a:off x="640080" y="1554480"/>
            <a:ext cx="7863840" cy="274320"/>
          </a:xfrm>
          <a:prstGeom prst="rect">
            <a:avLst/>
          </a:prstGeom>
          <a:noFill/>
          <a:ln/>
        </p:spPr>
        <p:txBody>
          <a:bodyPr wrap="square" rtlCol="0" anchor="ctr"/>
          <a:lstStyle/>
          <a:p>
            <a:pPr marL="0" indent="0">
              <a:buNone/>
            </a:pPr>
            <a:r>
              <a:rPr lang="en-US" sz="1100" b="1" dirty="0">
                <a:solidFill>
                  <a:srgbClr val="173F72"/>
                </a:solidFill>
                <a:latin typeface="Arial" pitchFamily="34" charset="0"/>
                <a:ea typeface="Arial" pitchFamily="34" charset="-122"/>
                <a:cs typeface="Arial" pitchFamily="34" charset="-120"/>
              </a:rPr>
              <a:t>Prompt sugerido para IA (Claude.ai)</a:t>
            </a:r>
            <a:endParaRPr lang="en-US" sz="1100" dirty="0"/>
          </a:p>
        </p:txBody>
      </p:sp>
      <p:sp>
        <p:nvSpPr>
          <p:cNvPr id="9" name="Shape 6"/>
          <p:cNvSpPr/>
          <p:nvPr/>
        </p:nvSpPr>
        <p:spPr>
          <a:xfrm>
            <a:off x="640080" y="1847088"/>
            <a:ext cx="7863840" cy="1097280"/>
          </a:xfrm>
          <a:prstGeom prst="roundRect">
            <a:avLst>
              <a:gd name="adj" fmla="val 3333"/>
            </a:avLst>
          </a:prstGeom>
          <a:solidFill>
            <a:srgbClr val="F5F5F5"/>
          </a:solidFill>
          <a:ln w="6350">
            <a:solidFill>
              <a:srgbClr val="C9C9C9"/>
            </a:solidFill>
            <a:prstDash val="solid"/>
          </a:ln>
        </p:spPr>
      </p:sp>
      <p:sp>
        <p:nvSpPr>
          <p:cNvPr id="10" name="Text 7"/>
          <p:cNvSpPr/>
          <p:nvPr/>
        </p:nvSpPr>
        <p:spPr>
          <a:xfrm>
            <a:off x="822960" y="1938528"/>
            <a:ext cx="7498080" cy="914400"/>
          </a:xfrm>
          <a:prstGeom prst="rect">
            <a:avLst/>
          </a:prstGeom>
          <a:noFill/>
          <a:ln/>
        </p:spPr>
        <p:txBody>
          <a:bodyPr wrap="square" rtlCol="0" anchor="t"/>
          <a:lstStyle/>
          <a:p>
            <a:pPr marL="0" indent="0">
              <a:buNone/>
            </a:pPr>
            <a:r>
              <a:rPr lang="en-US" sz="950" i="1" dirty="0">
                <a:solidFill>
                  <a:srgbClr val="2F3B4C"/>
                </a:solidFill>
                <a:latin typeface="Consolas" pitchFamily="34" charset="0"/>
                <a:ea typeface="Consolas" pitchFamily="34" charset="-122"/>
                <a:cs typeface="Consolas" pitchFamily="34" charset="-120"/>
              </a:rPr>
              <a:t>Prompt 3 — Borrador de ficha técnica: “Redacta el borrador de la ficha técnica usando esta plantilla: [pegar]. Marca como [VERIFICAR EN ENTIDAD] los campos que dependen de datos oficiales.”</a:t>
            </a:r>
            <a:endParaRPr lang="en-US" sz="950" dirty="0"/>
          </a:p>
        </p:txBody>
      </p:sp>
      <p:sp>
        <p:nvSpPr>
          <p:cNvPr id="11" name="Text 8"/>
          <p:cNvSpPr/>
          <p:nvPr/>
        </p:nvSpPr>
        <p:spPr>
          <a:xfrm>
            <a:off x="640080" y="2971800"/>
            <a:ext cx="7863840" cy="274320"/>
          </a:xfrm>
          <a:prstGeom prst="rect">
            <a:avLst/>
          </a:prstGeom>
          <a:noFill/>
          <a:ln/>
        </p:spPr>
        <p:txBody>
          <a:bodyPr wrap="square" rtlCol="0" anchor="ctr"/>
          <a:lstStyle/>
          <a:p>
            <a:pPr marL="0" indent="0">
              <a:buNone/>
            </a:pPr>
            <a:r>
              <a:rPr lang="en-US" sz="1100" b="1" dirty="0">
                <a:solidFill>
                  <a:srgbClr val="173F72"/>
                </a:solidFill>
                <a:latin typeface="Arial" pitchFamily="34" charset="0"/>
                <a:ea typeface="Arial" pitchFamily="34" charset="-122"/>
                <a:cs typeface="Arial" pitchFamily="34" charset="-120"/>
              </a:rPr>
              <a:t>Prompt sugerido para IA (Claude.ai)</a:t>
            </a:r>
            <a:endParaRPr lang="en-US" sz="1100" dirty="0"/>
          </a:p>
        </p:txBody>
      </p:sp>
      <p:sp>
        <p:nvSpPr>
          <p:cNvPr id="12" name="Shape 9"/>
          <p:cNvSpPr/>
          <p:nvPr/>
        </p:nvSpPr>
        <p:spPr>
          <a:xfrm>
            <a:off x="640080" y="3264408"/>
            <a:ext cx="7863840" cy="1097280"/>
          </a:xfrm>
          <a:prstGeom prst="roundRect">
            <a:avLst>
              <a:gd name="adj" fmla="val 3333"/>
            </a:avLst>
          </a:prstGeom>
          <a:solidFill>
            <a:srgbClr val="F5F5F5"/>
          </a:solidFill>
          <a:ln w="6350">
            <a:solidFill>
              <a:srgbClr val="C9C9C9"/>
            </a:solidFill>
            <a:prstDash val="solid"/>
          </a:ln>
        </p:spPr>
      </p:sp>
      <p:sp>
        <p:nvSpPr>
          <p:cNvPr id="13" name="Text 10"/>
          <p:cNvSpPr/>
          <p:nvPr/>
        </p:nvSpPr>
        <p:spPr>
          <a:xfrm>
            <a:off x="822960" y="3355848"/>
            <a:ext cx="7498080" cy="914400"/>
          </a:xfrm>
          <a:prstGeom prst="rect">
            <a:avLst/>
          </a:prstGeom>
          <a:noFill/>
          <a:ln/>
        </p:spPr>
        <p:txBody>
          <a:bodyPr wrap="square" rtlCol="0" anchor="t"/>
          <a:lstStyle/>
          <a:p>
            <a:pPr marL="0" indent="0">
              <a:buNone/>
            </a:pPr>
            <a:r>
              <a:rPr lang="en-US" sz="950" i="1" dirty="0">
                <a:solidFill>
                  <a:srgbClr val="2F3B4C"/>
                </a:solidFill>
                <a:latin typeface="Consolas" pitchFamily="34" charset="0"/>
                <a:ea typeface="Consolas" pitchFamily="34" charset="-122"/>
                <a:cs typeface="Consolas" pitchFamily="34" charset="-120"/>
              </a:rPr>
              <a:t>Prompt 4 — Auditoría de batería: “Revisa esta lista de indicadores: [pegar]. Señala cuáles son de producto disfrazados de resultado y marca posibles redundancias.”</a:t>
            </a:r>
            <a:endParaRPr lang="en-US" sz="9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292608"/>
            <a:ext cx="1005840" cy="41148"/>
          </a:xfrm>
          <a:prstGeom prst="rect">
            <a:avLst/>
          </a:prstGeom>
          <a:solidFill>
            <a:srgbClr val="FF9900"/>
          </a:solidFill>
          <a:ln/>
        </p:spPr>
      </p:sp>
      <p:sp>
        <p:nvSpPr>
          <p:cNvPr id="3" name="Text 1"/>
          <p:cNvSpPr/>
          <p:nvPr/>
        </p:nvSpPr>
        <p:spPr>
          <a:xfrm>
            <a:off x="640080" y="365760"/>
            <a:ext cx="6675120" cy="256032"/>
          </a:xfrm>
          <a:prstGeom prst="rect">
            <a:avLst/>
          </a:prstGeom>
          <a:noFill/>
          <a:ln/>
        </p:spPr>
        <p:txBody>
          <a:bodyPr wrap="square" rtlCol="0" anchor="ctr"/>
          <a:lstStyle/>
          <a:p>
            <a:pPr marL="0" indent="0">
              <a:buNone/>
            </a:pPr>
            <a:r>
              <a:rPr lang="en-US" sz="1000" b="1" kern="0" spc="150" dirty="0">
                <a:solidFill>
                  <a:srgbClr val="FC6E01"/>
                </a:solidFill>
                <a:latin typeface="Arial" pitchFamily="34" charset="0"/>
                <a:ea typeface="Arial" pitchFamily="34" charset="-122"/>
                <a:cs typeface="Arial" pitchFamily="34" charset="-120"/>
              </a:rPr>
              <a:t>KIT DE PROMPTS</a:t>
            </a:r>
            <a:endParaRPr lang="en-US" sz="1000" dirty="0"/>
          </a:p>
        </p:txBody>
      </p:sp>
      <p:sp>
        <p:nvSpPr>
          <p:cNvPr id="4" name="Text 2"/>
          <p:cNvSpPr/>
          <p:nvPr/>
        </p:nvSpPr>
        <p:spPr>
          <a:xfrm>
            <a:off x="640080" y="621792"/>
            <a:ext cx="7315200" cy="502920"/>
          </a:xfrm>
          <a:prstGeom prst="rect">
            <a:avLst/>
          </a:prstGeom>
          <a:noFill/>
          <a:ln/>
        </p:spPr>
        <p:txBody>
          <a:bodyPr wrap="square" rtlCol="0" anchor="ctr"/>
          <a:lstStyle/>
          <a:p>
            <a:pPr marL="0" indent="0">
              <a:buNone/>
            </a:pPr>
            <a:r>
              <a:rPr lang="en-US" sz="2100" b="1" dirty="0">
                <a:solidFill>
                  <a:srgbClr val="173F72"/>
                </a:solidFill>
                <a:latin typeface="Arial" pitchFamily="34" charset="0"/>
                <a:ea typeface="Arial" pitchFamily="34" charset="-122"/>
                <a:cs typeface="Arial" pitchFamily="34" charset="-120"/>
              </a:rPr>
              <a:t>Salvaguardas para no Perder Rigor</a:t>
            </a:r>
            <a:endParaRPr lang="en-US" sz="2100" dirty="0"/>
          </a:p>
        </p:txBody>
      </p:sp>
      <p:pic>
        <p:nvPicPr>
          <p:cNvPr id="6" name="Image 0" descr="/home/claude/taller/assets/footer_banner.png"/>
          <p:cNvPicPr>
            <a:picLocks noChangeAspect="1"/>
          </p:cNvPicPr>
          <p:nvPr/>
        </p:nvPicPr>
        <p:blipFill>
          <a:blip r:embed="rId3"/>
          <a:stretch>
            <a:fillRect/>
          </a:stretch>
        </p:blipFill>
        <p:spPr>
          <a:xfrm>
            <a:off x="0" y="4672584"/>
            <a:ext cx="9144000" cy="469087"/>
          </a:xfrm>
          <a:prstGeom prst="rect">
            <a:avLst/>
          </a:prstGeom>
        </p:spPr>
      </p:pic>
      <p:sp>
        <p:nvSpPr>
          <p:cNvPr id="7" name="Text 4"/>
          <p:cNvSpPr/>
          <p:nvPr/>
        </p:nvSpPr>
        <p:spPr>
          <a:xfrm>
            <a:off x="274320" y="4727448"/>
            <a:ext cx="5669280" cy="274320"/>
          </a:xfrm>
          <a:prstGeom prst="rect">
            <a:avLst/>
          </a:prstGeom>
          <a:noFill/>
          <a:ln/>
        </p:spPr>
        <p:txBody>
          <a:bodyPr wrap="square" lIns="0" tIns="0" rIns="0" bIns="0" rtlCol="0" anchor="ctr"/>
          <a:lstStyle/>
          <a:p>
            <a:pPr marL="0" indent="0">
              <a:buNone/>
            </a:pPr>
            <a:r>
              <a:rPr lang="en-US" sz="800" dirty="0">
                <a:solidFill>
                  <a:srgbClr val="FFFFFF"/>
                </a:solidFill>
                <a:latin typeface="Arial" pitchFamily="34" charset="0"/>
                <a:ea typeface="Arial" pitchFamily="34" charset="-122"/>
                <a:cs typeface="Arial" pitchFamily="34" charset="-120"/>
              </a:rPr>
              <a:t>Taller de Indicadores de Gestión Pública con IA</a:t>
            </a:r>
            <a:endParaRPr lang="en-US" sz="800" dirty="0"/>
          </a:p>
        </p:txBody>
      </p:sp>
      <p:sp>
        <p:nvSpPr>
          <p:cNvPr id="8" name="Shape 5"/>
          <p:cNvSpPr/>
          <p:nvPr/>
        </p:nvSpPr>
        <p:spPr>
          <a:xfrm>
            <a:off x="640080" y="1463040"/>
            <a:ext cx="1842516" cy="2743200"/>
          </a:xfrm>
          <a:prstGeom prst="roundRect">
            <a:avLst>
              <a:gd name="adj" fmla="val 2978"/>
            </a:avLst>
          </a:prstGeom>
          <a:solidFill>
            <a:srgbClr val="EDF3F9"/>
          </a:solidFill>
          <a:ln/>
        </p:spPr>
      </p:sp>
      <p:sp>
        <p:nvSpPr>
          <p:cNvPr id="9" name="Shape 6"/>
          <p:cNvSpPr/>
          <p:nvPr/>
        </p:nvSpPr>
        <p:spPr>
          <a:xfrm>
            <a:off x="777240" y="1600200"/>
            <a:ext cx="365760" cy="365760"/>
          </a:xfrm>
          <a:prstGeom prst="ellipse">
            <a:avLst/>
          </a:prstGeom>
          <a:solidFill>
            <a:srgbClr val="FC6E01"/>
          </a:solidFill>
          <a:ln/>
        </p:spPr>
      </p:sp>
      <p:sp>
        <p:nvSpPr>
          <p:cNvPr id="10" name="Text 7"/>
          <p:cNvSpPr/>
          <p:nvPr/>
        </p:nvSpPr>
        <p:spPr>
          <a:xfrm>
            <a:off x="777240" y="1600200"/>
            <a:ext cx="365760" cy="365760"/>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11" name="Text 8"/>
          <p:cNvSpPr/>
          <p:nvPr/>
        </p:nvSpPr>
        <p:spPr>
          <a:xfrm>
            <a:off x="777240" y="2029968"/>
            <a:ext cx="1568196" cy="365760"/>
          </a:xfrm>
          <a:prstGeom prst="rect">
            <a:avLst/>
          </a:prstGeom>
          <a:noFill/>
          <a:ln/>
        </p:spPr>
        <p:txBody>
          <a:bodyPr wrap="square" rtlCol="0" anchor="t"/>
          <a:lstStyle/>
          <a:p>
            <a:pPr marL="0" indent="0">
              <a:buNone/>
            </a:pPr>
            <a:r>
              <a:rPr lang="en-US" sz="1200" b="1" dirty="0">
                <a:solidFill>
                  <a:srgbClr val="173F72"/>
                </a:solidFill>
                <a:latin typeface="Arial" pitchFamily="34" charset="0"/>
                <a:ea typeface="Arial" pitchFamily="34" charset="-122"/>
                <a:cs typeface="Arial" pitchFamily="34" charset="-120"/>
              </a:rPr>
              <a:t>1 · Doble verificación humana</a:t>
            </a:r>
            <a:endParaRPr lang="en-US" sz="1200" dirty="0"/>
          </a:p>
        </p:txBody>
      </p:sp>
      <p:sp>
        <p:nvSpPr>
          <p:cNvPr id="12" name="Text 9"/>
          <p:cNvSpPr/>
          <p:nvPr/>
        </p:nvSpPr>
        <p:spPr>
          <a:xfrm>
            <a:off x="777240" y="2747772"/>
            <a:ext cx="1568196" cy="1367027"/>
          </a:xfrm>
          <a:prstGeom prst="rect">
            <a:avLst/>
          </a:prstGeom>
          <a:noFill/>
          <a:ln/>
        </p:spPr>
        <p:txBody>
          <a:bodyPr wrap="square" rtlCol="0" anchor="t"/>
          <a:lstStyle/>
          <a:p>
            <a:pPr marL="0" indent="0">
              <a:buNone/>
            </a:pPr>
            <a:r>
              <a:rPr lang="en-US" sz="950" dirty="0">
                <a:solidFill>
                  <a:srgbClr val="5C6B7C"/>
                </a:solidFill>
                <a:latin typeface="Arial" pitchFamily="34" charset="0"/>
                <a:ea typeface="Arial" pitchFamily="34" charset="-122"/>
                <a:cs typeface="Arial" pitchFamily="34" charset="-120"/>
              </a:rPr>
              <a:t>Ningún indicador se usa para decisiones sin revisión de un responsable técnico.</a:t>
            </a:r>
            <a:endParaRPr lang="en-US" sz="950" dirty="0"/>
          </a:p>
        </p:txBody>
      </p:sp>
      <p:sp>
        <p:nvSpPr>
          <p:cNvPr id="13" name="Shape 10"/>
          <p:cNvSpPr/>
          <p:nvPr/>
        </p:nvSpPr>
        <p:spPr>
          <a:xfrm>
            <a:off x="2647188" y="1463040"/>
            <a:ext cx="1842516" cy="2743200"/>
          </a:xfrm>
          <a:prstGeom prst="roundRect">
            <a:avLst>
              <a:gd name="adj" fmla="val 2978"/>
            </a:avLst>
          </a:prstGeom>
          <a:solidFill>
            <a:srgbClr val="EDF3F9"/>
          </a:solidFill>
          <a:ln/>
        </p:spPr>
      </p:sp>
      <p:sp>
        <p:nvSpPr>
          <p:cNvPr id="14" name="Shape 11"/>
          <p:cNvSpPr/>
          <p:nvPr/>
        </p:nvSpPr>
        <p:spPr>
          <a:xfrm>
            <a:off x="2784348" y="1600200"/>
            <a:ext cx="365760" cy="365760"/>
          </a:xfrm>
          <a:prstGeom prst="ellipse">
            <a:avLst/>
          </a:prstGeom>
          <a:solidFill>
            <a:srgbClr val="FC6E01"/>
          </a:solidFill>
          <a:ln/>
        </p:spPr>
      </p:sp>
      <p:sp>
        <p:nvSpPr>
          <p:cNvPr id="15" name="Text 12"/>
          <p:cNvSpPr/>
          <p:nvPr/>
        </p:nvSpPr>
        <p:spPr>
          <a:xfrm>
            <a:off x="2784348" y="1600200"/>
            <a:ext cx="365760" cy="365760"/>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6" name="Text 13"/>
          <p:cNvSpPr/>
          <p:nvPr/>
        </p:nvSpPr>
        <p:spPr>
          <a:xfrm>
            <a:off x="2784348" y="2029968"/>
            <a:ext cx="1568196" cy="365760"/>
          </a:xfrm>
          <a:prstGeom prst="rect">
            <a:avLst/>
          </a:prstGeom>
          <a:noFill/>
          <a:ln/>
        </p:spPr>
        <p:txBody>
          <a:bodyPr wrap="square" rtlCol="0" anchor="t"/>
          <a:lstStyle/>
          <a:p>
            <a:pPr marL="0" indent="0">
              <a:buNone/>
            </a:pPr>
            <a:r>
              <a:rPr lang="en-US" sz="1200" b="1" dirty="0">
                <a:solidFill>
                  <a:srgbClr val="173F72"/>
                </a:solidFill>
                <a:latin typeface="Arial" pitchFamily="34" charset="0"/>
                <a:ea typeface="Arial" pitchFamily="34" charset="-122"/>
                <a:cs typeface="Arial" pitchFamily="34" charset="-120"/>
              </a:rPr>
              <a:t>2 · Trazabilidad</a:t>
            </a:r>
            <a:endParaRPr lang="en-US" sz="1200" dirty="0"/>
          </a:p>
        </p:txBody>
      </p:sp>
      <p:sp>
        <p:nvSpPr>
          <p:cNvPr id="17" name="Text 14"/>
          <p:cNvSpPr/>
          <p:nvPr/>
        </p:nvSpPr>
        <p:spPr>
          <a:xfrm>
            <a:off x="2784348" y="2377440"/>
            <a:ext cx="1568196" cy="1737360"/>
          </a:xfrm>
          <a:prstGeom prst="rect">
            <a:avLst/>
          </a:prstGeom>
          <a:noFill/>
          <a:ln/>
        </p:spPr>
        <p:txBody>
          <a:bodyPr wrap="square" rtlCol="0" anchor="t"/>
          <a:lstStyle/>
          <a:p>
            <a:pPr marL="0" indent="0">
              <a:buNone/>
            </a:pPr>
            <a:r>
              <a:rPr lang="en-US" sz="950" dirty="0">
                <a:solidFill>
                  <a:srgbClr val="5C6B7C"/>
                </a:solidFill>
                <a:latin typeface="Arial" pitchFamily="34" charset="0"/>
                <a:ea typeface="Arial" pitchFamily="34" charset="-122"/>
                <a:cs typeface="Arial" pitchFamily="34" charset="-120"/>
              </a:rPr>
              <a:t>Toda cifra debe rastrearse a su fuente oficial; la IA apoya redacción, no es fuente de datos.</a:t>
            </a:r>
            <a:endParaRPr lang="en-US" sz="950" dirty="0"/>
          </a:p>
        </p:txBody>
      </p:sp>
      <p:sp>
        <p:nvSpPr>
          <p:cNvPr id="18" name="Shape 15"/>
          <p:cNvSpPr/>
          <p:nvPr/>
        </p:nvSpPr>
        <p:spPr>
          <a:xfrm>
            <a:off x="4654296" y="1463040"/>
            <a:ext cx="1842516" cy="2743200"/>
          </a:xfrm>
          <a:prstGeom prst="roundRect">
            <a:avLst>
              <a:gd name="adj" fmla="val 2978"/>
            </a:avLst>
          </a:prstGeom>
          <a:solidFill>
            <a:srgbClr val="EDF3F9"/>
          </a:solidFill>
          <a:ln/>
        </p:spPr>
      </p:sp>
      <p:sp>
        <p:nvSpPr>
          <p:cNvPr id="19" name="Shape 16"/>
          <p:cNvSpPr/>
          <p:nvPr/>
        </p:nvSpPr>
        <p:spPr>
          <a:xfrm>
            <a:off x="4791456" y="1600200"/>
            <a:ext cx="365760" cy="365760"/>
          </a:xfrm>
          <a:prstGeom prst="ellipse">
            <a:avLst/>
          </a:prstGeom>
          <a:solidFill>
            <a:srgbClr val="FC6E01"/>
          </a:solidFill>
          <a:ln/>
        </p:spPr>
      </p:sp>
      <p:sp>
        <p:nvSpPr>
          <p:cNvPr id="20" name="Text 17"/>
          <p:cNvSpPr/>
          <p:nvPr/>
        </p:nvSpPr>
        <p:spPr>
          <a:xfrm>
            <a:off x="4791456" y="1600200"/>
            <a:ext cx="365760" cy="365760"/>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21" name="Text 18"/>
          <p:cNvSpPr/>
          <p:nvPr/>
        </p:nvSpPr>
        <p:spPr>
          <a:xfrm>
            <a:off x="4791456" y="2029968"/>
            <a:ext cx="1568196" cy="365760"/>
          </a:xfrm>
          <a:prstGeom prst="rect">
            <a:avLst/>
          </a:prstGeom>
          <a:noFill/>
          <a:ln/>
        </p:spPr>
        <p:txBody>
          <a:bodyPr wrap="square" rtlCol="0" anchor="t"/>
          <a:lstStyle/>
          <a:p>
            <a:pPr marL="0" indent="0">
              <a:buNone/>
            </a:pPr>
            <a:r>
              <a:rPr lang="en-US" sz="1200" b="1" dirty="0">
                <a:solidFill>
                  <a:srgbClr val="173F72"/>
                </a:solidFill>
                <a:latin typeface="Arial" pitchFamily="34" charset="0"/>
                <a:ea typeface="Arial" pitchFamily="34" charset="-122"/>
                <a:cs typeface="Arial" pitchFamily="34" charset="-120"/>
              </a:rPr>
              <a:t>3 · Transparencia metodológica</a:t>
            </a:r>
            <a:endParaRPr lang="en-US" sz="1200" dirty="0"/>
          </a:p>
        </p:txBody>
      </p:sp>
      <p:sp>
        <p:nvSpPr>
          <p:cNvPr id="22" name="Text 19"/>
          <p:cNvSpPr/>
          <p:nvPr/>
        </p:nvSpPr>
        <p:spPr>
          <a:xfrm>
            <a:off x="4791456" y="2571750"/>
            <a:ext cx="1568196" cy="1215504"/>
          </a:xfrm>
          <a:prstGeom prst="rect">
            <a:avLst/>
          </a:prstGeom>
          <a:noFill/>
          <a:ln/>
        </p:spPr>
        <p:txBody>
          <a:bodyPr wrap="square" rtlCol="0" anchor="t"/>
          <a:lstStyle/>
          <a:p>
            <a:pPr marL="0" indent="0">
              <a:buNone/>
            </a:pPr>
            <a:r>
              <a:rPr lang="en-US" sz="950" dirty="0">
                <a:solidFill>
                  <a:srgbClr val="5C6B7C"/>
                </a:solidFill>
                <a:latin typeface="Arial" pitchFamily="34" charset="0"/>
                <a:ea typeface="Arial" pitchFamily="34" charset="-122"/>
                <a:cs typeface="Arial" pitchFamily="34" charset="-120"/>
              </a:rPr>
              <a:t>Si una ficha tuvo apoyo de IA, se deja constancia de ello.</a:t>
            </a:r>
            <a:endParaRPr lang="en-US" sz="950" dirty="0"/>
          </a:p>
        </p:txBody>
      </p:sp>
      <p:sp>
        <p:nvSpPr>
          <p:cNvPr id="23" name="Shape 20"/>
          <p:cNvSpPr/>
          <p:nvPr/>
        </p:nvSpPr>
        <p:spPr>
          <a:xfrm>
            <a:off x="6661404" y="1463040"/>
            <a:ext cx="1842516" cy="2743200"/>
          </a:xfrm>
          <a:prstGeom prst="roundRect">
            <a:avLst>
              <a:gd name="adj" fmla="val 2978"/>
            </a:avLst>
          </a:prstGeom>
          <a:solidFill>
            <a:srgbClr val="EDF3F9"/>
          </a:solidFill>
          <a:ln/>
        </p:spPr>
      </p:sp>
      <p:sp>
        <p:nvSpPr>
          <p:cNvPr id="24" name="Shape 21"/>
          <p:cNvSpPr/>
          <p:nvPr/>
        </p:nvSpPr>
        <p:spPr>
          <a:xfrm>
            <a:off x="6798564" y="1600200"/>
            <a:ext cx="365760" cy="365760"/>
          </a:xfrm>
          <a:prstGeom prst="ellipse">
            <a:avLst/>
          </a:prstGeom>
          <a:solidFill>
            <a:srgbClr val="FC6E01"/>
          </a:solidFill>
          <a:ln/>
        </p:spPr>
      </p:sp>
      <p:sp>
        <p:nvSpPr>
          <p:cNvPr id="25" name="Text 22"/>
          <p:cNvSpPr/>
          <p:nvPr/>
        </p:nvSpPr>
        <p:spPr>
          <a:xfrm>
            <a:off x="6798564" y="1600200"/>
            <a:ext cx="365760" cy="365760"/>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6" name="Text 23"/>
          <p:cNvSpPr/>
          <p:nvPr/>
        </p:nvSpPr>
        <p:spPr>
          <a:xfrm>
            <a:off x="6798564" y="2029968"/>
            <a:ext cx="1568196" cy="365760"/>
          </a:xfrm>
          <a:prstGeom prst="rect">
            <a:avLst/>
          </a:prstGeom>
          <a:noFill/>
          <a:ln/>
        </p:spPr>
        <p:txBody>
          <a:bodyPr wrap="square" rtlCol="0" anchor="t"/>
          <a:lstStyle/>
          <a:p>
            <a:pPr marL="0" indent="0">
              <a:buNone/>
            </a:pPr>
            <a:r>
              <a:rPr lang="en-US" sz="1200" b="1" dirty="0">
                <a:solidFill>
                  <a:srgbClr val="173F72"/>
                </a:solidFill>
                <a:latin typeface="Arial" pitchFamily="34" charset="0"/>
                <a:ea typeface="Arial" pitchFamily="34" charset="-122"/>
                <a:cs typeface="Arial" pitchFamily="34" charset="-120"/>
              </a:rPr>
              <a:t>4 · El equipo define el éxito</a:t>
            </a:r>
            <a:endParaRPr lang="en-US" sz="1200" dirty="0"/>
          </a:p>
        </p:txBody>
      </p:sp>
      <p:sp>
        <p:nvSpPr>
          <p:cNvPr id="27" name="Text 24"/>
          <p:cNvSpPr/>
          <p:nvPr/>
        </p:nvSpPr>
        <p:spPr>
          <a:xfrm>
            <a:off x="6798564" y="2571750"/>
            <a:ext cx="1568196" cy="1372453"/>
          </a:xfrm>
          <a:prstGeom prst="rect">
            <a:avLst/>
          </a:prstGeom>
          <a:noFill/>
          <a:ln/>
        </p:spPr>
        <p:txBody>
          <a:bodyPr wrap="square" rtlCol="0" anchor="t"/>
          <a:lstStyle/>
          <a:p>
            <a:pPr marL="0" indent="0">
              <a:buNone/>
            </a:pPr>
            <a:r>
              <a:rPr lang="en-US" sz="950" dirty="0">
                <a:solidFill>
                  <a:srgbClr val="5C6B7C"/>
                </a:solidFill>
                <a:latin typeface="Arial" pitchFamily="34" charset="0"/>
                <a:ea typeface="Arial" pitchFamily="34" charset="-122"/>
                <a:cs typeface="Arial" pitchFamily="34" charset="-120"/>
              </a:rPr>
              <a:t>Las metas se fijan con criterio técnico y político, nunca por sugerencia automática.</a:t>
            </a:r>
            <a:endParaRPr lang="en-US" sz="9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292608"/>
            <a:ext cx="1005840" cy="41148"/>
          </a:xfrm>
          <a:prstGeom prst="rect">
            <a:avLst/>
          </a:prstGeom>
          <a:solidFill>
            <a:srgbClr val="FF9900"/>
          </a:solidFill>
          <a:ln/>
        </p:spPr>
      </p:sp>
      <p:sp>
        <p:nvSpPr>
          <p:cNvPr id="3" name="Text 1"/>
          <p:cNvSpPr/>
          <p:nvPr/>
        </p:nvSpPr>
        <p:spPr>
          <a:xfrm>
            <a:off x="640080" y="365760"/>
            <a:ext cx="6675120" cy="256032"/>
          </a:xfrm>
          <a:prstGeom prst="rect">
            <a:avLst/>
          </a:prstGeom>
          <a:noFill/>
          <a:ln/>
        </p:spPr>
        <p:txBody>
          <a:bodyPr wrap="square" rtlCol="0" anchor="ctr"/>
          <a:lstStyle/>
          <a:p>
            <a:pPr marL="0" indent="0">
              <a:buNone/>
            </a:pPr>
            <a:r>
              <a:rPr lang="en-US" sz="1000" b="1" kern="0" spc="150" dirty="0">
                <a:solidFill>
                  <a:srgbClr val="FC6E01"/>
                </a:solidFill>
                <a:latin typeface="Arial" pitchFamily="34" charset="0"/>
                <a:ea typeface="Arial" pitchFamily="34" charset="-122"/>
                <a:cs typeface="Arial" pitchFamily="34" charset="-120"/>
              </a:rPr>
              <a:t>KIT DE PROMPTS</a:t>
            </a:r>
            <a:endParaRPr lang="en-US" sz="1000" dirty="0"/>
          </a:p>
        </p:txBody>
      </p:sp>
      <p:sp>
        <p:nvSpPr>
          <p:cNvPr id="4" name="Text 2"/>
          <p:cNvSpPr/>
          <p:nvPr/>
        </p:nvSpPr>
        <p:spPr>
          <a:xfrm>
            <a:off x="640080" y="621792"/>
            <a:ext cx="7315200" cy="502920"/>
          </a:xfrm>
          <a:prstGeom prst="rect">
            <a:avLst/>
          </a:prstGeom>
          <a:noFill/>
          <a:ln/>
        </p:spPr>
        <p:txBody>
          <a:bodyPr wrap="square" rtlCol="0" anchor="ctr"/>
          <a:lstStyle/>
          <a:p>
            <a:pPr marL="0" indent="0">
              <a:buNone/>
            </a:pPr>
            <a:r>
              <a:rPr lang="en-US" sz="2100" b="1" dirty="0">
                <a:solidFill>
                  <a:srgbClr val="173F72"/>
                </a:solidFill>
                <a:latin typeface="Arial" pitchFamily="34" charset="0"/>
                <a:ea typeface="Arial" pitchFamily="34" charset="-122"/>
                <a:cs typeface="Arial" pitchFamily="34" charset="-120"/>
              </a:rPr>
              <a:t>Bases de Datos Públicas para Medir Indicadores</a:t>
            </a:r>
            <a:endParaRPr lang="en-US" sz="2100" dirty="0"/>
          </a:p>
        </p:txBody>
      </p:sp>
      <p:pic>
        <p:nvPicPr>
          <p:cNvPr id="6" name="Image 0" descr="/home/claude/taller/assets/footer_banner.png"/>
          <p:cNvPicPr>
            <a:picLocks noChangeAspect="1"/>
          </p:cNvPicPr>
          <p:nvPr/>
        </p:nvPicPr>
        <p:blipFill>
          <a:blip r:embed="rId3"/>
          <a:stretch>
            <a:fillRect/>
          </a:stretch>
        </p:blipFill>
        <p:spPr>
          <a:xfrm>
            <a:off x="0" y="4672584"/>
            <a:ext cx="9144000" cy="469087"/>
          </a:xfrm>
          <a:prstGeom prst="rect">
            <a:avLst/>
          </a:prstGeom>
        </p:spPr>
      </p:pic>
      <p:sp>
        <p:nvSpPr>
          <p:cNvPr id="7" name="Text 4"/>
          <p:cNvSpPr/>
          <p:nvPr/>
        </p:nvSpPr>
        <p:spPr>
          <a:xfrm>
            <a:off x="274320" y="4727448"/>
            <a:ext cx="5669280" cy="274320"/>
          </a:xfrm>
          <a:prstGeom prst="rect">
            <a:avLst/>
          </a:prstGeom>
          <a:noFill/>
          <a:ln/>
        </p:spPr>
        <p:txBody>
          <a:bodyPr wrap="square" lIns="0" tIns="0" rIns="0" bIns="0" rtlCol="0" anchor="ctr"/>
          <a:lstStyle/>
          <a:p>
            <a:pPr marL="0" indent="0">
              <a:buNone/>
            </a:pPr>
            <a:r>
              <a:rPr lang="en-US" sz="800" dirty="0">
                <a:solidFill>
                  <a:srgbClr val="FFFFFF"/>
                </a:solidFill>
                <a:latin typeface="Arial" pitchFamily="34" charset="0"/>
                <a:ea typeface="Arial" pitchFamily="34" charset="-122"/>
                <a:cs typeface="Arial" pitchFamily="34" charset="-120"/>
              </a:rPr>
              <a:t>Taller de Indicadores de Gestión Pública con IA</a:t>
            </a:r>
            <a:endParaRPr lang="en-US" sz="8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640080" y="1417320"/>
          <a:ext cx="7863840" cy="3008376"/>
        </p:xfrm>
        <a:graphic>
          <a:graphicData uri="http://schemas.openxmlformats.org/drawingml/2006/table">
            <a:tbl>
              <a:tblPr/>
              <a:tblGrid>
                <a:gridCol w="2834640">
                  <a:extLst>
                    <a:ext uri="{9D8B030D-6E8A-4147-A177-3AD203B41FA5}">
                      <a16:colId xmlns:a16="http://schemas.microsoft.com/office/drawing/2014/main" val="20000"/>
                    </a:ext>
                  </a:extLst>
                </a:gridCol>
                <a:gridCol w="5029200">
                  <a:extLst>
                    <a:ext uri="{9D8B030D-6E8A-4147-A177-3AD203B41FA5}">
                      <a16:colId xmlns:a16="http://schemas.microsoft.com/office/drawing/2014/main" val="20001"/>
                    </a:ext>
                  </a:extLst>
                </a:gridCol>
              </a:tblGrid>
              <a:tr h="429768">
                <a:tc>
                  <a:txBody>
                    <a:bodyPr/>
                    <a:lstStyle/>
                    <a:p>
                      <a:pPr marL="0" indent="0" algn="l">
                        <a:buNone/>
                      </a:pPr>
                      <a:r>
                        <a:rPr lang="en-US" sz="900" b="1" dirty="0">
                          <a:solidFill>
                            <a:srgbClr val="FFFFFF"/>
                          </a:solidFill>
                          <a:latin typeface="Arial" pitchFamily="34" charset="0"/>
                          <a:ea typeface="Arial" pitchFamily="34" charset="-122"/>
                          <a:cs typeface="Arial" pitchFamily="34" charset="-120"/>
                        </a:rPr>
                        <a:t>Sistema</a:t>
                      </a:r>
                      <a:endParaRPr lang="en-US" sz="90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73F72"/>
                    </a:solidFill>
                  </a:tcPr>
                </a:tc>
                <a:tc>
                  <a:txBody>
                    <a:bodyPr/>
                    <a:lstStyle/>
                    <a:p>
                      <a:pPr marL="0" indent="0" algn="l">
                        <a:buNone/>
                      </a:pPr>
                      <a:r>
                        <a:rPr lang="en-US" sz="900" b="1" dirty="0">
                          <a:solidFill>
                            <a:srgbClr val="FFFFFF"/>
                          </a:solidFill>
                          <a:latin typeface="Arial" pitchFamily="34" charset="0"/>
                          <a:ea typeface="Arial" pitchFamily="34" charset="-122"/>
                          <a:cs typeface="Arial" pitchFamily="34" charset="-120"/>
                        </a:rPr>
                        <a:t>Qué aporta</a:t>
                      </a:r>
                      <a:endParaRPr lang="en-US" sz="90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73F72"/>
                    </a:solidFill>
                  </a:tcPr>
                </a:tc>
                <a:extLst>
                  <a:ext uri="{0D108BD9-81ED-4DB2-BD59-A6C34878D82A}">
                    <a16:rowId xmlns:a16="http://schemas.microsoft.com/office/drawing/2014/main" val="10000"/>
                  </a:ext>
                </a:extLst>
              </a:tr>
              <a:tr h="429768">
                <a:tc>
                  <a:txBody>
                    <a:bodyPr/>
                    <a:lstStyle/>
                    <a:p>
                      <a:pPr marL="0" indent="0" algn="l">
                        <a:buNone/>
                      </a:pPr>
                      <a:r>
                        <a:rPr lang="en-US" sz="900" b="1" dirty="0">
                          <a:solidFill>
                            <a:srgbClr val="173F72"/>
                          </a:solidFill>
                          <a:latin typeface="Arial" pitchFamily="34" charset="0"/>
                          <a:ea typeface="Arial" pitchFamily="34" charset="-122"/>
                          <a:cs typeface="Arial" pitchFamily="34" charset="-120"/>
                        </a:rPr>
                        <a:t>GEIH / Censo (DANE)</a:t>
                      </a:r>
                      <a:endParaRPr lang="en-US" sz="90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900" dirty="0">
                          <a:solidFill>
                            <a:srgbClr val="2F3B4C"/>
                          </a:solidFill>
                          <a:latin typeface="Arial" pitchFamily="34" charset="0"/>
                          <a:ea typeface="Arial" pitchFamily="34" charset="-122"/>
                          <a:cs typeface="Arial" pitchFamily="34" charset="-120"/>
                        </a:rPr>
                        <a:t>Mercado laboral y demografía poblacional de referencia nacional.</a:t>
                      </a:r>
                      <a:endParaRPr lang="en-US" sz="90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9768">
                <a:tc>
                  <a:txBody>
                    <a:bodyPr/>
                    <a:lstStyle/>
                    <a:p>
                      <a:pPr marL="0" indent="0" algn="l">
                        <a:buNone/>
                      </a:pPr>
                      <a:r>
                        <a:rPr lang="en-US" sz="900" b="1" dirty="0">
                          <a:solidFill>
                            <a:srgbClr val="173F72"/>
                          </a:solidFill>
                          <a:latin typeface="Arial" pitchFamily="34" charset="0"/>
                          <a:ea typeface="Arial" pitchFamily="34" charset="-122"/>
                          <a:cs typeface="Arial" pitchFamily="34" charset="-120"/>
                        </a:rPr>
                        <a:t>TerriData (DNP)</a:t>
                      </a:r>
                      <a:endParaRPr lang="en-US" sz="90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900" dirty="0">
                          <a:solidFill>
                            <a:srgbClr val="2F3B4C"/>
                          </a:solidFill>
                          <a:latin typeface="Arial" pitchFamily="34" charset="0"/>
                          <a:ea typeface="Arial" pitchFamily="34" charset="-122"/>
                          <a:cs typeface="Arial" pitchFamily="34" charset="-120"/>
                        </a:rPr>
                        <a:t>Indicadores territoriales comparables entre municipios y departamentos.</a:t>
                      </a:r>
                      <a:endParaRPr lang="en-US" sz="90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29768">
                <a:tc>
                  <a:txBody>
                    <a:bodyPr/>
                    <a:lstStyle/>
                    <a:p>
                      <a:pPr marL="0" indent="0" algn="l">
                        <a:buNone/>
                      </a:pPr>
                      <a:r>
                        <a:rPr lang="en-US" sz="900" b="1" dirty="0">
                          <a:solidFill>
                            <a:srgbClr val="173F72"/>
                          </a:solidFill>
                          <a:latin typeface="Arial" pitchFamily="34" charset="0"/>
                          <a:ea typeface="Arial" pitchFamily="34" charset="-122"/>
                          <a:cs typeface="Arial" pitchFamily="34" charset="-120"/>
                        </a:rPr>
                        <a:t>RIPS – SISPRO (MinSalud)</a:t>
                      </a:r>
                      <a:endParaRPr lang="en-US" sz="90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900" dirty="0">
                          <a:solidFill>
                            <a:srgbClr val="2F3B4C"/>
                          </a:solidFill>
                          <a:latin typeface="Arial" pitchFamily="34" charset="0"/>
                          <a:ea typeface="Arial" pitchFamily="34" charset="-122"/>
                          <a:cs typeface="Arial" pitchFamily="34" charset="-120"/>
                        </a:rPr>
                        <a:t>Registros de atención en salud, base de indicadores del sector.</a:t>
                      </a:r>
                      <a:endParaRPr lang="en-US" sz="90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29768">
                <a:tc>
                  <a:txBody>
                    <a:bodyPr/>
                    <a:lstStyle/>
                    <a:p>
                      <a:pPr marL="0" indent="0" algn="l">
                        <a:buNone/>
                      </a:pPr>
                      <a:r>
                        <a:rPr lang="en-US" sz="900" b="1" dirty="0">
                          <a:solidFill>
                            <a:srgbClr val="173F72"/>
                          </a:solidFill>
                          <a:latin typeface="Arial" pitchFamily="34" charset="0"/>
                          <a:ea typeface="Arial" pitchFamily="34" charset="-122"/>
                          <a:cs typeface="Arial" pitchFamily="34" charset="-120"/>
                        </a:rPr>
                        <a:t>SIMAT (MinEducación)</a:t>
                      </a:r>
                      <a:endParaRPr lang="en-US" sz="90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900" dirty="0">
                          <a:solidFill>
                            <a:srgbClr val="2F3B4C"/>
                          </a:solidFill>
                          <a:latin typeface="Arial" pitchFamily="34" charset="0"/>
                          <a:ea typeface="Arial" pitchFamily="34" charset="-122"/>
                          <a:cs typeface="Arial" pitchFamily="34" charset="-120"/>
                        </a:rPr>
                        <a:t>Matrículas y cobertura educativa por sede.</a:t>
                      </a:r>
                      <a:endParaRPr lang="en-US" sz="90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29768">
                <a:tc>
                  <a:txBody>
                    <a:bodyPr/>
                    <a:lstStyle/>
                    <a:p>
                      <a:pPr marL="0" indent="0" algn="l">
                        <a:buNone/>
                      </a:pPr>
                      <a:r>
                        <a:rPr lang="en-US" sz="900" b="1" dirty="0">
                          <a:solidFill>
                            <a:srgbClr val="173F72"/>
                          </a:solidFill>
                          <a:latin typeface="Arial" pitchFamily="34" charset="0"/>
                          <a:ea typeface="Arial" pitchFamily="34" charset="-122"/>
                          <a:cs typeface="Arial" pitchFamily="34" charset="-120"/>
                        </a:rPr>
                        <a:t>SIEDCO (Policía Nacional)</a:t>
                      </a:r>
                      <a:endParaRPr lang="en-US" sz="90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900" dirty="0">
                          <a:solidFill>
                            <a:srgbClr val="2F3B4C"/>
                          </a:solidFill>
                          <a:latin typeface="Arial" pitchFamily="34" charset="0"/>
                          <a:ea typeface="Arial" pitchFamily="34" charset="-122"/>
                          <a:cs typeface="Arial" pitchFamily="34" charset="-120"/>
                        </a:rPr>
                        <a:t>Cifras de criminalidad y seguridad ciudadana.</a:t>
                      </a:r>
                      <a:endParaRPr lang="en-US" sz="90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29768">
                <a:tc>
                  <a:txBody>
                    <a:bodyPr/>
                    <a:lstStyle/>
                    <a:p>
                      <a:pPr marL="0" indent="0" algn="l">
                        <a:buNone/>
                      </a:pPr>
                      <a:r>
                        <a:rPr lang="en-US" sz="900" b="1" dirty="0">
                          <a:solidFill>
                            <a:srgbClr val="173F72"/>
                          </a:solidFill>
                          <a:latin typeface="Arial" pitchFamily="34" charset="0"/>
                          <a:ea typeface="Arial" pitchFamily="34" charset="-122"/>
                          <a:cs typeface="Arial" pitchFamily="34" charset="-120"/>
                        </a:rPr>
                        <a:t>SECOP / Sinergia / FURAG (DNP–Función Pública)</a:t>
                      </a:r>
                      <a:endParaRPr lang="en-US" sz="90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900" dirty="0">
                          <a:solidFill>
                            <a:srgbClr val="2F3B4C"/>
                          </a:solidFill>
                          <a:latin typeface="Arial" pitchFamily="34" charset="0"/>
                          <a:ea typeface="Arial" pitchFamily="34" charset="-122"/>
                          <a:cs typeface="Arial" pitchFamily="34" charset="-120"/>
                        </a:rPr>
                        <a:t>Contratación pública, seguimiento a metas de inversión y desempeño institucional.</a:t>
                      </a:r>
                      <a:endParaRPr lang="en-US" sz="90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731520" y="1828800"/>
            <a:ext cx="7680960" cy="320040"/>
          </a:xfrm>
          <a:prstGeom prst="rect">
            <a:avLst/>
          </a:prstGeom>
          <a:noFill/>
          <a:ln/>
        </p:spPr>
        <p:txBody>
          <a:bodyPr wrap="square" rtlCol="0" anchor="ctr"/>
          <a:lstStyle/>
          <a:p>
            <a:pPr marL="0" indent="0" algn="l">
              <a:buNone/>
            </a:pPr>
            <a:r>
              <a:rPr lang="en-US" sz="1200" b="1" kern="0" spc="200" dirty="0">
                <a:solidFill>
                  <a:srgbClr val="FF9900"/>
                </a:solidFill>
                <a:latin typeface="Arial" pitchFamily="34" charset="0"/>
                <a:ea typeface="Arial" pitchFamily="34" charset="-122"/>
                <a:cs typeface="Arial" pitchFamily="34" charset="-120"/>
              </a:rPr>
              <a:t>BLOQUE 2 · HERRAMIENTA EN VIVO</a:t>
            </a:r>
            <a:endParaRPr lang="en-US" sz="1200" dirty="0"/>
          </a:p>
        </p:txBody>
      </p:sp>
      <p:sp>
        <p:nvSpPr>
          <p:cNvPr id="3" name="Text 1"/>
          <p:cNvSpPr/>
          <p:nvPr/>
        </p:nvSpPr>
        <p:spPr>
          <a:xfrm>
            <a:off x="731520" y="2212848"/>
            <a:ext cx="7680960" cy="1188720"/>
          </a:xfrm>
          <a:prstGeom prst="rect">
            <a:avLst/>
          </a:prstGeom>
          <a:noFill/>
          <a:ln/>
        </p:spPr>
        <p:txBody>
          <a:bodyPr wrap="square" rtlCol="0" anchor="t"/>
          <a:lstStyle/>
          <a:p>
            <a:pPr marL="0" indent="0" algn="l">
              <a:buNone/>
            </a:pPr>
            <a:r>
              <a:rPr lang="en-US" sz="3000" b="1" dirty="0">
                <a:solidFill>
                  <a:srgbClr val="FFFFFF"/>
                </a:solidFill>
                <a:latin typeface="Arial" pitchFamily="34" charset="0"/>
                <a:ea typeface="Arial" pitchFamily="34" charset="-122"/>
                <a:cs typeface="Arial" pitchFamily="34" charset="-120"/>
              </a:rPr>
              <a:t>El Simulador: su Copiloto Durante el Taller</a:t>
            </a:r>
            <a:endParaRPr lang="en-US" sz="3000" dirty="0"/>
          </a:p>
        </p:txBody>
      </p:sp>
      <p:sp>
        <p:nvSpPr>
          <p:cNvPr id="4" name="Text 2"/>
          <p:cNvSpPr/>
          <p:nvPr/>
        </p:nvSpPr>
        <p:spPr>
          <a:xfrm>
            <a:off x="731520" y="3447288"/>
            <a:ext cx="7680960" cy="457200"/>
          </a:xfrm>
          <a:prstGeom prst="rect">
            <a:avLst/>
          </a:prstGeom>
          <a:noFill/>
          <a:ln/>
        </p:spPr>
        <p:txBody>
          <a:bodyPr wrap="square" rtlCol="0" anchor="ctr"/>
          <a:lstStyle/>
          <a:p>
            <a:pPr marL="0" indent="0" algn="l">
              <a:buNone/>
            </a:pPr>
            <a:r>
              <a:rPr lang="en-US" sz="1400" i="1" dirty="0">
                <a:solidFill>
                  <a:srgbClr val="CADCFC"/>
                </a:solidFill>
                <a:latin typeface="Arial" pitchFamily="34" charset="0"/>
                <a:ea typeface="Arial" pitchFamily="34" charset="-122"/>
                <a:cs typeface="Arial" pitchFamily="34" charset="-120"/>
              </a:rPr>
              <a:t>Aplicación interactiva basada en las guías DNP y DANE, con asistencia de Copiloto IA</a:t>
            </a:r>
            <a:endParaRPr lang="en-US" sz="1400" dirty="0"/>
          </a:p>
        </p:txBody>
      </p:sp>
      <p:sp>
        <p:nvSpPr>
          <p:cNvPr id="5" name="Text 3"/>
          <p:cNvSpPr/>
          <p:nvPr/>
        </p:nvSpPr>
        <p:spPr>
          <a:xfrm>
            <a:off x="731520" y="3904488"/>
            <a:ext cx="7680960" cy="365760"/>
          </a:xfrm>
          <a:prstGeom prst="rect">
            <a:avLst/>
          </a:prstGeom>
          <a:noFill/>
          <a:ln/>
        </p:spPr>
        <p:txBody>
          <a:bodyPr wrap="square" rtlCol="0" anchor="ctr"/>
          <a:lstStyle/>
          <a:p>
            <a:pPr marL="0" indent="0" algn="l">
              <a:buNone/>
            </a:pPr>
            <a:r>
              <a:rPr lang="en-US" sz="1100" dirty="0">
                <a:solidFill>
                  <a:srgbClr val="9FB8D9"/>
                </a:solidFill>
                <a:latin typeface="Arial" pitchFamily="34" charset="0"/>
                <a:ea typeface="Arial" pitchFamily="34" charset="-122"/>
                <a:cs typeface="Arial" pitchFamily="34" charset="-120"/>
              </a:rPr>
              <a:t>smezam-star.github.io/Management-Indicators/simulador</a:t>
            </a:r>
            <a:endParaRPr lang="en-US" sz="11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292608"/>
            <a:ext cx="1005840" cy="41148"/>
          </a:xfrm>
          <a:prstGeom prst="rect">
            <a:avLst/>
          </a:prstGeom>
          <a:solidFill>
            <a:srgbClr val="FF9900"/>
          </a:solidFill>
          <a:ln/>
        </p:spPr>
      </p:sp>
      <p:sp>
        <p:nvSpPr>
          <p:cNvPr id="3" name="Text 1"/>
          <p:cNvSpPr/>
          <p:nvPr/>
        </p:nvSpPr>
        <p:spPr>
          <a:xfrm>
            <a:off x="640080" y="365760"/>
            <a:ext cx="6675120" cy="256032"/>
          </a:xfrm>
          <a:prstGeom prst="rect">
            <a:avLst/>
          </a:prstGeom>
          <a:noFill/>
          <a:ln/>
        </p:spPr>
        <p:txBody>
          <a:bodyPr wrap="square" rtlCol="0" anchor="ctr"/>
          <a:lstStyle/>
          <a:p>
            <a:pPr marL="0" indent="0">
              <a:buNone/>
            </a:pPr>
            <a:r>
              <a:rPr lang="en-US" sz="1000" b="1" kern="0" spc="150" dirty="0">
                <a:solidFill>
                  <a:srgbClr val="FC6E01"/>
                </a:solidFill>
                <a:latin typeface="Arial" pitchFamily="34" charset="0"/>
                <a:ea typeface="Arial" pitchFamily="34" charset="-122"/>
                <a:cs typeface="Arial" pitchFamily="34" charset="-120"/>
              </a:rPr>
              <a:t>EL SIMULADOR INTERACTIVO</a:t>
            </a:r>
            <a:endParaRPr lang="en-US" sz="1000" dirty="0"/>
          </a:p>
        </p:txBody>
      </p:sp>
      <p:sp>
        <p:nvSpPr>
          <p:cNvPr id="4" name="Text 2"/>
          <p:cNvSpPr/>
          <p:nvPr/>
        </p:nvSpPr>
        <p:spPr>
          <a:xfrm>
            <a:off x="640080" y="621792"/>
            <a:ext cx="7315200" cy="502920"/>
          </a:xfrm>
          <a:prstGeom prst="rect">
            <a:avLst/>
          </a:prstGeom>
          <a:noFill/>
          <a:ln/>
        </p:spPr>
        <p:txBody>
          <a:bodyPr wrap="square" rtlCol="0" anchor="ctr"/>
          <a:lstStyle/>
          <a:p>
            <a:pPr marL="0" indent="0">
              <a:buNone/>
            </a:pPr>
            <a:r>
              <a:rPr lang="en-US" sz="2100" b="1" dirty="0">
                <a:solidFill>
                  <a:srgbClr val="173F72"/>
                </a:solidFill>
                <a:latin typeface="Arial" pitchFamily="34" charset="0"/>
                <a:ea typeface="Arial" pitchFamily="34" charset="-122"/>
                <a:cs typeface="Arial" pitchFamily="34" charset="-120"/>
              </a:rPr>
              <a:t>Recorrido de los 5 Pasos en la Aplicación</a:t>
            </a:r>
            <a:endParaRPr lang="en-US" sz="2100" dirty="0"/>
          </a:p>
        </p:txBody>
      </p:sp>
      <p:pic>
        <p:nvPicPr>
          <p:cNvPr id="6" name="Image 0" descr="/home/claude/taller/assets/footer_banner.png"/>
          <p:cNvPicPr>
            <a:picLocks noChangeAspect="1"/>
          </p:cNvPicPr>
          <p:nvPr/>
        </p:nvPicPr>
        <p:blipFill>
          <a:blip r:embed="rId3"/>
          <a:stretch>
            <a:fillRect/>
          </a:stretch>
        </p:blipFill>
        <p:spPr>
          <a:xfrm>
            <a:off x="0" y="4672584"/>
            <a:ext cx="9144000" cy="469087"/>
          </a:xfrm>
          <a:prstGeom prst="rect">
            <a:avLst/>
          </a:prstGeom>
        </p:spPr>
      </p:pic>
      <p:sp>
        <p:nvSpPr>
          <p:cNvPr id="7" name="Text 4"/>
          <p:cNvSpPr/>
          <p:nvPr/>
        </p:nvSpPr>
        <p:spPr>
          <a:xfrm>
            <a:off x="274320" y="4727448"/>
            <a:ext cx="5669280" cy="274320"/>
          </a:xfrm>
          <a:prstGeom prst="rect">
            <a:avLst/>
          </a:prstGeom>
          <a:noFill/>
          <a:ln/>
        </p:spPr>
        <p:txBody>
          <a:bodyPr wrap="square" lIns="0" tIns="0" rIns="0" bIns="0" rtlCol="0" anchor="ctr"/>
          <a:lstStyle/>
          <a:p>
            <a:pPr marL="0" indent="0">
              <a:buNone/>
            </a:pPr>
            <a:r>
              <a:rPr lang="en-US" sz="800" dirty="0">
                <a:solidFill>
                  <a:srgbClr val="FFFFFF"/>
                </a:solidFill>
                <a:latin typeface="Arial" pitchFamily="34" charset="0"/>
                <a:ea typeface="Arial" pitchFamily="34" charset="-122"/>
                <a:cs typeface="Arial" pitchFamily="34" charset="-120"/>
              </a:rPr>
              <a:t>Taller de Indicadores de Gestión Pública con IA</a:t>
            </a:r>
            <a:endParaRPr lang="en-US" sz="800" dirty="0"/>
          </a:p>
        </p:txBody>
      </p:sp>
      <p:sp>
        <p:nvSpPr>
          <p:cNvPr id="8" name="Text 5"/>
          <p:cNvSpPr/>
          <p:nvPr/>
        </p:nvSpPr>
        <p:spPr>
          <a:xfrm>
            <a:off x="640080" y="1417320"/>
            <a:ext cx="7863840" cy="3200400"/>
          </a:xfrm>
          <a:prstGeom prst="rect">
            <a:avLst/>
          </a:prstGeom>
          <a:noFill/>
          <a:ln/>
        </p:spPr>
        <p:txBody>
          <a:bodyPr wrap="square" rtlCol="0" anchor="t"/>
          <a:lstStyle/>
          <a:p>
            <a:pPr marL="177800" indent="-177800">
              <a:spcAft>
                <a:spcPts val="1000"/>
              </a:spcAft>
              <a:buSzPct val="100000"/>
              <a:buChar char="•"/>
            </a:pPr>
            <a:r>
              <a:rPr lang="en-US" sz="1200" dirty="0">
                <a:solidFill>
                  <a:srgbClr val="2F3B4C"/>
                </a:solidFill>
                <a:latin typeface="Arial" pitchFamily="34" charset="0"/>
                <a:ea typeface="Arial" pitchFamily="34" charset="-122"/>
                <a:cs typeface="Arial" pitchFamily="34" charset="-120"/>
              </a:rPr>
              <a:t>Paso 1-2: capture la pregunta vaga y complete los 4 componentes — con opción de cargar ejemplos precargados (Salud Rural, Educación, Seguridad).</a:t>
            </a:r>
            <a:endParaRPr lang="en-US" sz="1200" dirty="0"/>
          </a:p>
          <a:p>
            <a:pPr marL="177800" indent="-177800">
              <a:spcAft>
                <a:spcPts val="1000"/>
              </a:spcAft>
              <a:buSzPct val="100000"/>
              <a:buChar char="•"/>
            </a:pPr>
            <a:r>
              <a:rPr lang="en-US" sz="1200" dirty="0">
                <a:solidFill>
                  <a:srgbClr val="2F3B4C"/>
                </a:solidFill>
                <a:latin typeface="Arial" pitchFamily="34" charset="0"/>
                <a:ea typeface="Arial" pitchFamily="34" charset="-122"/>
                <a:cs typeface="Arial" pitchFamily="34" charset="-120"/>
              </a:rPr>
              <a:t>Paso 3: ubique el objetivo en la Cadena de Valor con un selector visual de 5 eslabones.</a:t>
            </a:r>
            <a:endParaRPr lang="en-US" sz="1200" dirty="0"/>
          </a:p>
          <a:p>
            <a:pPr marL="177800" indent="-177800">
              <a:spcAft>
                <a:spcPts val="1000"/>
              </a:spcAft>
              <a:buSzPct val="100000"/>
              <a:buChar char="•"/>
            </a:pPr>
            <a:r>
              <a:rPr lang="en-US" sz="1200" dirty="0">
                <a:solidFill>
                  <a:srgbClr val="2F3B4C"/>
                </a:solidFill>
                <a:latin typeface="Arial" pitchFamily="34" charset="0"/>
                <a:ea typeface="Arial" pitchFamily="34" charset="-122"/>
                <a:cs typeface="Arial" pitchFamily="34" charset="-120"/>
              </a:rPr>
              <a:t>Paso 4: nombre el indicador y genere la fórmula matemática, con el botón “✨ Auto-Generar Indicador” que usa el Copiloto IA.</a:t>
            </a:r>
            <a:endParaRPr lang="en-US" sz="1200" dirty="0"/>
          </a:p>
          <a:p>
            <a:pPr marL="177800" indent="-177800">
              <a:spcAft>
                <a:spcPts val="1000"/>
              </a:spcAft>
              <a:buSzPct val="100000"/>
              <a:buChar char="•"/>
            </a:pPr>
            <a:r>
              <a:rPr lang="en-US" sz="1200" dirty="0">
                <a:solidFill>
                  <a:srgbClr val="2F3B4C"/>
                </a:solidFill>
                <a:latin typeface="Arial" pitchFamily="34" charset="0"/>
                <a:ea typeface="Arial" pitchFamily="34" charset="-122"/>
                <a:cs typeface="Arial" pitchFamily="34" charset="-120"/>
              </a:rPr>
              <a:t>Paso 5: la app genera la Ficha Técnica completa y corre una Auditoría CREMAS inmediata, con puntaje de calidad en vivo.</a:t>
            </a:r>
            <a:endParaRPr lang="en-US" sz="12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292608"/>
            <a:ext cx="1005840" cy="41148"/>
          </a:xfrm>
          <a:prstGeom prst="rect">
            <a:avLst/>
          </a:prstGeom>
          <a:solidFill>
            <a:srgbClr val="FF9900"/>
          </a:solidFill>
          <a:ln/>
        </p:spPr>
      </p:sp>
      <p:sp>
        <p:nvSpPr>
          <p:cNvPr id="3" name="Text 1"/>
          <p:cNvSpPr/>
          <p:nvPr/>
        </p:nvSpPr>
        <p:spPr>
          <a:xfrm>
            <a:off x="640080" y="365760"/>
            <a:ext cx="6675120" cy="256032"/>
          </a:xfrm>
          <a:prstGeom prst="rect">
            <a:avLst/>
          </a:prstGeom>
          <a:noFill/>
          <a:ln/>
        </p:spPr>
        <p:txBody>
          <a:bodyPr wrap="square" rtlCol="0" anchor="ctr"/>
          <a:lstStyle/>
          <a:p>
            <a:pPr marL="0" indent="0">
              <a:buNone/>
            </a:pPr>
            <a:r>
              <a:rPr lang="en-US" sz="1000" b="1" kern="0" spc="150" dirty="0">
                <a:solidFill>
                  <a:srgbClr val="FC6E01"/>
                </a:solidFill>
                <a:latin typeface="Arial" pitchFamily="34" charset="0"/>
                <a:ea typeface="Arial" pitchFamily="34" charset="-122"/>
                <a:cs typeface="Arial" pitchFamily="34" charset="-120"/>
              </a:rPr>
              <a:t>EL SIMULADOR INTERACTIVO</a:t>
            </a:r>
            <a:endParaRPr lang="en-US" sz="1000" dirty="0"/>
          </a:p>
        </p:txBody>
      </p:sp>
      <p:sp>
        <p:nvSpPr>
          <p:cNvPr id="4" name="Text 2"/>
          <p:cNvSpPr/>
          <p:nvPr/>
        </p:nvSpPr>
        <p:spPr>
          <a:xfrm>
            <a:off x="640080" y="621792"/>
            <a:ext cx="7315200" cy="502920"/>
          </a:xfrm>
          <a:prstGeom prst="rect">
            <a:avLst/>
          </a:prstGeom>
          <a:noFill/>
          <a:ln/>
        </p:spPr>
        <p:txBody>
          <a:bodyPr wrap="square" rtlCol="0" anchor="ctr"/>
          <a:lstStyle/>
          <a:p>
            <a:pPr marL="0" indent="0">
              <a:buNone/>
            </a:pPr>
            <a:r>
              <a:rPr lang="en-US" sz="2100" b="1" dirty="0">
                <a:solidFill>
                  <a:srgbClr val="173F72"/>
                </a:solidFill>
                <a:latin typeface="Arial" pitchFamily="34" charset="0"/>
                <a:ea typeface="Arial" pitchFamily="34" charset="-122"/>
                <a:cs typeface="Arial" pitchFamily="34" charset="-120"/>
              </a:rPr>
              <a:t>Portafolio, Descarga y Pizarra Colaborativa</a:t>
            </a:r>
            <a:endParaRPr lang="en-US" sz="2100" dirty="0"/>
          </a:p>
        </p:txBody>
      </p:sp>
      <p:pic>
        <p:nvPicPr>
          <p:cNvPr id="6" name="Image 0" descr="/home/claude/taller/assets/footer_banner.png"/>
          <p:cNvPicPr>
            <a:picLocks noChangeAspect="1"/>
          </p:cNvPicPr>
          <p:nvPr/>
        </p:nvPicPr>
        <p:blipFill>
          <a:blip r:embed="rId3"/>
          <a:stretch>
            <a:fillRect/>
          </a:stretch>
        </p:blipFill>
        <p:spPr>
          <a:xfrm>
            <a:off x="0" y="4672584"/>
            <a:ext cx="9144000" cy="469087"/>
          </a:xfrm>
          <a:prstGeom prst="rect">
            <a:avLst/>
          </a:prstGeom>
        </p:spPr>
      </p:pic>
      <p:sp>
        <p:nvSpPr>
          <p:cNvPr id="7" name="Text 4"/>
          <p:cNvSpPr/>
          <p:nvPr/>
        </p:nvSpPr>
        <p:spPr>
          <a:xfrm>
            <a:off x="274320" y="4727448"/>
            <a:ext cx="5669280" cy="274320"/>
          </a:xfrm>
          <a:prstGeom prst="rect">
            <a:avLst/>
          </a:prstGeom>
          <a:noFill/>
          <a:ln/>
        </p:spPr>
        <p:txBody>
          <a:bodyPr wrap="square" lIns="0" tIns="0" rIns="0" bIns="0" rtlCol="0" anchor="ctr"/>
          <a:lstStyle/>
          <a:p>
            <a:pPr marL="0" indent="0">
              <a:buNone/>
            </a:pPr>
            <a:r>
              <a:rPr lang="en-US" sz="800" dirty="0">
                <a:solidFill>
                  <a:srgbClr val="FFFFFF"/>
                </a:solidFill>
                <a:latin typeface="Arial" pitchFamily="34" charset="0"/>
                <a:ea typeface="Arial" pitchFamily="34" charset="-122"/>
                <a:cs typeface="Arial" pitchFamily="34" charset="-120"/>
              </a:rPr>
              <a:t>Taller de Indicadores de Gestión Pública con IA</a:t>
            </a:r>
            <a:endParaRPr lang="en-US" sz="800" dirty="0"/>
          </a:p>
        </p:txBody>
      </p:sp>
      <p:sp>
        <p:nvSpPr>
          <p:cNvPr id="8" name="Shape 5"/>
          <p:cNvSpPr/>
          <p:nvPr/>
        </p:nvSpPr>
        <p:spPr>
          <a:xfrm>
            <a:off x="640080" y="1554480"/>
            <a:ext cx="2511552" cy="2468880"/>
          </a:xfrm>
          <a:prstGeom prst="roundRect">
            <a:avLst>
              <a:gd name="adj" fmla="val 2222"/>
            </a:avLst>
          </a:prstGeom>
          <a:solidFill>
            <a:srgbClr val="EDF3F9"/>
          </a:solidFill>
          <a:ln/>
        </p:spPr>
      </p:sp>
      <p:sp>
        <p:nvSpPr>
          <p:cNvPr id="9" name="Shape 6"/>
          <p:cNvSpPr/>
          <p:nvPr/>
        </p:nvSpPr>
        <p:spPr>
          <a:xfrm>
            <a:off x="777240" y="1691640"/>
            <a:ext cx="365760" cy="365760"/>
          </a:xfrm>
          <a:prstGeom prst="ellipse">
            <a:avLst/>
          </a:prstGeom>
          <a:solidFill>
            <a:srgbClr val="FC6E01"/>
          </a:solidFill>
          <a:ln/>
        </p:spPr>
      </p:sp>
      <p:sp>
        <p:nvSpPr>
          <p:cNvPr id="10" name="Text 7"/>
          <p:cNvSpPr/>
          <p:nvPr/>
        </p:nvSpPr>
        <p:spPr>
          <a:xfrm>
            <a:off x="777240" y="1691640"/>
            <a:ext cx="365760" cy="365760"/>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11" name="Text 8"/>
          <p:cNvSpPr/>
          <p:nvPr/>
        </p:nvSpPr>
        <p:spPr>
          <a:xfrm>
            <a:off x="777240" y="2121408"/>
            <a:ext cx="2237232" cy="365760"/>
          </a:xfrm>
          <a:prstGeom prst="rect">
            <a:avLst/>
          </a:prstGeom>
          <a:noFill/>
          <a:ln/>
        </p:spPr>
        <p:txBody>
          <a:bodyPr wrap="square" rtlCol="0" anchor="t"/>
          <a:lstStyle/>
          <a:p>
            <a:pPr marL="0" indent="0">
              <a:buNone/>
            </a:pPr>
            <a:r>
              <a:rPr lang="en-US" sz="1200" b="1" dirty="0">
                <a:solidFill>
                  <a:srgbClr val="173F72"/>
                </a:solidFill>
                <a:latin typeface="Arial" pitchFamily="34" charset="0"/>
                <a:ea typeface="Arial" pitchFamily="34" charset="-122"/>
                <a:cs typeface="Arial" pitchFamily="34" charset="-120"/>
              </a:rPr>
              <a:t>★ Mis Indicadores</a:t>
            </a:r>
            <a:endParaRPr lang="en-US" sz="1200" dirty="0"/>
          </a:p>
        </p:txBody>
      </p:sp>
      <p:sp>
        <p:nvSpPr>
          <p:cNvPr id="12" name="Text 9"/>
          <p:cNvSpPr/>
          <p:nvPr/>
        </p:nvSpPr>
        <p:spPr>
          <a:xfrm>
            <a:off x="777240" y="2468880"/>
            <a:ext cx="2237232" cy="1463040"/>
          </a:xfrm>
          <a:prstGeom prst="rect">
            <a:avLst/>
          </a:prstGeom>
          <a:noFill/>
          <a:ln/>
        </p:spPr>
        <p:txBody>
          <a:bodyPr wrap="square" rtlCol="0" anchor="t"/>
          <a:lstStyle/>
          <a:p>
            <a:pPr marL="0" indent="0">
              <a:buNone/>
            </a:pPr>
            <a:r>
              <a:rPr lang="en-US" sz="950" dirty="0">
                <a:solidFill>
                  <a:srgbClr val="5C6B7C"/>
                </a:solidFill>
                <a:latin typeface="Arial" pitchFamily="34" charset="0"/>
                <a:ea typeface="Arial" pitchFamily="34" charset="-122"/>
                <a:cs typeface="Arial" pitchFamily="34" charset="-120"/>
              </a:rPr>
              <a:t>Portafolio local donde cada participante guarda los indicadores que va construyendo durante el taller.</a:t>
            </a:r>
            <a:endParaRPr lang="en-US" sz="950" dirty="0"/>
          </a:p>
        </p:txBody>
      </p:sp>
      <p:sp>
        <p:nvSpPr>
          <p:cNvPr id="13" name="Shape 10"/>
          <p:cNvSpPr/>
          <p:nvPr/>
        </p:nvSpPr>
        <p:spPr>
          <a:xfrm>
            <a:off x="3316224" y="1554480"/>
            <a:ext cx="2511552" cy="2468880"/>
          </a:xfrm>
          <a:prstGeom prst="roundRect">
            <a:avLst>
              <a:gd name="adj" fmla="val 2222"/>
            </a:avLst>
          </a:prstGeom>
          <a:solidFill>
            <a:srgbClr val="EDF3F9"/>
          </a:solidFill>
          <a:ln/>
        </p:spPr>
      </p:sp>
      <p:sp>
        <p:nvSpPr>
          <p:cNvPr id="14" name="Shape 11"/>
          <p:cNvSpPr/>
          <p:nvPr/>
        </p:nvSpPr>
        <p:spPr>
          <a:xfrm>
            <a:off x="3453384" y="1691640"/>
            <a:ext cx="365760" cy="365760"/>
          </a:xfrm>
          <a:prstGeom prst="ellipse">
            <a:avLst/>
          </a:prstGeom>
          <a:solidFill>
            <a:srgbClr val="FC6E01"/>
          </a:solidFill>
          <a:ln/>
        </p:spPr>
      </p:sp>
      <p:sp>
        <p:nvSpPr>
          <p:cNvPr id="15" name="Text 12"/>
          <p:cNvSpPr/>
          <p:nvPr/>
        </p:nvSpPr>
        <p:spPr>
          <a:xfrm>
            <a:off x="3453384" y="1691640"/>
            <a:ext cx="365760" cy="365760"/>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6" name="Text 13"/>
          <p:cNvSpPr/>
          <p:nvPr/>
        </p:nvSpPr>
        <p:spPr>
          <a:xfrm>
            <a:off x="3453384" y="2121408"/>
            <a:ext cx="2237232" cy="365760"/>
          </a:xfrm>
          <a:prstGeom prst="rect">
            <a:avLst/>
          </a:prstGeom>
          <a:noFill/>
          <a:ln/>
        </p:spPr>
        <p:txBody>
          <a:bodyPr wrap="square" rtlCol="0" anchor="t"/>
          <a:lstStyle/>
          <a:p>
            <a:pPr marL="0" indent="0">
              <a:buNone/>
            </a:pPr>
            <a:r>
              <a:rPr lang="en-US" sz="1200" b="1" dirty="0">
                <a:solidFill>
                  <a:srgbClr val="173F72"/>
                </a:solidFill>
                <a:latin typeface="Arial" pitchFamily="34" charset="0"/>
                <a:ea typeface="Arial" pitchFamily="34" charset="-122"/>
                <a:cs typeface="Arial" pitchFamily="34" charset="-120"/>
              </a:rPr>
              <a:t>📥 Descargar Ficha PDF</a:t>
            </a:r>
            <a:endParaRPr lang="en-US" sz="1200" dirty="0"/>
          </a:p>
        </p:txBody>
      </p:sp>
      <p:sp>
        <p:nvSpPr>
          <p:cNvPr id="17" name="Text 14"/>
          <p:cNvSpPr/>
          <p:nvPr/>
        </p:nvSpPr>
        <p:spPr>
          <a:xfrm>
            <a:off x="3453384" y="2468880"/>
            <a:ext cx="2237232" cy="1463040"/>
          </a:xfrm>
          <a:prstGeom prst="rect">
            <a:avLst/>
          </a:prstGeom>
          <a:noFill/>
          <a:ln/>
        </p:spPr>
        <p:txBody>
          <a:bodyPr wrap="square" rtlCol="0" anchor="t"/>
          <a:lstStyle/>
          <a:p>
            <a:pPr marL="0" indent="0">
              <a:buNone/>
            </a:pPr>
            <a:r>
              <a:rPr lang="en-US" sz="950" dirty="0">
                <a:solidFill>
                  <a:srgbClr val="5C6B7C"/>
                </a:solidFill>
                <a:latin typeface="Arial" pitchFamily="34" charset="0"/>
                <a:ea typeface="Arial" pitchFamily="34" charset="-122"/>
                <a:cs typeface="Arial" pitchFamily="34" charset="-120"/>
              </a:rPr>
              <a:t>Cada ficha técnica generada se puede descargar en PDF, lista para archivar o compartir.</a:t>
            </a:r>
            <a:endParaRPr lang="en-US" sz="950" dirty="0"/>
          </a:p>
        </p:txBody>
      </p:sp>
      <p:sp>
        <p:nvSpPr>
          <p:cNvPr id="18" name="Shape 15"/>
          <p:cNvSpPr/>
          <p:nvPr/>
        </p:nvSpPr>
        <p:spPr>
          <a:xfrm>
            <a:off x="5992368" y="1554480"/>
            <a:ext cx="2511552" cy="2468880"/>
          </a:xfrm>
          <a:prstGeom prst="roundRect">
            <a:avLst>
              <a:gd name="adj" fmla="val 2222"/>
            </a:avLst>
          </a:prstGeom>
          <a:solidFill>
            <a:srgbClr val="EDF3F9"/>
          </a:solidFill>
          <a:ln/>
        </p:spPr>
      </p:sp>
      <p:sp>
        <p:nvSpPr>
          <p:cNvPr id="19" name="Shape 16"/>
          <p:cNvSpPr/>
          <p:nvPr/>
        </p:nvSpPr>
        <p:spPr>
          <a:xfrm>
            <a:off x="6129528" y="1691640"/>
            <a:ext cx="365760" cy="365760"/>
          </a:xfrm>
          <a:prstGeom prst="ellipse">
            <a:avLst/>
          </a:prstGeom>
          <a:solidFill>
            <a:srgbClr val="FC6E01"/>
          </a:solidFill>
          <a:ln/>
        </p:spPr>
      </p:sp>
      <p:sp>
        <p:nvSpPr>
          <p:cNvPr id="20" name="Text 17"/>
          <p:cNvSpPr/>
          <p:nvPr/>
        </p:nvSpPr>
        <p:spPr>
          <a:xfrm>
            <a:off x="6129528" y="1691640"/>
            <a:ext cx="365760" cy="365760"/>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21" name="Text 18"/>
          <p:cNvSpPr/>
          <p:nvPr/>
        </p:nvSpPr>
        <p:spPr>
          <a:xfrm>
            <a:off x="6129528" y="2121408"/>
            <a:ext cx="2237232" cy="365760"/>
          </a:xfrm>
          <a:prstGeom prst="rect">
            <a:avLst/>
          </a:prstGeom>
          <a:noFill/>
          <a:ln/>
        </p:spPr>
        <p:txBody>
          <a:bodyPr wrap="square" rtlCol="0" anchor="t"/>
          <a:lstStyle/>
          <a:p>
            <a:pPr marL="0" indent="0">
              <a:buNone/>
            </a:pPr>
            <a:r>
              <a:rPr lang="en-US" sz="1200" b="1" dirty="0">
                <a:solidFill>
                  <a:srgbClr val="173F72"/>
                </a:solidFill>
                <a:latin typeface="Arial" pitchFamily="34" charset="0"/>
                <a:ea typeface="Arial" pitchFamily="34" charset="-122"/>
                <a:cs typeface="Arial" pitchFamily="34" charset="-120"/>
              </a:rPr>
              <a:t>🖌️ Pizarra Colaborativa</a:t>
            </a:r>
            <a:endParaRPr lang="en-US" sz="1200" dirty="0"/>
          </a:p>
        </p:txBody>
      </p:sp>
      <p:sp>
        <p:nvSpPr>
          <p:cNvPr id="22" name="Text 19"/>
          <p:cNvSpPr/>
          <p:nvPr/>
        </p:nvSpPr>
        <p:spPr>
          <a:xfrm>
            <a:off x="6129528" y="2468880"/>
            <a:ext cx="2237232" cy="1463040"/>
          </a:xfrm>
          <a:prstGeom prst="rect">
            <a:avLst/>
          </a:prstGeom>
          <a:noFill/>
          <a:ln/>
        </p:spPr>
        <p:txBody>
          <a:bodyPr wrap="square" rtlCol="0" anchor="t"/>
          <a:lstStyle/>
          <a:p>
            <a:pPr marL="0" indent="0">
              <a:buNone/>
            </a:pPr>
            <a:r>
              <a:rPr lang="en-US" sz="950" dirty="0">
                <a:solidFill>
                  <a:srgbClr val="5C6B7C"/>
                </a:solidFill>
                <a:latin typeface="Arial" pitchFamily="34" charset="0"/>
                <a:ea typeface="Arial" pitchFamily="34" charset="-122"/>
                <a:cs typeface="Arial" pitchFamily="34" charset="-120"/>
              </a:rPr>
              <a:t>Espacio integrado (Excalidraw) para bocetar en grupo antes de formalizar el indicador en la app.</a:t>
            </a:r>
            <a:endParaRPr lang="en-US" sz="9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292608"/>
            <a:ext cx="1005840" cy="41148"/>
          </a:xfrm>
          <a:prstGeom prst="rect">
            <a:avLst/>
          </a:prstGeom>
          <a:solidFill>
            <a:srgbClr val="FF9900"/>
          </a:solidFill>
          <a:ln/>
        </p:spPr>
      </p:sp>
      <p:sp>
        <p:nvSpPr>
          <p:cNvPr id="3" name="Text 1"/>
          <p:cNvSpPr/>
          <p:nvPr/>
        </p:nvSpPr>
        <p:spPr>
          <a:xfrm>
            <a:off x="640080" y="365760"/>
            <a:ext cx="6675120" cy="256032"/>
          </a:xfrm>
          <a:prstGeom prst="rect">
            <a:avLst/>
          </a:prstGeom>
          <a:noFill/>
          <a:ln/>
        </p:spPr>
        <p:txBody>
          <a:bodyPr wrap="square" rtlCol="0" anchor="ctr"/>
          <a:lstStyle/>
          <a:p>
            <a:pPr marL="0" indent="0">
              <a:buNone/>
            </a:pPr>
            <a:r>
              <a:rPr lang="en-US" sz="1000" b="1" kern="0" spc="150" dirty="0">
                <a:solidFill>
                  <a:srgbClr val="FC6E01"/>
                </a:solidFill>
                <a:latin typeface="Arial" pitchFamily="34" charset="0"/>
                <a:ea typeface="Arial" pitchFamily="34" charset="-122"/>
                <a:cs typeface="Arial" pitchFamily="34" charset="-120"/>
              </a:rPr>
              <a:t>EL SIMULADOR INTERACTIVO</a:t>
            </a:r>
            <a:endParaRPr lang="en-US" sz="1000" dirty="0"/>
          </a:p>
        </p:txBody>
      </p:sp>
      <p:sp>
        <p:nvSpPr>
          <p:cNvPr id="4" name="Text 2"/>
          <p:cNvSpPr/>
          <p:nvPr/>
        </p:nvSpPr>
        <p:spPr>
          <a:xfrm>
            <a:off x="640080" y="621792"/>
            <a:ext cx="7315200" cy="502920"/>
          </a:xfrm>
          <a:prstGeom prst="rect">
            <a:avLst/>
          </a:prstGeom>
          <a:noFill/>
          <a:ln/>
        </p:spPr>
        <p:txBody>
          <a:bodyPr wrap="square" rtlCol="0" anchor="ctr"/>
          <a:lstStyle/>
          <a:p>
            <a:pPr marL="0" indent="0">
              <a:buNone/>
            </a:pPr>
            <a:r>
              <a:rPr lang="en-US" sz="2100" b="1" dirty="0">
                <a:solidFill>
                  <a:srgbClr val="173F72"/>
                </a:solidFill>
                <a:latin typeface="Arial" pitchFamily="34" charset="0"/>
                <a:ea typeface="Arial" pitchFamily="34" charset="-122"/>
                <a:cs typeface="Arial" pitchFamily="34" charset="-120"/>
              </a:rPr>
              <a:t>Cómo se Usa en el Bloque 3 (30 min)</a:t>
            </a:r>
            <a:endParaRPr lang="en-US" sz="2100" dirty="0"/>
          </a:p>
        </p:txBody>
      </p:sp>
      <p:pic>
        <p:nvPicPr>
          <p:cNvPr id="6" name="Image 0" descr="/home/claude/taller/assets/footer_banner.png"/>
          <p:cNvPicPr>
            <a:picLocks noChangeAspect="1"/>
          </p:cNvPicPr>
          <p:nvPr/>
        </p:nvPicPr>
        <p:blipFill>
          <a:blip r:embed="rId3"/>
          <a:stretch>
            <a:fillRect/>
          </a:stretch>
        </p:blipFill>
        <p:spPr>
          <a:xfrm>
            <a:off x="0" y="4672584"/>
            <a:ext cx="9144000" cy="469087"/>
          </a:xfrm>
          <a:prstGeom prst="rect">
            <a:avLst/>
          </a:prstGeom>
        </p:spPr>
      </p:pic>
      <p:sp>
        <p:nvSpPr>
          <p:cNvPr id="7" name="Text 4"/>
          <p:cNvSpPr/>
          <p:nvPr/>
        </p:nvSpPr>
        <p:spPr>
          <a:xfrm>
            <a:off x="274320" y="4727448"/>
            <a:ext cx="5669280" cy="274320"/>
          </a:xfrm>
          <a:prstGeom prst="rect">
            <a:avLst/>
          </a:prstGeom>
          <a:noFill/>
          <a:ln/>
        </p:spPr>
        <p:txBody>
          <a:bodyPr wrap="square" lIns="0" tIns="0" rIns="0" bIns="0" rtlCol="0" anchor="ctr"/>
          <a:lstStyle/>
          <a:p>
            <a:pPr marL="0" indent="0">
              <a:buNone/>
            </a:pPr>
            <a:r>
              <a:rPr lang="en-US" sz="800" dirty="0">
                <a:solidFill>
                  <a:srgbClr val="FFFFFF"/>
                </a:solidFill>
                <a:latin typeface="Arial" pitchFamily="34" charset="0"/>
                <a:ea typeface="Arial" pitchFamily="34" charset="-122"/>
                <a:cs typeface="Arial" pitchFamily="34" charset="-120"/>
              </a:rPr>
              <a:t>Taller de Indicadores de Gestión Pública con IA</a:t>
            </a:r>
            <a:endParaRPr lang="en-US" sz="800" dirty="0"/>
          </a:p>
        </p:txBody>
      </p:sp>
      <p:sp>
        <p:nvSpPr>
          <p:cNvPr id="8" name="Shape 5"/>
          <p:cNvSpPr/>
          <p:nvPr/>
        </p:nvSpPr>
        <p:spPr>
          <a:xfrm>
            <a:off x="640080" y="1417320"/>
            <a:ext cx="7863840" cy="2651760"/>
          </a:xfrm>
          <a:prstGeom prst="roundRect">
            <a:avLst>
              <a:gd name="adj" fmla="val 1724"/>
            </a:avLst>
          </a:prstGeom>
          <a:solidFill>
            <a:srgbClr val="EDF3F9"/>
          </a:solidFill>
          <a:ln/>
        </p:spPr>
      </p:sp>
      <p:sp>
        <p:nvSpPr>
          <p:cNvPr id="9" name="Text 6"/>
          <p:cNvSpPr/>
          <p:nvPr/>
        </p:nvSpPr>
        <p:spPr>
          <a:xfrm>
            <a:off x="822960" y="1600200"/>
            <a:ext cx="7498080" cy="3200400"/>
          </a:xfrm>
          <a:prstGeom prst="rect">
            <a:avLst/>
          </a:prstGeom>
          <a:noFill/>
          <a:ln/>
        </p:spPr>
        <p:txBody>
          <a:bodyPr wrap="square" rtlCol="0" anchor="t"/>
          <a:lstStyle/>
          <a:p>
            <a:pPr marL="177800" indent="-177800">
              <a:spcAft>
                <a:spcPts val="1000"/>
              </a:spcAft>
              <a:buSzPct val="100000"/>
              <a:buChar char="•"/>
            </a:pPr>
            <a:r>
              <a:rPr lang="en-US" sz="1150" dirty="0">
                <a:solidFill>
                  <a:srgbClr val="2F3B4C"/>
                </a:solidFill>
                <a:latin typeface="Arial" pitchFamily="34" charset="0"/>
                <a:ea typeface="Arial" pitchFamily="34" charset="-122"/>
                <a:cs typeface="Arial" pitchFamily="34" charset="-120"/>
              </a:rPr>
              <a:t>El facilitador comparte pantalla y desarrolla el caso guía (salud materna) en vivo, dentro del Simulador, de principio a fin.</a:t>
            </a:r>
            <a:endParaRPr lang="en-US" sz="1150" dirty="0"/>
          </a:p>
          <a:p>
            <a:pPr marL="177800" indent="-177800">
              <a:spcAft>
                <a:spcPts val="1000"/>
              </a:spcAft>
              <a:buSzPct val="100000"/>
              <a:buChar char="•"/>
            </a:pPr>
            <a:r>
              <a:rPr lang="en-US" sz="1150" dirty="0">
                <a:solidFill>
                  <a:srgbClr val="2F3B4C"/>
                </a:solidFill>
                <a:latin typeface="Arial" pitchFamily="34" charset="0"/>
                <a:ea typeface="Arial" pitchFamily="34" charset="-122"/>
                <a:cs typeface="Arial" pitchFamily="34" charset="-120"/>
              </a:rPr>
              <a:t>Los participantes abren la app en su propio navegador y replican el mismo caso guía, paso a paso, al mismo tiempo que el facilitador.</a:t>
            </a:r>
            <a:endParaRPr lang="en-US" sz="1150" dirty="0"/>
          </a:p>
          <a:p>
            <a:pPr marL="177800" indent="-177800">
              <a:spcAft>
                <a:spcPts val="1000"/>
              </a:spcAft>
              <a:buSzPct val="100000"/>
              <a:buChar char="•"/>
            </a:pPr>
            <a:r>
              <a:rPr lang="en-US" sz="1150" dirty="0">
                <a:solidFill>
                  <a:srgbClr val="2F3B4C"/>
                </a:solidFill>
                <a:latin typeface="Arial" pitchFamily="34" charset="0"/>
                <a:ea typeface="Arial" pitchFamily="34" charset="-122"/>
                <a:cs typeface="Arial" pitchFamily="34" charset="-120"/>
              </a:rPr>
              <a:t>Los otros 3 casos (educación, seguridad, ambiente) NO se desarrollan en vivo por tiempo — quedan impresos como referencia en las siguientes diapositivas.</a:t>
            </a:r>
            <a:endParaRPr lang="en-US" sz="1150" dirty="0"/>
          </a:p>
          <a:p>
            <a:pPr marL="177800" indent="-177800">
              <a:spcAft>
                <a:spcPts val="1000"/>
              </a:spcAft>
              <a:buSzPct val="100000"/>
              <a:buChar char="•"/>
            </a:pPr>
            <a:r>
              <a:rPr lang="en-US" sz="1150" dirty="0">
                <a:solidFill>
                  <a:srgbClr val="2F3B4C"/>
                </a:solidFill>
                <a:latin typeface="Arial" pitchFamily="34" charset="0"/>
                <a:ea typeface="Arial" pitchFamily="34" charset="-122"/>
                <a:cs typeface="Arial" pitchFamily="34" charset="-120"/>
              </a:rPr>
              <a:t>Quien termine antes puede usar el tiempo restante para intentar uno de los 3 ejercicios para casa directamente en la app.</a:t>
            </a:r>
            <a:endParaRPr lang="en-US" sz="11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731520" y="1828800"/>
            <a:ext cx="7680960" cy="320040"/>
          </a:xfrm>
          <a:prstGeom prst="rect">
            <a:avLst/>
          </a:prstGeom>
          <a:noFill/>
          <a:ln/>
        </p:spPr>
        <p:txBody>
          <a:bodyPr wrap="square" rtlCol="0" anchor="ctr"/>
          <a:lstStyle/>
          <a:p>
            <a:pPr marL="0" indent="0" algn="l">
              <a:buNone/>
            </a:pPr>
            <a:r>
              <a:rPr lang="en-US" sz="1200" b="1" kern="0" spc="200" dirty="0">
                <a:solidFill>
                  <a:srgbClr val="FF9900"/>
                </a:solidFill>
                <a:latin typeface="Arial" pitchFamily="34" charset="0"/>
                <a:ea typeface="Arial" pitchFamily="34" charset="-122"/>
                <a:cs typeface="Arial" pitchFamily="34" charset="-120"/>
              </a:rPr>
              <a:t>BLOQUE 3 · 30 MIN</a:t>
            </a:r>
            <a:endParaRPr lang="en-US" sz="1200" dirty="0"/>
          </a:p>
        </p:txBody>
      </p:sp>
      <p:sp>
        <p:nvSpPr>
          <p:cNvPr id="3" name="Text 1"/>
          <p:cNvSpPr/>
          <p:nvPr/>
        </p:nvSpPr>
        <p:spPr>
          <a:xfrm>
            <a:off x="731520" y="2212848"/>
            <a:ext cx="7680960" cy="1188720"/>
          </a:xfrm>
          <a:prstGeom prst="rect">
            <a:avLst/>
          </a:prstGeom>
          <a:noFill/>
          <a:ln/>
        </p:spPr>
        <p:txBody>
          <a:bodyPr wrap="square" rtlCol="0" anchor="t"/>
          <a:lstStyle/>
          <a:p>
            <a:pPr marL="0" indent="0" algn="l">
              <a:buNone/>
            </a:pPr>
            <a:r>
              <a:rPr lang="en-US" sz="3000" b="1" dirty="0">
                <a:solidFill>
                  <a:srgbClr val="FFFFFF"/>
                </a:solidFill>
                <a:latin typeface="Arial" pitchFamily="34" charset="0"/>
                <a:ea typeface="Arial" pitchFamily="34" charset="-122"/>
                <a:cs typeface="Arial" pitchFamily="34" charset="-120"/>
              </a:rPr>
              <a:t>Taller Práctico en Vivo</a:t>
            </a:r>
            <a:endParaRPr lang="en-US" sz="3000" dirty="0"/>
          </a:p>
        </p:txBody>
      </p:sp>
      <p:sp>
        <p:nvSpPr>
          <p:cNvPr id="4" name="Text 2"/>
          <p:cNvSpPr/>
          <p:nvPr/>
        </p:nvSpPr>
        <p:spPr>
          <a:xfrm>
            <a:off x="731520" y="3447288"/>
            <a:ext cx="7680960" cy="457200"/>
          </a:xfrm>
          <a:prstGeom prst="rect">
            <a:avLst/>
          </a:prstGeom>
          <a:noFill/>
          <a:ln/>
        </p:spPr>
        <p:txBody>
          <a:bodyPr wrap="square" rtlCol="0" anchor="ctr"/>
          <a:lstStyle/>
          <a:p>
            <a:pPr marL="0" indent="0" algn="l">
              <a:buNone/>
            </a:pPr>
            <a:r>
              <a:rPr lang="en-US" sz="1400" i="1" dirty="0">
                <a:solidFill>
                  <a:srgbClr val="CADCFC"/>
                </a:solidFill>
                <a:latin typeface="Arial" pitchFamily="34" charset="0"/>
                <a:ea typeface="Arial" pitchFamily="34" charset="-122"/>
                <a:cs typeface="Arial" pitchFamily="34" charset="-120"/>
              </a:rPr>
              <a:t>Autoría humana → refinamiento con IA en el Simulador</a:t>
            </a:r>
            <a:endParaRPr lang="en-US" sz="1400" dirty="0"/>
          </a:p>
        </p:txBody>
      </p:sp>
      <p:sp>
        <p:nvSpPr>
          <p:cNvPr id="5" name="Text 3"/>
          <p:cNvSpPr/>
          <p:nvPr/>
        </p:nvSpPr>
        <p:spPr>
          <a:xfrm>
            <a:off x="731520" y="3904488"/>
            <a:ext cx="7680960" cy="365760"/>
          </a:xfrm>
          <a:prstGeom prst="rect">
            <a:avLst/>
          </a:prstGeom>
          <a:noFill/>
          <a:ln/>
        </p:spPr>
        <p:txBody>
          <a:bodyPr wrap="square" rtlCol="0" anchor="ctr"/>
          <a:lstStyle/>
          <a:p>
            <a:pPr marL="0" indent="0" algn="l">
              <a:buNone/>
            </a:pPr>
            <a:r>
              <a:rPr lang="en-US" sz="1100" dirty="0">
                <a:solidFill>
                  <a:srgbClr val="9FB8D9"/>
                </a:solidFill>
                <a:latin typeface="Arial" pitchFamily="34" charset="0"/>
                <a:ea typeface="Arial" pitchFamily="34" charset="-122"/>
                <a:cs typeface="Arial" pitchFamily="34" charset="-120"/>
              </a:rPr>
              <a:t>Bloque 3 de 3</a:t>
            </a:r>
            <a:endParaRPr lang="en-US" sz="11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292608"/>
            <a:ext cx="1005840" cy="41148"/>
          </a:xfrm>
          <a:prstGeom prst="rect">
            <a:avLst/>
          </a:prstGeom>
          <a:solidFill>
            <a:srgbClr val="FF9900"/>
          </a:solidFill>
          <a:ln/>
        </p:spPr>
      </p:sp>
      <p:sp>
        <p:nvSpPr>
          <p:cNvPr id="3" name="Text 1"/>
          <p:cNvSpPr/>
          <p:nvPr/>
        </p:nvSpPr>
        <p:spPr>
          <a:xfrm>
            <a:off x="640080" y="365760"/>
            <a:ext cx="6675120" cy="256032"/>
          </a:xfrm>
          <a:prstGeom prst="rect">
            <a:avLst/>
          </a:prstGeom>
          <a:noFill/>
          <a:ln/>
        </p:spPr>
        <p:txBody>
          <a:bodyPr wrap="square" rtlCol="0" anchor="ctr"/>
          <a:lstStyle/>
          <a:p>
            <a:pPr marL="0" indent="0">
              <a:buNone/>
            </a:pPr>
            <a:r>
              <a:rPr lang="en-US" sz="1000" b="1" kern="0" spc="150" dirty="0">
                <a:solidFill>
                  <a:srgbClr val="FC6E01"/>
                </a:solidFill>
                <a:latin typeface="Arial" pitchFamily="34" charset="0"/>
                <a:ea typeface="Arial" pitchFamily="34" charset="-122"/>
                <a:cs typeface="Arial" pitchFamily="34" charset="-120"/>
              </a:rPr>
              <a:t>TALLER PRÁCTICO EN VIVO</a:t>
            </a:r>
            <a:endParaRPr lang="en-US" sz="1000" dirty="0"/>
          </a:p>
        </p:txBody>
      </p:sp>
      <p:sp>
        <p:nvSpPr>
          <p:cNvPr id="4" name="Text 2"/>
          <p:cNvSpPr/>
          <p:nvPr/>
        </p:nvSpPr>
        <p:spPr>
          <a:xfrm>
            <a:off x="640080" y="621792"/>
            <a:ext cx="7315200" cy="502920"/>
          </a:xfrm>
          <a:prstGeom prst="rect">
            <a:avLst/>
          </a:prstGeom>
          <a:noFill/>
          <a:ln/>
        </p:spPr>
        <p:txBody>
          <a:bodyPr wrap="square" rtlCol="0" anchor="ctr"/>
          <a:lstStyle/>
          <a:p>
            <a:pPr marL="0" indent="0">
              <a:buNone/>
            </a:pPr>
            <a:r>
              <a:rPr lang="en-US" sz="2100" b="1" dirty="0">
                <a:solidFill>
                  <a:srgbClr val="173F72"/>
                </a:solidFill>
                <a:latin typeface="Arial" pitchFamily="34" charset="0"/>
                <a:ea typeface="Arial" pitchFamily="34" charset="-122"/>
                <a:cs typeface="Arial" pitchFamily="34" charset="-120"/>
              </a:rPr>
              <a:t>Un Caso en Vivo, Tres Casos de Referencia</a:t>
            </a:r>
            <a:endParaRPr lang="en-US" sz="2100" dirty="0"/>
          </a:p>
        </p:txBody>
      </p:sp>
      <p:pic>
        <p:nvPicPr>
          <p:cNvPr id="6" name="Image 0" descr="/home/claude/taller/assets/footer_banner.png"/>
          <p:cNvPicPr>
            <a:picLocks noChangeAspect="1"/>
          </p:cNvPicPr>
          <p:nvPr/>
        </p:nvPicPr>
        <p:blipFill>
          <a:blip r:embed="rId3"/>
          <a:stretch>
            <a:fillRect/>
          </a:stretch>
        </p:blipFill>
        <p:spPr>
          <a:xfrm>
            <a:off x="0" y="4672584"/>
            <a:ext cx="9144000" cy="469087"/>
          </a:xfrm>
          <a:prstGeom prst="rect">
            <a:avLst/>
          </a:prstGeom>
        </p:spPr>
      </p:pic>
      <p:sp>
        <p:nvSpPr>
          <p:cNvPr id="7" name="Text 4"/>
          <p:cNvSpPr/>
          <p:nvPr/>
        </p:nvSpPr>
        <p:spPr>
          <a:xfrm>
            <a:off x="274320" y="4727448"/>
            <a:ext cx="5669280" cy="274320"/>
          </a:xfrm>
          <a:prstGeom prst="rect">
            <a:avLst/>
          </a:prstGeom>
          <a:noFill/>
          <a:ln/>
        </p:spPr>
        <p:txBody>
          <a:bodyPr wrap="square" lIns="0" tIns="0" rIns="0" bIns="0" rtlCol="0" anchor="ctr"/>
          <a:lstStyle/>
          <a:p>
            <a:pPr marL="0" indent="0">
              <a:buNone/>
            </a:pPr>
            <a:r>
              <a:rPr lang="en-US" sz="800" dirty="0">
                <a:solidFill>
                  <a:srgbClr val="FFFFFF"/>
                </a:solidFill>
                <a:latin typeface="Arial" pitchFamily="34" charset="0"/>
                <a:ea typeface="Arial" pitchFamily="34" charset="-122"/>
                <a:cs typeface="Arial" pitchFamily="34" charset="-120"/>
              </a:rPr>
              <a:t>Taller de Indicadores de Gestión Pública con IA</a:t>
            </a:r>
            <a:endParaRPr lang="en-US" sz="800" dirty="0"/>
          </a:p>
        </p:txBody>
      </p:sp>
      <p:sp>
        <p:nvSpPr>
          <p:cNvPr id="8" name="Shape 5"/>
          <p:cNvSpPr/>
          <p:nvPr/>
        </p:nvSpPr>
        <p:spPr>
          <a:xfrm>
            <a:off x="640080" y="1463040"/>
            <a:ext cx="7863840" cy="2377440"/>
          </a:xfrm>
          <a:prstGeom prst="roundRect">
            <a:avLst>
              <a:gd name="adj" fmla="val 1923"/>
            </a:avLst>
          </a:prstGeom>
          <a:solidFill>
            <a:srgbClr val="FFF6E5"/>
          </a:solidFill>
          <a:ln w="9525">
            <a:solidFill>
              <a:srgbClr val="FF9900"/>
            </a:solidFill>
            <a:prstDash val="solid"/>
          </a:ln>
        </p:spPr>
      </p:sp>
      <p:sp>
        <p:nvSpPr>
          <p:cNvPr id="9" name="Text 6"/>
          <p:cNvSpPr/>
          <p:nvPr/>
        </p:nvSpPr>
        <p:spPr>
          <a:xfrm>
            <a:off x="822960" y="1691640"/>
            <a:ext cx="7498080" cy="1920240"/>
          </a:xfrm>
          <a:prstGeom prst="rect">
            <a:avLst/>
          </a:prstGeom>
          <a:noFill/>
          <a:ln/>
        </p:spPr>
        <p:txBody>
          <a:bodyPr wrap="square" rtlCol="0" anchor="t"/>
          <a:lstStyle/>
          <a:p>
            <a:pPr marL="0" indent="0">
              <a:buNone/>
            </a:pPr>
            <a:r>
              <a:rPr lang="en-US" sz="1300" i="1" dirty="0">
                <a:solidFill>
                  <a:srgbClr val="2F3B4C"/>
                </a:solidFill>
                <a:latin typeface="Arial" pitchFamily="34" charset="0"/>
                <a:ea typeface="Arial" pitchFamily="34" charset="-122"/>
                <a:cs typeface="Arial" pitchFamily="34" charset="-120"/>
              </a:rPr>
              <a:t>Solo el caso guía (Salud Materna Rural) se desarrolla en vivo, dentro del Simulador, con la participación de todo el grupo. Los 3 casos siguientes (Educación, Seguridad, Ambiente) ya están completamente resueltos en las diapositivas que siguen — sirven como banco de referencia y como modelo para los ejercicios que cada quien completará después, en casa o en la app.</a:t>
            </a:r>
            <a:endParaRPr lang="en-US" sz="13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292608"/>
            <a:ext cx="1005840" cy="41148"/>
          </a:xfrm>
          <a:prstGeom prst="rect">
            <a:avLst/>
          </a:prstGeom>
          <a:solidFill>
            <a:srgbClr val="FF9900"/>
          </a:solidFill>
          <a:ln/>
        </p:spPr>
      </p:sp>
      <p:sp>
        <p:nvSpPr>
          <p:cNvPr id="3" name="Text 1"/>
          <p:cNvSpPr/>
          <p:nvPr/>
        </p:nvSpPr>
        <p:spPr>
          <a:xfrm>
            <a:off x="640080" y="365760"/>
            <a:ext cx="6675120" cy="256032"/>
          </a:xfrm>
          <a:prstGeom prst="rect">
            <a:avLst/>
          </a:prstGeom>
          <a:noFill/>
          <a:ln/>
        </p:spPr>
        <p:txBody>
          <a:bodyPr wrap="square" rtlCol="0" anchor="ctr"/>
          <a:lstStyle/>
          <a:p>
            <a:pPr marL="0" indent="0">
              <a:buNone/>
            </a:pPr>
            <a:r>
              <a:rPr lang="en-US" sz="1000" b="1" kern="0" spc="150" dirty="0">
                <a:solidFill>
                  <a:srgbClr val="FC6E01"/>
                </a:solidFill>
                <a:latin typeface="Arial" pitchFamily="34" charset="0"/>
                <a:ea typeface="Arial" pitchFamily="34" charset="-122"/>
                <a:cs typeface="Arial" pitchFamily="34" charset="-120"/>
              </a:rPr>
              <a:t>CASO GUÍA 1 DE 4 · SALUD</a:t>
            </a:r>
            <a:endParaRPr lang="en-US" sz="1000" dirty="0"/>
          </a:p>
        </p:txBody>
      </p:sp>
      <p:sp>
        <p:nvSpPr>
          <p:cNvPr id="4" name="Text 2"/>
          <p:cNvSpPr/>
          <p:nvPr/>
        </p:nvSpPr>
        <p:spPr>
          <a:xfrm>
            <a:off x="640080" y="621792"/>
            <a:ext cx="7315200" cy="502920"/>
          </a:xfrm>
          <a:prstGeom prst="rect">
            <a:avLst/>
          </a:prstGeom>
          <a:noFill/>
          <a:ln/>
        </p:spPr>
        <p:txBody>
          <a:bodyPr wrap="square" rtlCol="0" anchor="ctr"/>
          <a:lstStyle/>
          <a:p>
            <a:pPr marL="0" indent="0">
              <a:buNone/>
            </a:pPr>
            <a:r>
              <a:rPr lang="en-US" sz="2100" b="1" dirty="0">
                <a:solidFill>
                  <a:srgbClr val="173F72"/>
                </a:solidFill>
                <a:latin typeface="Arial" pitchFamily="34" charset="0"/>
                <a:ea typeface="Arial" pitchFamily="34" charset="-122"/>
                <a:cs typeface="Arial" pitchFamily="34" charset="-120"/>
              </a:rPr>
              <a:t>Salud Materna Rural</a:t>
            </a:r>
            <a:endParaRPr lang="en-US" sz="2100" dirty="0"/>
          </a:p>
        </p:txBody>
      </p:sp>
      <p:pic>
        <p:nvPicPr>
          <p:cNvPr id="6" name="Image 0" descr="/home/claude/taller/assets/footer_banner.png"/>
          <p:cNvPicPr>
            <a:picLocks noChangeAspect="1"/>
          </p:cNvPicPr>
          <p:nvPr/>
        </p:nvPicPr>
        <p:blipFill>
          <a:blip r:embed="rId3"/>
          <a:stretch>
            <a:fillRect/>
          </a:stretch>
        </p:blipFill>
        <p:spPr>
          <a:xfrm>
            <a:off x="0" y="4672584"/>
            <a:ext cx="9144000" cy="469087"/>
          </a:xfrm>
          <a:prstGeom prst="rect">
            <a:avLst/>
          </a:prstGeom>
        </p:spPr>
      </p:pic>
      <p:sp>
        <p:nvSpPr>
          <p:cNvPr id="7" name="Text 4"/>
          <p:cNvSpPr/>
          <p:nvPr/>
        </p:nvSpPr>
        <p:spPr>
          <a:xfrm>
            <a:off x="274320" y="4727448"/>
            <a:ext cx="5669280" cy="274320"/>
          </a:xfrm>
          <a:prstGeom prst="rect">
            <a:avLst/>
          </a:prstGeom>
          <a:noFill/>
          <a:ln/>
        </p:spPr>
        <p:txBody>
          <a:bodyPr wrap="square" lIns="0" tIns="0" rIns="0" bIns="0" rtlCol="0" anchor="ctr"/>
          <a:lstStyle/>
          <a:p>
            <a:pPr marL="0" indent="0">
              <a:buNone/>
            </a:pPr>
            <a:r>
              <a:rPr lang="en-US" sz="800" dirty="0">
                <a:solidFill>
                  <a:srgbClr val="FFFFFF"/>
                </a:solidFill>
                <a:latin typeface="Arial" pitchFamily="34" charset="0"/>
                <a:ea typeface="Arial" pitchFamily="34" charset="-122"/>
                <a:cs typeface="Arial" pitchFamily="34" charset="-120"/>
              </a:rPr>
              <a:t>Taller de Indicadores de Gestión Pública con IA</a:t>
            </a:r>
            <a:endParaRPr lang="en-US" sz="800" dirty="0"/>
          </a:p>
        </p:txBody>
      </p:sp>
      <p:sp>
        <p:nvSpPr>
          <p:cNvPr id="8" name="Text 5"/>
          <p:cNvSpPr/>
          <p:nvPr/>
        </p:nvSpPr>
        <p:spPr>
          <a:xfrm>
            <a:off x="640080" y="1371600"/>
            <a:ext cx="7863840" cy="320040"/>
          </a:xfrm>
          <a:prstGeom prst="rect">
            <a:avLst/>
          </a:prstGeom>
          <a:noFill/>
          <a:ln/>
        </p:spPr>
        <p:txBody>
          <a:bodyPr wrap="square" rtlCol="0" anchor="ctr"/>
          <a:lstStyle/>
          <a:p>
            <a:pPr marL="0" indent="0">
              <a:buNone/>
            </a:pPr>
            <a:r>
              <a:rPr lang="en-US" sz="1200" i="1" dirty="0">
                <a:solidFill>
                  <a:srgbClr val="5C6B7C"/>
                </a:solidFill>
                <a:latin typeface="Arial" pitchFamily="34" charset="0"/>
                <a:ea typeface="Arial" pitchFamily="34" charset="-122"/>
                <a:cs typeface="Arial" pitchFamily="34" charset="-120"/>
              </a:rPr>
              <a:t>Pregunta vaga de partida: “¿Cómo va la salud?”</a:t>
            </a:r>
            <a:endParaRPr lang="en-US" sz="12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7863840" cy="1508760"/>
        </p:xfrm>
        <a:graphic>
          <a:graphicData uri="http://schemas.openxmlformats.org/drawingml/2006/table">
            <a:tbl>
              <a:tblPr/>
              <a:tblGrid>
                <a:gridCol w="2377440">
                  <a:extLst>
                    <a:ext uri="{9D8B030D-6E8A-4147-A177-3AD203B41FA5}">
                      <a16:colId xmlns:a16="http://schemas.microsoft.com/office/drawing/2014/main" val="20000"/>
                    </a:ext>
                  </a:extLst>
                </a:gridCol>
                <a:gridCol w="5486400">
                  <a:extLst>
                    <a:ext uri="{9D8B030D-6E8A-4147-A177-3AD203B41FA5}">
                      <a16:colId xmlns:a16="http://schemas.microsoft.com/office/drawing/2014/main" val="20001"/>
                    </a:ext>
                  </a:extLst>
                </a:gridCol>
              </a:tblGrid>
              <a:tr h="301752">
                <a:tc>
                  <a:txBody>
                    <a:bodyPr/>
                    <a:lstStyle/>
                    <a:p>
                      <a:pPr marL="0" indent="0" algn="l">
                        <a:buNone/>
                      </a:pPr>
                      <a:r>
                        <a:rPr lang="en-US" sz="950" b="1" dirty="0">
                          <a:solidFill>
                            <a:srgbClr val="FFFFFF"/>
                          </a:solidFill>
                          <a:latin typeface="Arial" pitchFamily="34" charset="0"/>
                          <a:ea typeface="Arial" pitchFamily="34" charset="-122"/>
                          <a:cs typeface="Arial" pitchFamily="34" charset="-120"/>
                        </a:rPr>
                        <a:t>Campo</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73F72"/>
                    </a:solidFill>
                  </a:tcPr>
                </a:tc>
                <a:tc>
                  <a:txBody>
                    <a:bodyPr/>
                    <a:lstStyle/>
                    <a:p>
                      <a:pPr marL="0" indent="0" algn="l">
                        <a:buNone/>
                      </a:pPr>
                      <a:r>
                        <a:rPr lang="en-US" sz="950" b="1" dirty="0">
                          <a:solidFill>
                            <a:srgbClr val="FFFFFF"/>
                          </a:solidFill>
                          <a:latin typeface="Arial" pitchFamily="34" charset="0"/>
                          <a:ea typeface="Arial" pitchFamily="34" charset="-122"/>
                          <a:cs typeface="Arial" pitchFamily="34" charset="-120"/>
                        </a:rPr>
                        <a:t>Contenido esperado</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73F72"/>
                    </a:solidFill>
                  </a:tcPr>
                </a:tc>
                <a:extLst>
                  <a:ext uri="{0D108BD9-81ED-4DB2-BD59-A6C34878D82A}">
                    <a16:rowId xmlns:a16="http://schemas.microsoft.com/office/drawing/2014/main" val="10000"/>
                  </a:ext>
                </a:extLst>
              </a:tr>
              <a:tr h="301752">
                <a:tc>
                  <a:txBody>
                    <a:bodyPr/>
                    <a:lstStyle/>
                    <a:p>
                      <a:pPr marL="0" indent="0" algn="l">
                        <a:buNone/>
                      </a:pPr>
                      <a:r>
                        <a:rPr lang="en-US" sz="950" b="1" dirty="0">
                          <a:solidFill>
                            <a:srgbClr val="173F72"/>
                          </a:solidFill>
                          <a:latin typeface="Arial" pitchFamily="34" charset="0"/>
                          <a:ea typeface="Arial" pitchFamily="34" charset="-122"/>
                          <a:cs typeface="Arial" pitchFamily="34" charset="-120"/>
                        </a:rPr>
                        <a:t>Población / unidad de análisis</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Gestantes en zona rural dispersa y rural del municipio</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01752">
                <a:tc>
                  <a:txBody>
                    <a:bodyPr/>
                    <a:lstStyle/>
                    <a:p>
                      <a:pPr marL="0" indent="0" algn="l">
                        <a:buNone/>
                      </a:pPr>
                      <a:r>
                        <a:rPr lang="en-US" sz="950" b="1" dirty="0">
                          <a:solidFill>
                            <a:srgbClr val="173F72"/>
                          </a:solidFill>
                          <a:latin typeface="Arial" pitchFamily="34" charset="0"/>
                          <a:ea typeface="Arial" pitchFamily="34" charset="-122"/>
                          <a:cs typeface="Arial" pitchFamily="34" charset="-120"/>
                        </a:rPr>
                        <a:t>Atributo o dimensión</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Acceso a controles prenatales oportunos y completos</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01752">
                <a:tc>
                  <a:txBody>
                    <a:bodyPr/>
                    <a:lstStyle/>
                    <a:p>
                      <a:pPr marL="0" indent="0" algn="l">
                        <a:buNone/>
                      </a:pPr>
                      <a:r>
                        <a:rPr lang="en-US" sz="950" b="1" dirty="0">
                          <a:solidFill>
                            <a:srgbClr val="173F72"/>
                          </a:solidFill>
                          <a:latin typeface="Arial" pitchFamily="34" charset="0"/>
                          <a:ea typeface="Arial" pitchFamily="34" charset="-122"/>
                          <a:cs typeface="Arial" pitchFamily="34" charset="-120"/>
                        </a:rPr>
                        <a:t>Ámbito territorial y temporal</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Municipio X, zona rural, año en curso vs. año anterior</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01752">
                <a:tc>
                  <a:txBody>
                    <a:bodyPr/>
                    <a:lstStyle/>
                    <a:p>
                      <a:pPr marL="0" indent="0" algn="l">
                        <a:buNone/>
                      </a:pPr>
                      <a:r>
                        <a:rPr lang="en-US" sz="950" b="1" dirty="0">
                          <a:solidFill>
                            <a:srgbClr val="173F72"/>
                          </a:solidFill>
                          <a:latin typeface="Arial" pitchFamily="34" charset="0"/>
                          <a:ea typeface="Arial" pitchFamily="34" charset="-122"/>
                          <a:cs typeface="Arial" pitchFamily="34" charset="-120"/>
                        </a:rPr>
                        <a:t>Referente de comparación</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Cobertura del año t-1 y meta del Plan de Desarrollo Municipal</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10" name="Shape 6"/>
          <p:cNvSpPr/>
          <p:nvPr/>
        </p:nvSpPr>
        <p:spPr>
          <a:xfrm>
            <a:off x="640080" y="3429000"/>
            <a:ext cx="7863840" cy="914400"/>
          </a:xfrm>
          <a:prstGeom prst="roundRect">
            <a:avLst>
              <a:gd name="adj" fmla="val 5000"/>
            </a:avLst>
          </a:prstGeom>
          <a:solidFill>
            <a:srgbClr val="173F72"/>
          </a:solidFill>
          <a:ln/>
        </p:spPr>
      </p:sp>
      <p:sp>
        <p:nvSpPr>
          <p:cNvPr id="11" name="Text 7"/>
          <p:cNvSpPr/>
          <p:nvPr/>
        </p:nvSpPr>
        <p:spPr>
          <a:xfrm>
            <a:off x="822960" y="3520440"/>
            <a:ext cx="7498080" cy="228600"/>
          </a:xfrm>
          <a:prstGeom prst="rect">
            <a:avLst/>
          </a:prstGeom>
          <a:noFill/>
          <a:ln/>
        </p:spPr>
        <p:txBody>
          <a:bodyPr wrap="square" rtlCol="0" anchor="ctr"/>
          <a:lstStyle/>
          <a:p>
            <a:pPr marL="0" indent="0">
              <a:buNone/>
            </a:pPr>
            <a:r>
              <a:rPr lang="en-US" sz="1000" b="1" dirty="0">
                <a:solidFill>
                  <a:srgbClr val="FF9900"/>
                </a:solidFill>
                <a:latin typeface="Arial" pitchFamily="34" charset="0"/>
                <a:ea typeface="Arial" pitchFamily="34" charset="-122"/>
                <a:cs typeface="Arial" pitchFamily="34" charset="-120"/>
              </a:rPr>
              <a:t>Pregunta de gestión refinada:</a:t>
            </a:r>
            <a:endParaRPr lang="en-US" sz="1000" dirty="0"/>
          </a:p>
        </p:txBody>
      </p:sp>
      <p:sp>
        <p:nvSpPr>
          <p:cNvPr id="12" name="Text 8"/>
          <p:cNvSpPr/>
          <p:nvPr/>
        </p:nvSpPr>
        <p:spPr>
          <a:xfrm>
            <a:off x="822960" y="3730752"/>
            <a:ext cx="7498080" cy="548640"/>
          </a:xfrm>
          <a:prstGeom prst="rect">
            <a:avLst/>
          </a:prstGeom>
          <a:noFill/>
          <a:ln/>
        </p:spPr>
        <p:txBody>
          <a:bodyPr wrap="square" rtlCol="0" anchor="t"/>
          <a:lstStyle/>
          <a:p>
            <a:pPr marL="0" indent="0">
              <a:buNone/>
            </a:pPr>
            <a:r>
              <a:rPr lang="en-US" sz="1100" i="1" dirty="0">
                <a:solidFill>
                  <a:srgbClr val="FFFFFF"/>
                </a:solidFill>
                <a:latin typeface="Arial" pitchFamily="34" charset="0"/>
                <a:ea typeface="Arial" pitchFamily="34" charset="-122"/>
                <a:cs typeface="Arial" pitchFamily="34" charset="-120"/>
              </a:rPr>
              <a:t>“¿Estamos garantizando controles prenatales adecuados a las gestantes de las zonas rurales del municipio, y estamos mejorando frente al año anterior?”</a:t>
            </a:r>
            <a:endParaRPr lang="en-US" sz="11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292608"/>
            <a:ext cx="1005840" cy="41148"/>
          </a:xfrm>
          <a:prstGeom prst="rect">
            <a:avLst/>
          </a:prstGeom>
          <a:solidFill>
            <a:srgbClr val="FF9900"/>
          </a:solidFill>
          <a:ln/>
        </p:spPr>
      </p:sp>
      <p:sp>
        <p:nvSpPr>
          <p:cNvPr id="3" name="Text 1"/>
          <p:cNvSpPr/>
          <p:nvPr/>
        </p:nvSpPr>
        <p:spPr>
          <a:xfrm>
            <a:off x="640080" y="365760"/>
            <a:ext cx="6675120" cy="256032"/>
          </a:xfrm>
          <a:prstGeom prst="rect">
            <a:avLst/>
          </a:prstGeom>
          <a:noFill/>
          <a:ln/>
        </p:spPr>
        <p:txBody>
          <a:bodyPr wrap="square" rtlCol="0" anchor="ctr"/>
          <a:lstStyle/>
          <a:p>
            <a:pPr marL="0" indent="0">
              <a:buNone/>
            </a:pPr>
            <a:r>
              <a:rPr lang="en-US" sz="1000" b="1" kern="0" spc="150" dirty="0">
                <a:solidFill>
                  <a:srgbClr val="FC6E01"/>
                </a:solidFill>
                <a:latin typeface="Arial" pitchFamily="34" charset="0"/>
                <a:ea typeface="Arial" pitchFamily="34" charset="-122"/>
                <a:cs typeface="Arial" pitchFamily="34" charset="-120"/>
              </a:rPr>
              <a:t>CASO GUÍA 1 DE 4 · SALUD</a:t>
            </a:r>
            <a:endParaRPr lang="en-US" sz="1000" dirty="0"/>
          </a:p>
        </p:txBody>
      </p:sp>
      <p:sp>
        <p:nvSpPr>
          <p:cNvPr id="4" name="Text 2"/>
          <p:cNvSpPr/>
          <p:nvPr/>
        </p:nvSpPr>
        <p:spPr>
          <a:xfrm>
            <a:off x="640080" y="621792"/>
            <a:ext cx="7315200" cy="502920"/>
          </a:xfrm>
          <a:prstGeom prst="rect">
            <a:avLst/>
          </a:prstGeom>
          <a:noFill/>
          <a:ln/>
        </p:spPr>
        <p:txBody>
          <a:bodyPr wrap="square" rtlCol="0" anchor="ctr"/>
          <a:lstStyle/>
          <a:p>
            <a:pPr marL="0" indent="0">
              <a:buNone/>
            </a:pPr>
            <a:r>
              <a:rPr lang="en-US" sz="2100" b="1" dirty="0">
                <a:solidFill>
                  <a:srgbClr val="173F72"/>
                </a:solidFill>
                <a:latin typeface="Arial" pitchFamily="34" charset="0"/>
                <a:ea typeface="Arial" pitchFamily="34" charset="-122"/>
                <a:cs typeface="Arial" pitchFamily="34" charset="-120"/>
              </a:rPr>
              <a:t>Salud Materna Rural</a:t>
            </a:r>
            <a:endParaRPr lang="en-US" sz="2100" dirty="0"/>
          </a:p>
        </p:txBody>
      </p:sp>
      <p:pic>
        <p:nvPicPr>
          <p:cNvPr id="6" name="Image 0" descr="/home/claude/taller/assets/footer_banner.png"/>
          <p:cNvPicPr>
            <a:picLocks noChangeAspect="1"/>
          </p:cNvPicPr>
          <p:nvPr/>
        </p:nvPicPr>
        <p:blipFill>
          <a:blip r:embed="rId3"/>
          <a:stretch>
            <a:fillRect/>
          </a:stretch>
        </p:blipFill>
        <p:spPr>
          <a:xfrm>
            <a:off x="0" y="4672584"/>
            <a:ext cx="9144000" cy="469087"/>
          </a:xfrm>
          <a:prstGeom prst="rect">
            <a:avLst/>
          </a:prstGeom>
        </p:spPr>
      </p:pic>
      <p:sp>
        <p:nvSpPr>
          <p:cNvPr id="7" name="Text 4"/>
          <p:cNvSpPr/>
          <p:nvPr/>
        </p:nvSpPr>
        <p:spPr>
          <a:xfrm>
            <a:off x="274320" y="4727448"/>
            <a:ext cx="5669280" cy="274320"/>
          </a:xfrm>
          <a:prstGeom prst="rect">
            <a:avLst/>
          </a:prstGeom>
          <a:noFill/>
          <a:ln/>
        </p:spPr>
        <p:txBody>
          <a:bodyPr wrap="square" lIns="0" tIns="0" rIns="0" bIns="0" rtlCol="0" anchor="ctr"/>
          <a:lstStyle/>
          <a:p>
            <a:pPr marL="0" indent="0">
              <a:buNone/>
            </a:pPr>
            <a:r>
              <a:rPr lang="en-US" sz="800" dirty="0">
                <a:solidFill>
                  <a:srgbClr val="FFFFFF"/>
                </a:solidFill>
                <a:latin typeface="Arial" pitchFamily="34" charset="0"/>
                <a:ea typeface="Arial" pitchFamily="34" charset="-122"/>
                <a:cs typeface="Arial" pitchFamily="34" charset="-120"/>
              </a:rPr>
              <a:t>Taller de Indicadores de Gestión Pública con IA</a:t>
            </a:r>
            <a:endParaRPr lang="en-US" sz="8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640080" y="1371600"/>
          <a:ext cx="7863840" cy="1783080"/>
        </p:xfrm>
        <a:graphic>
          <a:graphicData uri="http://schemas.openxmlformats.org/drawingml/2006/table">
            <a:tbl>
              <a:tblPr/>
              <a:tblGrid>
                <a:gridCol w="2377440">
                  <a:extLst>
                    <a:ext uri="{9D8B030D-6E8A-4147-A177-3AD203B41FA5}">
                      <a16:colId xmlns:a16="http://schemas.microsoft.com/office/drawing/2014/main" val="20000"/>
                    </a:ext>
                  </a:extLst>
                </a:gridCol>
                <a:gridCol w="5486400">
                  <a:extLst>
                    <a:ext uri="{9D8B030D-6E8A-4147-A177-3AD203B41FA5}">
                      <a16:colId xmlns:a16="http://schemas.microsoft.com/office/drawing/2014/main" val="20001"/>
                    </a:ext>
                  </a:extLst>
                </a:gridCol>
              </a:tblGrid>
              <a:tr h="356616">
                <a:tc>
                  <a:txBody>
                    <a:bodyPr/>
                    <a:lstStyle/>
                    <a:p>
                      <a:pPr marL="0" indent="0" algn="l">
                        <a:buNone/>
                      </a:pPr>
                      <a:r>
                        <a:rPr lang="en-US" sz="950" b="1" dirty="0">
                          <a:solidFill>
                            <a:srgbClr val="FFFFFF"/>
                          </a:solidFill>
                          <a:latin typeface="Arial" pitchFamily="34" charset="0"/>
                          <a:ea typeface="Arial" pitchFamily="34" charset="-122"/>
                          <a:cs typeface="Arial" pitchFamily="34" charset="-120"/>
                        </a:rPr>
                        <a:t>Campo</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73F72"/>
                    </a:solidFill>
                  </a:tcPr>
                </a:tc>
                <a:tc>
                  <a:txBody>
                    <a:bodyPr/>
                    <a:lstStyle/>
                    <a:p>
                      <a:pPr marL="0" indent="0" algn="l">
                        <a:buNone/>
                      </a:pPr>
                      <a:r>
                        <a:rPr lang="en-US" sz="950" b="1" dirty="0">
                          <a:solidFill>
                            <a:srgbClr val="FFFFFF"/>
                          </a:solidFill>
                          <a:latin typeface="Arial" pitchFamily="34" charset="0"/>
                          <a:ea typeface="Arial" pitchFamily="34" charset="-122"/>
                          <a:cs typeface="Arial" pitchFamily="34" charset="-120"/>
                        </a:rPr>
                        <a:t>Contenido esperado</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73F72"/>
                    </a:solidFill>
                  </a:tcPr>
                </a:tc>
                <a:extLst>
                  <a:ext uri="{0D108BD9-81ED-4DB2-BD59-A6C34878D82A}">
                    <a16:rowId xmlns:a16="http://schemas.microsoft.com/office/drawing/2014/main" val="10000"/>
                  </a:ext>
                </a:extLst>
              </a:tr>
              <a:tr h="356616">
                <a:tc>
                  <a:txBody>
                    <a:bodyPr/>
                    <a:lstStyle/>
                    <a:p>
                      <a:pPr marL="0" indent="0" algn="l">
                        <a:buNone/>
                      </a:pPr>
                      <a:r>
                        <a:rPr lang="en-US" sz="950" b="1" dirty="0">
                          <a:solidFill>
                            <a:srgbClr val="173F72"/>
                          </a:solidFill>
                          <a:latin typeface="Arial" pitchFamily="34" charset="0"/>
                          <a:ea typeface="Arial" pitchFamily="34" charset="-122"/>
                          <a:cs typeface="Arial" pitchFamily="34" charset="-120"/>
                        </a:rPr>
                        <a:t>Eslabón de la cadena de valor</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Resultado (mide el cambio en el acceso/comportamiento, no solo el producto entregado)</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56616">
                <a:tc>
                  <a:txBody>
                    <a:bodyPr/>
                    <a:lstStyle/>
                    <a:p>
                      <a:pPr marL="0" indent="0" algn="l">
                        <a:buNone/>
                      </a:pPr>
                      <a:r>
                        <a:rPr lang="en-US" sz="950" b="1" dirty="0">
                          <a:solidFill>
                            <a:srgbClr val="173F72"/>
                          </a:solidFill>
                          <a:latin typeface="Arial" pitchFamily="34" charset="0"/>
                          <a:ea typeface="Arial" pitchFamily="34" charset="-122"/>
                          <a:cs typeface="Arial" pitchFamily="34" charset="-120"/>
                        </a:rPr>
                        <a:t>Nombre del indicador</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 de gestantes rurales con 4 o más controles prenatales</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56616">
                <a:tc>
                  <a:txBody>
                    <a:bodyPr/>
                    <a:lstStyle/>
                    <a:p>
                      <a:pPr marL="0" indent="0" algn="l">
                        <a:buNone/>
                      </a:pPr>
                      <a:r>
                        <a:rPr lang="en-US" sz="950" b="1" dirty="0">
                          <a:solidFill>
                            <a:srgbClr val="173F72"/>
                          </a:solidFill>
                          <a:latin typeface="Arial" pitchFamily="34" charset="0"/>
                          <a:ea typeface="Arial" pitchFamily="34" charset="-122"/>
                          <a:cs typeface="Arial" pitchFamily="34" charset="-120"/>
                        </a:rPr>
                        <a:t>Fórmula de cálculo</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(N.º gestantes rurales con ≥4 controles / N.º total gestantes rurales con parto) × 100, año t vs. t-1</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56616">
                <a:tc>
                  <a:txBody>
                    <a:bodyPr/>
                    <a:lstStyle/>
                    <a:p>
                      <a:pPr marL="0" indent="0" algn="l">
                        <a:buNone/>
                      </a:pPr>
                      <a:r>
                        <a:rPr lang="en-US" sz="950" b="1" dirty="0">
                          <a:solidFill>
                            <a:srgbClr val="173F72"/>
                          </a:solidFill>
                          <a:latin typeface="Arial" pitchFamily="34" charset="0"/>
                          <a:ea typeface="Arial" pitchFamily="34" charset="-122"/>
                          <a:cs typeface="Arial" pitchFamily="34" charset="-120"/>
                        </a:rPr>
                        <a:t>Fuente de información</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RIPS – SISPRO (MinSalud); historia clínica materno-perinatal</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9" name="Text 5"/>
          <p:cNvSpPr/>
          <p:nvPr/>
        </p:nvSpPr>
        <p:spPr>
          <a:xfrm>
            <a:off x="640080" y="3337560"/>
            <a:ext cx="7863840" cy="274320"/>
          </a:xfrm>
          <a:prstGeom prst="rect">
            <a:avLst/>
          </a:prstGeom>
          <a:noFill/>
          <a:ln/>
        </p:spPr>
        <p:txBody>
          <a:bodyPr wrap="square" rtlCol="0" anchor="ctr"/>
          <a:lstStyle/>
          <a:p>
            <a:pPr marL="0" indent="0">
              <a:buNone/>
            </a:pPr>
            <a:r>
              <a:rPr lang="en-US" sz="1100" b="1" dirty="0">
                <a:solidFill>
                  <a:srgbClr val="173F72"/>
                </a:solidFill>
                <a:latin typeface="Arial" pitchFamily="34" charset="0"/>
                <a:ea typeface="Arial" pitchFamily="34" charset="-122"/>
                <a:cs typeface="Arial" pitchFamily="34" charset="-120"/>
              </a:rPr>
              <a:t>Prompt sugerido para IA (Claude.ai)</a:t>
            </a:r>
            <a:endParaRPr lang="en-US" sz="1100" dirty="0"/>
          </a:p>
        </p:txBody>
      </p:sp>
      <p:sp>
        <p:nvSpPr>
          <p:cNvPr id="10" name="Shape 6"/>
          <p:cNvSpPr/>
          <p:nvPr/>
        </p:nvSpPr>
        <p:spPr>
          <a:xfrm>
            <a:off x="640080" y="3630168"/>
            <a:ext cx="7863840" cy="1097280"/>
          </a:xfrm>
          <a:prstGeom prst="roundRect">
            <a:avLst>
              <a:gd name="adj" fmla="val 3333"/>
            </a:avLst>
          </a:prstGeom>
          <a:solidFill>
            <a:srgbClr val="F5F5F5"/>
          </a:solidFill>
          <a:ln w="6350">
            <a:solidFill>
              <a:srgbClr val="C9C9C9"/>
            </a:solidFill>
            <a:prstDash val="solid"/>
          </a:ln>
        </p:spPr>
      </p:sp>
      <p:sp>
        <p:nvSpPr>
          <p:cNvPr id="11" name="Text 7"/>
          <p:cNvSpPr/>
          <p:nvPr/>
        </p:nvSpPr>
        <p:spPr>
          <a:xfrm>
            <a:off x="822960" y="3721608"/>
            <a:ext cx="7498080" cy="914400"/>
          </a:xfrm>
          <a:prstGeom prst="rect">
            <a:avLst/>
          </a:prstGeom>
          <a:noFill/>
          <a:ln/>
        </p:spPr>
        <p:txBody>
          <a:bodyPr wrap="square" rtlCol="0" anchor="t"/>
          <a:lstStyle/>
          <a:p>
            <a:pPr marL="0" indent="0">
              <a:buNone/>
            </a:pPr>
            <a:r>
              <a:rPr lang="en-US" sz="950" i="1" dirty="0">
                <a:solidFill>
                  <a:srgbClr val="2F3B4C"/>
                </a:solidFill>
                <a:latin typeface="Consolas" pitchFamily="34" charset="0"/>
                <a:ea typeface="Consolas" pitchFamily="34" charset="-122"/>
                <a:cs typeface="Consolas" pitchFamily="34" charset="-120"/>
              </a:rPr>
              <a:t>Actúa como experto en indicadores de salud pública (metodologías DNP y MinSalud). Revisa esta formulación: Pregunta: ¿Estamos garantizando controles prenatales adecuados a las gestantes rurales y mejorando frente al año anterior? Nombre borrador: % de embarazadas rurales con controles al día. Fórmula borrador: (gestantes con 4 controles / total gestantes) × 100. Aplica la regla nomenclatural, precisa el denominador con fuente oficial (RIPS/SISPRO) y genera la ficha técnica completa.</a:t>
            </a:r>
            <a:endParaRPr lang="en-US" sz="95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292608"/>
            <a:ext cx="1005840" cy="41148"/>
          </a:xfrm>
          <a:prstGeom prst="rect">
            <a:avLst/>
          </a:prstGeom>
          <a:solidFill>
            <a:srgbClr val="FF9900"/>
          </a:solidFill>
          <a:ln/>
        </p:spPr>
      </p:sp>
      <p:sp>
        <p:nvSpPr>
          <p:cNvPr id="3" name="Text 1"/>
          <p:cNvSpPr/>
          <p:nvPr/>
        </p:nvSpPr>
        <p:spPr>
          <a:xfrm>
            <a:off x="640080" y="365760"/>
            <a:ext cx="6675120" cy="256032"/>
          </a:xfrm>
          <a:prstGeom prst="rect">
            <a:avLst/>
          </a:prstGeom>
          <a:noFill/>
          <a:ln/>
        </p:spPr>
        <p:txBody>
          <a:bodyPr wrap="square" rtlCol="0" anchor="ctr"/>
          <a:lstStyle/>
          <a:p>
            <a:pPr marL="0" indent="0">
              <a:buNone/>
            </a:pPr>
            <a:r>
              <a:rPr lang="en-US" sz="1000" b="1" kern="0" spc="150" dirty="0">
                <a:solidFill>
                  <a:srgbClr val="FC6E01"/>
                </a:solidFill>
                <a:latin typeface="Arial" pitchFamily="34" charset="0"/>
                <a:ea typeface="Arial" pitchFamily="34" charset="-122"/>
                <a:cs typeface="Arial" pitchFamily="34" charset="-120"/>
              </a:rPr>
              <a:t>CASO GUÍA 2 DE 4 · EDUCACIÓN</a:t>
            </a:r>
            <a:endParaRPr lang="en-US" sz="1000" dirty="0"/>
          </a:p>
        </p:txBody>
      </p:sp>
      <p:sp>
        <p:nvSpPr>
          <p:cNvPr id="4" name="Text 2"/>
          <p:cNvSpPr/>
          <p:nvPr/>
        </p:nvSpPr>
        <p:spPr>
          <a:xfrm>
            <a:off x="640080" y="621792"/>
            <a:ext cx="7315200" cy="502920"/>
          </a:xfrm>
          <a:prstGeom prst="rect">
            <a:avLst/>
          </a:prstGeom>
          <a:noFill/>
          <a:ln/>
        </p:spPr>
        <p:txBody>
          <a:bodyPr wrap="square" rtlCol="0" anchor="ctr"/>
          <a:lstStyle/>
          <a:p>
            <a:pPr marL="0" indent="0">
              <a:buNone/>
            </a:pPr>
            <a:r>
              <a:rPr lang="en-US" sz="2100" b="1" dirty="0">
                <a:solidFill>
                  <a:srgbClr val="173F72"/>
                </a:solidFill>
                <a:latin typeface="Arial" pitchFamily="34" charset="0"/>
                <a:ea typeface="Arial" pitchFamily="34" charset="-122"/>
                <a:cs typeface="Arial" pitchFamily="34" charset="-120"/>
              </a:rPr>
              <a:t>Deserción Escolar Rural</a:t>
            </a:r>
            <a:endParaRPr lang="en-US" sz="2100" dirty="0"/>
          </a:p>
        </p:txBody>
      </p:sp>
      <p:pic>
        <p:nvPicPr>
          <p:cNvPr id="6" name="Image 0" descr="/home/claude/taller/assets/footer_banner.png"/>
          <p:cNvPicPr>
            <a:picLocks noChangeAspect="1"/>
          </p:cNvPicPr>
          <p:nvPr/>
        </p:nvPicPr>
        <p:blipFill>
          <a:blip r:embed="rId3"/>
          <a:stretch>
            <a:fillRect/>
          </a:stretch>
        </p:blipFill>
        <p:spPr>
          <a:xfrm>
            <a:off x="0" y="4672584"/>
            <a:ext cx="9144000" cy="469087"/>
          </a:xfrm>
          <a:prstGeom prst="rect">
            <a:avLst/>
          </a:prstGeom>
        </p:spPr>
      </p:pic>
      <p:sp>
        <p:nvSpPr>
          <p:cNvPr id="7" name="Text 4"/>
          <p:cNvSpPr/>
          <p:nvPr/>
        </p:nvSpPr>
        <p:spPr>
          <a:xfrm>
            <a:off x="274320" y="4727448"/>
            <a:ext cx="5669280" cy="274320"/>
          </a:xfrm>
          <a:prstGeom prst="rect">
            <a:avLst/>
          </a:prstGeom>
          <a:noFill/>
          <a:ln/>
        </p:spPr>
        <p:txBody>
          <a:bodyPr wrap="square" lIns="0" tIns="0" rIns="0" bIns="0" rtlCol="0" anchor="ctr"/>
          <a:lstStyle/>
          <a:p>
            <a:pPr marL="0" indent="0">
              <a:buNone/>
            </a:pPr>
            <a:r>
              <a:rPr lang="en-US" sz="800" dirty="0">
                <a:solidFill>
                  <a:srgbClr val="FFFFFF"/>
                </a:solidFill>
                <a:latin typeface="Arial" pitchFamily="34" charset="0"/>
                <a:ea typeface="Arial" pitchFamily="34" charset="-122"/>
                <a:cs typeface="Arial" pitchFamily="34" charset="-120"/>
              </a:rPr>
              <a:t>Taller de Indicadores de Gestión Pública con IA</a:t>
            </a:r>
            <a:endParaRPr lang="en-US" sz="800" dirty="0"/>
          </a:p>
        </p:txBody>
      </p:sp>
      <p:sp>
        <p:nvSpPr>
          <p:cNvPr id="8" name="Text 5"/>
          <p:cNvSpPr/>
          <p:nvPr/>
        </p:nvSpPr>
        <p:spPr>
          <a:xfrm>
            <a:off x="640080" y="1371600"/>
            <a:ext cx="7863840" cy="320040"/>
          </a:xfrm>
          <a:prstGeom prst="rect">
            <a:avLst/>
          </a:prstGeom>
          <a:noFill/>
          <a:ln/>
        </p:spPr>
        <p:txBody>
          <a:bodyPr wrap="square" rtlCol="0" anchor="ctr"/>
          <a:lstStyle/>
          <a:p>
            <a:pPr marL="0" indent="0">
              <a:buNone/>
            </a:pPr>
            <a:r>
              <a:rPr lang="en-US" sz="1200" i="1" dirty="0">
                <a:solidFill>
                  <a:srgbClr val="5C6B7C"/>
                </a:solidFill>
                <a:latin typeface="Arial" pitchFamily="34" charset="0"/>
                <a:ea typeface="Arial" pitchFamily="34" charset="-122"/>
                <a:cs typeface="Arial" pitchFamily="34" charset="-120"/>
              </a:rPr>
              <a:t>Pregunta vaga de partida: “¿Cómo va la educación?”</a:t>
            </a:r>
            <a:endParaRPr lang="en-US" sz="12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7863840" cy="1508760"/>
        </p:xfrm>
        <a:graphic>
          <a:graphicData uri="http://schemas.openxmlformats.org/drawingml/2006/table">
            <a:tbl>
              <a:tblPr/>
              <a:tblGrid>
                <a:gridCol w="2377440">
                  <a:extLst>
                    <a:ext uri="{9D8B030D-6E8A-4147-A177-3AD203B41FA5}">
                      <a16:colId xmlns:a16="http://schemas.microsoft.com/office/drawing/2014/main" val="20000"/>
                    </a:ext>
                  </a:extLst>
                </a:gridCol>
                <a:gridCol w="5486400">
                  <a:extLst>
                    <a:ext uri="{9D8B030D-6E8A-4147-A177-3AD203B41FA5}">
                      <a16:colId xmlns:a16="http://schemas.microsoft.com/office/drawing/2014/main" val="20001"/>
                    </a:ext>
                  </a:extLst>
                </a:gridCol>
              </a:tblGrid>
              <a:tr h="301752">
                <a:tc>
                  <a:txBody>
                    <a:bodyPr/>
                    <a:lstStyle/>
                    <a:p>
                      <a:pPr marL="0" indent="0" algn="l">
                        <a:buNone/>
                      </a:pPr>
                      <a:r>
                        <a:rPr lang="en-US" sz="950" b="1" dirty="0">
                          <a:solidFill>
                            <a:srgbClr val="FFFFFF"/>
                          </a:solidFill>
                          <a:latin typeface="Arial" pitchFamily="34" charset="0"/>
                          <a:ea typeface="Arial" pitchFamily="34" charset="-122"/>
                          <a:cs typeface="Arial" pitchFamily="34" charset="-120"/>
                        </a:rPr>
                        <a:t>Campo</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73F72"/>
                    </a:solidFill>
                  </a:tcPr>
                </a:tc>
                <a:tc>
                  <a:txBody>
                    <a:bodyPr/>
                    <a:lstStyle/>
                    <a:p>
                      <a:pPr marL="0" indent="0" algn="l">
                        <a:buNone/>
                      </a:pPr>
                      <a:r>
                        <a:rPr lang="en-US" sz="950" b="1" dirty="0">
                          <a:solidFill>
                            <a:srgbClr val="FFFFFF"/>
                          </a:solidFill>
                          <a:latin typeface="Arial" pitchFamily="34" charset="0"/>
                          <a:ea typeface="Arial" pitchFamily="34" charset="-122"/>
                          <a:cs typeface="Arial" pitchFamily="34" charset="-120"/>
                        </a:rPr>
                        <a:t>Contenido esperado</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73F72"/>
                    </a:solidFill>
                  </a:tcPr>
                </a:tc>
                <a:extLst>
                  <a:ext uri="{0D108BD9-81ED-4DB2-BD59-A6C34878D82A}">
                    <a16:rowId xmlns:a16="http://schemas.microsoft.com/office/drawing/2014/main" val="10000"/>
                  </a:ext>
                </a:extLst>
              </a:tr>
              <a:tr h="301752">
                <a:tc>
                  <a:txBody>
                    <a:bodyPr/>
                    <a:lstStyle/>
                    <a:p>
                      <a:pPr marL="0" indent="0" algn="l">
                        <a:buNone/>
                      </a:pPr>
                      <a:r>
                        <a:rPr lang="en-US" sz="950" b="1" dirty="0">
                          <a:solidFill>
                            <a:srgbClr val="173F72"/>
                          </a:solidFill>
                          <a:latin typeface="Arial" pitchFamily="34" charset="0"/>
                          <a:ea typeface="Arial" pitchFamily="34" charset="-122"/>
                          <a:cs typeface="Arial" pitchFamily="34" charset="-120"/>
                        </a:rPr>
                        <a:t>Población / unidad de análisis</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Estudiantes matriculados en sedes educativas rurales oficiales</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01752">
                <a:tc>
                  <a:txBody>
                    <a:bodyPr/>
                    <a:lstStyle/>
                    <a:p>
                      <a:pPr marL="0" indent="0" algn="l">
                        <a:buNone/>
                      </a:pPr>
                      <a:r>
                        <a:rPr lang="en-US" sz="950" b="1" dirty="0">
                          <a:solidFill>
                            <a:srgbClr val="173F72"/>
                          </a:solidFill>
                          <a:latin typeface="Arial" pitchFamily="34" charset="0"/>
                          <a:ea typeface="Arial" pitchFamily="34" charset="-122"/>
                          <a:cs typeface="Arial" pitchFamily="34" charset="-120"/>
                        </a:rPr>
                        <a:t>Atributo o dimensión</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Retención escolar intra-anual (evitar abandono antes de finalizar el año)</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01752">
                <a:tc>
                  <a:txBody>
                    <a:bodyPr/>
                    <a:lstStyle/>
                    <a:p>
                      <a:pPr marL="0" indent="0" algn="l">
                        <a:buNone/>
                      </a:pPr>
                      <a:r>
                        <a:rPr lang="en-US" sz="950" b="1" dirty="0">
                          <a:solidFill>
                            <a:srgbClr val="173F72"/>
                          </a:solidFill>
                          <a:latin typeface="Arial" pitchFamily="34" charset="0"/>
                          <a:ea typeface="Arial" pitchFamily="34" charset="-122"/>
                          <a:cs typeface="Arial" pitchFamily="34" charset="-120"/>
                        </a:rPr>
                        <a:t>Ámbito territorial y temporal</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Sedes rurales del municipio/provincia, año lectivo en curso</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01752">
                <a:tc>
                  <a:txBody>
                    <a:bodyPr/>
                    <a:lstStyle/>
                    <a:p>
                      <a:pPr marL="0" indent="0" algn="l">
                        <a:buNone/>
                      </a:pPr>
                      <a:r>
                        <a:rPr lang="en-US" sz="950" b="1" dirty="0">
                          <a:solidFill>
                            <a:srgbClr val="173F72"/>
                          </a:solidFill>
                          <a:latin typeface="Arial" pitchFamily="34" charset="0"/>
                          <a:ea typeface="Arial" pitchFamily="34" charset="-122"/>
                          <a:cs typeface="Arial" pitchFamily="34" charset="-120"/>
                        </a:rPr>
                        <a:t>Referente de comparación</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Meta del plan de desarrollo vigente sobre tasa de deserción</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10" name="Shape 6"/>
          <p:cNvSpPr/>
          <p:nvPr/>
        </p:nvSpPr>
        <p:spPr>
          <a:xfrm>
            <a:off x="640080" y="3429000"/>
            <a:ext cx="7863840" cy="914400"/>
          </a:xfrm>
          <a:prstGeom prst="roundRect">
            <a:avLst>
              <a:gd name="adj" fmla="val 5000"/>
            </a:avLst>
          </a:prstGeom>
          <a:solidFill>
            <a:srgbClr val="173F72"/>
          </a:solidFill>
          <a:ln/>
        </p:spPr>
      </p:sp>
      <p:sp>
        <p:nvSpPr>
          <p:cNvPr id="11" name="Text 7"/>
          <p:cNvSpPr/>
          <p:nvPr/>
        </p:nvSpPr>
        <p:spPr>
          <a:xfrm>
            <a:off x="822960" y="3520440"/>
            <a:ext cx="7498080" cy="228600"/>
          </a:xfrm>
          <a:prstGeom prst="rect">
            <a:avLst/>
          </a:prstGeom>
          <a:noFill/>
          <a:ln/>
        </p:spPr>
        <p:txBody>
          <a:bodyPr wrap="square" rtlCol="0" anchor="ctr"/>
          <a:lstStyle/>
          <a:p>
            <a:pPr marL="0" indent="0">
              <a:buNone/>
            </a:pPr>
            <a:r>
              <a:rPr lang="en-US" sz="1000" b="1" dirty="0">
                <a:solidFill>
                  <a:srgbClr val="FF9900"/>
                </a:solidFill>
                <a:latin typeface="Arial" pitchFamily="34" charset="0"/>
                <a:ea typeface="Arial" pitchFamily="34" charset="-122"/>
                <a:cs typeface="Arial" pitchFamily="34" charset="-120"/>
              </a:rPr>
              <a:t>Pregunta de gestión refinada:</a:t>
            </a:r>
            <a:endParaRPr lang="en-US" sz="1000" dirty="0"/>
          </a:p>
        </p:txBody>
      </p:sp>
      <p:sp>
        <p:nvSpPr>
          <p:cNvPr id="12" name="Text 8"/>
          <p:cNvSpPr/>
          <p:nvPr/>
        </p:nvSpPr>
        <p:spPr>
          <a:xfrm>
            <a:off x="822960" y="3730752"/>
            <a:ext cx="7498080" cy="548640"/>
          </a:xfrm>
          <a:prstGeom prst="rect">
            <a:avLst/>
          </a:prstGeom>
          <a:noFill/>
          <a:ln/>
        </p:spPr>
        <p:txBody>
          <a:bodyPr wrap="square" rtlCol="0" anchor="t"/>
          <a:lstStyle/>
          <a:p>
            <a:pPr marL="0" indent="0">
              <a:buNone/>
            </a:pPr>
            <a:r>
              <a:rPr lang="en-US" sz="1100" i="1" dirty="0">
                <a:solidFill>
                  <a:srgbClr val="FFFFFF"/>
                </a:solidFill>
                <a:latin typeface="Arial" pitchFamily="34" charset="0"/>
                <a:ea typeface="Arial" pitchFamily="34" charset="-122"/>
                <a:cs typeface="Arial" pitchFamily="34" charset="-120"/>
              </a:rPr>
              <a:t>“¿Estamos reteniendo a los estudiantes de las sedes rurales durante el año escolar, frente a la meta del plan de desarrollo?”</a:t>
            </a:r>
            <a:endParaRPr lang="en-US" sz="11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292608"/>
            <a:ext cx="1005840" cy="41148"/>
          </a:xfrm>
          <a:prstGeom prst="rect">
            <a:avLst/>
          </a:prstGeom>
          <a:solidFill>
            <a:srgbClr val="FF9900"/>
          </a:solidFill>
          <a:ln/>
        </p:spPr>
      </p:sp>
      <p:sp>
        <p:nvSpPr>
          <p:cNvPr id="3" name="Text 1"/>
          <p:cNvSpPr/>
          <p:nvPr/>
        </p:nvSpPr>
        <p:spPr>
          <a:xfrm>
            <a:off x="640080" y="365760"/>
            <a:ext cx="6675120" cy="256032"/>
          </a:xfrm>
          <a:prstGeom prst="rect">
            <a:avLst/>
          </a:prstGeom>
          <a:noFill/>
          <a:ln/>
        </p:spPr>
        <p:txBody>
          <a:bodyPr wrap="square" rtlCol="0" anchor="ctr"/>
          <a:lstStyle/>
          <a:p>
            <a:pPr marL="0" indent="0">
              <a:buNone/>
            </a:pPr>
            <a:r>
              <a:rPr lang="en-US" sz="1000" b="1" kern="0" spc="150" dirty="0">
                <a:solidFill>
                  <a:srgbClr val="FC6E01"/>
                </a:solidFill>
                <a:latin typeface="Arial" pitchFamily="34" charset="0"/>
                <a:ea typeface="Arial" pitchFamily="34" charset="-122"/>
                <a:cs typeface="Arial" pitchFamily="34" charset="-120"/>
              </a:rPr>
              <a:t>CASO GUÍA 2 DE 4 · EDUCACIÓN</a:t>
            </a:r>
            <a:endParaRPr lang="en-US" sz="1000" dirty="0"/>
          </a:p>
        </p:txBody>
      </p:sp>
      <p:sp>
        <p:nvSpPr>
          <p:cNvPr id="4" name="Text 2"/>
          <p:cNvSpPr/>
          <p:nvPr/>
        </p:nvSpPr>
        <p:spPr>
          <a:xfrm>
            <a:off x="640080" y="621792"/>
            <a:ext cx="7315200" cy="502920"/>
          </a:xfrm>
          <a:prstGeom prst="rect">
            <a:avLst/>
          </a:prstGeom>
          <a:noFill/>
          <a:ln/>
        </p:spPr>
        <p:txBody>
          <a:bodyPr wrap="square" rtlCol="0" anchor="ctr"/>
          <a:lstStyle/>
          <a:p>
            <a:pPr marL="0" indent="0">
              <a:buNone/>
            </a:pPr>
            <a:r>
              <a:rPr lang="en-US" sz="2100" b="1" dirty="0">
                <a:solidFill>
                  <a:srgbClr val="173F72"/>
                </a:solidFill>
                <a:latin typeface="Arial" pitchFamily="34" charset="0"/>
                <a:ea typeface="Arial" pitchFamily="34" charset="-122"/>
                <a:cs typeface="Arial" pitchFamily="34" charset="-120"/>
              </a:rPr>
              <a:t>Deserción Escolar Rural</a:t>
            </a:r>
            <a:endParaRPr lang="en-US" sz="2100" dirty="0"/>
          </a:p>
        </p:txBody>
      </p:sp>
      <p:pic>
        <p:nvPicPr>
          <p:cNvPr id="6" name="Image 0" descr="/home/claude/taller/assets/footer_banner.png"/>
          <p:cNvPicPr>
            <a:picLocks noChangeAspect="1"/>
          </p:cNvPicPr>
          <p:nvPr/>
        </p:nvPicPr>
        <p:blipFill>
          <a:blip r:embed="rId3"/>
          <a:stretch>
            <a:fillRect/>
          </a:stretch>
        </p:blipFill>
        <p:spPr>
          <a:xfrm>
            <a:off x="0" y="4672584"/>
            <a:ext cx="9144000" cy="469087"/>
          </a:xfrm>
          <a:prstGeom prst="rect">
            <a:avLst/>
          </a:prstGeom>
        </p:spPr>
      </p:pic>
      <p:sp>
        <p:nvSpPr>
          <p:cNvPr id="7" name="Text 4"/>
          <p:cNvSpPr/>
          <p:nvPr/>
        </p:nvSpPr>
        <p:spPr>
          <a:xfrm>
            <a:off x="274320" y="4727448"/>
            <a:ext cx="5669280" cy="274320"/>
          </a:xfrm>
          <a:prstGeom prst="rect">
            <a:avLst/>
          </a:prstGeom>
          <a:noFill/>
          <a:ln/>
        </p:spPr>
        <p:txBody>
          <a:bodyPr wrap="square" lIns="0" tIns="0" rIns="0" bIns="0" rtlCol="0" anchor="ctr"/>
          <a:lstStyle/>
          <a:p>
            <a:pPr marL="0" indent="0">
              <a:buNone/>
            </a:pPr>
            <a:r>
              <a:rPr lang="en-US" sz="800" dirty="0">
                <a:solidFill>
                  <a:srgbClr val="FFFFFF"/>
                </a:solidFill>
                <a:latin typeface="Arial" pitchFamily="34" charset="0"/>
                <a:ea typeface="Arial" pitchFamily="34" charset="-122"/>
                <a:cs typeface="Arial" pitchFamily="34" charset="-120"/>
              </a:rPr>
              <a:t>Taller de Indicadores de Gestión Pública con IA</a:t>
            </a:r>
            <a:endParaRPr lang="en-US" sz="8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640080" y="1371600"/>
          <a:ext cx="7863840" cy="1783080"/>
        </p:xfrm>
        <a:graphic>
          <a:graphicData uri="http://schemas.openxmlformats.org/drawingml/2006/table">
            <a:tbl>
              <a:tblPr/>
              <a:tblGrid>
                <a:gridCol w="2377440">
                  <a:extLst>
                    <a:ext uri="{9D8B030D-6E8A-4147-A177-3AD203B41FA5}">
                      <a16:colId xmlns:a16="http://schemas.microsoft.com/office/drawing/2014/main" val="20000"/>
                    </a:ext>
                  </a:extLst>
                </a:gridCol>
                <a:gridCol w="5486400">
                  <a:extLst>
                    <a:ext uri="{9D8B030D-6E8A-4147-A177-3AD203B41FA5}">
                      <a16:colId xmlns:a16="http://schemas.microsoft.com/office/drawing/2014/main" val="20001"/>
                    </a:ext>
                  </a:extLst>
                </a:gridCol>
              </a:tblGrid>
              <a:tr h="356616">
                <a:tc>
                  <a:txBody>
                    <a:bodyPr/>
                    <a:lstStyle/>
                    <a:p>
                      <a:pPr marL="0" indent="0" algn="l">
                        <a:buNone/>
                      </a:pPr>
                      <a:r>
                        <a:rPr lang="en-US" sz="950" b="1" dirty="0">
                          <a:solidFill>
                            <a:srgbClr val="FFFFFF"/>
                          </a:solidFill>
                          <a:latin typeface="Arial" pitchFamily="34" charset="0"/>
                          <a:ea typeface="Arial" pitchFamily="34" charset="-122"/>
                          <a:cs typeface="Arial" pitchFamily="34" charset="-120"/>
                        </a:rPr>
                        <a:t>Campo</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73F72"/>
                    </a:solidFill>
                  </a:tcPr>
                </a:tc>
                <a:tc>
                  <a:txBody>
                    <a:bodyPr/>
                    <a:lstStyle/>
                    <a:p>
                      <a:pPr marL="0" indent="0" algn="l">
                        <a:buNone/>
                      </a:pPr>
                      <a:r>
                        <a:rPr lang="en-US" sz="950" b="1" dirty="0">
                          <a:solidFill>
                            <a:srgbClr val="FFFFFF"/>
                          </a:solidFill>
                          <a:latin typeface="Arial" pitchFamily="34" charset="0"/>
                          <a:ea typeface="Arial" pitchFamily="34" charset="-122"/>
                          <a:cs typeface="Arial" pitchFamily="34" charset="-120"/>
                        </a:rPr>
                        <a:t>Contenido esperado</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73F72"/>
                    </a:solidFill>
                  </a:tcPr>
                </a:tc>
                <a:extLst>
                  <a:ext uri="{0D108BD9-81ED-4DB2-BD59-A6C34878D82A}">
                    <a16:rowId xmlns:a16="http://schemas.microsoft.com/office/drawing/2014/main" val="10000"/>
                  </a:ext>
                </a:extLst>
              </a:tr>
              <a:tr h="356616">
                <a:tc>
                  <a:txBody>
                    <a:bodyPr/>
                    <a:lstStyle/>
                    <a:p>
                      <a:pPr marL="0" indent="0" algn="l">
                        <a:buNone/>
                      </a:pPr>
                      <a:r>
                        <a:rPr lang="en-US" sz="950" b="1" dirty="0">
                          <a:solidFill>
                            <a:srgbClr val="173F72"/>
                          </a:solidFill>
                          <a:latin typeface="Arial" pitchFamily="34" charset="0"/>
                          <a:ea typeface="Arial" pitchFamily="34" charset="-122"/>
                          <a:cs typeface="Arial" pitchFamily="34" charset="-120"/>
                        </a:rPr>
                        <a:t>Eslabón de la cadena de valor</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Resultado (mide el comportamiento de permanencia de la población beneficiaria)</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56616">
                <a:tc>
                  <a:txBody>
                    <a:bodyPr/>
                    <a:lstStyle/>
                    <a:p>
                      <a:pPr marL="0" indent="0" algn="l">
                        <a:buNone/>
                      </a:pPr>
                      <a:r>
                        <a:rPr lang="en-US" sz="950" b="1" dirty="0">
                          <a:solidFill>
                            <a:srgbClr val="173F72"/>
                          </a:solidFill>
                          <a:latin typeface="Arial" pitchFamily="34" charset="0"/>
                          <a:ea typeface="Arial" pitchFamily="34" charset="-122"/>
                          <a:cs typeface="Arial" pitchFamily="34" charset="-120"/>
                        </a:rPr>
                        <a:t>Nombre del indicador</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Tasa de deserción escolar intra-anual en sedes educativas rurales</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56616">
                <a:tc>
                  <a:txBody>
                    <a:bodyPr/>
                    <a:lstStyle/>
                    <a:p>
                      <a:pPr marL="0" indent="0" algn="l">
                        <a:buNone/>
                      </a:pPr>
                      <a:r>
                        <a:rPr lang="en-US" sz="950" b="1" dirty="0">
                          <a:solidFill>
                            <a:srgbClr val="173F72"/>
                          </a:solidFill>
                          <a:latin typeface="Arial" pitchFamily="34" charset="0"/>
                          <a:ea typeface="Arial" pitchFamily="34" charset="-122"/>
                          <a:cs typeface="Arial" pitchFamily="34" charset="-120"/>
                        </a:rPr>
                        <a:t>Fórmula de cálculo</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(N.º estudiantes que abandonan durante el año / N.º matriculados al inicio del año) × 100</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56616">
                <a:tc>
                  <a:txBody>
                    <a:bodyPr/>
                    <a:lstStyle/>
                    <a:p>
                      <a:pPr marL="0" indent="0" algn="l">
                        <a:buNone/>
                      </a:pPr>
                      <a:r>
                        <a:rPr lang="en-US" sz="950" b="1" dirty="0">
                          <a:solidFill>
                            <a:srgbClr val="173F72"/>
                          </a:solidFill>
                          <a:latin typeface="Arial" pitchFamily="34" charset="0"/>
                          <a:ea typeface="Arial" pitchFamily="34" charset="-122"/>
                          <a:cs typeface="Arial" pitchFamily="34" charset="-120"/>
                        </a:rPr>
                        <a:t>Fuente de información</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Sistema Integrado de Matrícula (SIMAT) y Secretaría de Educación</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9" name="Text 5"/>
          <p:cNvSpPr/>
          <p:nvPr/>
        </p:nvSpPr>
        <p:spPr>
          <a:xfrm>
            <a:off x="640080" y="3337560"/>
            <a:ext cx="7863840" cy="274320"/>
          </a:xfrm>
          <a:prstGeom prst="rect">
            <a:avLst/>
          </a:prstGeom>
          <a:noFill/>
          <a:ln/>
        </p:spPr>
        <p:txBody>
          <a:bodyPr wrap="square" rtlCol="0" anchor="ctr"/>
          <a:lstStyle/>
          <a:p>
            <a:pPr marL="0" indent="0">
              <a:buNone/>
            </a:pPr>
            <a:r>
              <a:rPr lang="en-US" sz="1100" b="1" dirty="0">
                <a:solidFill>
                  <a:srgbClr val="173F72"/>
                </a:solidFill>
                <a:latin typeface="Arial" pitchFamily="34" charset="0"/>
                <a:ea typeface="Arial" pitchFamily="34" charset="-122"/>
                <a:cs typeface="Arial" pitchFamily="34" charset="-120"/>
              </a:rPr>
              <a:t>Prompt sugerido para IA (Claude.ai)</a:t>
            </a:r>
            <a:endParaRPr lang="en-US" sz="1100" dirty="0"/>
          </a:p>
        </p:txBody>
      </p:sp>
      <p:sp>
        <p:nvSpPr>
          <p:cNvPr id="10" name="Shape 6"/>
          <p:cNvSpPr/>
          <p:nvPr/>
        </p:nvSpPr>
        <p:spPr>
          <a:xfrm>
            <a:off x="640080" y="3630168"/>
            <a:ext cx="7863840" cy="1097280"/>
          </a:xfrm>
          <a:prstGeom prst="roundRect">
            <a:avLst>
              <a:gd name="adj" fmla="val 3333"/>
            </a:avLst>
          </a:prstGeom>
          <a:solidFill>
            <a:srgbClr val="F5F5F5"/>
          </a:solidFill>
          <a:ln w="6350">
            <a:solidFill>
              <a:srgbClr val="C9C9C9"/>
            </a:solidFill>
            <a:prstDash val="solid"/>
          </a:ln>
        </p:spPr>
      </p:sp>
      <p:sp>
        <p:nvSpPr>
          <p:cNvPr id="11" name="Text 7"/>
          <p:cNvSpPr/>
          <p:nvPr/>
        </p:nvSpPr>
        <p:spPr>
          <a:xfrm>
            <a:off x="822960" y="3721608"/>
            <a:ext cx="7498080" cy="914400"/>
          </a:xfrm>
          <a:prstGeom prst="rect">
            <a:avLst/>
          </a:prstGeom>
          <a:noFill/>
          <a:ln/>
        </p:spPr>
        <p:txBody>
          <a:bodyPr wrap="square" rtlCol="0" anchor="t"/>
          <a:lstStyle/>
          <a:p>
            <a:pPr marL="0" indent="0">
              <a:buNone/>
            </a:pPr>
            <a:r>
              <a:rPr lang="en-US" sz="950" i="1" dirty="0">
                <a:solidFill>
                  <a:srgbClr val="2F3B4C"/>
                </a:solidFill>
                <a:latin typeface="Consolas" pitchFamily="34" charset="0"/>
                <a:ea typeface="Consolas" pitchFamily="34" charset="-122"/>
                <a:cs typeface="Consolas" pitchFamily="34" charset="-120"/>
              </a:rPr>
              <a:t>Revisa este borrador de indicador de educación rural: Pregunta: ¿Estamos reteniendo a los estudiantes de sedes rurales durante el año escolar? Nombre borrador: Tasa de abandono de alumnos rurales. Reformula el nombre según estándares SIMAT, confirma si el indicador es de tipo reducción y genera una alerta sobre posibles incentivos perversos (p. ej. subreporte de retiros).</a:t>
            </a:r>
            <a:endParaRPr lang="en-US" sz="95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292608"/>
            <a:ext cx="1005840" cy="41148"/>
          </a:xfrm>
          <a:prstGeom prst="rect">
            <a:avLst/>
          </a:prstGeom>
          <a:solidFill>
            <a:srgbClr val="FF9900"/>
          </a:solidFill>
          <a:ln/>
        </p:spPr>
      </p:sp>
      <p:sp>
        <p:nvSpPr>
          <p:cNvPr id="3" name="Text 1"/>
          <p:cNvSpPr/>
          <p:nvPr/>
        </p:nvSpPr>
        <p:spPr>
          <a:xfrm>
            <a:off x="640080" y="365760"/>
            <a:ext cx="6675120" cy="256032"/>
          </a:xfrm>
          <a:prstGeom prst="rect">
            <a:avLst/>
          </a:prstGeom>
          <a:noFill/>
          <a:ln/>
        </p:spPr>
        <p:txBody>
          <a:bodyPr wrap="square" rtlCol="0" anchor="ctr"/>
          <a:lstStyle/>
          <a:p>
            <a:pPr marL="0" indent="0">
              <a:buNone/>
            </a:pPr>
            <a:r>
              <a:rPr lang="en-US" sz="1000" b="1" kern="0" spc="150" dirty="0">
                <a:solidFill>
                  <a:srgbClr val="FC6E01"/>
                </a:solidFill>
                <a:latin typeface="Arial" pitchFamily="34" charset="0"/>
                <a:ea typeface="Arial" pitchFamily="34" charset="-122"/>
                <a:cs typeface="Arial" pitchFamily="34" charset="-120"/>
              </a:rPr>
              <a:t>CASO GUÍA 3 DE 4 · SEGURIDAD</a:t>
            </a:r>
            <a:endParaRPr lang="en-US" sz="1000" dirty="0"/>
          </a:p>
        </p:txBody>
      </p:sp>
      <p:sp>
        <p:nvSpPr>
          <p:cNvPr id="4" name="Text 2"/>
          <p:cNvSpPr/>
          <p:nvPr/>
        </p:nvSpPr>
        <p:spPr>
          <a:xfrm>
            <a:off x="640080" y="621792"/>
            <a:ext cx="7315200" cy="502920"/>
          </a:xfrm>
          <a:prstGeom prst="rect">
            <a:avLst/>
          </a:prstGeom>
          <a:noFill/>
          <a:ln/>
        </p:spPr>
        <p:txBody>
          <a:bodyPr wrap="square" rtlCol="0" anchor="ctr"/>
          <a:lstStyle/>
          <a:p>
            <a:pPr marL="0" indent="0">
              <a:buNone/>
            </a:pPr>
            <a:r>
              <a:rPr lang="en-US" sz="2100" b="1" dirty="0">
                <a:solidFill>
                  <a:srgbClr val="173F72"/>
                </a:solidFill>
                <a:latin typeface="Arial" pitchFamily="34" charset="0"/>
                <a:ea typeface="Arial" pitchFamily="34" charset="-122"/>
                <a:cs typeface="Arial" pitchFamily="34" charset="-120"/>
              </a:rPr>
              <a:t>Hurto a Personas</a:t>
            </a:r>
            <a:endParaRPr lang="en-US" sz="2100" dirty="0"/>
          </a:p>
        </p:txBody>
      </p:sp>
      <p:pic>
        <p:nvPicPr>
          <p:cNvPr id="6" name="Image 0" descr="/home/claude/taller/assets/footer_banner.png"/>
          <p:cNvPicPr>
            <a:picLocks noChangeAspect="1"/>
          </p:cNvPicPr>
          <p:nvPr/>
        </p:nvPicPr>
        <p:blipFill>
          <a:blip r:embed="rId3"/>
          <a:stretch>
            <a:fillRect/>
          </a:stretch>
        </p:blipFill>
        <p:spPr>
          <a:xfrm>
            <a:off x="0" y="4672584"/>
            <a:ext cx="9144000" cy="469087"/>
          </a:xfrm>
          <a:prstGeom prst="rect">
            <a:avLst/>
          </a:prstGeom>
        </p:spPr>
      </p:pic>
      <p:sp>
        <p:nvSpPr>
          <p:cNvPr id="7" name="Text 4"/>
          <p:cNvSpPr/>
          <p:nvPr/>
        </p:nvSpPr>
        <p:spPr>
          <a:xfrm>
            <a:off x="274320" y="4727448"/>
            <a:ext cx="5669280" cy="274320"/>
          </a:xfrm>
          <a:prstGeom prst="rect">
            <a:avLst/>
          </a:prstGeom>
          <a:noFill/>
          <a:ln/>
        </p:spPr>
        <p:txBody>
          <a:bodyPr wrap="square" lIns="0" tIns="0" rIns="0" bIns="0" rtlCol="0" anchor="ctr"/>
          <a:lstStyle/>
          <a:p>
            <a:pPr marL="0" indent="0">
              <a:buNone/>
            </a:pPr>
            <a:r>
              <a:rPr lang="en-US" sz="800" dirty="0">
                <a:solidFill>
                  <a:srgbClr val="FFFFFF"/>
                </a:solidFill>
                <a:latin typeface="Arial" pitchFamily="34" charset="0"/>
                <a:ea typeface="Arial" pitchFamily="34" charset="-122"/>
                <a:cs typeface="Arial" pitchFamily="34" charset="-120"/>
              </a:rPr>
              <a:t>Taller de Indicadores de Gestión Pública con IA</a:t>
            </a:r>
            <a:endParaRPr lang="en-US" sz="800" dirty="0"/>
          </a:p>
        </p:txBody>
      </p:sp>
      <p:sp>
        <p:nvSpPr>
          <p:cNvPr id="8" name="Text 5"/>
          <p:cNvSpPr/>
          <p:nvPr/>
        </p:nvSpPr>
        <p:spPr>
          <a:xfrm>
            <a:off x="640080" y="1371600"/>
            <a:ext cx="7863840" cy="320040"/>
          </a:xfrm>
          <a:prstGeom prst="rect">
            <a:avLst/>
          </a:prstGeom>
          <a:noFill/>
          <a:ln/>
        </p:spPr>
        <p:txBody>
          <a:bodyPr wrap="square" rtlCol="0" anchor="ctr"/>
          <a:lstStyle/>
          <a:p>
            <a:pPr marL="0" indent="0">
              <a:buNone/>
            </a:pPr>
            <a:r>
              <a:rPr lang="en-US" sz="1200" i="1" dirty="0">
                <a:solidFill>
                  <a:srgbClr val="5C6B7C"/>
                </a:solidFill>
                <a:latin typeface="Arial" pitchFamily="34" charset="0"/>
                <a:ea typeface="Arial" pitchFamily="34" charset="-122"/>
                <a:cs typeface="Arial" pitchFamily="34" charset="-120"/>
              </a:rPr>
              <a:t>Pregunta vaga de partida: “¿Cómo va la seguridad?”</a:t>
            </a:r>
            <a:endParaRPr lang="en-US" sz="12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7863840" cy="1508760"/>
        </p:xfrm>
        <a:graphic>
          <a:graphicData uri="http://schemas.openxmlformats.org/drawingml/2006/table">
            <a:tbl>
              <a:tblPr/>
              <a:tblGrid>
                <a:gridCol w="2377440">
                  <a:extLst>
                    <a:ext uri="{9D8B030D-6E8A-4147-A177-3AD203B41FA5}">
                      <a16:colId xmlns:a16="http://schemas.microsoft.com/office/drawing/2014/main" val="20000"/>
                    </a:ext>
                  </a:extLst>
                </a:gridCol>
                <a:gridCol w="5486400">
                  <a:extLst>
                    <a:ext uri="{9D8B030D-6E8A-4147-A177-3AD203B41FA5}">
                      <a16:colId xmlns:a16="http://schemas.microsoft.com/office/drawing/2014/main" val="20001"/>
                    </a:ext>
                  </a:extLst>
                </a:gridCol>
              </a:tblGrid>
              <a:tr h="301752">
                <a:tc>
                  <a:txBody>
                    <a:bodyPr/>
                    <a:lstStyle/>
                    <a:p>
                      <a:pPr marL="0" indent="0" algn="l">
                        <a:buNone/>
                      </a:pPr>
                      <a:r>
                        <a:rPr lang="en-US" sz="950" b="1" dirty="0">
                          <a:solidFill>
                            <a:srgbClr val="FFFFFF"/>
                          </a:solidFill>
                          <a:latin typeface="Arial" pitchFamily="34" charset="0"/>
                          <a:ea typeface="Arial" pitchFamily="34" charset="-122"/>
                          <a:cs typeface="Arial" pitchFamily="34" charset="-120"/>
                        </a:rPr>
                        <a:t>Campo</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73F72"/>
                    </a:solidFill>
                  </a:tcPr>
                </a:tc>
                <a:tc>
                  <a:txBody>
                    <a:bodyPr/>
                    <a:lstStyle/>
                    <a:p>
                      <a:pPr marL="0" indent="0" algn="l">
                        <a:buNone/>
                      </a:pPr>
                      <a:r>
                        <a:rPr lang="en-US" sz="950" b="1" dirty="0">
                          <a:solidFill>
                            <a:srgbClr val="FFFFFF"/>
                          </a:solidFill>
                          <a:latin typeface="Arial" pitchFamily="34" charset="0"/>
                          <a:ea typeface="Arial" pitchFamily="34" charset="-122"/>
                          <a:cs typeface="Arial" pitchFamily="34" charset="-120"/>
                        </a:rPr>
                        <a:t>Contenido esperado</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73F72"/>
                    </a:solidFill>
                  </a:tcPr>
                </a:tc>
                <a:extLst>
                  <a:ext uri="{0D108BD9-81ED-4DB2-BD59-A6C34878D82A}">
                    <a16:rowId xmlns:a16="http://schemas.microsoft.com/office/drawing/2014/main" val="10000"/>
                  </a:ext>
                </a:extLst>
              </a:tr>
              <a:tr h="301752">
                <a:tc>
                  <a:txBody>
                    <a:bodyPr/>
                    <a:lstStyle/>
                    <a:p>
                      <a:pPr marL="0" indent="0" algn="l">
                        <a:buNone/>
                      </a:pPr>
                      <a:r>
                        <a:rPr lang="en-US" sz="950" b="1" dirty="0">
                          <a:solidFill>
                            <a:srgbClr val="173F72"/>
                          </a:solidFill>
                          <a:latin typeface="Arial" pitchFamily="34" charset="0"/>
                          <a:ea typeface="Arial" pitchFamily="34" charset="-122"/>
                          <a:cs typeface="Arial" pitchFamily="34" charset="-120"/>
                        </a:rPr>
                        <a:t>Población / unidad de análisis</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Habitantes del casco urbano del municipio</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01752">
                <a:tc>
                  <a:txBody>
                    <a:bodyPr/>
                    <a:lstStyle/>
                    <a:p>
                      <a:pPr marL="0" indent="0" algn="l">
                        <a:buNone/>
                      </a:pPr>
                      <a:r>
                        <a:rPr lang="en-US" sz="950" b="1" dirty="0">
                          <a:solidFill>
                            <a:srgbClr val="173F72"/>
                          </a:solidFill>
                          <a:latin typeface="Arial" pitchFamily="34" charset="0"/>
                          <a:ea typeface="Arial" pitchFamily="34" charset="-122"/>
                          <a:cs typeface="Arial" pitchFamily="34" charset="-120"/>
                        </a:rPr>
                        <a:t>Atributo o dimensión</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Incidencia de hurto a personas ajustada por densidad poblacional</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01752">
                <a:tc>
                  <a:txBody>
                    <a:bodyPr/>
                    <a:lstStyle/>
                    <a:p>
                      <a:pPr marL="0" indent="0" algn="l">
                        <a:buNone/>
                      </a:pPr>
                      <a:r>
                        <a:rPr lang="en-US" sz="950" b="1" dirty="0">
                          <a:solidFill>
                            <a:srgbClr val="173F72"/>
                          </a:solidFill>
                          <a:latin typeface="Arial" pitchFamily="34" charset="0"/>
                          <a:ea typeface="Arial" pitchFamily="34" charset="-122"/>
                          <a:cs typeface="Arial" pitchFamily="34" charset="-120"/>
                        </a:rPr>
                        <a:t>Ámbito territorial y temporal</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Casco urbano, trimestre actual vs. mismo trimestre del año anterior</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01752">
                <a:tc>
                  <a:txBody>
                    <a:bodyPr/>
                    <a:lstStyle/>
                    <a:p>
                      <a:pPr marL="0" indent="0" algn="l">
                        <a:buNone/>
                      </a:pPr>
                      <a:r>
                        <a:rPr lang="en-US" sz="950" b="1" dirty="0">
                          <a:solidFill>
                            <a:srgbClr val="173F72"/>
                          </a:solidFill>
                          <a:latin typeface="Arial" pitchFamily="34" charset="0"/>
                          <a:ea typeface="Arial" pitchFamily="34" charset="-122"/>
                          <a:cs typeface="Arial" pitchFamily="34" charset="-120"/>
                        </a:rPr>
                        <a:t>Referente de comparación</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Tasa del mismo trimestre del año t-1</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10" name="Shape 6"/>
          <p:cNvSpPr/>
          <p:nvPr/>
        </p:nvSpPr>
        <p:spPr>
          <a:xfrm>
            <a:off x="640080" y="3429000"/>
            <a:ext cx="7863840" cy="914400"/>
          </a:xfrm>
          <a:prstGeom prst="roundRect">
            <a:avLst>
              <a:gd name="adj" fmla="val 5000"/>
            </a:avLst>
          </a:prstGeom>
          <a:solidFill>
            <a:srgbClr val="173F72"/>
          </a:solidFill>
          <a:ln/>
        </p:spPr>
      </p:sp>
      <p:sp>
        <p:nvSpPr>
          <p:cNvPr id="11" name="Text 7"/>
          <p:cNvSpPr/>
          <p:nvPr/>
        </p:nvSpPr>
        <p:spPr>
          <a:xfrm>
            <a:off x="822960" y="3520440"/>
            <a:ext cx="7498080" cy="228600"/>
          </a:xfrm>
          <a:prstGeom prst="rect">
            <a:avLst/>
          </a:prstGeom>
          <a:noFill/>
          <a:ln/>
        </p:spPr>
        <p:txBody>
          <a:bodyPr wrap="square" rtlCol="0" anchor="ctr"/>
          <a:lstStyle/>
          <a:p>
            <a:pPr marL="0" indent="0">
              <a:buNone/>
            </a:pPr>
            <a:r>
              <a:rPr lang="en-US" sz="1000" b="1" dirty="0">
                <a:solidFill>
                  <a:srgbClr val="FF9900"/>
                </a:solidFill>
                <a:latin typeface="Arial" pitchFamily="34" charset="0"/>
                <a:ea typeface="Arial" pitchFamily="34" charset="-122"/>
                <a:cs typeface="Arial" pitchFamily="34" charset="-120"/>
              </a:rPr>
              <a:t>Pregunta de gestión refinada:</a:t>
            </a:r>
            <a:endParaRPr lang="en-US" sz="1000" dirty="0"/>
          </a:p>
        </p:txBody>
      </p:sp>
      <p:sp>
        <p:nvSpPr>
          <p:cNvPr id="12" name="Text 8"/>
          <p:cNvSpPr/>
          <p:nvPr/>
        </p:nvSpPr>
        <p:spPr>
          <a:xfrm>
            <a:off x="822960" y="3730752"/>
            <a:ext cx="7498080" cy="548640"/>
          </a:xfrm>
          <a:prstGeom prst="rect">
            <a:avLst/>
          </a:prstGeom>
          <a:noFill/>
          <a:ln/>
        </p:spPr>
        <p:txBody>
          <a:bodyPr wrap="square" rtlCol="0" anchor="t"/>
          <a:lstStyle/>
          <a:p>
            <a:pPr marL="0" indent="0">
              <a:buNone/>
            </a:pPr>
            <a:r>
              <a:rPr lang="en-US" sz="1100" i="1" dirty="0">
                <a:solidFill>
                  <a:srgbClr val="FFFFFF"/>
                </a:solidFill>
                <a:latin typeface="Arial" pitchFamily="34" charset="0"/>
                <a:ea typeface="Arial" pitchFamily="34" charset="-122"/>
                <a:cs typeface="Arial" pitchFamily="34" charset="-120"/>
              </a:rPr>
              <a:t>“¿Está disminuyendo el hurto a personas en el último trimestre, frente al mismo periodo del año anterior?”</a:t>
            </a:r>
            <a:endParaRPr lang="en-US" sz="11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292608"/>
            <a:ext cx="1005840" cy="41148"/>
          </a:xfrm>
          <a:prstGeom prst="rect">
            <a:avLst/>
          </a:prstGeom>
          <a:solidFill>
            <a:srgbClr val="FF9900"/>
          </a:solidFill>
          <a:ln/>
        </p:spPr>
      </p:sp>
      <p:sp>
        <p:nvSpPr>
          <p:cNvPr id="3" name="Text 1"/>
          <p:cNvSpPr/>
          <p:nvPr/>
        </p:nvSpPr>
        <p:spPr>
          <a:xfrm>
            <a:off x="640080" y="365760"/>
            <a:ext cx="6675120" cy="256032"/>
          </a:xfrm>
          <a:prstGeom prst="rect">
            <a:avLst/>
          </a:prstGeom>
          <a:noFill/>
          <a:ln/>
        </p:spPr>
        <p:txBody>
          <a:bodyPr wrap="square" rtlCol="0" anchor="ctr"/>
          <a:lstStyle/>
          <a:p>
            <a:pPr marL="0" indent="0">
              <a:buNone/>
            </a:pPr>
            <a:r>
              <a:rPr lang="en-US" sz="1000" b="1" kern="0" spc="150" dirty="0">
                <a:solidFill>
                  <a:srgbClr val="FC6E01"/>
                </a:solidFill>
                <a:latin typeface="Arial" pitchFamily="34" charset="0"/>
                <a:ea typeface="Arial" pitchFamily="34" charset="-122"/>
                <a:cs typeface="Arial" pitchFamily="34" charset="-120"/>
              </a:rPr>
              <a:t>CASO GUÍA 3 DE 4 · SEGURIDAD</a:t>
            </a:r>
            <a:endParaRPr lang="en-US" sz="1000" dirty="0"/>
          </a:p>
        </p:txBody>
      </p:sp>
      <p:sp>
        <p:nvSpPr>
          <p:cNvPr id="4" name="Text 2"/>
          <p:cNvSpPr/>
          <p:nvPr/>
        </p:nvSpPr>
        <p:spPr>
          <a:xfrm>
            <a:off x="640080" y="621792"/>
            <a:ext cx="7315200" cy="502920"/>
          </a:xfrm>
          <a:prstGeom prst="rect">
            <a:avLst/>
          </a:prstGeom>
          <a:noFill/>
          <a:ln/>
        </p:spPr>
        <p:txBody>
          <a:bodyPr wrap="square" rtlCol="0" anchor="ctr"/>
          <a:lstStyle/>
          <a:p>
            <a:pPr marL="0" indent="0">
              <a:buNone/>
            </a:pPr>
            <a:r>
              <a:rPr lang="en-US" sz="2100" b="1" dirty="0">
                <a:solidFill>
                  <a:srgbClr val="173F72"/>
                </a:solidFill>
                <a:latin typeface="Arial" pitchFamily="34" charset="0"/>
                <a:ea typeface="Arial" pitchFamily="34" charset="-122"/>
                <a:cs typeface="Arial" pitchFamily="34" charset="-120"/>
              </a:rPr>
              <a:t>Hurto a Personas</a:t>
            </a:r>
            <a:endParaRPr lang="en-US" sz="2100" dirty="0"/>
          </a:p>
        </p:txBody>
      </p:sp>
      <p:pic>
        <p:nvPicPr>
          <p:cNvPr id="6" name="Image 0" descr="/home/claude/taller/assets/footer_banner.png"/>
          <p:cNvPicPr>
            <a:picLocks noChangeAspect="1"/>
          </p:cNvPicPr>
          <p:nvPr/>
        </p:nvPicPr>
        <p:blipFill>
          <a:blip r:embed="rId3"/>
          <a:stretch>
            <a:fillRect/>
          </a:stretch>
        </p:blipFill>
        <p:spPr>
          <a:xfrm>
            <a:off x="0" y="4672584"/>
            <a:ext cx="9144000" cy="469087"/>
          </a:xfrm>
          <a:prstGeom prst="rect">
            <a:avLst/>
          </a:prstGeom>
        </p:spPr>
      </p:pic>
      <p:sp>
        <p:nvSpPr>
          <p:cNvPr id="7" name="Text 4"/>
          <p:cNvSpPr/>
          <p:nvPr/>
        </p:nvSpPr>
        <p:spPr>
          <a:xfrm>
            <a:off x="274320" y="4727448"/>
            <a:ext cx="5669280" cy="274320"/>
          </a:xfrm>
          <a:prstGeom prst="rect">
            <a:avLst/>
          </a:prstGeom>
          <a:noFill/>
          <a:ln/>
        </p:spPr>
        <p:txBody>
          <a:bodyPr wrap="square" lIns="0" tIns="0" rIns="0" bIns="0" rtlCol="0" anchor="ctr"/>
          <a:lstStyle/>
          <a:p>
            <a:pPr marL="0" indent="0">
              <a:buNone/>
            </a:pPr>
            <a:r>
              <a:rPr lang="en-US" sz="800" dirty="0">
                <a:solidFill>
                  <a:srgbClr val="FFFFFF"/>
                </a:solidFill>
                <a:latin typeface="Arial" pitchFamily="34" charset="0"/>
                <a:ea typeface="Arial" pitchFamily="34" charset="-122"/>
                <a:cs typeface="Arial" pitchFamily="34" charset="-120"/>
              </a:rPr>
              <a:t>Taller de Indicadores de Gestión Pública con IA</a:t>
            </a:r>
            <a:endParaRPr lang="en-US" sz="800" dirty="0"/>
          </a:p>
        </p:txBody>
      </p:sp>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640080" y="1371600"/>
          <a:ext cx="7863840" cy="1792224"/>
        </p:xfrm>
        <a:graphic>
          <a:graphicData uri="http://schemas.openxmlformats.org/drawingml/2006/table">
            <a:tbl>
              <a:tblPr/>
              <a:tblGrid>
                <a:gridCol w="2377440">
                  <a:extLst>
                    <a:ext uri="{9D8B030D-6E8A-4147-A177-3AD203B41FA5}">
                      <a16:colId xmlns:a16="http://schemas.microsoft.com/office/drawing/2014/main" val="20000"/>
                    </a:ext>
                  </a:extLst>
                </a:gridCol>
                <a:gridCol w="5486400">
                  <a:extLst>
                    <a:ext uri="{9D8B030D-6E8A-4147-A177-3AD203B41FA5}">
                      <a16:colId xmlns:a16="http://schemas.microsoft.com/office/drawing/2014/main" val="20001"/>
                    </a:ext>
                  </a:extLst>
                </a:gridCol>
              </a:tblGrid>
              <a:tr h="356616">
                <a:tc>
                  <a:txBody>
                    <a:bodyPr/>
                    <a:lstStyle/>
                    <a:p>
                      <a:pPr marL="0" indent="0" algn="l">
                        <a:buNone/>
                      </a:pPr>
                      <a:r>
                        <a:rPr lang="en-US" sz="950" b="1" dirty="0">
                          <a:solidFill>
                            <a:srgbClr val="FFFFFF"/>
                          </a:solidFill>
                          <a:latin typeface="Arial" pitchFamily="34" charset="0"/>
                          <a:ea typeface="Arial" pitchFamily="34" charset="-122"/>
                          <a:cs typeface="Arial" pitchFamily="34" charset="-120"/>
                        </a:rPr>
                        <a:t>Campo</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73F72"/>
                    </a:solidFill>
                  </a:tcPr>
                </a:tc>
                <a:tc>
                  <a:txBody>
                    <a:bodyPr/>
                    <a:lstStyle/>
                    <a:p>
                      <a:pPr marL="0" indent="0" algn="l">
                        <a:buNone/>
                      </a:pPr>
                      <a:r>
                        <a:rPr lang="en-US" sz="950" b="1" dirty="0">
                          <a:solidFill>
                            <a:srgbClr val="FFFFFF"/>
                          </a:solidFill>
                          <a:latin typeface="Arial" pitchFamily="34" charset="0"/>
                          <a:ea typeface="Arial" pitchFamily="34" charset="-122"/>
                          <a:cs typeface="Arial" pitchFamily="34" charset="-120"/>
                        </a:rPr>
                        <a:t>Contenido esperado</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73F72"/>
                    </a:solidFill>
                  </a:tcPr>
                </a:tc>
                <a:extLst>
                  <a:ext uri="{0D108BD9-81ED-4DB2-BD59-A6C34878D82A}">
                    <a16:rowId xmlns:a16="http://schemas.microsoft.com/office/drawing/2014/main" val="10000"/>
                  </a:ext>
                </a:extLst>
              </a:tr>
              <a:tr h="356616">
                <a:tc>
                  <a:txBody>
                    <a:bodyPr/>
                    <a:lstStyle/>
                    <a:p>
                      <a:pPr marL="0" indent="0" algn="l">
                        <a:buNone/>
                      </a:pPr>
                      <a:r>
                        <a:rPr lang="en-US" sz="950" b="1" dirty="0">
                          <a:solidFill>
                            <a:srgbClr val="173F72"/>
                          </a:solidFill>
                          <a:latin typeface="Arial" pitchFamily="34" charset="0"/>
                          <a:ea typeface="Arial" pitchFamily="34" charset="-122"/>
                          <a:cs typeface="Arial" pitchFamily="34" charset="-120"/>
                        </a:rPr>
                        <a:t>Eslabón de la cadena de valor</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Resultado / impacto sectorial (mide la incidencia del delito, no solo la actividad policial)</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56616">
                <a:tc>
                  <a:txBody>
                    <a:bodyPr/>
                    <a:lstStyle/>
                    <a:p>
                      <a:pPr marL="0" indent="0" algn="l">
                        <a:buNone/>
                      </a:pPr>
                      <a:r>
                        <a:rPr lang="en-US" sz="950" b="1" dirty="0">
                          <a:solidFill>
                            <a:srgbClr val="173F72"/>
                          </a:solidFill>
                          <a:latin typeface="Arial" pitchFamily="34" charset="0"/>
                          <a:ea typeface="Arial" pitchFamily="34" charset="-122"/>
                          <a:cs typeface="Arial" pitchFamily="34" charset="-120"/>
                        </a:rPr>
                        <a:t>Nombre del indicador</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Variación porcentual de la tasa de hurto a personas por cada 10.000 habitantes</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56616">
                <a:tc>
                  <a:txBody>
                    <a:bodyPr/>
                    <a:lstStyle/>
                    <a:p>
                      <a:pPr marL="0" indent="0" algn="l">
                        <a:buNone/>
                      </a:pPr>
                      <a:r>
                        <a:rPr lang="en-US" sz="950" b="1" dirty="0">
                          <a:solidFill>
                            <a:srgbClr val="173F72"/>
                          </a:solidFill>
                          <a:latin typeface="Arial" pitchFamily="34" charset="0"/>
                          <a:ea typeface="Arial" pitchFamily="34" charset="-122"/>
                          <a:cs typeface="Arial" pitchFamily="34" charset="-120"/>
                        </a:rPr>
                        <a:t>Fórmula de cálculo</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((Tasa trimestre actual − Tasa año anterior) / Tasa año anterior) × 100; Tasa = (denuncias / población DANE) × 10.000</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56616">
                <a:tc>
                  <a:txBody>
                    <a:bodyPr/>
                    <a:lstStyle/>
                    <a:p>
                      <a:pPr marL="0" indent="0" algn="l">
                        <a:buNone/>
                      </a:pPr>
                      <a:r>
                        <a:rPr lang="en-US" sz="950" b="1" dirty="0">
                          <a:solidFill>
                            <a:srgbClr val="173F72"/>
                          </a:solidFill>
                          <a:latin typeface="Arial" pitchFamily="34" charset="0"/>
                          <a:ea typeface="Arial" pitchFamily="34" charset="-122"/>
                          <a:cs typeface="Arial" pitchFamily="34" charset="-120"/>
                        </a:rPr>
                        <a:t>Fuente de información</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SIEDCO — Policía Nacional (o equivalente local)</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9" name="Text 5"/>
          <p:cNvSpPr/>
          <p:nvPr/>
        </p:nvSpPr>
        <p:spPr>
          <a:xfrm>
            <a:off x="640080" y="3337560"/>
            <a:ext cx="7863840" cy="274320"/>
          </a:xfrm>
          <a:prstGeom prst="rect">
            <a:avLst/>
          </a:prstGeom>
          <a:noFill/>
          <a:ln/>
        </p:spPr>
        <p:txBody>
          <a:bodyPr wrap="square" rtlCol="0" anchor="ctr"/>
          <a:lstStyle/>
          <a:p>
            <a:pPr marL="0" indent="0">
              <a:buNone/>
            </a:pPr>
            <a:r>
              <a:rPr lang="en-US" sz="1100" b="1" dirty="0">
                <a:solidFill>
                  <a:srgbClr val="173F72"/>
                </a:solidFill>
                <a:latin typeface="Arial" pitchFamily="34" charset="0"/>
                <a:ea typeface="Arial" pitchFamily="34" charset="-122"/>
                <a:cs typeface="Arial" pitchFamily="34" charset="-120"/>
              </a:rPr>
              <a:t>Prompt sugerido para IA (Claude.ai)</a:t>
            </a:r>
            <a:endParaRPr lang="en-US" sz="1100" dirty="0"/>
          </a:p>
        </p:txBody>
      </p:sp>
      <p:sp>
        <p:nvSpPr>
          <p:cNvPr id="10" name="Shape 6"/>
          <p:cNvSpPr/>
          <p:nvPr/>
        </p:nvSpPr>
        <p:spPr>
          <a:xfrm>
            <a:off x="640080" y="3630168"/>
            <a:ext cx="7863840" cy="1097280"/>
          </a:xfrm>
          <a:prstGeom prst="roundRect">
            <a:avLst>
              <a:gd name="adj" fmla="val 3333"/>
            </a:avLst>
          </a:prstGeom>
          <a:solidFill>
            <a:srgbClr val="F5F5F5"/>
          </a:solidFill>
          <a:ln w="6350">
            <a:solidFill>
              <a:srgbClr val="C9C9C9"/>
            </a:solidFill>
            <a:prstDash val="solid"/>
          </a:ln>
        </p:spPr>
      </p:sp>
      <p:sp>
        <p:nvSpPr>
          <p:cNvPr id="11" name="Text 7"/>
          <p:cNvSpPr/>
          <p:nvPr/>
        </p:nvSpPr>
        <p:spPr>
          <a:xfrm>
            <a:off x="822960" y="3721608"/>
            <a:ext cx="7498080" cy="914400"/>
          </a:xfrm>
          <a:prstGeom prst="rect">
            <a:avLst/>
          </a:prstGeom>
          <a:noFill/>
          <a:ln/>
        </p:spPr>
        <p:txBody>
          <a:bodyPr wrap="square" rtlCol="0" anchor="t"/>
          <a:lstStyle/>
          <a:p>
            <a:pPr marL="0" indent="0">
              <a:buNone/>
            </a:pPr>
            <a:r>
              <a:rPr lang="en-US" sz="950" i="1" dirty="0">
                <a:solidFill>
                  <a:srgbClr val="2F3B4C"/>
                </a:solidFill>
                <a:latin typeface="Consolas" pitchFamily="34" charset="0"/>
                <a:ea typeface="Consolas" pitchFamily="34" charset="-122"/>
                <a:cs typeface="Consolas" pitchFamily="34" charset="-120"/>
              </a:rPr>
              <a:t>Analiza esta propuesta de indicador de seguridad: Nombre borrador: Disminución de robos en la ciudad. Fórmula borrador: hurtos este año − hurtos año pasado. Sustituye la resta simple por una variación porcentual de la tasa por 10.000 habitantes, y redacta el campo de limitaciones advirtiendo sobre la cifra negra (denuncias no realizadas).</a:t>
            </a:r>
            <a:endParaRPr lang="en-US" sz="95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292608"/>
            <a:ext cx="1005840" cy="41148"/>
          </a:xfrm>
          <a:prstGeom prst="rect">
            <a:avLst/>
          </a:prstGeom>
          <a:solidFill>
            <a:srgbClr val="FF9900"/>
          </a:solidFill>
          <a:ln/>
        </p:spPr>
      </p:sp>
      <p:sp>
        <p:nvSpPr>
          <p:cNvPr id="3" name="Text 1"/>
          <p:cNvSpPr/>
          <p:nvPr/>
        </p:nvSpPr>
        <p:spPr>
          <a:xfrm>
            <a:off x="640080" y="365760"/>
            <a:ext cx="6675120" cy="256032"/>
          </a:xfrm>
          <a:prstGeom prst="rect">
            <a:avLst/>
          </a:prstGeom>
          <a:noFill/>
          <a:ln/>
        </p:spPr>
        <p:txBody>
          <a:bodyPr wrap="square" rtlCol="0" anchor="ctr"/>
          <a:lstStyle/>
          <a:p>
            <a:pPr marL="0" indent="0">
              <a:buNone/>
            </a:pPr>
            <a:r>
              <a:rPr lang="en-US" sz="1000" b="1" kern="0" spc="150" dirty="0">
                <a:solidFill>
                  <a:srgbClr val="FC6E01"/>
                </a:solidFill>
                <a:latin typeface="Arial" pitchFamily="34" charset="0"/>
                <a:ea typeface="Arial" pitchFamily="34" charset="-122"/>
                <a:cs typeface="Arial" pitchFamily="34" charset="-120"/>
              </a:rPr>
              <a:t>CASO GUÍA 4 DE 4 · AMBIENTE</a:t>
            </a:r>
            <a:endParaRPr lang="en-US" sz="1000" dirty="0"/>
          </a:p>
        </p:txBody>
      </p:sp>
      <p:sp>
        <p:nvSpPr>
          <p:cNvPr id="4" name="Text 2"/>
          <p:cNvSpPr/>
          <p:nvPr/>
        </p:nvSpPr>
        <p:spPr>
          <a:xfrm>
            <a:off x="640080" y="621792"/>
            <a:ext cx="7315200" cy="502920"/>
          </a:xfrm>
          <a:prstGeom prst="rect">
            <a:avLst/>
          </a:prstGeom>
          <a:noFill/>
          <a:ln/>
        </p:spPr>
        <p:txBody>
          <a:bodyPr wrap="square" rtlCol="0" anchor="ctr"/>
          <a:lstStyle/>
          <a:p>
            <a:pPr marL="0" indent="0">
              <a:buNone/>
            </a:pPr>
            <a:r>
              <a:rPr lang="en-US" sz="2100" b="1" dirty="0">
                <a:solidFill>
                  <a:srgbClr val="173F72"/>
                </a:solidFill>
                <a:latin typeface="Arial" pitchFamily="34" charset="0"/>
                <a:ea typeface="Arial" pitchFamily="34" charset="-122"/>
                <a:cs typeface="Arial" pitchFamily="34" charset="-120"/>
              </a:rPr>
              <a:t>Reforestación Efectiva</a:t>
            </a:r>
            <a:endParaRPr lang="en-US" sz="2100" dirty="0"/>
          </a:p>
        </p:txBody>
      </p:sp>
      <p:pic>
        <p:nvPicPr>
          <p:cNvPr id="6" name="Image 0" descr="/home/claude/taller/assets/footer_banner.png"/>
          <p:cNvPicPr>
            <a:picLocks noChangeAspect="1"/>
          </p:cNvPicPr>
          <p:nvPr/>
        </p:nvPicPr>
        <p:blipFill>
          <a:blip r:embed="rId3"/>
          <a:stretch>
            <a:fillRect/>
          </a:stretch>
        </p:blipFill>
        <p:spPr>
          <a:xfrm>
            <a:off x="0" y="4672584"/>
            <a:ext cx="9144000" cy="469087"/>
          </a:xfrm>
          <a:prstGeom prst="rect">
            <a:avLst/>
          </a:prstGeom>
        </p:spPr>
      </p:pic>
      <p:sp>
        <p:nvSpPr>
          <p:cNvPr id="7" name="Text 4"/>
          <p:cNvSpPr/>
          <p:nvPr/>
        </p:nvSpPr>
        <p:spPr>
          <a:xfrm>
            <a:off x="274320" y="4727448"/>
            <a:ext cx="5669280" cy="274320"/>
          </a:xfrm>
          <a:prstGeom prst="rect">
            <a:avLst/>
          </a:prstGeom>
          <a:noFill/>
          <a:ln/>
        </p:spPr>
        <p:txBody>
          <a:bodyPr wrap="square" lIns="0" tIns="0" rIns="0" bIns="0" rtlCol="0" anchor="ctr"/>
          <a:lstStyle/>
          <a:p>
            <a:pPr marL="0" indent="0">
              <a:buNone/>
            </a:pPr>
            <a:r>
              <a:rPr lang="en-US" sz="800" dirty="0">
                <a:solidFill>
                  <a:srgbClr val="FFFFFF"/>
                </a:solidFill>
                <a:latin typeface="Arial" pitchFamily="34" charset="0"/>
                <a:ea typeface="Arial" pitchFamily="34" charset="-122"/>
                <a:cs typeface="Arial" pitchFamily="34" charset="-120"/>
              </a:rPr>
              <a:t>Taller de Indicadores de Gestión Pública con IA</a:t>
            </a:r>
            <a:endParaRPr lang="en-US" sz="800" dirty="0"/>
          </a:p>
        </p:txBody>
      </p:sp>
      <p:sp>
        <p:nvSpPr>
          <p:cNvPr id="8" name="Text 5"/>
          <p:cNvSpPr/>
          <p:nvPr/>
        </p:nvSpPr>
        <p:spPr>
          <a:xfrm>
            <a:off x="640080" y="1371600"/>
            <a:ext cx="7863840" cy="320040"/>
          </a:xfrm>
          <a:prstGeom prst="rect">
            <a:avLst/>
          </a:prstGeom>
          <a:noFill/>
          <a:ln/>
        </p:spPr>
        <p:txBody>
          <a:bodyPr wrap="square" rtlCol="0" anchor="ctr"/>
          <a:lstStyle/>
          <a:p>
            <a:pPr marL="0" indent="0">
              <a:buNone/>
            </a:pPr>
            <a:r>
              <a:rPr lang="en-US" sz="1200" i="1" dirty="0">
                <a:solidFill>
                  <a:srgbClr val="5C6B7C"/>
                </a:solidFill>
                <a:latin typeface="Arial" pitchFamily="34" charset="0"/>
                <a:ea typeface="Arial" pitchFamily="34" charset="-122"/>
                <a:cs typeface="Arial" pitchFamily="34" charset="-120"/>
              </a:rPr>
              <a:t>Pregunta vaga de partida: “¿Cómo va el medio ambiente?”</a:t>
            </a:r>
            <a:endParaRPr lang="en-US" sz="1200" dirty="0"/>
          </a:p>
        </p:txBody>
      </p:sp>
      <p:graphicFrame>
        <p:nvGraphicFramePr>
          <p:cNvPr id="58"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7863840" cy="1508760"/>
        </p:xfrm>
        <a:graphic>
          <a:graphicData uri="http://schemas.openxmlformats.org/drawingml/2006/table">
            <a:tbl>
              <a:tblPr/>
              <a:tblGrid>
                <a:gridCol w="2377440">
                  <a:extLst>
                    <a:ext uri="{9D8B030D-6E8A-4147-A177-3AD203B41FA5}">
                      <a16:colId xmlns:a16="http://schemas.microsoft.com/office/drawing/2014/main" val="20000"/>
                    </a:ext>
                  </a:extLst>
                </a:gridCol>
                <a:gridCol w="5486400">
                  <a:extLst>
                    <a:ext uri="{9D8B030D-6E8A-4147-A177-3AD203B41FA5}">
                      <a16:colId xmlns:a16="http://schemas.microsoft.com/office/drawing/2014/main" val="20001"/>
                    </a:ext>
                  </a:extLst>
                </a:gridCol>
              </a:tblGrid>
              <a:tr h="301752">
                <a:tc>
                  <a:txBody>
                    <a:bodyPr/>
                    <a:lstStyle/>
                    <a:p>
                      <a:pPr marL="0" indent="0" algn="l">
                        <a:buNone/>
                      </a:pPr>
                      <a:r>
                        <a:rPr lang="en-US" sz="950" b="1" dirty="0">
                          <a:solidFill>
                            <a:srgbClr val="FFFFFF"/>
                          </a:solidFill>
                          <a:latin typeface="Arial" pitchFamily="34" charset="0"/>
                          <a:ea typeface="Arial" pitchFamily="34" charset="-122"/>
                          <a:cs typeface="Arial" pitchFamily="34" charset="-120"/>
                        </a:rPr>
                        <a:t>Campo</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73F72"/>
                    </a:solidFill>
                  </a:tcPr>
                </a:tc>
                <a:tc>
                  <a:txBody>
                    <a:bodyPr/>
                    <a:lstStyle/>
                    <a:p>
                      <a:pPr marL="0" indent="0" algn="l">
                        <a:buNone/>
                      </a:pPr>
                      <a:r>
                        <a:rPr lang="en-US" sz="950" b="1" dirty="0">
                          <a:solidFill>
                            <a:srgbClr val="FFFFFF"/>
                          </a:solidFill>
                          <a:latin typeface="Arial" pitchFamily="34" charset="0"/>
                          <a:ea typeface="Arial" pitchFamily="34" charset="-122"/>
                          <a:cs typeface="Arial" pitchFamily="34" charset="-120"/>
                        </a:rPr>
                        <a:t>Contenido esperado</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73F72"/>
                    </a:solidFill>
                  </a:tcPr>
                </a:tc>
                <a:extLst>
                  <a:ext uri="{0D108BD9-81ED-4DB2-BD59-A6C34878D82A}">
                    <a16:rowId xmlns:a16="http://schemas.microsoft.com/office/drawing/2014/main" val="10000"/>
                  </a:ext>
                </a:extLst>
              </a:tr>
              <a:tr h="301752">
                <a:tc>
                  <a:txBody>
                    <a:bodyPr/>
                    <a:lstStyle/>
                    <a:p>
                      <a:pPr marL="0" indent="0" algn="l">
                        <a:buNone/>
                      </a:pPr>
                      <a:r>
                        <a:rPr lang="en-US" sz="950" b="1" dirty="0">
                          <a:solidFill>
                            <a:srgbClr val="173F72"/>
                          </a:solidFill>
                          <a:latin typeface="Arial" pitchFamily="34" charset="0"/>
                          <a:ea typeface="Arial" pitchFamily="34" charset="-122"/>
                          <a:cs typeface="Arial" pitchFamily="34" charset="-120"/>
                        </a:rPr>
                        <a:t>Población / unidad de análisis</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Hectáreas comprometidas en el plan de reforestación regional</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01752">
                <a:tc>
                  <a:txBody>
                    <a:bodyPr/>
                    <a:lstStyle/>
                    <a:p>
                      <a:pPr marL="0" indent="0" algn="l">
                        <a:buNone/>
                      </a:pPr>
                      <a:r>
                        <a:rPr lang="en-US" sz="950" b="1" dirty="0">
                          <a:solidFill>
                            <a:srgbClr val="173F72"/>
                          </a:solidFill>
                          <a:latin typeface="Arial" pitchFamily="34" charset="0"/>
                          <a:ea typeface="Arial" pitchFamily="34" charset="-122"/>
                          <a:cs typeface="Arial" pitchFamily="34" charset="-120"/>
                        </a:rPr>
                        <a:t>Atributo o dimensión</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Sobrevivencia vegetativa de lo sembrado, no solo la siembra inicial</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01752">
                <a:tc>
                  <a:txBody>
                    <a:bodyPr/>
                    <a:lstStyle/>
                    <a:p>
                      <a:pPr marL="0" indent="0" algn="l">
                        <a:buNone/>
                      </a:pPr>
                      <a:r>
                        <a:rPr lang="en-US" sz="950" b="1" dirty="0">
                          <a:solidFill>
                            <a:srgbClr val="173F72"/>
                          </a:solidFill>
                          <a:latin typeface="Arial" pitchFamily="34" charset="0"/>
                          <a:ea typeface="Arial" pitchFamily="34" charset="-122"/>
                          <a:cs typeface="Arial" pitchFamily="34" charset="-120"/>
                        </a:rPr>
                        <a:t>Ámbito territorial y temporal</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Cuencas hidrográficas de la jurisdicción, verificación a los 12 meses</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01752">
                <a:tc>
                  <a:txBody>
                    <a:bodyPr/>
                    <a:lstStyle/>
                    <a:p>
                      <a:pPr marL="0" indent="0" algn="l">
                        <a:buNone/>
                      </a:pPr>
                      <a:r>
                        <a:rPr lang="en-US" sz="950" b="1" dirty="0">
                          <a:solidFill>
                            <a:srgbClr val="173F72"/>
                          </a:solidFill>
                          <a:latin typeface="Arial" pitchFamily="34" charset="0"/>
                          <a:ea typeface="Arial" pitchFamily="34" charset="-122"/>
                          <a:cs typeface="Arial" pitchFamily="34" charset="-120"/>
                        </a:rPr>
                        <a:t>Referente de comparación</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Total de hectáreas comprometidas y programadas en el plan</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10" name="Shape 6"/>
          <p:cNvSpPr/>
          <p:nvPr/>
        </p:nvSpPr>
        <p:spPr>
          <a:xfrm>
            <a:off x="640080" y="3429000"/>
            <a:ext cx="7863840" cy="914400"/>
          </a:xfrm>
          <a:prstGeom prst="roundRect">
            <a:avLst>
              <a:gd name="adj" fmla="val 5000"/>
            </a:avLst>
          </a:prstGeom>
          <a:solidFill>
            <a:srgbClr val="173F72"/>
          </a:solidFill>
          <a:ln/>
        </p:spPr>
      </p:sp>
      <p:sp>
        <p:nvSpPr>
          <p:cNvPr id="11" name="Text 7"/>
          <p:cNvSpPr/>
          <p:nvPr/>
        </p:nvSpPr>
        <p:spPr>
          <a:xfrm>
            <a:off x="822960" y="3520440"/>
            <a:ext cx="7498080" cy="228600"/>
          </a:xfrm>
          <a:prstGeom prst="rect">
            <a:avLst/>
          </a:prstGeom>
          <a:noFill/>
          <a:ln/>
        </p:spPr>
        <p:txBody>
          <a:bodyPr wrap="square" rtlCol="0" anchor="ctr"/>
          <a:lstStyle/>
          <a:p>
            <a:pPr marL="0" indent="0">
              <a:buNone/>
            </a:pPr>
            <a:r>
              <a:rPr lang="en-US" sz="1000" b="1" dirty="0">
                <a:solidFill>
                  <a:srgbClr val="FF9900"/>
                </a:solidFill>
                <a:latin typeface="Arial" pitchFamily="34" charset="0"/>
                <a:ea typeface="Arial" pitchFamily="34" charset="-122"/>
                <a:cs typeface="Arial" pitchFamily="34" charset="-120"/>
              </a:rPr>
              <a:t>Pregunta de gestión refinada:</a:t>
            </a:r>
            <a:endParaRPr lang="en-US" sz="1000" dirty="0"/>
          </a:p>
        </p:txBody>
      </p:sp>
      <p:sp>
        <p:nvSpPr>
          <p:cNvPr id="12" name="Text 8"/>
          <p:cNvSpPr/>
          <p:nvPr/>
        </p:nvSpPr>
        <p:spPr>
          <a:xfrm>
            <a:off x="822960" y="3730752"/>
            <a:ext cx="7498080" cy="548640"/>
          </a:xfrm>
          <a:prstGeom prst="rect">
            <a:avLst/>
          </a:prstGeom>
          <a:noFill/>
          <a:ln/>
        </p:spPr>
        <p:txBody>
          <a:bodyPr wrap="square" rtlCol="0" anchor="t"/>
          <a:lstStyle/>
          <a:p>
            <a:pPr marL="0" indent="0">
              <a:buNone/>
            </a:pPr>
            <a:r>
              <a:rPr lang="en-US" sz="1100" i="1" dirty="0">
                <a:solidFill>
                  <a:srgbClr val="FFFFFF"/>
                </a:solidFill>
                <a:latin typeface="Arial" pitchFamily="34" charset="0"/>
                <a:ea typeface="Arial" pitchFamily="34" charset="-122"/>
                <a:cs typeface="Arial" pitchFamily="34" charset="-120"/>
              </a:rPr>
              <a:t>“¿Las hectáreas comprometidas en el plan de reforestación realmente sobreviven, frente a lo programado?”</a:t>
            </a:r>
            <a:endParaRPr lang="en-US" sz="11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292608"/>
            <a:ext cx="1005840" cy="41148"/>
          </a:xfrm>
          <a:prstGeom prst="rect">
            <a:avLst/>
          </a:prstGeom>
          <a:solidFill>
            <a:srgbClr val="FF9900"/>
          </a:solidFill>
          <a:ln/>
        </p:spPr>
      </p:sp>
      <p:sp>
        <p:nvSpPr>
          <p:cNvPr id="3" name="Text 1"/>
          <p:cNvSpPr/>
          <p:nvPr/>
        </p:nvSpPr>
        <p:spPr>
          <a:xfrm>
            <a:off x="640080" y="365760"/>
            <a:ext cx="6675120" cy="256032"/>
          </a:xfrm>
          <a:prstGeom prst="rect">
            <a:avLst/>
          </a:prstGeom>
          <a:noFill/>
          <a:ln/>
        </p:spPr>
        <p:txBody>
          <a:bodyPr wrap="square" rtlCol="0" anchor="ctr"/>
          <a:lstStyle/>
          <a:p>
            <a:pPr marL="0" indent="0">
              <a:buNone/>
            </a:pPr>
            <a:r>
              <a:rPr lang="en-US" sz="1000" b="1" kern="0" spc="150" dirty="0">
                <a:solidFill>
                  <a:srgbClr val="FC6E01"/>
                </a:solidFill>
                <a:latin typeface="Arial" pitchFamily="34" charset="0"/>
                <a:ea typeface="Arial" pitchFamily="34" charset="-122"/>
                <a:cs typeface="Arial" pitchFamily="34" charset="-120"/>
              </a:rPr>
              <a:t>CASO GUÍA 4 DE 4 · AMBIENTE</a:t>
            </a:r>
            <a:endParaRPr lang="en-US" sz="1000" dirty="0"/>
          </a:p>
        </p:txBody>
      </p:sp>
      <p:sp>
        <p:nvSpPr>
          <p:cNvPr id="4" name="Text 2"/>
          <p:cNvSpPr/>
          <p:nvPr/>
        </p:nvSpPr>
        <p:spPr>
          <a:xfrm>
            <a:off x="640080" y="621792"/>
            <a:ext cx="7315200" cy="502920"/>
          </a:xfrm>
          <a:prstGeom prst="rect">
            <a:avLst/>
          </a:prstGeom>
          <a:noFill/>
          <a:ln/>
        </p:spPr>
        <p:txBody>
          <a:bodyPr wrap="square" rtlCol="0" anchor="ctr"/>
          <a:lstStyle/>
          <a:p>
            <a:pPr marL="0" indent="0">
              <a:buNone/>
            </a:pPr>
            <a:r>
              <a:rPr lang="en-US" sz="2100" b="1" dirty="0">
                <a:solidFill>
                  <a:srgbClr val="173F72"/>
                </a:solidFill>
                <a:latin typeface="Arial" pitchFamily="34" charset="0"/>
                <a:ea typeface="Arial" pitchFamily="34" charset="-122"/>
                <a:cs typeface="Arial" pitchFamily="34" charset="-120"/>
              </a:rPr>
              <a:t>Reforestación Efectiva</a:t>
            </a:r>
            <a:endParaRPr lang="en-US" sz="2100" dirty="0"/>
          </a:p>
        </p:txBody>
      </p:sp>
      <p:pic>
        <p:nvPicPr>
          <p:cNvPr id="6" name="Image 0" descr="/home/claude/taller/assets/footer_banner.png"/>
          <p:cNvPicPr>
            <a:picLocks noChangeAspect="1"/>
          </p:cNvPicPr>
          <p:nvPr/>
        </p:nvPicPr>
        <p:blipFill>
          <a:blip r:embed="rId3"/>
          <a:stretch>
            <a:fillRect/>
          </a:stretch>
        </p:blipFill>
        <p:spPr>
          <a:xfrm>
            <a:off x="0" y="4672584"/>
            <a:ext cx="9144000" cy="469087"/>
          </a:xfrm>
          <a:prstGeom prst="rect">
            <a:avLst/>
          </a:prstGeom>
        </p:spPr>
      </p:pic>
      <p:sp>
        <p:nvSpPr>
          <p:cNvPr id="7" name="Text 4"/>
          <p:cNvSpPr/>
          <p:nvPr/>
        </p:nvSpPr>
        <p:spPr>
          <a:xfrm>
            <a:off x="274320" y="4727448"/>
            <a:ext cx="5669280" cy="274320"/>
          </a:xfrm>
          <a:prstGeom prst="rect">
            <a:avLst/>
          </a:prstGeom>
          <a:noFill/>
          <a:ln/>
        </p:spPr>
        <p:txBody>
          <a:bodyPr wrap="square" lIns="0" tIns="0" rIns="0" bIns="0" rtlCol="0" anchor="ctr"/>
          <a:lstStyle/>
          <a:p>
            <a:pPr marL="0" indent="0">
              <a:buNone/>
            </a:pPr>
            <a:r>
              <a:rPr lang="en-US" sz="800" dirty="0">
                <a:solidFill>
                  <a:srgbClr val="FFFFFF"/>
                </a:solidFill>
                <a:latin typeface="Arial" pitchFamily="34" charset="0"/>
                <a:ea typeface="Arial" pitchFamily="34" charset="-122"/>
                <a:cs typeface="Arial" pitchFamily="34" charset="-120"/>
              </a:rPr>
              <a:t>Taller de Indicadores de Gestión Pública con IA</a:t>
            </a:r>
            <a:endParaRPr lang="en-US" sz="800" dirty="0"/>
          </a:p>
        </p:txBody>
      </p:sp>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640080" y="1371600"/>
          <a:ext cx="7863840" cy="1783080"/>
        </p:xfrm>
        <a:graphic>
          <a:graphicData uri="http://schemas.openxmlformats.org/drawingml/2006/table">
            <a:tbl>
              <a:tblPr/>
              <a:tblGrid>
                <a:gridCol w="2377440">
                  <a:extLst>
                    <a:ext uri="{9D8B030D-6E8A-4147-A177-3AD203B41FA5}">
                      <a16:colId xmlns:a16="http://schemas.microsoft.com/office/drawing/2014/main" val="20000"/>
                    </a:ext>
                  </a:extLst>
                </a:gridCol>
                <a:gridCol w="5486400">
                  <a:extLst>
                    <a:ext uri="{9D8B030D-6E8A-4147-A177-3AD203B41FA5}">
                      <a16:colId xmlns:a16="http://schemas.microsoft.com/office/drawing/2014/main" val="20001"/>
                    </a:ext>
                  </a:extLst>
                </a:gridCol>
              </a:tblGrid>
              <a:tr h="356616">
                <a:tc>
                  <a:txBody>
                    <a:bodyPr/>
                    <a:lstStyle/>
                    <a:p>
                      <a:pPr marL="0" indent="0" algn="l">
                        <a:buNone/>
                      </a:pPr>
                      <a:r>
                        <a:rPr lang="en-US" sz="950" b="1" dirty="0">
                          <a:solidFill>
                            <a:srgbClr val="FFFFFF"/>
                          </a:solidFill>
                          <a:latin typeface="Arial" pitchFamily="34" charset="0"/>
                          <a:ea typeface="Arial" pitchFamily="34" charset="-122"/>
                          <a:cs typeface="Arial" pitchFamily="34" charset="-120"/>
                        </a:rPr>
                        <a:t>Campo</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73F72"/>
                    </a:solidFill>
                  </a:tcPr>
                </a:tc>
                <a:tc>
                  <a:txBody>
                    <a:bodyPr/>
                    <a:lstStyle/>
                    <a:p>
                      <a:pPr marL="0" indent="0" algn="l">
                        <a:buNone/>
                      </a:pPr>
                      <a:r>
                        <a:rPr lang="en-US" sz="950" b="1" dirty="0">
                          <a:solidFill>
                            <a:srgbClr val="FFFFFF"/>
                          </a:solidFill>
                          <a:latin typeface="Arial" pitchFamily="34" charset="0"/>
                          <a:ea typeface="Arial" pitchFamily="34" charset="-122"/>
                          <a:cs typeface="Arial" pitchFamily="34" charset="-120"/>
                        </a:rPr>
                        <a:t>Contenido esperado</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73F72"/>
                    </a:solidFill>
                  </a:tcPr>
                </a:tc>
                <a:extLst>
                  <a:ext uri="{0D108BD9-81ED-4DB2-BD59-A6C34878D82A}">
                    <a16:rowId xmlns:a16="http://schemas.microsoft.com/office/drawing/2014/main" val="10000"/>
                  </a:ext>
                </a:extLst>
              </a:tr>
              <a:tr h="356616">
                <a:tc>
                  <a:txBody>
                    <a:bodyPr/>
                    <a:lstStyle/>
                    <a:p>
                      <a:pPr marL="0" indent="0" algn="l">
                        <a:buNone/>
                      </a:pPr>
                      <a:r>
                        <a:rPr lang="en-US" sz="950" b="1" dirty="0">
                          <a:solidFill>
                            <a:srgbClr val="173F72"/>
                          </a:solidFill>
                          <a:latin typeface="Arial" pitchFamily="34" charset="0"/>
                          <a:ea typeface="Arial" pitchFamily="34" charset="-122"/>
                          <a:cs typeface="Arial" pitchFamily="34" charset="-120"/>
                        </a:rPr>
                        <a:t>Eslabón de la cadena de valor</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Resultado (la siembra es producto; la sobrevivencia a 12 meses es el cambio efectivo logrado)</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56616">
                <a:tc>
                  <a:txBody>
                    <a:bodyPr/>
                    <a:lstStyle/>
                    <a:p>
                      <a:pPr marL="0" indent="0" algn="l">
                        <a:buNone/>
                      </a:pPr>
                      <a:r>
                        <a:rPr lang="en-US" sz="950" b="1" dirty="0">
                          <a:solidFill>
                            <a:srgbClr val="173F72"/>
                          </a:solidFill>
                          <a:latin typeface="Arial" pitchFamily="34" charset="0"/>
                          <a:ea typeface="Arial" pitchFamily="34" charset="-122"/>
                          <a:cs typeface="Arial" pitchFamily="34" charset="-120"/>
                        </a:rPr>
                        <a:t>Nombre del indicador</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 de hectáreas reforestadas con sobrevivencia mayor al 80% a los 12 meses</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56616">
                <a:tc>
                  <a:txBody>
                    <a:bodyPr/>
                    <a:lstStyle/>
                    <a:p>
                      <a:pPr marL="0" indent="0" algn="l">
                        <a:buNone/>
                      </a:pPr>
                      <a:r>
                        <a:rPr lang="en-US" sz="950" b="1" dirty="0">
                          <a:solidFill>
                            <a:srgbClr val="173F72"/>
                          </a:solidFill>
                          <a:latin typeface="Arial" pitchFamily="34" charset="0"/>
                          <a:ea typeface="Arial" pitchFamily="34" charset="-122"/>
                          <a:cs typeface="Arial" pitchFamily="34" charset="-120"/>
                        </a:rPr>
                        <a:t>Fórmula de cálculo</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(N.º hectáreas con sobrevivencia &gt;80% verificada / N.º total hectáreas comprometidas) × 100</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56616">
                <a:tc>
                  <a:txBody>
                    <a:bodyPr/>
                    <a:lstStyle/>
                    <a:p>
                      <a:pPr marL="0" indent="0" algn="l">
                        <a:buNone/>
                      </a:pPr>
                      <a:r>
                        <a:rPr lang="en-US" sz="950" b="1" dirty="0">
                          <a:solidFill>
                            <a:srgbClr val="173F72"/>
                          </a:solidFill>
                          <a:latin typeface="Arial" pitchFamily="34" charset="0"/>
                          <a:ea typeface="Arial" pitchFamily="34" charset="-122"/>
                          <a:cs typeface="Arial" pitchFamily="34" charset="-120"/>
                        </a:rPr>
                        <a:t>Fuente de información</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DF3F9"/>
                    </a:solidFill>
                  </a:tcPr>
                </a:tc>
                <a:tc>
                  <a:txBody>
                    <a:bodyPr/>
                    <a:lstStyle/>
                    <a:p>
                      <a:pPr marL="0" indent="0" algn="l">
                        <a:buNone/>
                      </a:pPr>
                      <a:r>
                        <a:rPr lang="en-US" sz="950" dirty="0">
                          <a:solidFill>
                            <a:srgbClr val="2F3B4C"/>
                          </a:solidFill>
                          <a:latin typeface="Arial" pitchFamily="34" charset="0"/>
                          <a:ea typeface="Arial" pitchFamily="34" charset="-122"/>
                          <a:cs typeface="Arial" pitchFamily="34" charset="-120"/>
                        </a:rPr>
                        <a:t>Visitas de verificación en campo, imágenes satelitales, autoridad ambiental regional</a:t>
                      </a:r>
                      <a:endParaRPr lang="en-US" sz="950" dirty="0">
                        <a:latin typeface="Arial" charset="0"/>
                        <a:ea typeface="Arial" charset="0"/>
                        <a:cs typeface="Arial"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9" name="Text 5"/>
          <p:cNvSpPr/>
          <p:nvPr/>
        </p:nvSpPr>
        <p:spPr>
          <a:xfrm>
            <a:off x="640080" y="3337560"/>
            <a:ext cx="7863840" cy="274320"/>
          </a:xfrm>
          <a:prstGeom prst="rect">
            <a:avLst/>
          </a:prstGeom>
          <a:noFill/>
          <a:ln/>
        </p:spPr>
        <p:txBody>
          <a:bodyPr wrap="square" rtlCol="0" anchor="ctr"/>
          <a:lstStyle/>
          <a:p>
            <a:pPr marL="0" indent="0">
              <a:buNone/>
            </a:pPr>
            <a:r>
              <a:rPr lang="en-US" sz="1100" b="1" dirty="0">
                <a:solidFill>
                  <a:srgbClr val="173F72"/>
                </a:solidFill>
                <a:latin typeface="Arial" pitchFamily="34" charset="0"/>
                <a:ea typeface="Arial" pitchFamily="34" charset="-122"/>
                <a:cs typeface="Arial" pitchFamily="34" charset="-120"/>
              </a:rPr>
              <a:t>Prompt sugerido para IA (Claude.ai)</a:t>
            </a:r>
            <a:endParaRPr lang="en-US" sz="1100" dirty="0"/>
          </a:p>
        </p:txBody>
      </p:sp>
      <p:sp>
        <p:nvSpPr>
          <p:cNvPr id="10" name="Shape 6"/>
          <p:cNvSpPr/>
          <p:nvPr/>
        </p:nvSpPr>
        <p:spPr>
          <a:xfrm>
            <a:off x="640080" y="3630168"/>
            <a:ext cx="7863840" cy="1097280"/>
          </a:xfrm>
          <a:prstGeom prst="roundRect">
            <a:avLst>
              <a:gd name="adj" fmla="val 3333"/>
            </a:avLst>
          </a:prstGeom>
          <a:solidFill>
            <a:srgbClr val="F5F5F5"/>
          </a:solidFill>
          <a:ln w="6350">
            <a:solidFill>
              <a:srgbClr val="C9C9C9"/>
            </a:solidFill>
            <a:prstDash val="solid"/>
          </a:ln>
        </p:spPr>
      </p:sp>
      <p:sp>
        <p:nvSpPr>
          <p:cNvPr id="11" name="Text 7"/>
          <p:cNvSpPr/>
          <p:nvPr/>
        </p:nvSpPr>
        <p:spPr>
          <a:xfrm>
            <a:off x="822960" y="3721608"/>
            <a:ext cx="7498080" cy="914400"/>
          </a:xfrm>
          <a:prstGeom prst="rect">
            <a:avLst/>
          </a:prstGeom>
          <a:noFill/>
          <a:ln/>
        </p:spPr>
        <p:txBody>
          <a:bodyPr wrap="square" rtlCol="0" anchor="t"/>
          <a:lstStyle/>
          <a:p>
            <a:pPr marL="0" indent="0">
              <a:buNone/>
            </a:pPr>
            <a:r>
              <a:rPr lang="en-US" sz="950" i="1" dirty="0">
                <a:solidFill>
                  <a:srgbClr val="2F3B4C"/>
                </a:solidFill>
                <a:latin typeface="Consolas" pitchFamily="34" charset="0"/>
                <a:ea typeface="Consolas" pitchFamily="34" charset="-122"/>
                <a:cs typeface="Consolas" pitchFamily="34" charset="-120"/>
              </a:rPr>
              <a:t>Identifica por qué medir únicamente “número de árboles sembrados” es un indicador de producto y no de resultado. Redacta la pregunta de gestión enfocada en sobrevivencia vegetativa a 12 meses, propón la fórmula de cálculo y señala si la fuente debería incluir visitas de campo, imágenes satelitales o ambas.</a:t>
            </a:r>
            <a:endParaRPr lang="en-US" sz="95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731520" y="1828800"/>
            <a:ext cx="7680960" cy="320040"/>
          </a:xfrm>
          <a:prstGeom prst="rect">
            <a:avLst/>
          </a:prstGeom>
          <a:noFill/>
          <a:ln/>
        </p:spPr>
        <p:txBody>
          <a:bodyPr wrap="square" rtlCol="0" anchor="ctr"/>
          <a:lstStyle/>
          <a:p>
            <a:pPr marL="0" indent="0" algn="l">
              <a:buNone/>
            </a:pPr>
            <a:r>
              <a:rPr lang="en-US" sz="1200" b="1" kern="0" spc="200" dirty="0">
                <a:solidFill>
                  <a:srgbClr val="FF9900"/>
                </a:solidFill>
                <a:latin typeface="Arial" pitchFamily="34" charset="0"/>
                <a:ea typeface="Arial" pitchFamily="34" charset="-122"/>
                <a:cs typeface="Arial" pitchFamily="34" charset="-120"/>
              </a:rPr>
              <a:t>TRABAJO AUTÓNOMO</a:t>
            </a:r>
            <a:endParaRPr lang="en-US" sz="1200" dirty="0"/>
          </a:p>
        </p:txBody>
      </p:sp>
      <p:sp>
        <p:nvSpPr>
          <p:cNvPr id="3" name="Text 1"/>
          <p:cNvSpPr/>
          <p:nvPr/>
        </p:nvSpPr>
        <p:spPr>
          <a:xfrm>
            <a:off x="731520" y="2212848"/>
            <a:ext cx="7680960" cy="1188720"/>
          </a:xfrm>
          <a:prstGeom prst="rect">
            <a:avLst/>
          </a:prstGeom>
          <a:noFill/>
          <a:ln/>
        </p:spPr>
        <p:txBody>
          <a:bodyPr wrap="square" rtlCol="0" anchor="t"/>
          <a:lstStyle/>
          <a:p>
            <a:pPr marL="0" indent="0" algn="l">
              <a:buNone/>
            </a:pPr>
            <a:r>
              <a:rPr lang="en-US" sz="3000" b="1" dirty="0">
                <a:solidFill>
                  <a:srgbClr val="FFFFFF"/>
                </a:solidFill>
                <a:latin typeface="Arial" pitchFamily="34" charset="0"/>
                <a:ea typeface="Arial" pitchFamily="34" charset="-122"/>
                <a:cs typeface="Arial" pitchFamily="34" charset="-120"/>
              </a:rPr>
              <a:t>Ejercicios para Practicar en Casa</a:t>
            </a:r>
            <a:endParaRPr lang="en-US" sz="3000" dirty="0"/>
          </a:p>
        </p:txBody>
      </p:sp>
      <p:sp>
        <p:nvSpPr>
          <p:cNvPr id="4" name="Text 2"/>
          <p:cNvSpPr/>
          <p:nvPr/>
        </p:nvSpPr>
        <p:spPr>
          <a:xfrm>
            <a:off x="731520" y="3447288"/>
            <a:ext cx="7680960" cy="457200"/>
          </a:xfrm>
          <a:prstGeom prst="rect">
            <a:avLst/>
          </a:prstGeom>
          <a:noFill/>
          <a:ln/>
        </p:spPr>
        <p:txBody>
          <a:bodyPr wrap="square" rtlCol="0" anchor="ctr"/>
          <a:lstStyle/>
          <a:p>
            <a:pPr marL="0" indent="0" algn="l">
              <a:buNone/>
            </a:pPr>
            <a:r>
              <a:rPr lang="en-US" sz="1400" i="1" dirty="0">
                <a:solidFill>
                  <a:srgbClr val="CADCFC"/>
                </a:solidFill>
                <a:latin typeface="Arial" pitchFamily="34" charset="0"/>
                <a:ea typeface="Arial" pitchFamily="34" charset="-122"/>
                <a:cs typeface="Arial" pitchFamily="34" charset="-120"/>
              </a:rPr>
              <a:t>3 casos adicionales para completar de forma individual, contrastando con Claude.ai o el Simulador</a:t>
            </a:r>
            <a:endParaRPr lang="en-US" sz="14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292608"/>
            <a:ext cx="1005840" cy="41148"/>
          </a:xfrm>
          <a:prstGeom prst="rect">
            <a:avLst/>
          </a:prstGeom>
          <a:solidFill>
            <a:srgbClr val="FF9900"/>
          </a:solidFill>
          <a:ln/>
        </p:spPr>
      </p:sp>
      <p:sp>
        <p:nvSpPr>
          <p:cNvPr id="3" name="Text 1"/>
          <p:cNvSpPr/>
          <p:nvPr/>
        </p:nvSpPr>
        <p:spPr>
          <a:xfrm>
            <a:off x="640080" y="365760"/>
            <a:ext cx="6675120" cy="256032"/>
          </a:xfrm>
          <a:prstGeom prst="rect">
            <a:avLst/>
          </a:prstGeom>
          <a:noFill/>
          <a:ln/>
        </p:spPr>
        <p:txBody>
          <a:bodyPr wrap="square" rtlCol="0" anchor="ctr"/>
          <a:lstStyle/>
          <a:p>
            <a:pPr marL="0" indent="0">
              <a:buNone/>
            </a:pPr>
            <a:r>
              <a:rPr lang="en-US" sz="1000" b="1" kern="0" spc="150" dirty="0">
                <a:solidFill>
                  <a:srgbClr val="FC6E01"/>
                </a:solidFill>
                <a:latin typeface="Arial" pitchFamily="34" charset="0"/>
                <a:ea typeface="Arial" pitchFamily="34" charset="-122"/>
                <a:cs typeface="Arial" pitchFamily="34" charset="-120"/>
              </a:rPr>
              <a:t>EJERCICIO PARA CASA</a:t>
            </a:r>
            <a:endParaRPr lang="en-US" sz="1000" dirty="0"/>
          </a:p>
        </p:txBody>
      </p:sp>
      <p:sp>
        <p:nvSpPr>
          <p:cNvPr id="4" name="Text 2"/>
          <p:cNvSpPr/>
          <p:nvPr/>
        </p:nvSpPr>
        <p:spPr>
          <a:xfrm>
            <a:off x="640080" y="621792"/>
            <a:ext cx="7315200" cy="502920"/>
          </a:xfrm>
          <a:prstGeom prst="rect">
            <a:avLst/>
          </a:prstGeom>
          <a:noFill/>
          <a:ln/>
        </p:spPr>
        <p:txBody>
          <a:bodyPr wrap="square" rtlCol="0" anchor="ctr"/>
          <a:lstStyle/>
          <a:p>
            <a:pPr marL="0" indent="0">
              <a:buNone/>
            </a:pPr>
            <a:r>
              <a:rPr lang="en-US" sz="2100" b="1" dirty="0">
                <a:solidFill>
                  <a:srgbClr val="173F72"/>
                </a:solidFill>
                <a:latin typeface="Arial" pitchFamily="34" charset="0"/>
                <a:ea typeface="Arial" pitchFamily="34" charset="-122"/>
                <a:cs typeface="Arial" pitchFamily="34" charset="-120"/>
              </a:rPr>
              <a:t>Movilidad Sostenible y Transporte Masivo</a:t>
            </a:r>
            <a:endParaRPr lang="en-US" sz="2100" dirty="0"/>
          </a:p>
        </p:txBody>
      </p:sp>
      <p:pic>
        <p:nvPicPr>
          <p:cNvPr id="6" name="Image 0" descr="/home/claude/taller/assets/footer_banner.png"/>
          <p:cNvPicPr>
            <a:picLocks noChangeAspect="1"/>
          </p:cNvPicPr>
          <p:nvPr/>
        </p:nvPicPr>
        <p:blipFill>
          <a:blip r:embed="rId3"/>
          <a:stretch>
            <a:fillRect/>
          </a:stretch>
        </p:blipFill>
        <p:spPr>
          <a:xfrm>
            <a:off x="0" y="4672584"/>
            <a:ext cx="9144000" cy="469087"/>
          </a:xfrm>
          <a:prstGeom prst="rect">
            <a:avLst/>
          </a:prstGeom>
        </p:spPr>
      </p:pic>
      <p:sp>
        <p:nvSpPr>
          <p:cNvPr id="7" name="Text 4"/>
          <p:cNvSpPr/>
          <p:nvPr/>
        </p:nvSpPr>
        <p:spPr>
          <a:xfrm>
            <a:off x="274320" y="4727448"/>
            <a:ext cx="5669280" cy="274320"/>
          </a:xfrm>
          <a:prstGeom prst="rect">
            <a:avLst/>
          </a:prstGeom>
          <a:noFill/>
          <a:ln/>
        </p:spPr>
        <p:txBody>
          <a:bodyPr wrap="square" lIns="0" tIns="0" rIns="0" bIns="0" rtlCol="0" anchor="ctr"/>
          <a:lstStyle/>
          <a:p>
            <a:pPr marL="0" indent="0">
              <a:buNone/>
            </a:pPr>
            <a:r>
              <a:rPr lang="en-US" sz="800" dirty="0">
                <a:solidFill>
                  <a:srgbClr val="FFFFFF"/>
                </a:solidFill>
                <a:latin typeface="Arial" pitchFamily="34" charset="0"/>
                <a:ea typeface="Arial" pitchFamily="34" charset="-122"/>
                <a:cs typeface="Arial" pitchFamily="34" charset="-120"/>
              </a:rPr>
              <a:t>Taller de Indicadores de Gestión Pública con IA</a:t>
            </a:r>
            <a:endParaRPr lang="en-US" sz="800" dirty="0"/>
          </a:p>
        </p:txBody>
      </p:sp>
      <p:sp>
        <p:nvSpPr>
          <p:cNvPr id="8" name="Text 5"/>
          <p:cNvSpPr/>
          <p:nvPr/>
        </p:nvSpPr>
        <p:spPr>
          <a:xfrm>
            <a:off x="640080" y="1325880"/>
            <a:ext cx="7863840" cy="411480"/>
          </a:xfrm>
          <a:prstGeom prst="rect">
            <a:avLst/>
          </a:prstGeom>
          <a:noFill/>
          <a:ln/>
        </p:spPr>
        <p:txBody>
          <a:bodyPr wrap="square" rtlCol="0" anchor="t"/>
          <a:lstStyle/>
          <a:p>
            <a:pPr marL="0" indent="0">
              <a:buNone/>
            </a:pPr>
            <a:r>
              <a:rPr lang="en-US" sz="1050" dirty="0">
                <a:solidFill>
                  <a:srgbClr val="2F3B4C"/>
                </a:solidFill>
                <a:latin typeface="Arial" pitchFamily="34" charset="0"/>
                <a:ea typeface="Arial" pitchFamily="34" charset="-122"/>
                <a:cs typeface="Arial" pitchFamily="34" charset="-120"/>
              </a:rPr>
              <a:t>Escenario: El municipio implementó un sistema de transporte masivo con carril exclusivo para buses eléctricos.</a:t>
            </a:r>
            <a:endParaRPr lang="en-US" sz="1050" dirty="0"/>
          </a:p>
        </p:txBody>
      </p:sp>
      <p:sp>
        <p:nvSpPr>
          <p:cNvPr id="9" name="Text 6"/>
          <p:cNvSpPr/>
          <p:nvPr/>
        </p:nvSpPr>
        <p:spPr>
          <a:xfrm>
            <a:off x="640080" y="1783080"/>
            <a:ext cx="7863840" cy="457200"/>
          </a:xfrm>
          <a:prstGeom prst="rect">
            <a:avLst/>
          </a:prstGeom>
          <a:noFill/>
          <a:ln/>
        </p:spPr>
        <p:txBody>
          <a:bodyPr wrap="square" rtlCol="0" anchor="t"/>
          <a:lstStyle/>
          <a:p>
            <a:pPr marL="0" indent="0">
              <a:buNone/>
            </a:pPr>
            <a:r>
              <a:rPr lang="en-US" sz="1150" b="1" i="1" dirty="0">
                <a:solidFill>
                  <a:srgbClr val="173F72"/>
                </a:solidFill>
                <a:latin typeface="Arial" pitchFamily="34" charset="0"/>
                <a:ea typeface="Arial" pitchFamily="34" charset="-122"/>
                <a:cs typeface="Arial" pitchFamily="34" charset="-120"/>
              </a:rPr>
              <a:t>Pregunta del directivo: “¿La gente sí está usando el nuevo transporte y estamos reduciendo los tiempos de trancón?”</a:t>
            </a:r>
            <a:endParaRPr lang="en-US" sz="1150" dirty="0"/>
          </a:p>
        </p:txBody>
      </p:sp>
      <p:sp>
        <p:nvSpPr>
          <p:cNvPr id="10" name="Text 7"/>
          <p:cNvSpPr/>
          <p:nvPr/>
        </p:nvSpPr>
        <p:spPr>
          <a:xfrm>
            <a:off x="640080" y="2331720"/>
            <a:ext cx="7863840" cy="274320"/>
          </a:xfrm>
          <a:prstGeom prst="rect">
            <a:avLst/>
          </a:prstGeom>
          <a:noFill/>
          <a:ln/>
        </p:spPr>
        <p:txBody>
          <a:bodyPr wrap="square" rtlCol="0" anchor="ctr"/>
          <a:lstStyle/>
          <a:p>
            <a:pPr marL="0" indent="0">
              <a:buNone/>
            </a:pPr>
            <a:r>
              <a:rPr lang="en-US" sz="1100" b="1" dirty="0">
                <a:solidFill>
                  <a:srgbClr val="173F72"/>
                </a:solidFill>
                <a:latin typeface="Arial" pitchFamily="34" charset="0"/>
                <a:ea typeface="Arial" pitchFamily="34" charset="-122"/>
                <a:cs typeface="Arial" pitchFamily="34" charset="-120"/>
              </a:rPr>
              <a:t>Retos específicos a resolver:</a:t>
            </a:r>
            <a:endParaRPr lang="en-US" sz="1100" dirty="0"/>
          </a:p>
        </p:txBody>
      </p:sp>
      <p:sp>
        <p:nvSpPr>
          <p:cNvPr id="11" name="Text 8"/>
          <p:cNvSpPr/>
          <p:nvPr/>
        </p:nvSpPr>
        <p:spPr>
          <a:xfrm>
            <a:off x="640080" y="2606040"/>
            <a:ext cx="7863840" cy="1737360"/>
          </a:xfrm>
          <a:prstGeom prst="rect">
            <a:avLst/>
          </a:prstGeom>
          <a:noFill/>
          <a:ln/>
        </p:spPr>
        <p:txBody>
          <a:bodyPr wrap="square" rtlCol="0" anchor="t"/>
          <a:lstStyle/>
          <a:p>
            <a:pPr marL="177800" indent="-177800">
              <a:spcAft>
                <a:spcPts val="1000"/>
              </a:spcAft>
              <a:buSzPct val="100000"/>
              <a:buChar char="•"/>
            </a:pPr>
            <a:r>
              <a:rPr lang="en-US" sz="1100" dirty="0">
                <a:solidFill>
                  <a:srgbClr val="2F3B4C"/>
                </a:solidFill>
                <a:latin typeface="Arial" pitchFamily="34" charset="0"/>
                <a:ea typeface="Arial" pitchFamily="34" charset="-122"/>
                <a:cs typeface="Arial" pitchFamily="34" charset="-120"/>
              </a:rPr>
              <a:t>Formule un indicador de producto y otro de resultado, independientes.</a:t>
            </a:r>
            <a:endParaRPr lang="en-US" sz="1100" dirty="0"/>
          </a:p>
          <a:p>
            <a:pPr marL="177800" indent="-177800">
              <a:spcAft>
                <a:spcPts val="1000"/>
              </a:spcAft>
              <a:buSzPct val="100000"/>
              <a:buChar char="•"/>
            </a:pPr>
            <a:r>
              <a:rPr lang="en-US" sz="1100" dirty="0">
                <a:solidFill>
                  <a:srgbClr val="2F3B4C"/>
                </a:solidFill>
                <a:latin typeface="Arial" pitchFamily="34" charset="0"/>
                <a:ea typeface="Arial" pitchFamily="34" charset="-122"/>
                <a:cs typeface="Arial" pitchFamily="34" charset="-120"/>
              </a:rPr>
              <a:t>Ejecute el Prompt 2 en Claude.ai o en el Simulador y compare su borrador.</a:t>
            </a:r>
            <a:endParaRPr lang="en-US" sz="1100" dirty="0"/>
          </a:p>
          <a:p>
            <a:pPr marL="177800" indent="-177800">
              <a:spcAft>
                <a:spcPts val="1000"/>
              </a:spcAft>
              <a:buSzPct val="100000"/>
              <a:buChar char="•"/>
            </a:pPr>
            <a:r>
              <a:rPr lang="en-US" sz="1100" dirty="0">
                <a:solidFill>
                  <a:srgbClr val="2F3B4C"/>
                </a:solidFill>
                <a:latin typeface="Arial" pitchFamily="34" charset="0"/>
                <a:ea typeface="Arial" pitchFamily="34" charset="-122"/>
                <a:cs typeface="Arial" pitchFamily="34" charset="-120"/>
              </a:rPr>
              <a:t>Indique si la tendencia del indicador de tiempo de viaje es a maximizar o minimizar.</a:t>
            </a:r>
            <a:endParaRPr lang="en-US" sz="11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292608"/>
            <a:ext cx="1005840" cy="41148"/>
          </a:xfrm>
          <a:prstGeom prst="rect">
            <a:avLst/>
          </a:prstGeom>
          <a:solidFill>
            <a:srgbClr val="FF9900"/>
          </a:solidFill>
          <a:ln/>
        </p:spPr>
      </p:sp>
      <p:sp>
        <p:nvSpPr>
          <p:cNvPr id="3" name="Text 1"/>
          <p:cNvSpPr/>
          <p:nvPr/>
        </p:nvSpPr>
        <p:spPr>
          <a:xfrm>
            <a:off x="640080" y="365760"/>
            <a:ext cx="6675120" cy="256032"/>
          </a:xfrm>
          <a:prstGeom prst="rect">
            <a:avLst/>
          </a:prstGeom>
          <a:noFill/>
          <a:ln/>
        </p:spPr>
        <p:txBody>
          <a:bodyPr wrap="square" rtlCol="0" anchor="ctr"/>
          <a:lstStyle/>
          <a:p>
            <a:pPr marL="0" indent="0">
              <a:buNone/>
            </a:pPr>
            <a:r>
              <a:rPr lang="en-US" sz="1000" b="1" kern="0" spc="150" dirty="0">
                <a:solidFill>
                  <a:srgbClr val="FC6E01"/>
                </a:solidFill>
                <a:latin typeface="Arial" pitchFamily="34" charset="0"/>
                <a:ea typeface="Arial" pitchFamily="34" charset="-122"/>
                <a:cs typeface="Arial" pitchFamily="34" charset="-120"/>
              </a:rPr>
              <a:t>EJERCICIO PARA CASA</a:t>
            </a:r>
            <a:endParaRPr lang="en-US" sz="1000" dirty="0"/>
          </a:p>
        </p:txBody>
      </p:sp>
      <p:sp>
        <p:nvSpPr>
          <p:cNvPr id="4" name="Text 2"/>
          <p:cNvSpPr/>
          <p:nvPr/>
        </p:nvSpPr>
        <p:spPr>
          <a:xfrm>
            <a:off x="640080" y="621792"/>
            <a:ext cx="7315200" cy="502920"/>
          </a:xfrm>
          <a:prstGeom prst="rect">
            <a:avLst/>
          </a:prstGeom>
          <a:noFill/>
          <a:ln/>
        </p:spPr>
        <p:txBody>
          <a:bodyPr wrap="square" rtlCol="0" anchor="ctr"/>
          <a:lstStyle/>
          <a:p>
            <a:pPr marL="0" indent="0">
              <a:buNone/>
            </a:pPr>
            <a:r>
              <a:rPr lang="en-US" sz="2100" b="1" dirty="0">
                <a:solidFill>
                  <a:srgbClr val="173F72"/>
                </a:solidFill>
                <a:latin typeface="Arial" pitchFamily="34" charset="0"/>
                <a:ea typeface="Arial" pitchFamily="34" charset="-122"/>
                <a:cs typeface="Arial" pitchFamily="34" charset="-120"/>
              </a:rPr>
              <a:t>Desarrollo Económico Local y Empleo Joven</a:t>
            </a:r>
            <a:endParaRPr lang="en-US" sz="2100" dirty="0"/>
          </a:p>
        </p:txBody>
      </p:sp>
      <p:pic>
        <p:nvPicPr>
          <p:cNvPr id="6" name="Image 0" descr="/home/claude/taller/assets/footer_banner.png"/>
          <p:cNvPicPr>
            <a:picLocks noChangeAspect="1"/>
          </p:cNvPicPr>
          <p:nvPr/>
        </p:nvPicPr>
        <p:blipFill>
          <a:blip r:embed="rId3"/>
          <a:stretch>
            <a:fillRect/>
          </a:stretch>
        </p:blipFill>
        <p:spPr>
          <a:xfrm>
            <a:off x="0" y="4672584"/>
            <a:ext cx="9144000" cy="469087"/>
          </a:xfrm>
          <a:prstGeom prst="rect">
            <a:avLst/>
          </a:prstGeom>
        </p:spPr>
      </p:pic>
      <p:sp>
        <p:nvSpPr>
          <p:cNvPr id="7" name="Text 4"/>
          <p:cNvSpPr/>
          <p:nvPr/>
        </p:nvSpPr>
        <p:spPr>
          <a:xfrm>
            <a:off x="274320" y="4727448"/>
            <a:ext cx="5669280" cy="274320"/>
          </a:xfrm>
          <a:prstGeom prst="rect">
            <a:avLst/>
          </a:prstGeom>
          <a:noFill/>
          <a:ln/>
        </p:spPr>
        <p:txBody>
          <a:bodyPr wrap="square" lIns="0" tIns="0" rIns="0" bIns="0" rtlCol="0" anchor="ctr"/>
          <a:lstStyle/>
          <a:p>
            <a:pPr marL="0" indent="0">
              <a:buNone/>
            </a:pPr>
            <a:r>
              <a:rPr lang="en-US" sz="800" dirty="0">
                <a:solidFill>
                  <a:srgbClr val="FFFFFF"/>
                </a:solidFill>
                <a:latin typeface="Arial" pitchFamily="34" charset="0"/>
                <a:ea typeface="Arial" pitchFamily="34" charset="-122"/>
                <a:cs typeface="Arial" pitchFamily="34" charset="-120"/>
              </a:rPr>
              <a:t>Taller de Indicadores de Gestión Pública con IA</a:t>
            </a:r>
            <a:endParaRPr lang="en-US" sz="800" dirty="0"/>
          </a:p>
        </p:txBody>
      </p:sp>
      <p:sp>
        <p:nvSpPr>
          <p:cNvPr id="8" name="Text 5"/>
          <p:cNvSpPr/>
          <p:nvPr/>
        </p:nvSpPr>
        <p:spPr>
          <a:xfrm>
            <a:off x="640080" y="1325880"/>
            <a:ext cx="7863840" cy="411480"/>
          </a:xfrm>
          <a:prstGeom prst="rect">
            <a:avLst/>
          </a:prstGeom>
          <a:noFill/>
          <a:ln/>
        </p:spPr>
        <p:txBody>
          <a:bodyPr wrap="square" rtlCol="0" anchor="t"/>
          <a:lstStyle/>
          <a:p>
            <a:pPr marL="0" indent="0">
              <a:buNone/>
            </a:pPr>
            <a:r>
              <a:rPr lang="en-US" sz="1050" dirty="0">
                <a:solidFill>
                  <a:srgbClr val="2F3B4C"/>
                </a:solidFill>
                <a:latin typeface="Arial" pitchFamily="34" charset="0"/>
                <a:ea typeface="Arial" pitchFamily="34" charset="-122"/>
                <a:cs typeface="Arial" pitchFamily="34" charset="-120"/>
              </a:rPr>
              <a:t>Escenario: La Secretaría de Desarrollo Económico implementó incentivos tributarios a empresas que contraten jóvenes de primer empleo.</a:t>
            </a:r>
            <a:endParaRPr lang="en-US" sz="1050" dirty="0"/>
          </a:p>
        </p:txBody>
      </p:sp>
      <p:sp>
        <p:nvSpPr>
          <p:cNvPr id="9" name="Text 6"/>
          <p:cNvSpPr/>
          <p:nvPr/>
        </p:nvSpPr>
        <p:spPr>
          <a:xfrm>
            <a:off x="640080" y="1783080"/>
            <a:ext cx="7863840" cy="457200"/>
          </a:xfrm>
          <a:prstGeom prst="rect">
            <a:avLst/>
          </a:prstGeom>
          <a:noFill/>
          <a:ln/>
        </p:spPr>
        <p:txBody>
          <a:bodyPr wrap="square" rtlCol="0" anchor="t"/>
          <a:lstStyle/>
          <a:p>
            <a:pPr marL="0" indent="0">
              <a:buNone/>
            </a:pPr>
            <a:r>
              <a:rPr lang="en-US" sz="1150" b="1" i="1" dirty="0">
                <a:solidFill>
                  <a:srgbClr val="173F72"/>
                </a:solidFill>
                <a:latin typeface="Arial" pitchFamily="34" charset="0"/>
                <a:ea typeface="Arial" pitchFamily="34" charset="-122"/>
                <a:cs typeface="Arial" pitchFamily="34" charset="-120"/>
              </a:rPr>
              <a:t>Pregunta del directivo: “¿El programa sí está sirviendo para que los jóvenes consigan trabajo digno o es plata botada?”</a:t>
            </a:r>
            <a:endParaRPr lang="en-US" sz="1150" dirty="0"/>
          </a:p>
        </p:txBody>
      </p:sp>
      <p:sp>
        <p:nvSpPr>
          <p:cNvPr id="10" name="Text 7"/>
          <p:cNvSpPr/>
          <p:nvPr/>
        </p:nvSpPr>
        <p:spPr>
          <a:xfrm>
            <a:off x="640080" y="2331720"/>
            <a:ext cx="7863840" cy="274320"/>
          </a:xfrm>
          <a:prstGeom prst="rect">
            <a:avLst/>
          </a:prstGeom>
          <a:noFill/>
          <a:ln/>
        </p:spPr>
        <p:txBody>
          <a:bodyPr wrap="square" rtlCol="0" anchor="ctr"/>
          <a:lstStyle/>
          <a:p>
            <a:pPr marL="0" indent="0">
              <a:buNone/>
            </a:pPr>
            <a:r>
              <a:rPr lang="en-US" sz="1100" b="1" dirty="0">
                <a:solidFill>
                  <a:srgbClr val="173F72"/>
                </a:solidFill>
                <a:latin typeface="Arial" pitchFamily="34" charset="0"/>
                <a:ea typeface="Arial" pitchFamily="34" charset="-122"/>
                <a:cs typeface="Arial" pitchFamily="34" charset="-120"/>
              </a:rPr>
              <a:t>Retos específicos a resolver:</a:t>
            </a:r>
            <a:endParaRPr lang="en-US" sz="1100" dirty="0"/>
          </a:p>
        </p:txBody>
      </p:sp>
      <p:sp>
        <p:nvSpPr>
          <p:cNvPr id="11" name="Text 8"/>
          <p:cNvSpPr/>
          <p:nvPr/>
        </p:nvSpPr>
        <p:spPr>
          <a:xfrm>
            <a:off x="640080" y="2606040"/>
            <a:ext cx="7863840" cy="1737360"/>
          </a:xfrm>
          <a:prstGeom prst="rect">
            <a:avLst/>
          </a:prstGeom>
          <a:noFill/>
          <a:ln/>
        </p:spPr>
        <p:txBody>
          <a:bodyPr wrap="square" rtlCol="0" anchor="t"/>
          <a:lstStyle/>
          <a:p>
            <a:pPr marL="177800" indent="-177800">
              <a:spcAft>
                <a:spcPts val="1000"/>
              </a:spcAft>
              <a:buSzPct val="100000"/>
              <a:buChar char="•"/>
            </a:pPr>
            <a:r>
              <a:rPr lang="en-US" sz="1100" dirty="0">
                <a:solidFill>
                  <a:srgbClr val="2F3B4C"/>
                </a:solidFill>
                <a:latin typeface="Arial" pitchFamily="34" charset="0"/>
                <a:ea typeface="Arial" pitchFamily="34" charset="-122"/>
                <a:cs typeface="Arial" pitchFamily="34" charset="-120"/>
              </a:rPr>
              <a:t>Mida jóvenes vinculados formalmente (con aportes a seguridad social).</a:t>
            </a:r>
            <a:endParaRPr lang="en-US" sz="1100" dirty="0"/>
          </a:p>
          <a:p>
            <a:pPr marL="177800" indent="-177800">
              <a:spcAft>
                <a:spcPts val="1000"/>
              </a:spcAft>
              <a:buSzPct val="100000"/>
              <a:buChar char="•"/>
            </a:pPr>
            <a:r>
              <a:rPr lang="en-US" sz="1100" dirty="0">
                <a:solidFill>
                  <a:srgbClr val="2F3B4C"/>
                </a:solidFill>
                <a:latin typeface="Arial" pitchFamily="34" charset="0"/>
                <a:ea typeface="Arial" pitchFamily="34" charset="-122"/>
                <a:cs typeface="Arial" pitchFamily="34" charset="-120"/>
              </a:rPr>
              <a:t>Use el Prompt 3 para redactar limitaciones y supuestos macroeconómicos.</a:t>
            </a:r>
            <a:endParaRPr lang="en-US" sz="1100" dirty="0"/>
          </a:p>
          <a:p>
            <a:pPr marL="177800" indent="-177800">
              <a:spcAft>
                <a:spcPts val="1000"/>
              </a:spcAft>
              <a:buSzPct val="100000"/>
              <a:buChar char="•"/>
            </a:pPr>
            <a:r>
              <a:rPr lang="en-US" sz="1100" dirty="0">
                <a:solidFill>
                  <a:srgbClr val="2F3B4C"/>
                </a:solidFill>
                <a:latin typeface="Arial" pitchFamily="34" charset="0"/>
                <a:ea typeface="Arial" pitchFamily="34" charset="-122"/>
                <a:cs typeface="Arial" pitchFamily="34" charset="-120"/>
              </a:rPr>
              <a:t>Defina el responsable técnico y la fuente oficial del reporte.</a:t>
            </a:r>
            <a:endParaRPr lang="en-US" sz="11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292608"/>
            <a:ext cx="1005840" cy="41148"/>
          </a:xfrm>
          <a:prstGeom prst="rect">
            <a:avLst/>
          </a:prstGeom>
          <a:solidFill>
            <a:srgbClr val="FF9900"/>
          </a:solidFill>
          <a:ln/>
        </p:spPr>
      </p:sp>
      <p:sp>
        <p:nvSpPr>
          <p:cNvPr id="3" name="Text 1"/>
          <p:cNvSpPr/>
          <p:nvPr/>
        </p:nvSpPr>
        <p:spPr>
          <a:xfrm>
            <a:off x="640080" y="365760"/>
            <a:ext cx="6675120" cy="256032"/>
          </a:xfrm>
          <a:prstGeom prst="rect">
            <a:avLst/>
          </a:prstGeom>
          <a:noFill/>
          <a:ln/>
        </p:spPr>
        <p:txBody>
          <a:bodyPr wrap="square" rtlCol="0" anchor="ctr"/>
          <a:lstStyle/>
          <a:p>
            <a:pPr marL="0" indent="0">
              <a:buNone/>
            </a:pPr>
            <a:r>
              <a:rPr lang="en-US" sz="1000" b="1" kern="0" spc="150" dirty="0">
                <a:solidFill>
                  <a:srgbClr val="FC6E01"/>
                </a:solidFill>
                <a:latin typeface="Arial" pitchFamily="34" charset="0"/>
                <a:ea typeface="Arial" pitchFamily="34" charset="-122"/>
                <a:cs typeface="Arial" pitchFamily="34" charset="-120"/>
              </a:rPr>
              <a:t>EJERCICIO PARA CASA</a:t>
            </a:r>
            <a:endParaRPr lang="en-US" sz="1000" dirty="0"/>
          </a:p>
        </p:txBody>
      </p:sp>
      <p:sp>
        <p:nvSpPr>
          <p:cNvPr id="4" name="Text 2"/>
          <p:cNvSpPr/>
          <p:nvPr/>
        </p:nvSpPr>
        <p:spPr>
          <a:xfrm>
            <a:off x="640080" y="621792"/>
            <a:ext cx="7315200" cy="502920"/>
          </a:xfrm>
          <a:prstGeom prst="rect">
            <a:avLst/>
          </a:prstGeom>
          <a:noFill/>
          <a:ln/>
        </p:spPr>
        <p:txBody>
          <a:bodyPr wrap="square" rtlCol="0" anchor="ctr"/>
          <a:lstStyle/>
          <a:p>
            <a:pPr marL="0" indent="0">
              <a:buNone/>
            </a:pPr>
            <a:r>
              <a:rPr lang="en-US" sz="2100" b="1" dirty="0">
                <a:solidFill>
                  <a:srgbClr val="173F72"/>
                </a:solidFill>
                <a:latin typeface="Arial" pitchFamily="34" charset="0"/>
                <a:ea typeface="Arial" pitchFamily="34" charset="-122"/>
                <a:cs typeface="Arial" pitchFamily="34" charset="-120"/>
              </a:rPr>
              <a:t>Contratación Pública y Transparencia</a:t>
            </a:r>
            <a:endParaRPr lang="en-US" sz="2100" dirty="0"/>
          </a:p>
        </p:txBody>
      </p:sp>
      <p:pic>
        <p:nvPicPr>
          <p:cNvPr id="6" name="Image 0" descr="/home/claude/taller/assets/footer_banner.png"/>
          <p:cNvPicPr>
            <a:picLocks noChangeAspect="1"/>
          </p:cNvPicPr>
          <p:nvPr/>
        </p:nvPicPr>
        <p:blipFill>
          <a:blip r:embed="rId3"/>
          <a:stretch>
            <a:fillRect/>
          </a:stretch>
        </p:blipFill>
        <p:spPr>
          <a:xfrm>
            <a:off x="0" y="4672584"/>
            <a:ext cx="9144000" cy="469087"/>
          </a:xfrm>
          <a:prstGeom prst="rect">
            <a:avLst/>
          </a:prstGeom>
        </p:spPr>
      </p:pic>
      <p:sp>
        <p:nvSpPr>
          <p:cNvPr id="7" name="Text 4"/>
          <p:cNvSpPr/>
          <p:nvPr/>
        </p:nvSpPr>
        <p:spPr>
          <a:xfrm>
            <a:off x="274320" y="4727448"/>
            <a:ext cx="5669280" cy="274320"/>
          </a:xfrm>
          <a:prstGeom prst="rect">
            <a:avLst/>
          </a:prstGeom>
          <a:noFill/>
          <a:ln/>
        </p:spPr>
        <p:txBody>
          <a:bodyPr wrap="square" lIns="0" tIns="0" rIns="0" bIns="0" rtlCol="0" anchor="ctr"/>
          <a:lstStyle/>
          <a:p>
            <a:pPr marL="0" indent="0">
              <a:buNone/>
            </a:pPr>
            <a:r>
              <a:rPr lang="en-US" sz="800" dirty="0">
                <a:solidFill>
                  <a:srgbClr val="FFFFFF"/>
                </a:solidFill>
                <a:latin typeface="Arial" pitchFamily="34" charset="0"/>
                <a:ea typeface="Arial" pitchFamily="34" charset="-122"/>
                <a:cs typeface="Arial" pitchFamily="34" charset="-120"/>
              </a:rPr>
              <a:t>Taller de Indicadores de Gestión Pública con IA</a:t>
            </a:r>
            <a:endParaRPr lang="en-US" sz="800" dirty="0"/>
          </a:p>
        </p:txBody>
      </p:sp>
      <p:sp>
        <p:nvSpPr>
          <p:cNvPr id="8" name="Text 5"/>
          <p:cNvSpPr/>
          <p:nvPr/>
        </p:nvSpPr>
        <p:spPr>
          <a:xfrm>
            <a:off x="640080" y="1325880"/>
            <a:ext cx="7863840" cy="411480"/>
          </a:xfrm>
          <a:prstGeom prst="rect">
            <a:avLst/>
          </a:prstGeom>
          <a:noFill/>
          <a:ln/>
        </p:spPr>
        <p:txBody>
          <a:bodyPr wrap="square" rtlCol="0" anchor="t"/>
          <a:lstStyle/>
          <a:p>
            <a:pPr marL="0" indent="0">
              <a:buNone/>
            </a:pPr>
            <a:r>
              <a:rPr lang="en-US" sz="1050" dirty="0">
                <a:solidFill>
                  <a:srgbClr val="2F3B4C"/>
                </a:solidFill>
                <a:latin typeface="Arial" pitchFamily="34" charset="0"/>
                <a:ea typeface="Arial" pitchFamily="34" charset="-122"/>
                <a:cs typeface="Arial" pitchFamily="34" charset="-120"/>
              </a:rPr>
              <a:t>Escenario: Una entidad pública quiere saber si sus procesos de licitación generan ahorro real frente al presupuesto planeado.</a:t>
            </a:r>
            <a:endParaRPr lang="en-US" sz="1050" dirty="0"/>
          </a:p>
        </p:txBody>
      </p:sp>
      <p:sp>
        <p:nvSpPr>
          <p:cNvPr id="9" name="Text 6"/>
          <p:cNvSpPr/>
          <p:nvPr/>
        </p:nvSpPr>
        <p:spPr>
          <a:xfrm>
            <a:off x="640080" y="1783080"/>
            <a:ext cx="7863840" cy="457200"/>
          </a:xfrm>
          <a:prstGeom prst="rect">
            <a:avLst/>
          </a:prstGeom>
          <a:noFill/>
          <a:ln/>
        </p:spPr>
        <p:txBody>
          <a:bodyPr wrap="square" rtlCol="0" anchor="t"/>
          <a:lstStyle/>
          <a:p>
            <a:pPr marL="0" indent="0">
              <a:buNone/>
            </a:pPr>
            <a:r>
              <a:rPr lang="en-US" sz="1150" b="1" i="1" dirty="0">
                <a:solidFill>
                  <a:srgbClr val="173F72"/>
                </a:solidFill>
                <a:latin typeface="Arial" pitchFamily="34" charset="0"/>
                <a:ea typeface="Arial" pitchFamily="34" charset="-122"/>
                <a:cs typeface="Arial" pitchFamily="34" charset="-120"/>
              </a:rPr>
              <a:t>Pregunta del directivo: “¿Estamos ahorrando dinero al contratar por licitación pública?”</a:t>
            </a:r>
            <a:endParaRPr lang="en-US" sz="1150" dirty="0"/>
          </a:p>
        </p:txBody>
      </p:sp>
      <p:sp>
        <p:nvSpPr>
          <p:cNvPr id="10" name="Text 7"/>
          <p:cNvSpPr/>
          <p:nvPr/>
        </p:nvSpPr>
        <p:spPr>
          <a:xfrm>
            <a:off x="640080" y="2331720"/>
            <a:ext cx="7863840" cy="274320"/>
          </a:xfrm>
          <a:prstGeom prst="rect">
            <a:avLst/>
          </a:prstGeom>
          <a:noFill/>
          <a:ln/>
        </p:spPr>
        <p:txBody>
          <a:bodyPr wrap="square" rtlCol="0" anchor="ctr"/>
          <a:lstStyle/>
          <a:p>
            <a:pPr marL="0" indent="0">
              <a:buNone/>
            </a:pPr>
            <a:r>
              <a:rPr lang="en-US" sz="1100" b="1" dirty="0">
                <a:solidFill>
                  <a:srgbClr val="173F72"/>
                </a:solidFill>
                <a:latin typeface="Arial" pitchFamily="34" charset="0"/>
                <a:ea typeface="Arial" pitchFamily="34" charset="-122"/>
                <a:cs typeface="Arial" pitchFamily="34" charset="-120"/>
              </a:rPr>
              <a:t>Retos específicos a resolver:</a:t>
            </a:r>
            <a:endParaRPr lang="en-US" sz="1100" dirty="0"/>
          </a:p>
        </p:txBody>
      </p:sp>
      <p:sp>
        <p:nvSpPr>
          <p:cNvPr id="11" name="Text 8"/>
          <p:cNvSpPr/>
          <p:nvPr/>
        </p:nvSpPr>
        <p:spPr>
          <a:xfrm>
            <a:off x="640080" y="2606040"/>
            <a:ext cx="7863840" cy="1737360"/>
          </a:xfrm>
          <a:prstGeom prst="rect">
            <a:avLst/>
          </a:prstGeom>
          <a:noFill/>
          <a:ln/>
        </p:spPr>
        <p:txBody>
          <a:bodyPr wrap="square" rtlCol="0" anchor="t"/>
          <a:lstStyle/>
          <a:p>
            <a:pPr marL="177800" indent="-177800">
              <a:spcAft>
                <a:spcPts val="1000"/>
              </a:spcAft>
              <a:buSzPct val="100000"/>
              <a:buChar char="•"/>
            </a:pPr>
            <a:r>
              <a:rPr lang="en-US" sz="1100" dirty="0">
                <a:solidFill>
                  <a:srgbClr val="2F3B4C"/>
                </a:solidFill>
                <a:latin typeface="Arial" pitchFamily="34" charset="0"/>
                <a:ea typeface="Arial" pitchFamily="34" charset="-122"/>
                <a:cs typeface="Arial" pitchFamily="34" charset="-120"/>
              </a:rPr>
              <a:t>Evalúe si el indicador mide economía o eficiencia, y justifique.</a:t>
            </a:r>
            <a:endParaRPr lang="en-US" sz="1100" dirty="0"/>
          </a:p>
          <a:p>
            <a:pPr marL="177800" indent="-177800">
              <a:spcAft>
                <a:spcPts val="1000"/>
              </a:spcAft>
              <a:buSzPct val="100000"/>
              <a:buChar char="•"/>
            </a:pPr>
            <a:r>
              <a:rPr lang="en-US" sz="1100" dirty="0">
                <a:solidFill>
                  <a:srgbClr val="2F3B4C"/>
                </a:solidFill>
                <a:latin typeface="Arial" pitchFamily="34" charset="0"/>
                <a:ea typeface="Arial" pitchFamily="34" charset="-122"/>
                <a:cs typeface="Arial" pitchFamily="34" charset="-120"/>
              </a:rPr>
              <a:t>Use el Prompt 4 para auditar el riesgo de sub-presupuestación voluntaria.</a:t>
            </a:r>
            <a:endParaRPr lang="en-US" sz="1100" dirty="0"/>
          </a:p>
          <a:p>
            <a:pPr marL="177800" indent="-177800">
              <a:spcAft>
                <a:spcPts val="1000"/>
              </a:spcAft>
              <a:buSzPct val="100000"/>
              <a:buChar char="•"/>
            </a:pPr>
            <a:r>
              <a:rPr lang="en-US" sz="1100" dirty="0">
                <a:solidFill>
                  <a:srgbClr val="2F3B4C"/>
                </a:solidFill>
                <a:latin typeface="Arial" pitchFamily="34" charset="0"/>
                <a:ea typeface="Arial" pitchFamily="34" charset="-122"/>
                <a:cs typeface="Arial" pitchFamily="34" charset="-120"/>
              </a:rPr>
              <a:t>Proponga una salvaguarda institucional (p. ej. estudio de mercado).</a:t>
            </a:r>
            <a:endParaRPr lang="en-US" sz="11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292608"/>
            <a:ext cx="1005840" cy="41148"/>
          </a:xfrm>
          <a:prstGeom prst="rect">
            <a:avLst/>
          </a:prstGeom>
          <a:solidFill>
            <a:srgbClr val="FF9900"/>
          </a:solidFill>
          <a:ln/>
        </p:spPr>
      </p:sp>
      <p:sp>
        <p:nvSpPr>
          <p:cNvPr id="3" name="Text 1"/>
          <p:cNvSpPr/>
          <p:nvPr/>
        </p:nvSpPr>
        <p:spPr>
          <a:xfrm>
            <a:off x="640080" y="365760"/>
            <a:ext cx="6675120" cy="256032"/>
          </a:xfrm>
          <a:prstGeom prst="rect">
            <a:avLst/>
          </a:prstGeom>
          <a:noFill/>
          <a:ln/>
        </p:spPr>
        <p:txBody>
          <a:bodyPr wrap="square" rtlCol="0" anchor="ctr"/>
          <a:lstStyle/>
          <a:p>
            <a:pPr marL="0" indent="0">
              <a:buNone/>
            </a:pPr>
            <a:r>
              <a:rPr lang="en-US" sz="1000" b="1" kern="0" spc="150" dirty="0">
                <a:solidFill>
                  <a:srgbClr val="FC6E01"/>
                </a:solidFill>
                <a:latin typeface="Arial" pitchFamily="34" charset="0"/>
                <a:ea typeface="Arial" pitchFamily="34" charset="-122"/>
                <a:cs typeface="Arial" pitchFamily="34" charset="-120"/>
              </a:rPr>
              <a:t>CIERRE DEL TALLER</a:t>
            </a:r>
            <a:endParaRPr lang="en-US" sz="1000" dirty="0"/>
          </a:p>
        </p:txBody>
      </p:sp>
      <p:sp>
        <p:nvSpPr>
          <p:cNvPr id="4" name="Text 2"/>
          <p:cNvSpPr/>
          <p:nvPr/>
        </p:nvSpPr>
        <p:spPr>
          <a:xfrm>
            <a:off x="640080" y="621792"/>
            <a:ext cx="7315200" cy="502920"/>
          </a:xfrm>
          <a:prstGeom prst="rect">
            <a:avLst/>
          </a:prstGeom>
          <a:noFill/>
          <a:ln/>
        </p:spPr>
        <p:txBody>
          <a:bodyPr wrap="square" rtlCol="0" anchor="ctr"/>
          <a:lstStyle/>
          <a:p>
            <a:pPr marL="0" indent="0">
              <a:buNone/>
            </a:pPr>
            <a:r>
              <a:rPr lang="en-US" sz="2100" b="1" dirty="0">
                <a:solidFill>
                  <a:srgbClr val="173F72"/>
                </a:solidFill>
                <a:latin typeface="Arial" pitchFamily="34" charset="0"/>
                <a:ea typeface="Arial" pitchFamily="34" charset="-122"/>
                <a:cs typeface="Arial" pitchFamily="34" charset="-120"/>
              </a:rPr>
              <a:t>Fuentes y Referencias</a:t>
            </a:r>
            <a:endParaRPr lang="en-US" sz="2100" dirty="0"/>
          </a:p>
        </p:txBody>
      </p:sp>
      <p:pic>
        <p:nvPicPr>
          <p:cNvPr id="6" name="Image 0" descr="/home/claude/taller/assets/footer_banner.png"/>
          <p:cNvPicPr>
            <a:picLocks noChangeAspect="1"/>
          </p:cNvPicPr>
          <p:nvPr/>
        </p:nvPicPr>
        <p:blipFill>
          <a:blip r:embed="rId3"/>
          <a:stretch>
            <a:fillRect/>
          </a:stretch>
        </p:blipFill>
        <p:spPr>
          <a:xfrm>
            <a:off x="0" y="4672584"/>
            <a:ext cx="9144000" cy="469087"/>
          </a:xfrm>
          <a:prstGeom prst="rect">
            <a:avLst/>
          </a:prstGeom>
        </p:spPr>
      </p:pic>
      <p:sp>
        <p:nvSpPr>
          <p:cNvPr id="7" name="Text 4"/>
          <p:cNvSpPr/>
          <p:nvPr/>
        </p:nvSpPr>
        <p:spPr>
          <a:xfrm>
            <a:off x="274320" y="4727448"/>
            <a:ext cx="5669280" cy="274320"/>
          </a:xfrm>
          <a:prstGeom prst="rect">
            <a:avLst/>
          </a:prstGeom>
          <a:noFill/>
          <a:ln/>
        </p:spPr>
        <p:txBody>
          <a:bodyPr wrap="square" lIns="0" tIns="0" rIns="0" bIns="0" rtlCol="0" anchor="ctr"/>
          <a:lstStyle/>
          <a:p>
            <a:pPr marL="0" indent="0">
              <a:buNone/>
            </a:pPr>
            <a:r>
              <a:rPr lang="en-US" sz="800" dirty="0">
                <a:solidFill>
                  <a:srgbClr val="FFFFFF"/>
                </a:solidFill>
                <a:latin typeface="Arial" pitchFamily="34" charset="0"/>
                <a:ea typeface="Arial" pitchFamily="34" charset="-122"/>
                <a:cs typeface="Arial" pitchFamily="34" charset="-120"/>
              </a:rPr>
              <a:t>Taller de Indicadores de Gestión Pública con IA</a:t>
            </a:r>
            <a:endParaRPr lang="en-US" sz="800" dirty="0"/>
          </a:p>
        </p:txBody>
      </p:sp>
      <p:sp>
        <p:nvSpPr>
          <p:cNvPr id="8" name="Text 5"/>
          <p:cNvSpPr/>
          <p:nvPr/>
        </p:nvSpPr>
        <p:spPr>
          <a:xfrm>
            <a:off x="640080" y="1371600"/>
            <a:ext cx="7863840" cy="3200400"/>
          </a:xfrm>
          <a:prstGeom prst="rect">
            <a:avLst/>
          </a:prstGeom>
          <a:noFill/>
          <a:ln/>
        </p:spPr>
        <p:txBody>
          <a:bodyPr wrap="square" rtlCol="0" anchor="t"/>
          <a:lstStyle/>
          <a:p>
            <a:pPr marL="177800" indent="-177800">
              <a:spcAft>
                <a:spcPts val="1000"/>
              </a:spcAft>
              <a:buSzPct val="100000"/>
              <a:buChar char="•"/>
            </a:pPr>
            <a:r>
              <a:rPr lang="en-US" sz="950" dirty="0">
                <a:solidFill>
                  <a:srgbClr val="2F3B4C"/>
                </a:solidFill>
                <a:latin typeface="Arial" pitchFamily="34" charset="0"/>
                <a:ea typeface="Arial" pitchFamily="34" charset="-122"/>
                <a:cs typeface="Arial" pitchFamily="34" charset="-120"/>
              </a:rPr>
              <a:t>DNP (Colombia). Guía metodológica para la formulación de indicadores (2020).</a:t>
            </a:r>
            <a:endParaRPr lang="en-US" sz="950" dirty="0"/>
          </a:p>
          <a:p>
            <a:pPr marL="177800" indent="-177800">
              <a:spcAft>
                <a:spcPts val="1000"/>
              </a:spcAft>
              <a:buSzPct val="100000"/>
              <a:buChar char="•"/>
            </a:pPr>
            <a:r>
              <a:rPr lang="en-US" sz="950" dirty="0">
                <a:solidFill>
                  <a:srgbClr val="2F3B4C"/>
                </a:solidFill>
                <a:latin typeface="Arial" pitchFamily="34" charset="0"/>
                <a:ea typeface="Arial" pitchFamily="34" charset="-122"/>
                <a:cs typeface="Arial" pitchFamily="34" charset="-120"/>
              </a:rPr>
              <a:t>DNP–DSEPP. Guía metodológica para el seguimiento y evaluación a políticas públicas.</a:t>
            </a:r>
            <a:endParaRPr lang="en-US" sz="950" dirty="0"/>
          </a:p>
          <a:p>
            <a:pPr marL="177800" indent="-177800">
              <a:spcAft>
                <a:spcPts val="1000"/>
              </a:spcAft>
              <a:buSzPct val="100000"/>
              <a:buChar char="•"/>
            </a:pPr>
            <a:r>
              <a:rPr lang="en-US" sz="950" dirty="0">
                <a:solidFill>
                  <a:srgbClr val="2F3B4C"/>
                </a:solidFill>
                <a:latin typeface="Arial" pitchFamily="34" charset="0"/>
                <a:ea typeface="Arial" pitchFamily="34" charset="-122"/>
                <a:cs typeface="Arial" pitchFamily="34" charset="-120"/>
              </a:rPr>
              <a:t>DNP. Metodología General Ajustada (MGA): cadena de valor de proyectos de inversión pública.</a:t>
            </a:r>
            <a:endParaRPr lang="en-US" sz="950" dirty="0"/>
          </a:p>
          <a:p>
            <a:pPr marL="177800" indent="-177800">
              <a:spcAft>
                <a:spcPts val="1000"/>
              </a:spcAft>
              <a:buSzPct val="100000"/>
              <a:buChar char="•"/>
            </a:pPr>
            <a:r>
              <a:rPr lang="en-US" sz="950" dirty="0">
                <a:solidFill>
                  <a:srgbClr val="2F3B4C"/>
                </a:solidFill>
                <a:latin typeface="Arial" pitchFamily="34" charset="0"/>
                <a:ea typeface="Arial" pitchFamily="34" charset="-122"/>
                <a:cs typeface="Arial" pitchFamily="34" charset="-120"/>
              </a:rPr>
              <a:t>DANE. Guía para diseño, construcción e interpretación de indicadores (Estrategia EFET).</a:t>
            </a:r>
            <a:endParaRPr lang="en-US" sz="950" dirty="0"/>
          </a:p>
          <a:p>
            <a:pPr marL="177800" indent="-177800">
              <a:spcAft>
                <a:spcPts val="1000"/>
              </a:spcAft>
              <a:buSzPct val="100000"/>
              <a:buChar char="•"/>
            </a:pPr>
            <a:r>
              <a:rPr lang="en-US" sz="950" dirty="0">
                <a:solidFill>
                  <a:srgbClr val="2F3B4C"/>
                </a:solidFill>
                <a:latin typeface="Arial" pitchFamily="34" charset="0"/>
                <a:ea typeface="Arial" pitchFamily="34" charset="-122"/>
                <a:cs typeface="Arial" pitchFamily="34" charset="-120"/>
              </a:rPr>
              <a:t>DAFP. Guía para la construcción y análisis de indicadores de gestión (MIPG v4, 2018).</a:t>
            </a:r>
            <a:endParaRPr lang="en-US" sz="950" dirty="0"/>
          </a:p>
          <a:p>
            <a:pPr marL="177800" indent="-177800">
              <a:spcAft>
                <a:spcPts val="1000"/>
              </a:spcAft>
              <a:buSzPct val="100000"/>
              <a:buChar char="•"/>
            </a:pPr>
            <a:r>
              <a:rPr lang="en-US" sz="950" dirty="0">
                <a:solidFill>
                  <a:srgbClr val="2F3B4C"/>
                </a:solidFill>
                <a:latin typeface="Arial" pitchFamily="34" charset="0"/>
                <a:ea typeface="Arial" pitchFamily="34" charset="-122"/>
                <a:cs typeface="Arial" pitchFamily="34" charset="-120"/>
              </a:rPr>
              <a:t>Ministerio de Salud y Protección Social. Guía metodológica de indicadores de procesos (DESG05).</a:t>
            </a:r>
            <a:endParaRPr lang="en-US" sz="950" dirty="0"/>
          </a:p>
          <a:p>
            <a:pPr marL="177800" indent="-177800">
              <a:spcAft>
                <a:spcPts val="1000"/>
              </a:spcAft>
              <a:buSzPct val="100000"/>
              <a:buChar char="•"/>
            </a:pPr>
            <a:r>
              <a:rPr lang="en-US" sz="950" dirty="0">
                <a:solidFill>
                  <a:srgbClr val="2F3B4C"/>
                </a:solidFill>
                <a:latin typeface="Arial" pitchFamily="34" charset="0"/>
                <a:ea typeface="Arial" pitchFamily="34" charset="-122"/>
                <a:cs typeface="Arial" pitchFamily="34" charset="-120"/>
              </a:rPr>
              <a:t>Armijo, M. y Bonnefoy, J.C. Indicadores de desempeño en el sector público. CEPAL–ILPES.</a:t>
            </a:r>
            <a:endParaRPr lang="en-US" sz="950" dirty="0"/>
          </a:p>
          <a:p>
            <a:pPr marL="177800" indent="-177800">
              <a:spcAft>
                <a:spcPts val="1000"/>
              </a:spcAft>
              <a:buSzPct val="100000"/>
              <a:buChar char="•"/>
            </a:pPr>
            <a:r>
              <a:rPr lang="en-US" sz="950" dirty="0">
                <a:solidFill>
                  <a:srgbClr val="2F3B4C"/>
                </a:solidFill>
                <a:latin typeface="Arial" pitchFamily="34" charset="0"/>
                <a:ea typeface="Arial" pitchFamily="34" charset="-122"/>
                <a:cs typeface="Arial" pitchFamily="34" charset="-120"/>
              </a:rPr>
              <a:t>Unidad para las Víctimas (Colombia). Guía para la formulación de indicadores.</a:t>
            </a:r>
            <a:endParaRPr lang="en-US" sz="950" dirty="0"/>
          </a:p>
          <a:p>
            <a:pPr marL="177800" indent="-177800">
              <a:spcAft>
                <a:spcPts val="1000"/>
              </a:spcAft>
              <a:buSzPct val="100000"/>
              <a:buChar char="•"/>
            </a:pPr>
            <a:r>
              <a:rPr lang="en-US" sz="950" dirty="0">
                <a:solidFill>
                  <a:srgbClr val="2F3B4C"/>
                </a:solidFill>
                <a:latin typeface="Arial" pitchFamily="34" charset="0"/>
                <a:ea typeface="Arial" pitchFamily="34" charset="-122"/>
                <a:cs typeface="Arial" pitchFamily="34" charset="-120"/>
              </a:rPr>
              <a:t>Dirección General de Servicio Civil (Costa Rica). Guía para la elaboración de indicadores de gestión.</a:t>
            </a:r>
            <a:endParaRPr lang="en-US" sz="95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731520" y="1737360"/>
            <a:ext cx="7680960" cy="320040"/>
          </a:xfrm>
          <a:prstGeom prst="rect">
            <a:avLst/>
          </a:prstGeom>
          <a:noFill/>
          <a:ln/>
        </p:spPr>
        <p:txBody>
          <a:bodyPr wrap="square" rtlCol="0" anchor="ctr"/>
          <a:lstStyle/>
          <a:p>
            <a:pPr marL="0" indent="0" algn="ctr">
              <a:buNone/>
            </a:pPr>
            <a:r>
              <a:rPr lang="en-US" sz="1200" b="1" kern="0" spc="200" dirty="0">
                <a:solidFill>
                  <a:srgbClr val="FF9900"/>
                </a:solidFill>
                <a:latin typeface="Arial" pitchFamily="34" charset="0"/>
                <a:ea typeface="Arial" pitchFamily="34" charset="-122"/>
                <a:cs typeface="Arial" pitchFamily="34" charset="-120"/>
              </a:rPr>
              <a:t>CIERRE DEL TALLER</a:t>
            </a:r>
            <a:endParaRPr lang="en-US" sz="1200" dirty="0"/>
          </a:p>
        </p:txBody>
      </p:sp>
      <p:sp>
        <p:nvSpPr>
          <p:cNvPr id="3" name="Text 1"/>
          <p:cNvSpPr/>
          <p:nvPr/>
        </p:nvSpPr>
        <p:spPr>
          <a:xfrm>
            <a:off x="822960" y="2057400"/>
            <a:ext cx="7498080" cy="1554480"/>
          </a:xfrm>
          <a:prstGeom prst="rect">
            <a:avLst/>
          </a:prstGeom>
          <a:noFill/>
          <a:ln/>
        </p:spPr>
        <p:txBody>
          <a:bodyPr wrap="square" rtlCol="0" anchor="t"/>
          <a:lstStyle/>
          <a:p>
            <a:pPr marL="0" indent="0" algn="ctr">
              <a:buNone/>
            </a:pPr>
            <a:r>
              <a:rPr lang="en-US" sz="2000" b="1" i="1" dirty="0">
                <a:solidFill>
                  <a:srgbClr val="FFFFFF"/>
                </a:solidFill>
                <a:latin typeface="Arial" pitchFamily="34" charset="0"/>
                <a:ea typeface="Arial" pitchFamily="34" charset="-122"/>
                <a:cs typeface="Arial" pitchFamily="34" charset="-120"/>
              </a:rPr>
              <a:t>Una pregunta de gestión bien formulada, traducida en un indicador con rigor técnico, es la base de toda decisión pública basada en evidencia.</a:t>
            </a:r>
            <a:endParaRPr lang="en-US" sz="2000" dirty="0"/>
          </a:p>
        </p:txBody>
      </p:sp>
      <p:sp>
        <p:nvSpPr>
          <p:cNvPr id="4" name="Text 2"/>
          <p:cNvSpPr/>
          <p:nvPr/>
        </p:nvSpPr>
        <p:spPr>
          <a:xfrm>
            <a:off x="822960" y="3749040"/>
            <a:ext cx="7498080" cy="320040"/>
          </a:xfrm>
          <a:prstGeom prst="rect">
            <a:avLst/>
          </a:prstGeom>
          <a:noFill/>
          <a:ln/>
        </p:spPr>
        <p:txBody>
          <a:bodyPr wrap="square" rtlCol="0" anchor="ctr"/>
          <a:lstStyle/>
          <a:p>
            <a:pPr marL="0" indent="0" algn="ctr">
              <a:buNone/>
            </a:pPr>
            <a:r>
              <a:rPr lang="en-US" sz="1100" dirty="0">
                <a:solidFill>
                  <a:srgbClr val="9FB8D9"/>
                </a:solidFill>
                <a:latin typeface="Arial" pitchFamily="34" charset="0"/>
                <a:ea typeface="Arial" pitchFamily="34" charset="-122"/>
                <a:cs typeface="Arial" pitchFamily="34" charset="-120"/>
              </a:rPr>
              <a:t>Taller de Indicadores de Gestión Pública con IA · Ciclo 1</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TotalTime>
  <Words>5891</Words>
  <Application>Microsoft Office PowerPoint</Application>
  <PresentationFormat>Presentación en pantalla (16:9)</PresentationFormat>
  <Paragraphs>738</Paragraphs>
  <Slides>64</Slides>
  <Notes>64</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64</vt:i4>
      </vt:variant>
    </vt:vector>
  </HeadingPairs>
  <TitlesOfParts>
    <vt:vector size="68" baseType="lpstr">
      <vt:lpstr>Arial</vt:lpstr>
      <vt:lpstr>Calibri</vt:lpstr>
      <vt:lpstr>Consolas</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Sandra Carolina</cp:lastModifiedBy>
  <cp:revision>3</cp:revision>
  <dcterms:created xsi:type="dcterms:W3CDTF">2026-08-10T10:28:51Z</dcterms:created>
  <dcterms:modified xsi:type="dcterms:W3CDTF">2026-08-10T10:44:08Z</dcterms:modified>
</cp:coreProperties>
</file>