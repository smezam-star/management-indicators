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328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80" r:id="rId20"/>
    <p:sldId id="325" r:id="rId21"/>
    <p:sldId id="275" r:id="rId22"/>
    <p:sldId id="276" r:id="rId23"/>
    <p:sldId id="277" r:id="rId24"/>
    <p:sldId id="326" r:id="rId25"/>
    <p:sldId id="329" r:id="rId26"/>
    <p:sldId id="330" r:id="rId27"/>
    <p:sldId id="278" r:id="rId28"/>
    <p:sldId id="279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58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53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8845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2792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1732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8 · CICLO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7498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de Preguntas de Gestión y su Traducción a Indicadores Públicos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guía de optimización de Inteligencia Artificial y simulador interactivo en línea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de referencia: DNP (Sinergia) · DANE · DAFP–MIPG · CEPAL/ILPES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organiza este taller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1: marco conceptual, tipología de indicadores, método de 5 pasos, ficha técnica y errores comunes, con actividades prácticas individuales en cada módulo.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2: el rol de la Inteligencia Artificial como potenciador, la herramienta Claude.ai, el kit de prompts y el Simulador interactivo del taller.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3: taller práctico en vivo — el caso guía se desarrolla en el Simulador; 3 casos adicionales quedan de referencia impresa, más 3 ejercicios para practicar de forma autónoma.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566160"/>
            <a:ext cx="7863840" cy="822960"/>
          </a:xfrm>
          <a:prstGeom prst="roundRect">
            <a:avLst>
              <a:gd name="adj" fmla="val 5556"/>
            </a:avLst>
          </a:prstGeom>
          <a:solidFill>
            <a:srgbClr val="EDF3F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65760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ejemplo desarrollado incluye los 8 elementos del taller: pregunta de gestión, población, atributo, ámbito, referente de comparación, eslabón de la cadena de valor, nombre del indicador y fórmula — además del prompt de IA usado.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1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y Tipología de Indicadores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conceptual y metodológico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9044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de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CONCEPTUAL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Dato, Indicador y Pregunta de Gestión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17320"/>
            <a:ext cx="2511552" cy="2926080"/>
          </a:xfrm>
          <a:prstGeom prst="roundRect">
            <a:avLst>
              <a:gd name="adj" fmla="val 2184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Dato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331720"/>
            <a:ext cx="223723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puntual, sin procesar ni interpretar. Ej: "350 gestantes atendidas en abril de 2026".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316224" y="1417320"/>
            <a:ext cx="2511552" cy="2926080"/>
          </a:xfrm>
          <a:prstGeom prst="roundRect">
            <a:avLst>
              <a:gd name="adj" fmla="val 2184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3453384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3453384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53384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Indicador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53384" y="2331720"/>
            <a:ext cx="223723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 matemática entre datos que mide cumplimiento y permite comparar. Ej: "% de gestantes con 4+ controles".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992368" y="1417320"/>
            <a:ext cx="2511552" cy="2926080"/>
          </a:xfrm>
          <a:prstGeom prst="roundRect">
            <a:avLst>
              <a:gd name="adj" fmla="val 2184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6129528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6129528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9528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· Pregunta de gestión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29528" y="2331720"/>
            <a:ext cx="223723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orientadora que determina qué medir y para qué. Ej: "¿Garantizamos controles prenatales suficientes?".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7498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lógico correcto no es “tengo datos, veamos qué indicador armo”, sino “tengo una pregunta de gestión, defino qué datos necesito y con ellos construyo el indicador que la responde”.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VALOR PÚBLICA (DNP)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Valor Pública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1441094" cy="2651760"/>
          </a:xfrm>
          <a:prstGeom prst="roundRect">
            <a:avLst>
              <a:gd name="adj" fmla="val 3807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121408"/>
            <a:ext cx="11667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Insumos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468880"/>
            <a:ext cx="116677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financieros, humanos y físicos disponibles.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245766" y="1554480"/>
            <a:ext cx="1441094" cy="2651760"/>
          </a:xfrm>
          <a:prstGeom prst="roundRect">
            <a:avLst>
              <a:gd name="adj" fmla="val 3807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2382926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2382926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382926" y="2121408"/>
            <a:ext cx="11667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Actividades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382926" y="2468880"/>
            <a:ext cx="116677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y acciones realizadas.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851453" y="1554480"/>
            <a:ext cx="1441094" cy="2651760"/>
          </a:xfrm>
          <a:prstGeom prst="roundRect">
            <a:avLst>
              <a:gd name="adj" fmla="val 3807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3988613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3988613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988613" y="2121408"/>
            <a:ext cx="11667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Productos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988613" y="2468880"/>
            <a:ext cx="116677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 o servicios entregados a la población.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57139" y="1554480"/>
            <a:ext cx="1441094" cy="2651760"/>
          </a:xfrm>
          <a:prstGeom prst="roundRect">
            <a:avLst>
              <a:gd name="adj" fmla="val 3807"/>
            </a:avLst>
          </a:prstGeom>
          <a:solidFill>
            <a:srgbClr val="EDF3F9"/>
          </a:solidFill>
          <a:ln/>
        </p:spPr>
      </p:sp>
      <p:sp>
        <p:nvSpPr>
          <p:cNvPr id="24" name="Shape 21"/>
          <p:cNvSpPr/>
          <p:nvPr/>
        </p:nvSpPr>
        <p:spPr>
          <a:xfrm>
            <a:off x="5594299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5" name="Text 22"/>
          <p:cNvSpPr/>
          <p:nvPr/>
        </p:nvSpPr>
        <p:spPr>
          <a:xfrm>
            <a:off x="5594299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594299" y="2121408"/>
            <a:ext cx="11667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Resultados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594299" y="2468880"/>
            <a:ext cx="116677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en comportamiento, acceso o condición.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062826" y="1554480"/>
            <a:ext cx="1441094" cy="2651760"/>
          </a:xfrm>
          <a:prstGeom prst="roundRect">
            <a:avLst>
              <a:gd name="adj" fmla="val 3807"/>
            </a:avLst>
          </a:prstGeom>
          <a:solidFill>
            <a:srgbClr val="EDF3F9"/>
          </a:solidFill>
          <a:ln/>
        </p:spPr>
      </p:sp>
      <p:sp>
        <p:nvSpPr>
          <p:cNvPr id="29" name="Shape 26"/>
          <p:cNvSpPr/>
          <p:nvPr/>
        </p:nvSpPr>
        <p:spPr>
          <a:xfrm>
            <a:off x="7199986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30" name="Text 27"/>
          <p:cNvSpPr/>
          <p:nvPr/>
        </p:nvSpPr>
        <p:spPr>
          <a:xfrm>
            <a:off x="7199986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199986" y="2121408"/>
            <a:ext cx="11667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Impactos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199986" y="2468880"/>
            <a:ext cx="116677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estructurales de largo plazo.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VALOR PÚBLICA (DNP)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Eslabones de la Cadena de Valor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2743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Insumos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/ insumo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ejecutado en dotación de puestos de salud rurales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/ proceso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 de jornadas de control prenatal realizadas en zona rural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 de gestantes rurales atendidas con al menos 1 control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gestantes rurales con 4 o más controles prenatales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Razón de mortalidad materna en zona rural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ACLARACIÓN DE CONCEPTO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vs. Resultado: la Confusión Más Frecuente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554480"/>
          </a:xfrm>
          <a:prstGeom prst="roundRect">
            <a:avLst>
              <a:gd name="adj" fmla="val 2941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(lo que entregamos)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“Kits escolares entregados a estudiantes de zona rural” — cuenta una entrega, no un cambio.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554480"/>
          </a:xfrm>
          <a:prstGeom prst="roundRect">
            <a:avLst>
              <a:gd name="adj" fmla="val 2941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(lo que cambió)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“% de estudiantes que permanecen matriculados hasta fin de año” — cuenta un cambio en la población.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3520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control: ¿esto describe algo que la entidad entregó, o algo que cambió en la vida de la población? Si es lo primero, es producto; si es lo segundo, es resultado.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TIPOLOGÍA DE INDICADORES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Tipología según Dimensión de Gestión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27432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mide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referencia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entre resultados obtenidos y recursos empleados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de producto ÷ Recursos utilizados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Grado de cumplimiento de las metas programadas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(Meta alcanzada ÷ Meta planeada)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Efectividad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Síntesis del logro simultáneo de eficiencia y eficacia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evalúa combinando ambos índices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Economía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 administrar recursos al menor costo posible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(Costos de insumo ÷ Inversión total)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Oportunidad, accesibilidad, percepción y precisión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Encuestas de percepción, tiempos de respuesta, tasas de error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DANE (EFET) · DAFP MIPG v4 (2018) · Armijo &amp; Bonnefoy, CEPAL/ILPES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TIPOLOGÍA DE INDICADORES · EJEMPLO APLICADO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Numérico: Las 5 Dimensiones en Cifras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27432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 con datos de ejemplo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e interpretación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IEf = Controles realizados ÷ Recurso empleado = 8.400 controles ÷ 700 horas-profesional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controles prenatales por cada hora profesional disponible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 = (Meta alcanzada ÷ Meta planeada) × 100 = (850 ÷ 1.000)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de cumplimiento de la meta anual de gestantes con 4+ controles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Efectividad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 IE = 85% (eficacia) con IEf estable (sin sobrecosto por control adicional)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logró el 85% de la meta sin incrementar el costo unitario del servicio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Economía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IEc = (Costo de insumos ejecutado ÷ Inversión total) × 100 = ($340M ÷ $400M)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de ejecución presupuestal dentro de lo previsto (15% de ahorro relativo)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satisfacción = (Usuarias satisfechas ÷ Usuarias encuestadas) × 100 = (184 ÷ 200)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 de percepción positiva sobre oportunidad y accesibilidad del servicio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fórmulas de DANE (EFET) · DAFP MIPG v4 (2018) · Armijo y Bonnefoy, CEPAL/ILPES. Cifras ilustrativas con fines pedagógicos.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ACLARACIÓN DE CONCEPTO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vs. Eficacia: la Segunda Confusión Frecuente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554480"/>
          </a:xfrm>
          <a:prstGeom prst="roundRect">
            <a:avLst>
              <a:gd name="adj" fmla="val 2941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Eficacia (¿llegamos a la meta?)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“100% de las metas de vacunación programadas fueron cumplidas” — no dice nada del costo.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554480"/>
          </a:xfrm>
          <a:prstGeom prst="roundRect">
            <a:avLst>
              <a:gd name="adj" fmla="val 2941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(¿a qué costo llegamos?)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“Costo por dosis aplicada, comparado con el estándar sectorial” — mide el uso de los recursos.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3520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programa puede ser eficaz (cumplió la meta) y a la vez ineficiente (gastó de más para lograrlo) — por eso siempre conviene mirar ambas dimensiones juntas, nunca una sola.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PRÁCTICA · MÓDULO 1 (7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Clasifique: Dato, Indicador o Pregunta de Gestión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325880"/>
            <a:ext cx="7863840" cy="365760"/>
          </a:xfrm>
          <a:prstGeom prst="roundRect">
            <a:avLst>
              <a:gd name="adj" fmla="val 10000"/>
            </a:avLst>
          </a:prstGeom>
          <a:solidFill>
            <a:srgbClr val="FC6E01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13258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individual · escriban su respuesta en el chat cuando se indique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2688336"/>
        </p:xfrm>
        <a:graphic>
          <a:graphicData uri="http://schemas.openxmlformats.org/drawingml/2006/table">
            <a:tbl>
              <a:tblPr/>
              <a:tblGrid>
                <a:gridCol w="6309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 viviendas VIS entregadas en el municipio en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viviendas VIS con conexión a acueducto, respecto a la meta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¿Estamos cerrando la brecha de acceso a agua potable rural?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kilómetros de vía pavimentados en la vigencia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cobertura de vacunación infantil frente al año anterior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¿Los programas culturales llegan a los jóvenes de las comunas alejadas?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· MÓDULO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— Clasifique: Dato, Indicador o Pregunta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43857"/>
              </p:ext>
            </p:extLst>
          </p:nvPr>
        </p:nvGraphicFramePr>
        <p:xfrm>
          <a:off x="640080" y="1488152"/>
          <a:ext cx="7863840" cy="2688336"/>
        </p:xfrm>
        <a:graphic>
          <a:graphicData uri="http://schemas.openxmlformats.org/drawingml/2006/table">
            <a:tbl>
              <a:tblPr/>
              <a:tblGrid>
                <a:gridCol w="6309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correcta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 viviendas VIS entregadas en el municipio en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viviendas VIS con conexión a acueducto, respecto a la meta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¿Estamos cerrando la brecha de acceso a agua potable rural?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Pregunta de gestión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kilómetros de vía pavimentados en la vigencia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cobertura de vacunación infantil frente al año anterior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¿Los programas culturales llegan a los jóvenes de las comunas alejadas?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Pregunta de gestión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PRÁCTICA · MÓDULO 1 (7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Ubique en la Cadena de Valor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325880"/>
            <a:ext cx="7863840" cy="365760"/>
          </a:xfrm>
          <a:prstGeom prst="roundRect">
            <a:avLst>
              <a:gd name="adj" fmla="val 10000"/>
            </a:avLst>
          </a:prstGeom>
          <a:solidFill>
            <a:srgbClr val="FC6E01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13258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individual · misma mecánica que la actividad anterior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2304288"/>
        </p:xfrm>
        <a:graphic>
          <a:graphicData uri="http://schemas.openxmlformats.org/drawingml/2006/table">
            <a:tbl>
              <a:tblPr/>
              <a:tblGrid>
                <a:gridCol w="6309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asignado para el mejoramiento de vías terciarias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 de brigadas de bacheo realizadas en el trimestre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Kilómetros de vía terciaria mejorados en el periodo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Reducción del tiempo de desplazamiento rural-urbano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Incremento del ingreso agrícola por mejor acceso a mercado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· MÓDULO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— Ubique en la Cadena de Valor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0048337"/>
              </p:ext>
            </p:extLst>
          </p:nvPr>
        </p:nvGraphicFramePr>
        <p:xfrm>
          <a:off x="640080" y="1467748"/>
          <a:ext cx="7863840" cy="2304288"/>
        </p:xfrm>
        <a:graphic>
          <a:graphicData uri="http://schemas.openxmlformats.org/drawingml/2006/table">
            <a:tbl>
              <a:tblPr/>
              <a:tblGrid>
                <a:gridCol w="6309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correcto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asignado para el mejoramiento de vías terciarias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Insumo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 de brigadas de bacheo realizadas en el trimestre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Kilómetros de vía terciaria mejorados en el periodo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Reducción del tiempo de desplazamiento rural-urbano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Incremento del ingreso agrícola por mejor acceso a mercado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1 · MÓDULO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para Transformar una Pregunta Vaga en un Indicador Medible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5 pasos: DNP + SMART + CREMAS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9044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de 3 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Capturar la Pregunta Vaga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anota literalmente la pregunta tal como la formula el ciudadano, el directivo o el equipo técnico, sin corregirla todavía.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Ejemplos típicos: “¿cómo va la salud?”, “¿cómo va la seguridad?”, “¿está funcionando el programa?”.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Los 4 Componentes de la Pregunta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Población o unidad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620370"/>
            <a:ext cx="1568196" cy="1494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¿Sobre quién o qué se pregunta? (gestantes, estudiantes, viviendas, hectáreas).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647188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2784348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2784348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784348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Atributo o dimensión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84348" y="2620370"/>
            <a:ext cx="1568196" cy="1494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característica interesa? (cobertura, calidad, oportunidad, resultado).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54296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4791456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4791456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791456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Ámbito territorial/temporal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91456" y="2620370"/>
            <a:ext cx="1568196" cy="1494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¿Dónde y en qué periodo? (zona rural del municipio X, 2026 vs. 2025).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661404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24" name="Shape 21"/>
          <p:cNvSpPr/>
          <p:nvPr/>
        </p:nvSpPr>
        <p:spPr>
          <a:xfrm>
            <a:off x="6798564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5" name="Text 22"/>
          <p:cNvSpPr/>
          <p:nvPr/>
        </p:nvSpPr>
        <p:spPr>
          <a:xfrm>
            <a:off x="6798564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98564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Referente de comparación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798564" y="2620370"/>
            <a:ext cx="1568196" cy="14125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¿Frente a qué se evalúa? (meta, año anterior, otro territorio, estándar).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PRÁCTICA INDIVIDUAL 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de los Pasos 1 y 2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Escenario: pregunta vaga distinta a los </a:t>
            </a:r>
            <a:r>
              <a:rPr lang="en-US" sz="1150" dirty="0" err="1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</a:t>
            </a: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50" dirty="0" err="1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</a:t>
            </a: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del directivo: “¿El programa de bibliotecas públicas municipales está funcionando?”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7863840" cy="19202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respuesta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o unidad de análisis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________________________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________________________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________________________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________________________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PRÁCTICA INDIVIDUAL 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de los Pasos 1 y 2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Escenario: pregunta vaga distinta a los </a:t>
            </a:r>
            <a:r>
              <a:rPr lang="en-US" sz="1150" dirty="0" err="1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</a:t>
            </a: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50" dirty="0" err="1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</a:t>
            </a: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del directivo: “¿El programa de bibliotecas públicas municipales está funcionando?”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759199"/>
              </p:ext>
            </p:extLst>
          </p:nvPr>
        </p:nvGraphicFramePr>
        <p:xfrm>
          <a:off x="640080" y="2194560"/>
          <a:ext cx="7863840" cy="192024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respuesta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o unidad de análisis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programa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bibliotecas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públicas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municipales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(o los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servicios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bibliotecarios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usuarios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del </a:t>
                      </a:r>
                      <a:r>
                        <a:rPr lang="en-US" sz="1000" dirty="0" err="1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programa</a:t>
                      </a:r>
                      <a:r>
                        <a:rPr lang="en-U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Desempeño / Funcionamiento (desglosado en variables como cobertura de usuarios, calidad del servicio, frecuencia de uso o eficacia)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" sz="1000" kern="1200" dirty="0">
                          <a:solidFill>
                            <a:srgbClr val="2F3B4C"/>
                          </a:solidFill>
                          <a:latin typeface="Arial" pitchFamily="34" charset="0"/>
                          <a:cs typeface="Arial" pitchFamily="34" charset="-120"/>
                        </a:rPr>
                        <a:t>Ámbito municipal (territorial) y el año/periodo en curso o año evaluado (temporal)</a:t>
                      </a:r>
                      <a:endParaRPr lang="en-US" sz="1000" kern="1200" dirty="0">
                        <a:solidFill>
                          <a:srgbClr val="2F3B4C"/>
                        </a:solidFill>
                        <a:latin typeface="Arial" pitchFamily="34" charset="0"/>
                        <a:ea typeface="Arial" charset="0"/>
                        <a:cs typeface="Arial" pitchFamily="34" charset="-12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" sz="10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del Plan de Desarrollo Municipal, resultados del año anterior o un estándar de calidad del servicio.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869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Ubicar el Objetivo en la Cadena de Valor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componentes del Paso 2, se identifica si la pregunta apunta a un insumo, una actividad, un producto, un resultado o un impacto.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evita el error más común: redactar como “resultado” algo que en realidad es apenas un “producto” o un “insumo”.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la tabla de eslabones (módulo 1) como referencia rápida durante este paso.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 · Formular el Indicador con Criterios de Calidad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371600"/>
            <a:ext cx="7863840" cy="621792"/>
          </a:xfrm>
          <a:prstGeom prst="roundRect">
            <a:avLst>
              <a:gd name="adj" fmla="val 5882"/>
            </a:avLst>
          </a:prstGeom>
          <a:solidFill>
            <a:srgbClr val="173F72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nombre = 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 de medición + Condición deseada (participio) + Contexto descriptivo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Ej: “Construir 45 km de vías terciarias en la zona norte” → “Kilómetros de vías terciarias construidos en la zona norte del municipio”.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7863840" cy="224028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 (del objetivo)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CREMAS (del indicador)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· Specific (específico)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Claro: preciso, sin ambigüedad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· Measurable (medible)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· Relevante: pertinente frente a lo evaluado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Achievable (realizable)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· Económico: costo razonable de obtención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· Realistic (realista)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· Medible: verificable, con fuente identificable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· Time-bound (limitado en tiempo)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Adecuado: base suficiente para juzgar desempeño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· Sensible: capta cambios en el tiempo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 · DEL SIMULADOR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Mide? Tipos de Acumulación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173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3317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que se repiten anualmente.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316224" y="14173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3453384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3453384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53384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53384" y="23317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los avances de cada año.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992368" y="14173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6129528" y="15544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6129528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9528" y="19842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29528" y="23317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Mide el esfuerzo por mantener un resultado.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40080" y="30175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24" name="Shape 21"/>
          <p:cNvSpPr/>
          <p:nvPr/>
        </p:nvSpPr>
        <p:spPr>
          <a:xfrm>
            <a:off x="777240" y="31546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5" name="Text 22"/>
          <p:cNvSpPr/>
          <p:nvPr/>
        </p:nvSpPr>
        <p:spPr>
          <a:xfrm>
            <a:off x="77724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77240" y="35844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77240" y="39319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restando línea base a la meta.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316224" y="30175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29" name="Shape 26"/>
          <p:cNvSpPr/>
          <p:nvPr/>
        </p:nvSpPr>
        <p:spPr>
          <a:xfrm>
            <a:off x="3453384" y="31546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30" name="Text 27"/>
          <p:cNvSpPr/>
          <p:nvPr/>
        </p:nvSpPr>
        <p:spPr>
          <a:xfrm>
            <a:off x="3453384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453384" y="35844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3453384" y="39319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Esfuerzo por disminuir frente a línea base.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992368" y="3017520"/>
            <a:ext cx="2511552" cy="1417320"/>
          </a:xfrm>
          <a:prstGeom prst="roundRect">
            <a:avLst>
              <a:gd name="adj" fmla="val 3871"/>
            </a:avLst>
          </a:prstGeom>
          <a:solidFill>
            <a:srgbClr val="EDF3F9"/>
          </a:solidFill>
          <a:ln/>
        </p:spPr>
      </p:sp>
      <p:sp>
        <p:nvSpPr>
          <p:cNvPr id="34" name="Shape 31"/>
          <p:cNvSpPr/>
          <p:nvPr/>
        </p:nvSpPr>
        <p:spPr>
          <a:xfrm>
            <a:off x="6129528" y="31546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35" name="Text 32"/>
          <p:cNvSpPr/>
          <p:nvPr/>
        </p:nvSpPr>
        <p:spPr>
          <a:xfrm>
            <a:off x="6129528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129528" y="358444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Anual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129528" y="3931920"/>
            <a:ext cx="22372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 avances para que sea menor al año anterior.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 · RIGOR MATEMÁTICO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Acumulación: Fórmulas de % de Avance (1/2)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acumulación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% de avance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 cuando...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%Avance(t) = [Avance(t) ÷ Meta Anual(t)] × 100 · Meta Anual = Meta Cuatrienio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meta exige mantener una capacidad instalada constante en el tiempo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%Avance(t) = [Avance(t) ÷ Meta Anual(t)] × 100 · %Avance Cuatrienio = [Avance último año ÷ Meta Cuatrienio]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Logros que se repiten cada año; todos los años inician en cero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Acumulado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 Cuatrienio = [ΣAvance(t) ÷ Meta Cuatrienio] × 100 · Meta Cuatrienio = ΣMeta Anual(t)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año aporta una cantidad que se suma al resultado final del periodo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DNP (2020). Guía metodológica para la formulación de indicadores; DNP – Sinergia.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 · RIGOR MATEMÁTICO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Acumulación: Fórmulas de % de Avance (2/2)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8638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acumulación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% de avance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 cuando...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%Avance(t) = [(Avance(t) − LB) ÷ (Meta Anual(t) − LB)]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parte de una línea base (LB) mayor a 0 y se busca incrementarla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%Avance(t) = [(LB − Avance(t)) ÷ (LB − Meta Anual(t))]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busca disminuir un problema (desempleo, delincuencia); la Meta debe ser menor que la LB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Reducción Anual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%Avance(m) = [(LB/12×m − Avance(m)) ÷ (LB/12×m − Meta_a/12×m)]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Disminución intrayual acumulada mes a mes (ej. homicidios), para alertas tempranas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DNP (2020). Guía metodológica para la formulación de indicadores; DNP – Sinergia.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 · DEL SIMULADOR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Mide? Tipos de Acumulación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453384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7724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3453384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129528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AE143927-8BC9-4218-B784-AC2A90550B1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66" t="25607" r="3200" b="11466"/>
          <a:stretch/>
        </p:blipFill>
        <p:spPr>
          <a:xfrm>
            <a:off x="390144" y="1330452"/>
            <a:ext cx="8461248" cy="320222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504816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PRÁCTICA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7498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 leer el indicador en voz alta no queda claro qué se cuenta, sobre quién, en qué periodo y contra qué se compara, todavía es una pregunta vaga disfrazada de indicador.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5 · Redactar la Ficha Técnica y Validar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indicador se documenta en una ficha técnica estandarizada.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somete a validación con quienes tomarán decisiones a partir de él.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clave de validación: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fuente es confiable y accesible?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periodicidad permite decidir a tiempo?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meta es realista?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GESTIÓN REFINADA (EJEMPLO POSIBLE)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7498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usuarios de las bibliotecas públicas municipales están accediendo con la frecuencia y diversidad de servicios previstos en el plan de desarrollo, frente al año anterior?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una única respuesta correcta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 5 PASOS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Plantilla de Ficha Técnica del Indicador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7863840" cy="3072384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Plantilla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Ejemplo: Salud Materna Rural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Pregunta de gestión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[Pregunta ya refinada]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¿Garantizamos controles prenatales adecuados y mejoramos frente al año anterior?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del indicador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[Nombre corto y descriptivo]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gestantes rurales con 4+ controles prenatales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cadena de valor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[Insumo/Actividad/Producto/Resultado/Impacto]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cálculo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[Numerador/Denominador × 100]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(gestantes con ≥4 controles / total gestantes) × 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de información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[Sistema o registro oficial]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RIPS – SISPRO (MinSalud)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/ Meta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[Valor y año de referencia]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año t-1 / incremento definido por la entidad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1 · MÓDULO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 al Formular Indicadores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errores frecuentes, con ejemplo antes/después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9044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de 3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Confundir Producto con Resultado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Versión con el error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“Número de talleres de emprendimiento realizados” — esto es un producto, no un resultado.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Versión corregida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“% de participantes del taller que reportan ingresos formales seis meses después”.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 sin Fuente de Datos Identificada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Versión con el error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“Nivel de satisfacción ciudadana con el espacio público” — sin decir cómo ni con qué instrumento se mide.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Versión corregida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indicador, medido mediante encuesta de percepción ciudadana aplicada anualmente por la oficina de planeación.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Metas “a Ojo”, sin Línea Base Verificada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Versión con el error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“Reducir la deserción escolar a la mitad” — sin cifra de partida.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Versión corregida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“Reducir la deserción escolar del 8,2% (línea base 2025) al 4,1% en 2027”.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Redactar Preguntas que Presuponen la Respuesta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Versión con el error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“¿Por qué ha mejorado tanto la cobertura de salud rural?” — asume que sí mejoró.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Versión corregida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“¿Ha mejorado la cobertura de salud rural en el último año, y en qué magnitud?”.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COMUNES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el Primer Borrador de la IA sin Contrastar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FBEAE8"/>
          </a:solidFill>
          <a:ln w="9525">
            <a:solidFill>
              <a:srgbClr val="D953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Versión con el error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técnica publicada con línea base “62% (estimado por el modelo de IA)”.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737360"/>
            <a:ext cx="3794760" cy="1828800"/>
          </a:xfrm>
          <a:prstGeom prst="roundRect">
            <a:avLst>
              <a:gd name="adj" fmla="val 2500"/>
            </a:avLst>
          </a:prstGeom>
          <a:solidFill>
            <a:srgbClr val="E9F6EC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8105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Versión corregida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066544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base marcada como [VERIFICAR EN ENTIDAD] hasta confirmarla con la fuente oficial.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PRÁCTICA · MÓDULO 3 (10 MIN)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Detecte el Error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325880"/>
            <a:ext cx="7863840" cy="347472"/>
          </a:xfrm>
          <a:prstGeom prst="roundRect">
            <a:avLst>
              <a:gd name="adj" fmla="val 10526"/>
            </a:avLst>
          </a:prstGeom>
          <a:solidFill>
            <a:srgbClr val="FC6E01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132588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individual · cada enunciado tiene exactamente uno de los 5 errores vistos</a:t>
            </a:r>
            <a:endParaRPr lang="en-US" sz="10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2304288"/>
        </p:xfrm>
        <a:graphic>
          <a:graphicData uri="http://schemas.openxmlformats.org/drawingml/2006/table">
            <a:tbl>
              <a:tblPr/>
              <a:tblGrid>
                <a:gridCol w="667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(1-5)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A. “Computadores entregados”, presentado como indicador de resultado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B. “Índice de confianza ciudadana”, sin especificar instrumento ni fuente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 “Aumentar significativamente la cobertura de agua para 2027”, sin cifra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“¿Por qué ha bajado tanto la inseguridad este año?”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E. Ficha con línea base “62% estimado por IA, sin verificar”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____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· MÓDULO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— Detecte el Error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6745504"/>
              </p:ext>
            </p:extLst>
          </p:nvPr>
        </p:nvGraphicFramePr>
        <p:xfrm>
          <a:off x="640080" y="1316736"/>
          <a:ext cx="7863840" cy="2852928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A. “Computadores entregados”, como indicador de resultado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Producto disfrazado de resultado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B. “Índice de confianza ciudadana”, sin instrumento ni fuente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Sin fuente identificada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 “Aumentar cobertura de agua para 2027”, sin cifra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Meta sin línea base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“¿Por qué ha bajado tanto la inseguridad este año?”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Presupone la respuesta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E. Línea base “62% estimado por IA, sin verificar”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Acepta borrador de IA sin contrastar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2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Inteligencia Artificial como Potenciador, no como Reemplazo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rol de la IA en la construcción de indicadores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9044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2 de 3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 RECTOR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7498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es un potenciador de actividades, no un sustituto del juicio técnico y político. La pregunta de gestión la formula el equipo que conoce el problema público, el territorio y la ciudadanía; la IA ayuda a que quede mejor redactada, mejor estructurada y más rápido documentada.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COMO POTENCIADOR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Sí Ayuda la IA (con rigor)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preguntas vagas — chequear si cumple los 4 componentes del Paso 2 y señalar cuáles faltan.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de alternativas de indicador — proponer 3-5 formulaciones posibles para que el equipo elija y ajuste.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Borrador de ficha técnica — redactar un primer borrador completo (fórmula, unidad, posibles fuentes).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Traducción a lenguaje ciudadano — convertir la ficha técnica en una explicación breve para rendición de cuentas.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cruzada de calidad — aplicar sistemáticamente los criterios SMART/CREMAS y señalar inconsistencias.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Organización y documentación — consolidar las fichas técnicas en una matriz ordenada (Word/Excel).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COMO POTENCIADOR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NO Debe Decidir la IA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Prioridad de la pregunta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del mandato, el contexto político y las necesidades ciudadanas.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647188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2784348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2784348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784348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Meta o línea base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84348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Deben salir de datos oficiales verificados, no de estimaciones del modelo.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54296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4791456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4791456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791456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Interpretación política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91456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lectura política o social del resultado de un indicador.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661404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24" name="Shape 21"/>
          <p:cNvSpPr/>
          <p:nvPr/>
        </p:nvSpPr>
        <p:spPr>
          <a:xfrm>
            <a:off x="6798564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5" name="Text 22"/>
          <p:cNvSpPr/>
          <p:nvPr/>
        </p:nvSpPr>
        <p:spPr>
          <a:xfrm>
            <a:off x="6798564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98564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Validación de la fuente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798564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debe confirmarse contra el sistema oficial (DANE, SISPRO, TerriData, etc.).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COMO POTENCIADOR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para Equipos de Gestión Pública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2511552" cy="2468880"/>
          </a:xfrm>
          <a:prstGeom prst="roundRect">
            <a:avLst>
              <a:gd name="adj" fmla="val 2222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12140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inmediato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468880"/>
            <a:ext cx="22372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desde el navegador, sin instalación; plan gratuito para practicar en el taller.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316224" y="1554480"/>
            <a:ext cx="2511552" cy="2468880"/>
          </a:xfrm>
          <a:prstGeom prst="roundRect">
            <a:avLst>
              <a:gd name="adj" fmla="val 2222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3453384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3453384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53384" y="212140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 con documentos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53384" y="2468880"/>
            <a:ext cx="22372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subir la matriz de indicadores en Word o Excel y trabajar sobre ella, en español.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992368" y="1554480"/>
            <a:ext cx="2511552" cy="2468880"/>
          </a:xfrm>
          <a:prstGeom prst="roundRect">
            <a:avLst>
              <a:gd name="adj" fmla="val 2222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6129528" y="169164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6129528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9528" y="2121408"/>
            <a:ext cx="2237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Entregables usables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29528" y="2468880"/>
            <a:ext cx="22372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la ficha técnica en formato de documento o tabla, lista para revisión del equipo.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Nota: los planes y límites de uso cambian con el tiempo; revise las condiciones vigentes en claude.ai o support.claude.com antes del taller.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SIMULADOR · ¿QUÉ ES UN INDICADOR?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Jerarquías: Niveles de Intervención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645920"/>
            <a:ext cx="3849624" cy="2194560"/>
          </a:xfrm>
          <a:prstGeom prst="roundRect">
            <a:avLst>
              <a:gd name="adj" fmla="val 2500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7830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212848"/>
            <a:ext cx="357530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Estratégicos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560320"/>
            <a:ext cx="3575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Miden los resultados finales e impactos: cambios en el bienestar de la población objetivo.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654296" y="1645920"/>
            <a:ext cx="3849624" cy="2194560"/>
          </a:xfrm>
          <a:prstGeom prst="roundRect">
            <a:avLst>
              <a:gd name="adj" fmla="val 2500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4791456" y="178308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4791456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791456" y="2212848"/>
            <a:ext cx="357530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de Gestión / Operativos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91456" y="2560320"/>
            <a:ext cx="3575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Miden los procesos, actividades e insumos internos de la entidad — el día a día operativo.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indicador es una representación cuantitativa o cualitativa que describe características o comportamientos de la realidad en el tiempo, comparada con metas o periodos anteriores (DANE/ESAP).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2 · KIT DE PROMPTS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Generar Prompts para Automatizar el Proceso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claro + insumo + instrucciones + criterio de calidad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 PROMPTS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Anatomía de un Buen Prompt Técnico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claro para el modelo — “Actúa como experto en indicadores de salud pública (metodologías DNP y MinSalud)”.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Insumo concreto que se pega — la pregunta de gestión, el borrador de indicador o la batería completa.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explícitas y numeradas — qué debe producir el modelo, paso a paso.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calidad para validar su respuesta — SMART, CREMAS, cadena de valor.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 PROMPTS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1 y 2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122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Nota: son 4 herramientas independientes para momentos distintos del método — no es obligatorio encadenarlas en orden.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40080" y="1645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(Claude.ai, Gemini)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938528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029968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1 — Diagnóstico: “Tengo esta pregunta de gestión: [pegar]. Evalúa si cumple los 4 componentes (población, atributo, ámbito, referente) y dime cuáles faltan. Propón 3 opciones de reformulación.”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0080" y="3063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(Claude.ai, Gemini)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3355848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3447288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2 — Generación de alternativas: “A partir de esta pregunta ya refinada: [pegar], propón 3 indicadores con fórmula, unidad, eslabón y fuente posible, siguiendo CREMAS.”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 PROMPTS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3 y 4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(Claude.ai, Gemini)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847088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938528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3 — Borrador de ficha técnica: “Redacta el borrador de la ficha técnica usando esta plantilla: [pegar]. Marca como [VERIFICAR EN ENTIDAD] los campos que dependen de datos oficiales.”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9718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(Claude.ai, Gemini)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264408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355848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4 — Auditoría de batería: “Revisa esta lista de indicadores: [pegar]. Señala cuáles son de producto disfrazados de resultado y marca posibles redundancias.”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 PROMPTS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Salvaguardas para no Perder Rigor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Verificación Humana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indicador se usa para decisiones sin revisión de un responsable técnico.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647188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4" name="Shape 11"/>
          <p:cNvSpPr/>
          <p:nvPr/>
        </p:nvSpPr>
        <p:spPr>
          <a:xfrm>
            <a:off x="2784348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15" name="Text 12"/>
          <p:cNvSpPr/>
          <p:nvPr/>
        </p:nvSpPr>
        <p:spPr>
          <a:xfrm>
            <a:off x="2784348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784348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Trazabilidad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84348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cifra debe rastrearse a su fuente oficial; la IA apoya redacción, no es fuente de datos.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54296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19" name="Shape 16"/>
          <p:cNvSpPr/>
          <p:nvPr/>
        </p:nvSpPr>
        <p:spPr>
          <a:xfrm>
            <a:off x="4791456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0" name="Text 17"/>
          <p:cNvSpPr/>
          <p:nvPr/>
        </p:nvSpPr>
        <p:spPr>
          <a:xfrm>
            <a:off x="4791456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791456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Transparencia metodológica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91456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una ficha tuvo apoyo de IA, se deja constancia de ello.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661404" y="1463040"/>
            <a:ext cx="1842516" cy="2743200"/>
          </a:xfrm>
          <a:prstGeom prst="roundRect">
            <a:avLst>
              <a:gd name="adj" fmla="val 2978"/>
            </a:avLst>
          </a:prstGeom>
          <a:solidFill>
            <a:srgbClr val="EDF3F9"/>
          </a:solidFill>
          <a:ln/>
        </p:spPr>
      </p:sp>
      <p:sp>
        <p:nvSpPr>
          <p:cNvPr id="24" name="Shape 21"/>
          <p:cNvSpPr/>
          <p:nvPr/>
        </p:nvSpPr>
        <p:spPr>
          <a:xfrm>
            <a:off x="6798564" y="1600200"/>
            <a:ext cx="365760" cy="365760"/>
          </a:xfrm>
          <a:prstGeom prst="ellipse">
            <a:avLst/>
          </a:prstGeom>
          <a:solidFill>
            <a:srgbClr val="FC6E01"/>
          </a:solidFill>
          <a:ln/>
        </p:spPr>
      </p:sp>
      <p:sp>
        <p:nvSpPr>
          <p:cNvPr id="25" name="Text 22"/>
          <p:cNvSpPr/>
          <p:nvPr/>
        </p:nvSpPr>
        <p:spPr>
          <a:xfrm>
            <a:off x="6798564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98564" y="2029968"/>
            <a:ext cx="15681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El equipo define el éxito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798564" y="2377440"/>
            <a:ext cx="156819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metas se fijan con criterio técnico y político, nunca por sugerencia automática.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 PROMPTS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de Datos Públicas para Medir Indicadores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7863840" cy="3008376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aporta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GEIH / Censo (DANE)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 laboral y demografía poblacional de referencia nacional.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TerriData (DNP)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Indicadores territoriales comparables entre municipios y departamentos.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RIPS – SISPRO (MinSalud)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Registros de atención en salud, base de indicadores del sector.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SIMAT (MinEducación)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Matrículas y cobertura educativa por sede.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SIEDCO (Policía Nacional)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Cifras de criminalidad y seguridad ciudadana.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SECOP / Sinergia / FURAG (DNP–Función Pública)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Contratación pública, seguimiento a metas de inversión y desempeño institucional.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 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</a:t>
            </a:r>
            <a:r>
              <a:rPr lang="en-US" sz="30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39044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 de 3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PRÁCTICO EN VIVO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en Vivo, Tres Casos de Referencia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7863840" cy="2377440"/>
          </a:xfrm>
          <a:prstGeom prst="roundRect">
            <a:avLst>
              <a:gd name="adj" fmla="val 1923"/>
            </a:avLst>
          </a:prstGeom>
          <a:solidFill>
            <a:srgbClr val="FFF6E5"/>
          </a:solidFill>
          <a:ln w="9525">
            <a:solidFill>
              <a:srgbClr val="FF99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691640"/>
            <a:ext cx="7498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el caso guía (Salud Materna Rural) se desarrolla en vivo, dentro del Simulador, con la participación de todo el grupo. Los 3 casos siguientes (Educación, Seguridad, Ambiente) ya están completamente resueltos en las diapositivas que siguen — sirven como banco de referencia y como modelo para los ejercicios que cada quien completará después, en casa o en la app.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1 DE 4 · SALUD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Materna Rural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vaga de partida: “¿Cómo va la salud?”</a:t>
            </a:r>
            <a:endParaRPr lang="en-US" sz="1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508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/ unidad de análisis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Gestantes en zona rural dispersa y rural del municipio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controles prenatales oportunos y completos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Municipio X, zona rural, año en curso vs. año anterior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Cobertura del año t-1 y meta del Plan de Desarrollo Municipal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3429000"/>
            <a:ext cx="7863840" cy="914400"/>
          </a:xfrm>
          <a:prstGeom prst="roundRect">
            <a:avLst>
              <a:gd name="adj" fmla="val 5000"/>
            </a:avLst>
          </a:prstGeom>
          <a:solidFill>
            <a:srgbClr val="173F72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5204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gestión refinada: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22960" y="3730752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“¿Estamos garantizando controles prenatales adecuados a las gestantes de las zonas rurales del municipio, y estamos mejorando frente al año anterior?”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1 DE 4 · SALUD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Materna Rural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4338871"/>
              </p:ext>
            </p:extLst>
          </p:nvPr>
        </p:nvGraphicFramePr>
        <p:xfrm>
          <a:off x="640080" y="1124712"/>
          <a:ext cx="7863840" cy="1783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de la cadena de valor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(mide el cambio en el acceso/comportamiento, no solo el producto entregado)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del 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gestantes rurales con 4 o más controles prenatales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cálculo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(N.º gestantes rurales con ≥4 controles / N.º total gestantes rurales con parto) × 100, año t vs. t-1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de información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RIPS – SISPRO (MinSalud); historia clínica materno-perinatal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3063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3397504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5610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Actúa como experto en indicadores de salud pública (metodologías DNP y MinSalud). Revisa esta formulación: Pregunta: ¿Estamos garantizando controles prenatales adecuados a las gestantes rurales y mejorando frente al año anterior? Nombre borrador: % de embarazadas rurales con controles al día. Fórmula borrador: (gestantes con 4 controles / total gestantes) × 100. Aplica la regla nomenclatural, precisa el denominador con fuente oficial (RIPS/SISPRO) y genera la ficha técnica completa.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2 DE 4 · EDUCACIÓN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Deserción Escolar Rural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vaga de partida: “¿Cómo va la educación?”</a:t>
            </a:r>
            <a:endParaRPr lang="en-US" sz="12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508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/ unidad de análisis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Estudiantes matriculados en sedes educativas rurales oficiales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Retención escolar intra-anual (evitar abandono antes de finalizar el año)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Sedes rurales del municipio/provincia, año lectivo en curso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del plan de desarrollo vigente sobre tasa de deserción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3429000"/>
            <a:ext cx="7863840" cy="914400"/>
          </a:xfrm>
          <a:prstGeom prst="roundRect">
            <a:avLst>
              <a:gd name="adj" fmla="val 5000"/>
            </a:avLst>
          </a:prstGeom>
          <a:solidFill>
            <a:srgbClr val="173F72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5204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gestión refinada: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22960" y="3730752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“¿Estamos reteniendo a los estudiantes de las sedes rurales durante el año escolar, frente a la meta del plan de desarrollo?”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2 DE 4 · EDUCACIÓN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Deserción Escolar Rural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622389"/>
              </p:ext>
            </p:extLst>
          </p:nvPr>
        </p:nvGraphicFramePr>
        <p:xfrm>
          <a:off x="640080" y="1115568"/>
          <a:ext cx="7863840" cy="1783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de la cadena de valor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(mide el comportamiento de permanencia de la población beneficiaria)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del 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deserción escolar intra-anual en sedes educativas rurales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cálculo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(N.º estudiantes que abandonan durante el año / N.º matriculados al inicio del año)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de información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Integrado de Matrícula (SIMAT) y Secretaría de Educación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31155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3389884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574542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 este borrador de indicador de educación rural: Pregunta: ¿Estamos reteniendo a los estudiantes de sedes rurales durante el año escolar? Nombre borrador: Tasa de abandono de alumnos rurales. Reformula el nombre según estándares SIMAT, confirma si el indicador es de tipo reducción y genera una alerta sobre posibles incentivos perversos (p. ej. subreporte de retiros).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3 DE 4 · SEGURIDAD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Hurto a Personas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vaga de partida: “¿Cómo va la seguridad?”</a:t>
            </a:r>
            <a:endParaRPr lang="en-US" sz="1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508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/ unidad de análisis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Habitantes del casco urbano del municipio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Incidencia de hurto a personas ajustada por densidad poblacional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Casco urbano, trimestre actual vs. mismo trimestre del año anterior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del mismo trimestre del año t-1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3429000"/>
            <a:ext cx="7863840" cy="914400"/>
          </a:xfrm>
          <a:prstGeom prst="roundRect">
            <a:avLst>
              <a:gd name="adj" fmla="val 5000"/>
            </a:avLst>
          </a:prstGeom>
          <a:solidFill>
            <a:srgbClr val="173F72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5204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gestión refinada: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22960" y="3730752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“¿Está disminuyendo el hurto a personas en el último trimestre, frente al mismo periodo del año anterior?”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3 DE 4 · SEGURIDAD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Hurto a Personas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998762"/>
              </p:ext>
            </p:extLst>
          </p:nvPr>
        </p:nvGraphicFramePr>
        <p:xfrm>
          <a:off x="640080" y="1130656"/>
          <a:ext cx="7863840" cy="179222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de la cadena de valor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/ impacto sectorial (mide la incidencia del delito, no solo la actividad policial)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del 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Variación porcentual de la tasa de hurto a personas por cada 10.000 habitantes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cálculo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((Tasa trimestre actual − Tasa año anterior) / Tasa año anterior) × 100; Tasa = (denuncias / población DANE) × 10.000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de información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SIEDCO — Policía Nacional (o equivalente local)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3063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4779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Analiza esta propuesta de indicador de seguridad: Nombre borrador: Disminución de robos en la ciudad. Fórmula borrador: hurtos este año − hurtos año pasado. Sustituye la resta simple por una variación porcentual de la tasa por 10.000 habitantes, y redacta el campo de limitaciones advirtiendo sobre la cifra negra (denuncias no realizadas).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4 DE 4 · AMBIENTE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Reforestación Efectiva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vaga de partida: “¿Cómo va el medio ambiente?”</a:t>
            </a:r>
            <a:endParaRPr lang="en-US" sz="12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508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/ unidad de análisis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Hectáreas comprometidas en el plan de reforestación regional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Atributo o dimensión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Sobrevivencia vegetativa de lo sembrado, no solo la siembra inicial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Ámbito territorial y temporal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Cuencas hidrográficas de la jurisdicción, verificación a los 12 meses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Referente de comparación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de hectáreas comprometidas y programadas en el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3429000"/>
            <a:ext cx="7863840" cy="914400"/>
          </a:xfrm>
          <a:prstGeom prst="roundRect">
            <a:avLst>
              <a:gd name="adj" fmla="val 5000"/>
            </a:avLst>
          </a:prstGeom>
          <a:solidFill>
            <a:srgbClr val="173F72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5204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 gestión refinada: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22960" y="3730752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“¿Las hectáreas comprometidas en el plan de reforestación realmente sobreviven, frente a lo programado?”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GUÍA 4 DE 4 · AMBIENTE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Reforestación Efectiva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934149"/>
              </p:ext>
            </p:extLst>
          </p:nvPr>
        </p:nvGraphicFramePr>
        <p:xfrm>
          <a:off x="640080" y="1104900"/>
          <a:ext cx="7863840" cy="1783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esperado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Eslabón de la cadena de valor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(la siembra es producto; la sobrevivencia a 12 meses es el cambio efectivo logrado)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del indicador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de hectáreas reforestadas con sobrevivencia mayor al 80% a los 12 meses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Fórmula de cálculo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(N.º hectáreas con sobrevivencia &gt;80% verificada / N.º total hectáreas comprometidas) × 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73F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de información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F3B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Visitas de verificación en campo, imágenes satelitales, autoridad ambiental regional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309676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sugerido para IA 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3371088"/>
            <a:ext cx="7863840" cy="109728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462528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2F3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Identifica por qué medir únicamente “número de árboles sembrados” es un indicador de producto y no de resultado. Redacta la pregunta de gestión enfocada en sobrevivencia vegetativa a 12 meses, propón la fórmula de cálculo y señala si la fuente debería incluir visitas de campo, imágenes satelitales o ambas.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AUTÓNOMO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212848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Ejercicios para Practicar en Casa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44728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casos adicionales para completar de forma individual, contrastando con Claude.ai o Gemini</a:t>
            </a:r>
            <a:endParaRPr lang="en-US" sz="1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PARA CASA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Movilidad Sostenible y Transporte Masivo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Escenario: El municipio implementó un sistema de transporte masivo con carril exclusivo para buses eléctricos.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del directivo: “¿La gente sí está usando el nuevo transporte y estamos reduciendo los tiempos de trancón?”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específicos a resolver: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060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 un indicador de producto y otro de resultado, independientes.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Ejecute el Prompt 2 en Claude.ai o en el Simulador y compare su borrador.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Indique si la tendencia del indicador de tiempo de viaje es a maximizar o minimizar.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ACLARACIÓN DEL EJERCICIO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Pistas — Movilidad Sostenible y Transporte Masivo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7863840" cy="1417320"/>
          </a:xfrm>
          <a:prstGeom prst="roundRect">
            <a:avLst>
              <a:gd name="adj" fmla="val 3226"/>
            </a:avLst>
          </a:prstGeom>
          <a:solidFill>
            <a:srgbClr val="EDF3F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6002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el tipo de indicador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18745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Piense en dos indicadores separados: uno que cuente la oferta (buses en operación, frecuencia) y otro que cuente el efecto (minutos de viaje). Mezclarlos en uno solo suele ocultar si el sistema realmente funciona.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7863840" cy="1280160"/>
          </a:xfrm>
          <a:prstGeom prst="roundRect">
            <a:avLst>
              <a:gd name="adj" fmla="val 3571"/>
            </a:avLst>
          </a:prstGeom>
          <a:solidFill>
            <a:srgbClr val="EDF3F9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154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fuente de datos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34290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de recaudo (validadores) y el GPS de la flota son fuentes típicas para este tipo de indicador — permiten calcular tiempos reales de recorrido sin depender de encuestas.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PARA CASA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Económico Local y Empleo Joven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Escenario: La Secretaría de Desarrollo Económico implementó incentivos tributarios a empresas que contraten jóvenes de primer empleo.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del directivo: “¿El programa sí está sirviendo para que los jóvenes consigan trabajo digno o es plata botada?”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específicos a resolver: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060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Mida jóvenes vinculados formalmente (con aportes a seguridad social).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el Prompt 3 para redactar limitaciones y supuestos macroeconómicos.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Defina el responsable técnico y la fuente oficial del reporte.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ACLARACIÓN DEL EJERCICIO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Pistas — Desarrollo Económico Local y Empleo Joven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7863840" cy="1417320"/>
          </a:xfrm>
          <a:prstGeom prst="roundRect">
            <a:avLst>
              <a:gd name="adj" fmla="val 3226"/>
            </a:avLst>
          </a:prstGeom>
          <a:solidFill>
            <a:srgbClr val="EDF3F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6002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el tipo de indicador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18745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“Empleos generados” es fácil de inflar (basta con una vacante publicada); “empleos formales sostenidos a 6 meses” exige que la persona siga cotizando, lo que es una prueba mucho más dura de que el incentivo funcionó.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7863840" cy="1280160"/>
          </a:xfrm>
          <a:prstGeom prst="roundRect">
            <a:avLst>
              <a:gd name="adj" fmla="val 3571"/>
            </a:avLst>
          </a:prstGeom>
          <a:solidFill>
            <a:srgbClr val="EDF3F9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154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fuente de datos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34290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Planilla Integrada de Liquidación de Aportes (PILA) permite verificar si una persona sigue cotizando meses después de contratada — es la fuente que da rigor a este indicador.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PARA CASA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Contratación Pública y Transparencia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Escenario: Una entidad pública quiere saber si sus procesos de licitación generan ahorro real frente al presupuesto planeado.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del directivo: “¿Estamos ahorrando dinero al contratar por licitación pública?”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específicos a resolver: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060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Evalúe si el indicador mide economía o eficiencia, y justifique.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el Prompt 4 para auditar el riesgo de sub-presupuestación voluntaria.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Proponga una salvaguarda institucional (p. ej. estudio de mercado).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ACLARACIÓN DEL EJERCICIO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Pistas — Contratación Pública y Transparencia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40080" y="1463040"/>
            <a:ext cx="7863840" cy="1417320"/>
          </a:xfrm>
          <a:prstGeom prst="roundRect">
            <a:avLst>
              <a:gd name="adj" fmla="val 3226"/>
            </a:avLst>
          </a:prstGeom>
          <a:solidFill>
            <a:srgbClr val="EDF3F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6002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el tipo de indicador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18745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“Ahorro nominal” compara el valor adjudicado contra el presupuesto oficial; “ahorro real” ajusta esa comparación por inflación y por si el presupuesto oficial estaba inflado a propósito.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7863840" cy="1280160"/>
          </a:xfrm>
          <a:prstGeom prst="roundRect">
            <a:avLst>
              <a:gd name="adj" fmla="val 3571"/>
            </a:avLst>
          </a:prstGeom>
          <a:solidFill>
            <a:srgbClr val="EDF3F9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154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fuente de datos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34290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SECOP II publica el histórico de procesos y valores adjudicados — cruzarlo con el presupuesto oficial de cada proceso es el punto de partida para auditar el indicador.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92608"/>
            <a:ext cx="1005840" cy="411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6675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C6E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DEL TALLER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y Referencias</a:t>
            </a:r>
            <a:endParaRPr lang="en-US" sz="2100" dirty="0"/>
          </a:p>
        </p:txBody>
      </p:sp>
      <p:pic>
        <p:nvPicPr>
          <p:cNvPr id="6" name="Image 0" descr="/home/claude/taller/assets/footer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72584"/>
            <a:ext cx="9144000" cy="469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727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DNP (Colombia). Guía metodológica para la formulación de indicadores (2020).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DNP–DSEPP. Guía metodológica para el seguimiento y evaluación a políticas públicas.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DNP. Metodología General Ajustada (MGA): cadena de valor de proyectos de inversión pública.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DANE. Guía para diseño, construcción e interpretación de indicadores (Estrategia EFET).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DAFP. Guía para la construcción y análisis de indicadores de gestión (MIPG v4, 2018).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Ministerio de Salud y Protección Social. Guía metodológica de indicadores de procesos (DESG05).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Armijo, M. y Bonnefoy, J.C. Indicadores de desempeño en el sector público. CEPAL–ILPES.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para las Víctimas (Colombia). Guía para la formulación de indicadores.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2F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 General de Servicio Civil (Costa Rica). Guía para la elaboración de indicadores de gestión.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7498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pregunta de gestión bien formulada, traducida en un indicador con rigor técnico, es la base de toda decisión pública basada en evidencia.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Indicadores de Gestión Pública con IA · Ciclo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6578</Words>
  <Application>Microsoft Office PowerPoint</Application>
  <PresentationFormat>Presentación en pantalla (16:9)</PresentationFormat>
  <Paragraphs>813</Paragraphs>
  <Slides>69</Slides>
  <Notes>66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69</vt:i4>
      </vt:variant>
    </vt:vector>
  </HeadingPairs>
  <TitlesOfParts>
    <vt:vector size="73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Sandra Carolina</cp:lastModifiedBy>
  <cp:revision>9</cp:revision>
  <dcterms:created xsi:type="dcterms:W3CDTF">2026-08-10T10:47:53Z</dcterms:created>
  <dcterms:modified xsi:type="dcterms:W3CDTF">2026-08-10T12:41:05Z</dcterms:modified>
</cp:coreProperties>
</file>