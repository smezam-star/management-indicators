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0" r:id="rId21"/>
    <p:sldId id="325" r:id="rId22"/>
    <p:sldId id="275" r:id="rId23"/>
    <p:sldId id="276" r:id="rId24"/>
    <p:sldId id="277" r:id="rId25"/>
    <p:sldId id="278" r:id="rId26"/>
    <p:sldId id="279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84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2792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· CICLO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Construcción de Preguntas de Gestión y su Traducción a Indicadores Públicos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guía de optimización de Inteligencia Artificial y simulador interactivo en línea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de referencia: DNP (Sinergia) · DANE · DAFP–MIPG · CEPAL/ILPES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organiza este taller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1: marco conceptual, tipología de indicadores, método de 5 pasos, ficha técnica y errores comunes, con actividades prácticas individuales en cada módulo.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2: el rol de la Inteligencia Artificial como potenciador, la herramienta Claude.ai, el kit de prompts y el Simulador interactivo del taller.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3: taller práctico en vivo — el caso guía se desarrolla en el Simulador; 3 casos adicionales quedan de referencia impresa, más 3 ejercicios para practicar de forma autónoma.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566160"/>
            <a:ext cx="7863840" cy="822960"/>
          </a:xfrm>
          <a:prstGeom prst="roundRect">
            <a:avLst>
              <a:gd name="adj" fmla="val 5556"/>
            </a:avLst>
          </a:prstGeom>
          <a:solidFill>
            <a:srgbClr val="EDF3F9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6576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ejemplo desarrollado incluye los 8 elementos del taller: pregunta de gestión, población, atributo, ámbito, referente de comparación, eslabón de la cadena de valor, nombre del indicador y fórmula — además del prompt de IA usado.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DEL TALLER · BLOQUE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del Encuentro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Fundamentos y tipología — 35 min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Dato, indicador y pregunta de gestión, cadena de valor, tipología de indicadores + actividad de clasificación.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Método en 5 pasos — 40 min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formulación, regla nomenclatural, SMART/CREMAS, ficha técnica, demo en vivo + actividad individual.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Errores comunes — 35 min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errores típicos con ejemplo antes/después + actividad Detecte el error.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DEL TALLER · BLOQUES 2 Y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del Encuentro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IA como copiloto técnico — 20 min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rector, dónde sí / dónde no interviene la IA, Claude.ai.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Kit de prompts — 20 min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estandarizados, salvaguardas y el Simulador interactivo del taller.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Taller práctico en vivo — 30 min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Autoría humana → refinamiento con IA en el Simulador, sobre el caso guía.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y Tipología de Indicadores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conceptual y metodológico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de 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CONCEPTUAL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Dato, Indicador y Pregunta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· Dato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puntual, sin procesar ni interpretar. Ej: "350 gestantes atendidas en abril de 2026".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Indicador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matemática entre datos que mide cumplimiento y permite comparar. Ej: "% de gestantes con 4+ controles".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417320"/>
            <a:ext cx="2511552" cy="2926080"/>
          </a:xfrm>
          <a:prstGeom prst="roundRect">
            <a:avLst>
              <a:gd name="adj" fmla="val 2184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· Pregunta de gestión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331720"/>
            <a:ext cx="223723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orientadora que determina qué medir y para qué. Ej: "¿Garantizamos controles prenatales suficientes?".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CENTRAL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lógico correcto no es “tengo datos, veamos qué indicador armo”, sino “tengo una pregunta de gestión, defino qué datos necesito y con ellos construyo el indicador que la responde”.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 (DNP)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Insumos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financieros, humanos y físicos disponibles.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245766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382926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382926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382926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Actividades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382926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y acciones realizadas.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51453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3988613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3988613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988613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Productos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88613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Bienes o servicios entregados a la población.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57139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5594299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5594299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594299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Resultados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594299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en comportamiento, acceso o condición.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062826" y="1554480"/>
            <a:ext cx="1441094" cy="2651760"/>
          </a:xfrm>
          <a:prstGeom prst="roundRect">
            <a:avLst>
              <a:gd name="adj" fmla="val 3807"/>
            </a:avLst>
          </a:prstGeom>
          <a:solidFill>
            <a:srgbClr val="EDF3F9"/>
          </a:solidFill>
          <a:ln/>
        </p:spPr>
      </p:sp>
      <p:sp>
        <p:nvSpPr>
          <p:cNvPr id="29" name="Shape 26"/>
          <p:cNvSpPr/>
          <p:nvPr/>
        </p:nvSpPr>
        <p:spPr>
          <a:xfrm>
            <a:off x="7199986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0" name="Text 27"/>
          <p:cNvSpPr/>
          <p:nvPr/>
        </p:nvSpPr>
        <p:spPr>
          <a:xfrm>
            <a:off x="7199986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199986" y="2121408"/>
            <a:ext cx="116677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Impactos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199986" y="2468880"/>
            <a:ext cx="116677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estructurales de largo plazo.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VALOR PÚBLICA (DNP)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Eslabones de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Insumos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/ insumo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ejecutado en dotación de puestos de salud rurales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Gestión / proceso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jornadas de control prenatal realizadas en zona rural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gestantes rurales atendidas con al menos 1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 o más controles prenatales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Razón de mortalidad materna en zona rural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 CONCEPTO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vs. Resultado: la Confusión Más Frecuente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(lo que entregamos)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“Kits escolares entregados a estudiantes de zona rural” — cuenta una entrega, no un cambio.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(lo que cambió)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“% de estudiantes que permanecen matriculados hasta fin de año” — cuenta un cambio en la población.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control: ¿esto describe algo que la entidad entregó, o algo que cambió en la vida de la población? Si es lo primero, es producto; si es lo segundo, es resultado.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 DE INDICADORES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 según Dimensión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7432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mide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referencia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Eficiencia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 entre resultados obtenidos y recursos empleados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Unidades de producto ÷ Recursos utilizados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Grado de cumplimiento de las metas programadas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(Meta alcanzada ÷ Meta planeada)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Efectividad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Síntesis del logro simultáneo de eficiencia y eficacia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evalúa combinando ambos índices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Economía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Capacidad de administrar recursos al menor costo posible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(Costos de insumo ÷ Inversión total)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Oportunidad, accesibilidad, percepción y precisión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Encuestas de percepción, tiempos de respuesta, tasas de error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DANE (EFET) · DAFP MIPG v4 (2018) · Armijo &amp; Bonnefoy, CEPAL/ILPES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 CONCEPTO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vs. Eficacia: la Segunda Confusión Frecuente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Eficacia (¿llegamos a la meta?)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“100% de las metas de vacunación programadas fueron cumplidas” — no dice nada del costo.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554480"/>
          </a:xfrm>
          <a:prstGeom prst="roundRect">
            <a:avLst>
              <a:gd name="adj" fmla="val 2941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(¿a qué costo llegamos?)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“Costo por dosis aplicada, comparado con el estándar sectorial” — mide el uso de los recursos.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programa puede ser eficaz (cumplió la meta) y a la vez ineficiente (gastó de más para lograrlo) — por eso siempre conviene mirar ambas dimensiones juntas, nunca una sola.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1 (7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Clasifique: Dato, Indicador o Pregunta de Gestión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escriban su respuesta en el chat cuando se indique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688336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Clasificación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 viviendas VIS entregadas en el municipio en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viviendas VIS con conexión a acueducto, respecto a la meta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¿Estamos cerrando la brecha de acceso a agua potable rural?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kilómetros de vía pavimentados en la vigencia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cobertura de vacunación infantil frente al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programas culturales llegan a los jóvenes de las comunas alejadas?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Clasifique: Dato, Indicador o Pregunta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443857"/>
              </p:ext>
            </p:extLst>
          </p:nvPr>
        </p:nvGraphicFramePr>
        <p:xfrm>
          <a:off x="640080" y="1488152"/>
          <a:ext cx="7863840" cy="2688336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 correcta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1.200 viviendas VIS entregadas en el municipio en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viviendas VIS con conexión a acueducto, respecto a la meta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¿Estamos cerrando la brecha de acceso a agua potable rural?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kilómetros de vía pavimentados en la vigencia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cobertura de vacunación infantil frente al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¿Los programas culturales llegan a los jóvenes de las comunas alejadas?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1 (7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Ubique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65760"/>
          </a:xfrm>
          <a:prstGeom prst="roundRect">
            <a:avLst>
              <a:gd name="adj" fmla="val 10000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misma mecánica que la actividad anterior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304288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asignado para el mejoramiento de vías terciarias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brigadas de bacheo realizadas en el trimestre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Kilómetros de vía terciaria mejorados en el periodo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 del tiempo de desplazamiento rural-urbano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Incremento del ingreso agrícola por mejor acceso a mercado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Ubique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48337"/>
              </p:ext>
            </p:extLst>
          </p:nvPr>
        </p:nvGraphicFramePr>
        <p:xfrm>
          <a:off x="640080" y="1467748"/>
          <a:ext cx="7863840" cy="2304288"/>
        </p:xfrm>
        <a:graphic>
          <a:graphicData uri="http://schemas.openxmlformats.org/drawingml/2006/table">
            <a:tbl>
              <a:tblPr/>
              <a:tblGrid>
                <a:gridCol w="6309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correcto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Presupuesto asignado para el mejoramiento de vías terciarias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Insumo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N.º de brigadas de bacheo realizadas en el trimestre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Kilómetros de vía terciaria mejorados en el periodo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Reducción del tiempo de desplazamiento rural-urbano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Incremento del ingreso agrícola por mejor acceso a mercado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MÓDULO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para Transformar una Pregunta Vaga en un Indicador Medible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5 pasos: DNP + SMART + CREMAS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de 3 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· Capturar la Pregunta Vaga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anota literalmente la pregunta tal como la formula el ciudadano, el directivo o el equipo técnico, sin corregirla todavía.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típicos: “¿cómo va la salud?”, “¿cómo va la seguridad?”, “¿está funcionando el programa?”.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Los 4 Componentes de la Pregunta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Población o unidad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¿Sobre quién o qué se pregunta? (gestantes, estudiantes, viviendas, hectáreas).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Atributo o dimensión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característica interesa? (cobertura, calidad, oportunidad, resultado).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Ámbito territorial/temporal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620370"/>
            <a:ext cx="1568196" cy="1494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¿Dónde y en qué periodo? (zona rural del municipio X, 2026 vs. 2025).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Referente de comparación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620370"/>
            <a:ext cx="1568196" cy="14125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¿Frente a qué se evalúa? (meta, año anterior, otro territorio, estándar).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INDIVIDUAL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los Pasos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pregunta vaga distinta a los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de bibliotecas públicas municipales está funcionando?”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94560"/>
          <a:ext cx="786384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respuesta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o unidad de análisis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________________________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INDIVIDUAL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los Pasos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pregunta vaga distinta a los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dirty="0" err="1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</a:t>
            </a: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de bibliotecas públicas municipales está funcionando?”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59199"/>
              </p:ext>
            </p:extLst>
          </p:nvPr>
        </p:nvGraphicFramePr>
        <p:xfrm>
          <a:off x="640080" y="2194560"/>
          <a:ext cx="786384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respuesta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o unidad de análisis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bibliotecas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públicas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municipales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(o los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bibliotecarios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/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usuarios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del </a:t>
                      </a:r>
                      <a:r>
                        <a:rPr lang="en-US" sz="1000" dirty="0" err="1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programa</a:t>
                      </a:r>
                      <a:r>
                        <a:rPr lang="en-U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Desempeño / Funcionamiento (desglosado en variables como cobertura de usuarios, calidad del servicio, frecuencia de uso o eficacia)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kern="1200" dirty="0">
                          <a:solidFill>
                            <a:srgbClr val="2F3B4C"/>
                          </a:solidFill>
                          <a:latin typeface="Arial" pitchFamily="34" charset="0"/>
                          <a:cs typeface="Arial" pitchFamily="34" charset="-120"/>
                        </a:rPr>
                        <a:t>Ámbito municipal (territorial) y el año/periodo en curso o año evaluado (temporal)</a:t>
                      </a:r>
                      <a:endParaRPr lang="en-US" sz="1000" kern="1200" dirty="0">
                        <a:solidFill>
                          <a:srgbClr val="2F3B4C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" sz="10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del Plan de Desarrollo Municipal, resultados del año anterior o un estándar de calidad del servicio.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8869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· Ubicar el Objetivo en la Cadena de Valor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los componentes del Paso 2, se identifica si la pregunta apunta a un insumo, una actividad, un producto, un resultado o un impacto.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evita el error más común: redactar como “resultado” algo que en realidad es apenas un “producto” o un “insumo”.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la tabla de eslabones (módulo 1) como referencia rápida durante este paso.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 · Formular el Indicador con Criterios de Calidad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71600"/>
            <a:ext cx="7863840" cy="621792"/>
          </a:xfrm>
          <a:prstGeom prst="roundRect">
            <a:avLst>
              <a:gd name="adj" fmla="val 5882"/>
            </a:avLst>
          </a:prstGeom>
          <a:solidFill>
            <a:srgbClr val="173F72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4173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nombre =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de medición + Condición deseada (participio) + Contexto descriptivo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16916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“Construir 45 km de vías terciarias en la zona norte” → “Kilómetros de vías terciarias construidos en la zona norte del municipio”.</a:t>
            </a:r>
            <a:endParaRPr lang="en-US" sz="9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48840"/>
          <a:ext cx="7863840" cy="22402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 (del objetivo)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CREMAS (del indicador)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· Specific (específico)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Claro: preciso, sin ambigüedad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· Measurable (medible)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· Relevante: pertinente frente a lo evaluado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Achievable (realizable)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· Económico: costo razonable de obtención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· Realistic (realista)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· Medible: verificable, con fuente identificable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· Time-bound (limitado en tiempo)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Adecuado: base suficiente para juzgar desempeño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· Sensible: capta cambios en el tiempo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 · DEL SIMULADOR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Mide? Tipos de Acumulación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que se repiten anualmente.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los avances de cada año.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4173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5544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19842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3317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 el esfuerzo por mantener un resultado.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40080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777240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7772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77240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77240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restando línea base a la meta.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316224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29" name="Shape 26"/>
          <p:cNvSpPr/>
          <p:nvPr/>
        </p:nvSpPr>
        <p:spPr>
          <a:xfrm>
            <a:off x="3453384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0" name="Text 27"/>
          <p:cNvSpPr/>
          <p:nvPr/>
        </p:nvSpPr>
        <p:spPr>
          <a:xfrm>
            <a:off x="3453384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453384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3453384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Esfuerzo por disminuir frente a línea base.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992368" y="3017520"/>
            <a:ext cx="2511552" cy="1417320"/>
          </a:xfrm>
          <a:prstGeom prst="roundRect">
            <a:avLst>
              <a:gd name="adj" fmla="val 3871"/>
            </a:avLst>
          </a:prstGeom>
          <a:solidFill>
            <a:srgbClr val="EDF3F9"/>
          </a:solidFill>
          <a:ln/>
        </p:spPr>
      </p:sp>
      <p:sp>
        <p:nvSpPr>
          <p:cNvPr id="34" name="Shape 31"/>
          <p:cNvSpPr/>
          <p:nvPr/>
        </p:nvSpPr>
        <p:spPr>
          <a:xfrm>
            <a:off x="6129528" y="31546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35" name="Text 32"/>
          <p:cNvSpPr/>
          <p:nvPr/>
        </p:nvSpPr>
        <p:spPr>
          <a:xfrm>
            <a:off x="6129528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129528" y="358444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Anual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129528" y="3931920"/>
            <a:ext cx="223723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 avances para que sea menor al año anterior.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PRÁCTICA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 leer el indicador en voz alta no queda claro qué se cuenta, sobre quién, en qué periodo y contra qué se compara, todavía es una pregunta vaga disfrazada de indicador.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5 · Redactar la Ficha Técnica y Validar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indicador se documenta en una ficha técnica estandarizada.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somete a validación con quienes tomarán decisiones a partir de él.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clave de validación: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fuente es confiable y accesible?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periodicidad permite decidir a tiempo?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¿La meta es realista?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 (EJEMPLO POSIBLE)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¿Los usuarios de las bibliotecas públicas municipales están accediendo con la frecuencia y diversidad de servicios previstos en el plan de desarrollo, frente al año anterior?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una única respuesta correcta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DE 5 PASOS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de Ficha Técnica del Indicador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072384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Plantilla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Ejemplo: Salud Materna Rural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Pregunta de gestión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[Pregunta ya refinada]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¿Garantizamos controles prenatales adecuados y mejoramos frente al año anterior?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[Nombre corto y descriptivo]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4+ controles prenatales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cadena de valor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[Insumo/Actividad/Producto/Resultado/Impacto]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[Numerador/Denominador × 100]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(gestantes con ≥4 controles / total gestantes) × 100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[Sistema o registro oficial]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 / Meta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[Valor y año de referencia]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año t-1 / incremento definido por la entidad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1 · MÓDULO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 al Formular Indicadores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errores frecuentes, con ejemplo antes/después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3 de 3 · 35 min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Confundir Producto con Resultado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“Número de talleres de emprendimiento realizados” — esto es un producto, no un resultado.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“% de participantes del taller que reportan ingresos formales seis meses después”.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 sin Fuente de Datos Identificada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“Nivel de satisfacción ciudadana con el espacio público” — sin decir cómo ni con qué instrumento se mide.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indicador, medido mediante encuesta de percepción ciudadana aplicada anualmente por la oficina de planeación.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Metas “a Ojo”, sin Línea Base Verificada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“Reducir la deserción escolar a la mitad” — sin cifra de partida.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“Reducir la deserción escolar del 8,2% (línea base 2025) al 4,1% en 2027”.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Redactar Preguntas que Presuponen la Respuesta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“¿Por qué ha mejorado tanto la cobertura de salud rural?” — asume que sí mejoró.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“¿Ha mejorado la cobertura de salud rural en el último año, y en qué magnitud?”.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COMUNES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el Primer Borrador de la IA sin Contrastar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FBEAE8"/>
          </a:solidFill>
          <a:ln w="9525">
            <a:solidFill>
              <a:srgbClr val="D953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Versión con el error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 publicada con línea base “62% (estimado por el modelo de IA)”.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737360"/>
            <a:ext cx="3794760" cy="1828800"/>
          </a:xfrm>
          <a:prstGeom prst="roundRect">
            <a:avLst>
              <a:gd name="adj" fmla="val 2500"/>
            </a:avLst>
          </a:prstGeom>
          <a:solidFill>
            <a:srgbClr val="E9F6EC"/>
          </a:solidFill>
          <a:ln w="9525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810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Versión corregida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46320" y="2066544"/>
            <a:ext cx="35204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base marcada como [VERIFICAR EN ENTIDAD] hasta confirmarla con la fuente oficial.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 PRÁCTICA · MÓDULO 3 (10 MIN)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 el Error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7863840" cy="347472"/>
          </a:xfrm>
          <a:prstGeom prst="roundRect">
            <a:avLst>
              <a:gd name="adj" fmla="val 10526"/>
            </a:avLst>
          </a:prstGeom>
          <a:solidFill>
            <a:srgbClr val="FC6E01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3258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individual · cada enunciado tiene exactamente uno de los 5 errores vistos</a:t>
            </a:r>
            <a:endParaRPr lang="en-US" sz="10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304288"/>
        </p:xfrm>
        <a:graphic>
          <a:graphicData uri="http://schemas.openxmlformats.org/drawingml/2006/table">
            <a:tbl>
              <a:tblPr/>
              <a:tblGrid>
                <a:gridCol w="667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(1-5)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“Computadores entregados”, presentado como indicador de resultado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“Índice de confianza ciudadana”, sin especificar instrumento ni fuente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“Aumentar significativamente la cobertura de agua para 2027”, sin cifra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“¿Por qué ha bajado tanto la inseguridad este año?”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 Ficha con línea base “62% estimado por IA, sin verificar”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____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· MÓDULO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— Detecte el Error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7863840" cy="285292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Enunciado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“Computadores entregados”, como indicador de resultado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Producto disfrazado de resultado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“Índice de confianza ciudadana”, sin instrumento ni fuente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Sin fuente identificada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C. “Aumentar cobertura de agua para 2027”, sin cifra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Meta sin línea 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“¿Por qué ha bajado tanto la inseguridad este año?”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Presupone la respuesta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E. Línea base “62% estimado por IA, sin verificar”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Acepta borrador de IA sin contrastar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guiada: 12 min con el grupo completo — recorra cada enunciado y muestre su versión corregida (ver diapositivas anteriores).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40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Inteligencia Artificial como Potenciador, no como Reemplazo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rol de la IA en la construcción de indicadores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de 3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RECTOR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es un potenciador de actividades, no un sustituto del juicio técnico y político. La pregunta de gestión la formula el equipo que conoce el problema público, el territorio y la ciudadanía; la IA ayuda a que quede mejor redactada, mejor estructurada y más rápido documentada.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Sí Ayuda la IA (con rigor)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preguntas vagas — chequear si cumple los 4 componentes del Paso 2 y señalar cuáles faltan.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alternativas de indicador — proponer 3-5 formulaciones posibles para que el equipo elija y ajuste.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Borrador de ficha técnica — redactar un primer borrador completo (fórmula, unidad, posibles fuentes).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Traducción a lenguaje ciudadano — convertir la ficha técnica en una explicación breve para rendición de cuentas.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cruzada de calidad — aplicar sistemáticamente los criterios SMART/CREMAS y señalar inconsistencias.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Organización y documentación — consolidar las fichas técnicas en una matriz ordenada (Word/Excel).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NO Debe Decidir la 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Prioridad de la pregunta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del mandato, el contexto político y las necesidades ciudadanas.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Meta o línea base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Deben salir de datos oficiales verificados, no de estimaciones del modelo.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Interpretación política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lectura política o social del resultado de un indicador.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Validación de la fuente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Siempre debe confirmarse contra el sistema oficial (DANE, SISPRO, TerriData, etc.).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COMO POTENCIADOR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para Equipos de Gestión Pública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inmediato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desde el navegador, sin instalación; plan gratuito para practicar en el taller.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 con documentos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subir la matriz de indicadores en Word o Excel y trabajar sobre ella, en español.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usables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la ficha técnica en formato de documento o tabla, lista para revisión del equipo.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los planes y límites de uso cambian con el tiempo; revise las condiciones vigentes en claude.ai o support.claude.com antes del taller.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SIMULADOR · ¿QUÉ ES UN INDICADOR?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Jerarquías: Niveles de Intervención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645920"/>
            <a:ext cx="3849624" cy="2194560"/>
          </a:xfrm>
          <a:prstGeom prst="roundRect">
            <a:avLst>
              <a:gd name="adj" fmla="val 2500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7830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212848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Estratégicos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560320"/>
            <a:ext cx="3575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Miden los resultados finales e impactos: cambios en el bienestar de la población objetivo.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54296" y="1645920"/>
            <a:ext cx="3849624" cy="2194560"/>
          </a:xfrm>
          <a:prstGeom prst="roundRect">
            <a:avLst>
              <a:gd name="adj" fmla="val 2500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791456" y="178308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479145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791456" y="2212848"/>
            <a:ext cx="357530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Gestión / Operativos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91456" y="2560320"/>
            <a:ext cx="357530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Miden los procesos, actividades e insumos internos de la entidad — el día a día operativo.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0080" y="3977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indicador es una representación cuantitativa o cualitativa que describe características o comportamientos de la realidad en el tiempo, comparada con metas o periodos anteriores (DANE/ESAP).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KIT DE PROMPTS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Generar Prompts para Automatizar el Proceso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claro + insumo + instrucciones + criterio de calidad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Anatomía de un Buen Prompt Técnico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 claro para el modelo — “Actúa como experto en indicadores de salud pública (metodologías DNP y MinSalud)”.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 concreto que se pega — la pregunta de gestión, el borrador de indicador o la batería completa.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Instrucciones explícitas y numeradas — qué debe producir el modelo, paso a paso.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calidad para validar su respuesta — SMART, CREMAS, cadena de valor.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1 y 2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Nota: son 4 herramientas independientes para momentos distintos del método — no es obligatorio encadenarlas en orden.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193852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02996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1 — Diagnóstico: “Tengo esta pregunta de gestión: [pegar]. Evalúa si cumple los 4 componentes (población, atributo, ámbito, referente) y dime cuáles faltan. Propón 3 opciones de reformulación.”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35584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44728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2 — Generación de alternativas: “A partir de esta pregunta ya refinada: [pegar], propón 3 indicadores con fórmula, unidad, eslabón y fuente posible, siguiendo CREMAS.”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 3 y 4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84708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193852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3 — Borrador de ficha técnica: “Redacta el borrador de la ficha técnica usando esta plantilla: [pegar]. Marca como [VERIFICAR EN ENTIDAD] los campos que dependen de datos oficiales.”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26440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35584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4 — Auditoría de batería: “Revisa esta lista de indicadores: [pegar]. Señala cuáles son de producto disfrazados de resultado y marca posibles redundancias.”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Salvaguardas para no Perder Rigor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Verificación Humana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indicador se usa para decisiones sin revisión de un responsable técnico.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47188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784348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2784348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784348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Trazabilidad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84348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cifra debe rastrearse a su fuente oficial; la IA apoya redacción, no es fuente de datos.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54296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4791456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479145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91456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Transparencia metodológica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ficha tuvo apoyo de IA, se deja constancia de ello.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61404" y="1463040"/>
            <a:ext cx="1842516" cy="2743200"/>
          </a:xfrm>
          <a:prstGeom prst="roundRect">
            <a:avLst>
              <a:gd name="adj" fmla="val 2978"/>
            </a:avLst>
          </a:prstGeom>
          <a:solidFill>
            <a:srgbClr val="EDF3F9"/>
          </a:solidFill>
          <a:ln/>
        </p:spPr>
      </p:sp>
      <p:sp>
        <p:nvSpPr>
          <p:cNvPr id="24" name="Shape 21"/>
          <p:cNvSpPr/>
          <p:nvPr/>
        </p:nvSpPr>
        <p:spPr>
          <a:xfrm>
            <a:off x="6798564" y="160020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5" name="Text 22"/>
          <p:cNvSpPr/>
          <p:nvPr/>
        </p:nvSpPr>
        <p:spPr>
          <a:xfrm>
            <a:off x="67985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98564" y="2029968"/>
            <a:ext cx="15681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El equipo define el éxito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98564" y="2377440"/>
            <a:ext cx="15681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metas se fijan con criterio técnico y político, nunca por sugerencia automática.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PROMPTS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 de Datos Públicas para Medir Indicadores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00837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aporta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GEIH / Censo (DANE)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 laboral y demografía poblacional de referencia nacional.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TerriData (DNP)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Indicadores territoriales comparables entre municipios y departamentos.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 de atención en salud, base de indicadores del sector.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SIMAT (MinEducación)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Matrículas y cobertura educativa por sede.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SIEDCO (Policía Nacional)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Cifras de criminalidad y seguridad ciudadana.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SECOP / Sinergia / FURAG (DNP–Función Pública)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Contratación pública, seguimiento a metas de inversión y desempeño institucional.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2 · HERRAMIENTA EN VIVO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Simulador: su Copiloto Durante el Taller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interactiva basada en las guías DNP y DANE, con asistencia de Copiloto 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smezam-star.github.io/Management-Indicators/simulador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SIMULADOR INTERACTIVO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Recorrido de los 5 Pasos en la Aplicación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1-2: capture la pregunta vaga y complete los 4 componentes — con opción de cargar ejemplos precargados (Salud Rural, Educación, Seguridad).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3: ubique el objetivo en la Cadena de Valor con un selector visual de 5 eslabones.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4: nombre el indicador y genere la fórmula matemática, con el botón “✨ Auto-Generar Indicador” que usa el Copiloto IA.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5: la app genera la Ficha Técnica completa y corre una Auditoría CREMAS inmediata, con puntaje de calidad en vivo.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SIMULADOR INTERACTIVO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Portafolio, Descarga y Pizarra Colaborativa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Mis Indicadores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Portafolio local donde cada participante guarda los indicadores que va construyendo durante el taller.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316224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453384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15" name="Text 12"/>
          <p:cNvSpPr/>
          <p:nvPr/>
        </p:nvSpPr>
        <p:spPr>
          <a:xfrm>
            <a:off x="3453384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53384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Descargar Ficha PDF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53384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ficha técnica generada se puede descargar en PDF, lista para archivar o compartir.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92368" y="1554480"/>
            <a:ext cx="2511552" cy="2468880"/>
          </a:xfrm>
          <a:prstGeom prst="roundRect">
            <a:avLst>
              <a:gd name="adj" fmla="val 2222"/>
            </a:avLst>
          </a:prstGeom>
          <a:solidFill>
            <a:srgbClr val="EDF3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9528" y="1691640"/>
            <a:ext cx="365760" cy="365760"/>
          </a:xfrm>
          <a:prstGeom prst="ellipse">
            <a:avLst/>
          </a:prstGeom>
          <a:solidFill>
            <a:srgbClr val="FC6E01"/>
          </a:solidFill>
          <a:ln/>
        </p:spPr>
      </p:sp>
      <p:sp>
        <p:nvSpPr>
          <p:cNvPr id="20" name="Text 17"/>
          <p:cNvSpPr/>
          <p:nvPr/>
        </p:nvSpPr>
        <p:spPr>
          <a:xfrm>
            <a:off x="6129528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129528" y="2121408"/>
            <a:ext cx="223723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🖌️ Pizarra Colaborativa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29528" y="2468880"/>
            <a:ext cx="22372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integrado (Excalidraw) para bocetar en grupo antes de formalizar el indicador en la app.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30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Práctico en Vivo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Autoría humana → refinamiento con IA en el Simulador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90448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de 3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PRÁCTICO EN VIVO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Caso en Vivo, Tres Casos de Referencia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2377440"/>
          </a:xfrm>
          <a:prstGeom prst="roundRect">
            <a:avLst>
              <a:gd name="adj" fmla="val 1923"/>
            </a:avLst>
          </a:prstGeom>
          <a:solidFill>
            <a:srgbClr val="FFF6E5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691640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el caso guía (Salud Materna Rural) se desarrolla en vivo, dentro del Simulador, con la participación de todo el grupo. Los 3 casos siguientes (Educación, Seguridad, Ambiente) ya están completamente resueltos en las diapositivas que siguen — sirven como banco de referencia y como modelo para los ejercicios que cada quien completará después, en casa o en la app.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1 DE 4 · SALUD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Materna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salud?”</a:t>
            </a:r>
            <a:endParaRPr lang="en-US" sz="12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Gestantes en zona rural dispersa y rural del municipio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Acceso a controles prenatales oportunos y completos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Municipio X, zona rural, año en curso vs.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Cobertura del año t-1 y meta del Plan de Desarrollo Municipal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“¿Estamos garantizando controles prenatales adecuados a las gestantes de las zonas rurales del municipio, y estamos mejorando frente al año anterior?”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1 DE 4 · SALUD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Salud Materna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(mide el cambio en el acceso/comportamiento, no solo el producto entregado)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gestantes rurales con 4 o más controles prenatales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gestantes rurales con ≥4 controles / N.º total gestantes rurales con parto) × 100, año t vs. t-1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RIPS – SISPRO (MinSalud); historia clínica materno-perinatal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63016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72160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Actúa como experto en indicadores de salud pública (metodologías DNP y MinSalud). Revisa esta formulación: Pregunta: ¿Estamos garantizando controles prenatales adecuados a las gestantes rurales y mejorando frente al año anterior? Nombre borrador: % de embarazadas rurales con controles al día. Fórmula borrador: (gestantes con 4 controles / total gestantes) × 100. Aplica la regla nomenclatural, precisa el denominador con fuente oficial (RIPS/SISPRO) y genera la ficha técnica completa.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2 DE 4 · EDUCACIÓN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Deserción Escolar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educación?”</a:t>
            </a:r>
            <a:endParaRPr lang="en-US" sz="12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Estudiantes matriculados en sedes educativas rurales oficiales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Retención escolar intra-anual (evitar abandono antes de finalizar el año)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Sedes rurales del municipio/provincia, año lectivo en curso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del plan de desarrollo vigente sobre tasa de deserción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“¿Estamos reteniendo a los estudiantes de las sedes rurales durante el año escolar, frente a la meta del plan de desarrollo?”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2 DE 4 · EDUCACIÓN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Deserción Escolar Rural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(mide el comportamiento de permanencia de la población beneficiaria)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 deserción escolar intra-anual en sedes educativas rurales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estudiantes que abandonan durante el año / N.º matriculados al inicio del año)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Sistema Integrado de Matrícula (SIMAT) y Secretaría de Educación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63016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72160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este borrador de indicador de educación rural: Pregunta: ¿Estamos reteniendo a los estudiantes de sedes rurales durante el año escolar? Nombre borrador: Tasa de abandono de alumnos rurales. Reformula el nombre según estándares SIMAT, confirma si el indicador es de tipo reducción y genera una alerta sobre posibles incentivos perversos (p. ej. subreporte de retiros).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3 DE 4 · SEGURIDAD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Hurto a Personas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la seguridad?”</a:t>
            </a:r>
            <a:endParaRPr lang="en-US" sz="12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Habitantes del casco urbano del municipio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Incidencia de hurto a personas ajustada por densidad poblacional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Casco urbano, trimestre actual vs. mismo trimestre del año anterior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Tasa del mismo trimestre del año t-1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“¿Está disminuyendo el hurto a personas en el último trimestre, frente al mismo periodo del año anterior?”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3 DE 4 · SEGURIDAD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Hurto a Personas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79222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/ impacto sectorial (mide la incidencia del delito, no solo la actividad policial)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Variación porcentual de la tasa de hurto a personas por cada 10.000 habitantes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((Tasa trimestre actual − Tasa año anterior) / Tasa año anterior) × 100; Tasa = (denuncias / población DANE) × 10.000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SIEDCO — Policía Nacional (o equivalente local)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63016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72160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Analiza esta propuesta de indicador de seguridad: Nombre borrador: Disminución de robos en la ciudad. Fórmula borrador: hurtos este año − hurtos año pasado. Sustituye la resta simple por una variación porcentual de la tasa por 10.000 habitantes, y redacta el campo de limitaciones advirtiendo sobre la cifra negra (denuncias no realizadas).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4 DE 4 · AMBIENTE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Reforestación Efectiva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vaga de partida: “¿Cómo va el medio ambiente?”</a:t>
            </a:r>
            <a:endParaRPr lang="en-US" sz="12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7863840" cy="15087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Población / unidad de análisis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Hectáreas comprometidas en el plan de reforestación regional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Atributo o dimensión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Sobrevivencia vegetativa de lo sembrado, no solo la siembra inicial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Ámbito territorial y temporal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Cuencas hidrográficas de la jurisdicción, verificación a los 12 meses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Referente de comparación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de hectáreas comprometidas y programadas en el plan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3429000"/>
            <a:ext cx="7863840" cy="914400"/>
          </a:xfrm>
          <a:prstGeom prst="roundRect">
            <a:avLst>
              <a:gd name="adj" fmla="val 5000"/>
            </a:avLst>
          </a:prstGeom>
          <a:solidFill>
            <a:srgbClr val="173F72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5204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 gestión refinada: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373075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“¿Las hectáreas comprometidas en el plan de reforestación realmente sobreviven, frente a lo programado?”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GUÍA 4 DE 4 · AMBIENTE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Reforestación Efectiva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783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Contenido esperado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Eslabón de la cadena de valor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 (la siembra es producto; la sobrevivencia a 12 meses es el cambio efectivo logrado)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Nombre del indicador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de hectáreas reforestadas con sobrevivencia mayor al 80% a los 12 meses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Fórmula de cálculo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(N.º hectáreas con sobrevivencia &gt;80% verificada / N.º total hectáreas comprometidas) × 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73F7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 de información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F3B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Visitas de verificación en campo, imágenes satelitales, autoridad ambiental regional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sugerido para IA (Claude.ai)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3630168"/>
            <a:ext cx="7863840" cy="109728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6350">
            <a:solidFill>
              <a:srgbClr val="C9C9C9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" y="372160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2F3B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Identifica por qué medir únicamente “número de árboles sembrados” es un indicador de producto y no de resultado. Redacta la pregunta de gestión enfocada en sobrevivencia vegetativa a 12 meses, propón la fórmula de cálculo y señala si la fuente debería incluir visitas de campo, imágenes satelitales o ambas.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AUTÓNOMO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212848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Ejercicios para Practicar en Casa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44728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casos adicionales para completar de forma individual, contrastando con Claude.ai o el Simulador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Sostenible y Transporte Masivo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El municipio implementó un sistema de transporte masivo con carril exclusivo para buses eléctricos.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“¿La gente sí está usando el nuevo transporte y estamos reduciendo los tiempos de trancón?”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 un indicador de producto y otro de resultado, independientes.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Ejecute el Prompt 2 en Claude.ai o en el Simulador y compare su borrador.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Indique si la tendencia del indicador de tiempo de viaje es a maximizar o minimizar.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Movilidad Sostenible y Transporte Masivo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Piense en dos indicadores separados: uno que cuente la oferta (buses en operación, frecuencia) y otro que cuente el efecto (minutos de viaje). Mezclarlos en uno solo suele ocultar si el sistema realmente funciona.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 recaudo (validadores) y el GPS de la flota son fuentes típicas para este tipo de indicador — permiten calcular tiempos reales de recorrido sin depender de encuestas.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Económico Local y Empleo Joven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La Secretaría de Desarrollo Económico implementó incentivos tributarios a empresas que contraten jóvenes de primer empleo.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“¿El programa sí está sirviendo para que los jóvenes consigan trabajo digno o es plata botada?”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Mida jóvenes vinculados formalmente (con aportes a seguridad social).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el Prompt 3 para redactar limitaciones y supuestos macroeconómicos.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Defina el responsable técnico y la fuente oficial del reporte.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Desarrollo Económico Local y Empleo Joven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“Empleos generados” es fácil de inflar (basta con una vacante publicada); “empleos formales sostenidos a 6 meses” exige que la persona siga cotizando, lo que es una prueba mucho más dura de que el incentivo funcionó.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Planilla Integrada de Liquidación de Aportes (PILA) permite verificar si una persona sigue cotizando meses después de contratada — es la fuente que da rigor a este indicador.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PARA CASA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Contratación Pública y Transparencia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Escenario: Una entidad pública quiere saber si sus procesos de licitación generan ahorro real frente al presupuesto planeado.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del directivo: “¿Estamos ahorrando dinero al contratar por licitación pública?”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Retos específicos a resolver: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Evalúe si el indicador mide economía o eficiencia, y justifique.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el Prompt 4 para auditar el riesgo de sub-presupuestación voluntaria.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Proponga una salvaguarda institucional (p. ej. estudio de mercado).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ACLARACIÓN DEL EJERCICIO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Pistas — Contratación Pública y Transparencia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7863840" cy="1417320"/>
          </a:xfrm>
          <a:prstGeom prst="roundRect">
            <a:avLst>
              <a:gd name="adj" fmla="val 3226"/>
            </a:avLst>
          </a:prstGeom>
          <a:solidFill>
            <a:srgbClr val="EDF3F9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el tipo de indicador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18745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“Ahorro nominal” compara el valor adjudicado contra el presupuesto oficial; “ahorro real” ajusta esa comparación por inflación y por si el presupuesto oficial estaba inflado a propósito.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017520"/>
            <a:ext cx="7863840" cy="1280160"/>
          </a:xfrm>
          <a:prstGeom prst="roundRect">
            <a:avLst>
              <a:gd name="adj" fmla="val 3571"/>
            </a:avLst>
          </a:prstGeom>
          <a:solidFill>
            <a:srgbClr val="EDF3F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la fuente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 II publica el histórico de procesos y valores adjudicados — cruzarlo con el presupuesto oficial de cada proceso es el punto de partida para auditar el indicador.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92608"/>
            <a:ext cx="1005840" cy="411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C6E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TALLER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3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y Referencias</a:t>
            </a:r>
            <a:endParaRPr lang="en-US" sz="2100" dirty="0"/>
          </a:p>
        </p:txBody>
      </p:sp>
      <p:pic>
        <p:nvPicPr>
          <p:cNvPr id="6" name="Image 0" descr="/home/claude/taller/assets/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72584"/>
            <a:ext cx="9144000" cy="469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727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 (Colombia). Guía metodológica para la formulación de indicadores (2020).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DNP–DSEPP. Guía metodológica para el seguimiento y evaluación a políticas públicas.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DNP. Metodología General Ajustada (MGA): cadena de valor de proyectos de inversión pública.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DANE. Guía para diseño, construcción e interpretación de indicadores (Estrategia EFET).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DAFP. Guía para la construcción y análisis de indicadores de gestión (MIPG v4, 2018).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Ministerio de Salud y Protección Social. Guía metodológica de indicadores de procesos (DESG05).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Armijo, M. y Bonnefoy, J.C. Indicadores de desempeño en el sector público. CEPAL–ILPES.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para las Víctimas (Colombia). Guía para la formulación de indicadores.</a:t>
            </a:r>
            <a:endParaRPr lang="en-US" sz="9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950" dirty="0">
                <a:solidFill>
                  <a:srgbClr val="2F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General de Servicio Civil (Costa Rica). Guía para la elaboración de indicadores de gestión.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TALLER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pregunta de gestión bien formulada, traducida en un indicador con rigor técnico, es la base de toda decisión pública basada en evidencia.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B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de Indicadores de Gestión Pública con IA · Ciclo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6440</Words>
  <Application>Microsoft Office PowerPoint</Application>
  <PresentationFormat>Presentación en pantalla (16:9)</PresentationFormat>
  <Paragraphs>806</Paragraphs>
  <Slides>70</Slides>
  <Notes>70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70</vt:i4>
      </vt:variant>
    </vt:vector>
  </HeadingPairs>
  <TitlesOfParts>
    <vt:vector size="7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Sandra Carolina</cp:lastModifiedBy>
  <cp:revision>3</cp:revision>
  <dcterms:created xsi:type="dcterms:W3CDTF">2026-08-10T10:47:53Z</dcterms:created>
  <dcterms:modified xsi:type="dcterms:W3CDTF">2026-08-10T11:23:21Z</dcterms:modified>
</cp:coreProperties>
</file>