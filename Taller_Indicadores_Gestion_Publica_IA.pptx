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53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60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20;g3f3c215c7c7_0_10" descr="preencoded.png">
            <a:extLst>
              <a:ext uri="{FF2B5EF4-FFF2-40B4-BE49-F238E27FC236}">
                <a16:creationId xmlns:a16="http://schemas.microsoft.com/office/drawing/2014/main" id="{34F00F11-B963-4A28-ABDB-B3D130E365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23338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hape 1"/>
          <p:cNvSpPr/>
          <p:nvPr/>
        </p:nvSpPr>
        <p:spPr>
          <a:xfrm>
            <a:off x="822960" y="1371600"/>
            <a:ext cx="2743200" cy="109728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727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· CICLO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332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Construcción de Preguntas de Gestión y su Traducción a Indicadores Públicos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r>
              <a:rPr lang="en-US" sz="1700" i="1" dirty="0" err="1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</a:t>
            </a:r>
            <a:r>
              <a:rPr lang="en-US" sz="17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700" i="1" dirty="0" err="1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</a:t>
            </a:r>
            <a:r>
              <a:rPr lang="en-US" sz="17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Inteligencia Artificial 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2011680" cy="27432"/>
          </a:xfrm>
          <a:prstGeom prst="rect">
            <a:avLst/>
          </a:prstGeom>
          <a:solidFill>
            <a:srgbClr val="3B5B8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referencia: DNP (Sinergia) · DANE · DAFP–MIPG · CEPAL/ILPES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1" name="Shape 9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9;g3f65d6ccfd4_0_389">
            <a:extLst>
              <a:ext uri="{FF2B5EF4-FFF2-40B4-BE49-F238E27FC236}">
                <a16:creationId xmlns:a16="http://schemas.microsoft.com/office/drawing/2014/main" id="{963DF6B0-32C7-4152-8AB5-C9BDCCA4E798}"/>
              </a:ext>
            </a:extLst>
          </p:cNvPr>
          <p:cNvSpPr/>
          <p:nvPr/>
        </p:nvSpPr>
        <p:spPr>
          <a:xfrm>
            <a:off x="0" y="-38100"/>
            <a:ext cx="12192000" cy="1463100"/>
          </a:xfrm>
          <a:prstGeom prst="rect">
            <a:avLst/>
          </a:prstGeom>
          <a:solidFill>
            <a:srgbClr val="08539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Cómo se organiza este taller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 err="1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1: </a:t>
            </a:r>
            <a:r>
              <a:rPr lang="en-US" dirty="0" err="1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conceptual, tipología de indicadores, método de 5 pasos, ficha técnica y errores comunes, con actividades prácticas individuales en cada módulo.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 err="1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2: el rol de la Inteligencia Artificial como potenciador, la herramienta Claude.ai y el kit de prompts.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 err="1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3: taller práctico en vivo con los 4 casos desarrollados, más 3 ejercicios para continuar de forma autónoma.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ejemplo desarrollado incluye los 8 elementos del taller: pregunta de gestión, población, atributo, ámbito, referente de comparación, eslabón de la cadena de valor, nombre del indicador y fórmula — además del prompt de IA </a:t>
            </a:r>
            <a:r>
              <a:rPr lang="en-US" dirty="0" err="1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</a:t>
            </a: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9;g3f65d6ccfd4_0_389">
            <a:extLst>
              <a:ext uri="{FF2B5EF4-FFF2-40B4-BE49-F238E27FC236}">
                <a16:creationId xmlns:a16="http://schemas.microsoft.com/office/drawing/2014/main" id="{61F77D2C-0B55-4FE1-856B-DEDC74CAD9B4}"/>
              </a:ext>
            </a:extLst>
          </p:cNvPr>
          <p:cNvSpPr/>
          <p:nvPr/>
        </p:nvSpPr>
        <p:spPr>
          <a:xfrm>
            <a:off x="0" y="-38100"/>
            <a:ext cx="12192000" cy="1463100"/>
          </a:xfrm>
          <a:prstGeom prst="rect">
            <a:avLst/>
          </a:prstGeom>
          <a:solidFill>
            <a:srgbClr val="08539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DEL TALLER · BLOQUE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 del Encuentro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10789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10312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1920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y tipología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37360" y="231343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Dato, indicador y pregunta de gestión, cadena de valor, tipología de indicadores + actividad de clasificación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92640" y="178308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 min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200400"/>
            <a:ext cx="10789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2044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20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3337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Método en 5 pasos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37360" y="373075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 formulación, regla nomenclatural, SMART/CREMA, ficha técnica, demo en vivo + actividad individual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92640" y="320040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 min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4617720"/>
            <a:ext cx="10789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93776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937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37360" y="4754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Errores comunes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37360" y="514807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errores típicos con ejemplo antes/después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92640" y="461772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 min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6" name="Shape 24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DEL TALLER · BLOQUES 2 Y 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 del Encuentro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10789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10312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1920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como copiloto técnico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37360" y="231343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rector, dónde sí / dónde no interviene la IA, Claude.ai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92640" y="178308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min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200400"/>
            <a:ext cx="10789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2044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20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3337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Kit de prompts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37360" y="373075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estandarizados y salvaguardas de rigor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92640" y="320040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min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4617720"/>
            <a:ext cx="10789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93776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937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37360" y="4754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Taller práctico en vivo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37360" y="514807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Autoría humana → refinamiento con IA sobre los 4 casos guía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92640" y="461772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min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6" name="Shape 24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TIEMPOS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Distribución Interna del Bloque 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789920" cy="201168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Fundamentos y tipología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 en 5 pasos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min (demo 10 + individual 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Errores comunes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6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20;g3f3c215c7c7_0_10" descr="fundamentos">
            <a:extLst>
              <a:ext uri="{FF2B5EF4-FFF2-40B4-BE49-F238E27FC236}">
                <a16:creationId xmlns:a16="http://schemas.microsoft.com/office/drawing/2014/main" id="{B3E60E49-E567-4232-B2E2-D686A4F81F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5721"/>
            <a:ext cx="1223338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hape 0"/>
          <p:cNvSpPr/>
          <p:nvPr/>
        </p:nvSpPr>
        <p:spPr>
          <a:xfrm>
            <a:off x="4907128" y="2148840"/>
            <a:ext cx="2377440" cy="9144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110 MIN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423160"/>
            <a:ext cx="107286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y Tipología de Indicadores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907128" y="3977640"/>
            <a:ext cx="2377440" cy="54864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416052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conceptual y metodológico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-274320" y="48006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de 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CONCEPTUAL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Dato, Indicador y Pregunta de Gestión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33832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57400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288036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86968" y="3520440"/>
            <a:ext cx="298094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puntual, sin procesar ni interpretar, obtenido de una fuente primaria o administrativa. Por sí solo no responde preguntas de gestión.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“350 gestantes atendidas en el centro de salud rural en abril de 2026”.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3832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60720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53712" y="288036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Indicador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90288" y="3520440"/>
            <a:ext cx="298094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matemática entre dos o más datos (razón, proporción, tasa, variación) que mide el cumplimiento de un objetivo y permite comparar en el tiempo, entre territorios o frente a una meta.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“% de gestantes rurales con 4+ controles prenatales, respecto al año anterior”.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2440" y="1828800"/>
            <a:ext cx="33832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64040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94640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57032" y="288036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Pregunta de gestión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93608" y="3520440"/>
            <a:ext cx="298094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orientadora, formulada por quien toma decisiones o por la ciudadanía, que expresa una necesidad de información y determina qué se debe medir y para qué. Es el punto de partida.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“¿Estamos garantizando controles prenatales suficientes a las gestantes rurales?”.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3" name="Shape 21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20;g3f3c215c7c7_0_10" descr="fundamentos">
            <a:extLst>
              <a:ext uri="{FF2B5EF4-FFF2-40B4-BE49-F238E27FC236}">
                <a16:creationId xmlns:a16="http://schemas.microsoft.com/office/drawing/2014/main" id="{51256471-FDAA-41DC-8411-198C9A0533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5721"/>
            <a:ext cx="1223338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hape 0"/>
          <p:cNvSpPr/>
          <p:nvPr/>
        </p:nvSpPr>
        <p:spPr>
          <a:xfrm>
            <a:off x="5090008" y="1417320"/>
            <a:ext cx="2011680" cy="82296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002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CENTRAL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0"/>
            <a:ext cx="981425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orden lógico correcto no es “tengo datos, veamos qué indicador armo”, sino “tengo una pregunta de gestión, defino qué datos necesito y con ellos construyo el indicador que la responde”.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VALOR PÚBLICA (DNP)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Cadena de Valor Pública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73352" y="2423160"/>
            <a:ext cx="8814816" cy="0"/>
          </a:xfrm>
          <a:prstGeom prst="line">
            <a:avLst/>
          </a:prstGeom>
          <a:noFill/>
          <a:ln w="31750">
            <a:solidFill>
              <a:srgbClr val="EFC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2103120"/>
            <a:ext cx="640080" cy="6400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EFC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3063240"/>
            <a:ext cx="197510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2004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Insumos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" y="3886200"/>
            <a:ext cx="1719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financieros, humanos y físicos disponibles.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57016" y="2103120"/>
            <a:ext cx="640080" cy="6400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EFC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57016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889504" y="3063240"/>
            <a:ext cx="197510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9232" y="32004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Actividades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7520" y="3886200"/>
            <a:ext cx="1719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y acciones realizadas.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60720" y="2103120"/>
            <a:ext cx="640080" cy="6400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EFC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93208" y="3063240"/>
            <a:ext cx="197510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02936" y="32004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21224" y="3886200"/>
            <a:ext cx="1719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 y servicios entregados a la población.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964424" y="2103120"/>
            <a:ext cx="640080" cy="6400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EFC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64424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296912" y="3063240"/>
            <a:ext cx="197510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32004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24928" y="3886200"/>
            <a:ext cx="1719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comportamiento, acceso o condición de la población objetivo.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168128" y="2103120"/>
            <a:ext cx="640080" cy="6400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EFC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68128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500616" y="3063240"/>
            <a:ext cx="197510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10344" y="32004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Impactos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28632" y="3886200"/>
            <a:ext cx="1719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estructurales de mediano y largo plazo en la población.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34" name="Shape 32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VALOR PÚBLICA (DNP)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Eslabones de la Cadena de Valor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789920" cy="32918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Eslabón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Insumos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/ insumo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Presupuesto ejecutado en dotación de puestos de salud rurales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/ proceso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N.º de jornadas de control prenatal realizadas en zona rural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N.º de gestantes rurales atendidas con al menos 1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gestantes rurales con 4 o más controles prenatales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Razón de mortalidad materna en zona rural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6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TIPOLOGÍA DE INDICADORES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Tipología según Dimensión de Gestión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789920" cy="340156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mide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 de referencia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Eficiencia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Relación entre resultados obtenidos y recursos empleados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Unidades de producto ÷ Recursos utilizados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Eficacia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Grado de cumplimiento de las metas programadas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(Meta alcanzada ÷ Meta planeada) × 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Efectividad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Síntesis del logro simultáneo de eficiencia y eficacia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evalúa combinando ambos índices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Economía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 de administrar recursos al menor costo posible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(Costos de insumo ÷ Inversión total) × 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Oportunidad, accesibilidad, percepción y precisión del servicio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Encuestas de percepción, tiempos de respuesta, tasas de error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6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7128" y="2148840"/>
            <a:ext cx="2377440" cy="9144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MÓDULO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7286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Método para Transformar una Pregunta Vaga en un Indicador Medible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907128" y="3977640"/>
            <a:ext cx="2377440" cy="54864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416052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 5 pasos: DNP + SMART + CREMA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de 3 · 40 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5 PASOS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1 · Capturar la Pregunta Vaga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anota literalmente la pregunta tal como la formula el ciudadano, el directivo o el equipo técnico, sin corregirla todavía.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típicos: “¿cómo va la salud?”, “¿cómo va la seguridad?”, “¿está funcionando el programa?”.</a:t>
            </a:r>
            <a:endParaRPr lang="en-US" sz="2000" dirty="0"/>
          </a:p>
          <a:p>
            <a:pPr>
              <a:lnSpc>
                <a:spcPct val="115000"/>
              </a:lnSpc>
              <a:spcAft>
                <a:spcPts val="1200"/>
              </a:spcAft>
              <a:buSzPct val="100000"/>
            </a:pPr>
            <a:endParaRPr lang="en-US" sz="2000" b="1" dirty="0">
              <a:solidFill>
                <a:srgbClr val="2D34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  <a:spcAft>
                <a:spcPts val="1200"/>
              </a:spcAft>
              <a:buSzPct val="100000"/>
            </a:pPr>
            <a:r>
              <a:rPr lang="en-US" sz="2000" b="1" dirty="0" err="1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Desagregar</a:t>
            </a:r>
            <a:r>
              <a:rPr lang="en-US" sz="2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pregunta en sus 4 componentes: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capturada se descompone en población, atributo, ámbito y referente de comparación (ver siguiente diapositiva).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5 PASOS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2 · Los 4 Componentes de la Pregunta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9448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159448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Población o unidad de análisis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86968" y="3771452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¿Sobre quién o qué se pregunta? (gestantes, estudiantes, viviendas, hectáreas).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6329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197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37197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2788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Atributo o dimensión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64458" y="3771452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característica interesa? (cobertura, calidad, oportunidad, resultado).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4078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4946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714946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537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Ámbito territorial y temporal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1948" y="3771452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y en qué periodo? (zona rural del municipio X, 2026 vs. 2025).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1827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2695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992695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8286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Referente de comparación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9438" y="3771452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¿Frente a qué se evalúa? (meta, año anterior, otro territorio, estándar técnico).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8" name="Shape 26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5 PASOS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3 · Ubicar el Objetivo en la Cadena de Valor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los componentes del Paso 2, se identifica si la pregunta apunta a un insumo, una actividad, un producto, un resultado o un impacto.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evita el error más común: redactar como “resultado” algo que en realidad es apenas un “producto” o un “insumo”.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 tabla de eslabones (módulo 1) como referencia rápida durante este paso.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5 PASOS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4 · Formular el Indicador con Criterios de Calidad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78992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830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Estructura del nombre = Objeto de medición + Condición deseada (participio) + Contexto descriptivo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Objetivo: “Construir 45 km de vías terciarias en la zona norte.” → Indicador: “Kilómetros de vías terciarias construidos en la zona norte del municipio.”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47801" y="2834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(del objetivo)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3640" y="2834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CREMA (del indicador)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47801" y="321868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· Specific (específico)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321868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Claro: preciso, sin ambigüedad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47801" y="363016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· Measurable (medible)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363016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· Relevante: pertinente frente a lo evaluado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47801" y="404164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Achievable (realizable)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404164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Económico: costo razonable de obtención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47801" y="445312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· Realistic (realista)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445312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· Medible: verificable, con fuente identificable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47801" y="486460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· Time-bound (limitado en tiempo)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486460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Adecuado: base suficiente para juzgar desempeño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3" name="Shape 21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0008" y="1417320"/>
            <a:ext cx="2011680" cy="82296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002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0"/>
            <a:ext cx="981425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 al leer el indicador en voz alta no queda claro qué se cuenta, sobre quién, en qué periodo y contra qué se compara, todavía es una pregunta vaga disfrazada de indicador.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5 PASOS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5 · Redactar la Ficha Técnica y Validar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indicador se documenta en una ficha técnica estandarizada.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somete a validación con quienes tomarán decisiones a partir de él.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clave de validación: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fuente es confiable y accesible?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periodicidad permite decidir a tiempo?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meta es realista?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PARA QUIEN FACILITA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Demostración en Vivo del Facilitador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10789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20240"/>
            <a:ext cx="109728" cy="31089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48840"/>
            <a:ext cx="10149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actividad individual, recorra en voz alta y frente al grupo los 5 pasos completos usando el caso guía de salud materna rural, mostrando cómo la pregunta vaga se transforma paso a paso hasta la ficha técnica final.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demostración modelo: el grupo aún no participa activamente.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10 minutos.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1" name="Shape 9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 INDIVIDUAL · 8 MIN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Aplicación de los Pasos 1 y 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1078992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719072"/>
            <a:ext cx="10378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vaga distinta a los casos guía, para trabajar de forma individual y en silencio.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2103120"/>
            <a:ext cx="10378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del directivo:  </a:t>
            </a: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“¿El programa de bibliotecas públicas municipales está funcionando?”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de forma individual: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3172968"/>
            <a:ext cx="5943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o unidad de análisis</a:t>
            </a:r>
            <a:endParaRPr lang="en-US" sz="115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o dimensión</a:t>
            </a:r>
            <a:endParaRPr lang="en-US" sz="115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Ámbito territorial y temporal</a:t>
            </a:r>
            <a:endParaRPr lang="en-US" sz="115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 de comparación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03720" y="2788920"/>
            <a:ext cx="46177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289864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Retos específicos a resolver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04888" y="3291840"/>
            <a:ext cx="42519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Desagregue la pregunta usando la tabla del Paso 2, sin mirar el trabajo de otros participantes.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Prepárese para compartir su desagregación en la puesta en común.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única respuesta correcta: el objetivo es practicar el método.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0008" y="1417320"/>
            <a:ext cx="2011680" cy="82296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002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GESTIÓN REFINADA (EJEMPLO POSIBLE)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0"/>
            <a:ext cx="981425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¿Los usuarios de las bibliotecas públicas municipales están accediendo con la frecuencia y diversidad de servicios previstos en el plan de desarrollo, frente al año anterior?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4800600"/>
            <a:ext cx="98142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una única respuesta correcta.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TRABAJO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Plantilla de Ficha Técnica del Indicador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789920" cy="499262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 esperado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 de gestión asociada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 ya refinada según el Paso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del indicador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corto y descriptivo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Eslabón de la cadena de valor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Insumo / Actividad / Producto / Resultado / Impacto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 de cálculo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Numerador / Denominador × 100, o la operación correspondiente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 de medida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%, tasa por 10.000 hab., razón, número absoluto, etc.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 de información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de información, registro administrativo o encuesta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 del cálculo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o dependencia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 / trimestral / 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Desagregación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Territorio, sexo, edad, zona urbana/rural, etc.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 base / Meta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y año de referencia / valor esperado y plazo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significa que el valor suba o baje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Limitaciones o supuestos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Riesgos de calidad del dato, rezagos, subregistro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6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7128" y="2148840"/>
            <a:ext cx="2377440" cy="9144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MÓDULO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7286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Errores Comunes al Formular Indicadores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907128" y="3977640"/>
            <a:ext cx="2377440" cy="54864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416052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errores frecuentes, con ejemplo antes / después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de 3 · 35 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1 DE 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Confundir Producto con Resultado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5074920" cy="3566160"/>
          </a:xfrm>
          <a:prstGeom prst="rect">
            <a:avLst/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28800"/>
            <a:ext cx="507492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288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✗  Versión con el error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4617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“Número de talleres de emprendimiento realizados” — esto es un producto, no un resultado.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5074920" cy="3566160"/>
          </a:xfrm>
          <a:prstGeom prst="rect">
            <a:avLst/>
          </a:prstGeom>
          <a:solidFill>
            <a:srgbClr val="E9F7E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828800"/>
            <a:ext cx="5074920" cy="5029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8288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Versión corregida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29400" y="2514600"/>
            <a:ext cx="4617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“% de participantes del taller que reportan ingresos formales seis meses después.”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592928" y="3355848"/>
            <a:ext cx="548640" cy="512064"/>
          </a:xfrm>
          <a:prstGeom prst="triangle">
            <a:avLst/>
          </a:prstGeom>
          <a:solidFill>
            <a:srgbClr val="EFC000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7" name="Shape 15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2 DE 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Formular sin Fuente de Datos Identificada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5074920" cy="3566160"/>
          </a:xfrm>
          <a:prstGeom prst="rect">
            <a:avLst/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28800"/>
            <a:ext cx="507492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288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✗  Versión con el error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4617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“Nivel de satisfacción ciudadana con el espacio público” — sin decir cómo ni con qué instrumento se mide.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5074920" cy="3566160"/>
          </a:xfrm>
          <a:prstGeom prst="rect">
            <a:avLst/>
          </a:prstGeom>
          <a:solidFill>
            <a:srgbClr val="E9F7E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828800"/>
            <a:ext cx="5074920" cy="5029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8288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Versión corregida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29400" y="2514600"/>
            <a:ext cx="4617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indicador, con fuente explícita: “...medido mediante encuesta de percepción ciudadana aplicada anualmente por la oficina de planeación.”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843938" y="3364813"/>
            <a:ext cx="548640" cy="512064"/>
          </a:xfrm>
          <a:prstGeom prst="triangle">
            <a:avLst/>
          </a:prstGeom>
          <a:solidFill>
            <a:srgbClr val="EFC000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7" name="Shape 15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3 DE 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Definir Metas “a Ojo”, sin Línea Base Verificada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5074920" cy="3566160"/>
          </a:xfrm>
          <a:prstGeom prst="rect">
            <a:avLst/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28800"/>
            <a:ext cx="507492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288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✗  Versión con el error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287359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“Reducir la deserción escolar a la mitad” — sin cifra de partida.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5074920" cy="3566160"/>
          </a:xfrm>
          <a:prstGeom prst="rect">
            <a:avLst/>
          </a:prstGeom>
          <a:solidFill>
            <a:srgbClr val="E9F7E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828800"/>
            <a:ext cx="5074920" cy="5029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8288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Versión corregida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0" y="3287359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“Reducir la deserción escolar del 8,2% (línea base 2025) al 4,1% en 2027.”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 rot="5400000">
            <a:off x="5852904" y="3517212"/>
            <a:ext cx="548640" cy="512064"/>
          </a:xfrm>
          <a:prstGeom prst="triangle">
            <a:avLst/>
          </a:prstGeom>
          <a:solidFill>
            <a:srgbClr val="EFC000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7" name="Shape 15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4 DE 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Redactar Preguntas que Presuponen la Respuesta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5074920" cy="3566160"/>
          </a:xfrm>
          <a:prstGeom prst="rect">
            <a:avLst/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28800"/>
            <a:ext cx="507492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288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✗  Versión con el error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4617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“¿Por qué ha mejorado tanto la cobertura de salud rural?” — asume que sí mejoró.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5074920" cy="3566160"/>
          </a:xfrm>
          <a:prstGeom prst="rect">
            <a:avLst/>
          </a:prstGeom>
          <a:solidFill>
            <a:srgbClr val="E9F7E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828800"/>
            <a:ext cx="5074920" cy="5029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8288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Versión corregida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29400" y="2514600"/>
            <a:ext cx="4617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“¿Ha mejorado la cobertura de salud rural en el último año, y en qué magnitud?”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834975" y="3472389"/>
            <a:ext cx="548640" cy="512064"/>
          </a:xfrm>
          <a:prstGeom prst="triangle">
            <a:avLst/>
          </a:prstGeom>
          <a:solidFill>
            <a:srgbClr val="EFC000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7" name="Shape 15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5 DE 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Aceptar el Primer Borrador de la IA sin Contrastar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5074920" cy="3566160"/>
          </a:xfrm>
          <a:prstGeom prst="rect">
            <a:avLst/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28800"/>
            <a:ext cx="507492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288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✗  Versión con el error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4617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técnica publicada con línea base “62% (estimado por el modelo de IA)”.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5074920" cy="3566160"/>
          </a:xfrm>
          <a:prstGeom prst="rect">
            <a:avLst/>
          </a:prstGeom>
          <a:solidFill>
            <a:srgbClr val="E9F7E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828800"/>
            <a:ext cx="5074920" cy="5029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8288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Versión corregida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29400" y="2514600"/>
            <a:ext cx="4617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marcada como [VERIFICAR EN ENTIDAD] hasta confirmarla con la fuente oficial, antes de publicar la ficha.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817047" y="3391708"/>
            <a:ext cx="548640" cy="512064"/>
          </a:xfrm>
          <a:prstGeom prst="triangle">
            <a:avLst/>
          </a:prstGeom>
          <a:solidFill>
            <a:srgbClr val="EFC000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7" name="Shape 15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7128" y="2148840"/>
            <a:ext cx="2377440" cy="9144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40 MIN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7286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Inteligencia Artificial como Potenciador, no como Reemplazo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907128" y="3977640"/>
            <a:ext cx="2377440" cy="54864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416052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de la IA en la construcción de indicadores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de 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0008" y="1417320"/>
            <a:ext cx="2011680" cy="82296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002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RECTOR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0"/>
            <a:ext cx="981425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IA es un potenciador de actividades, no un sustituto del juicio técnico y político. La pregunta de gestión la formula el equipo que conoce el problema público, el territorio y a la ciudadanía; la IA ayuda a que esa pregunta quede mejor redactada, mejor estructurada y más rápido documentada.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COMO COPILOTO TÉCNICO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Dónde Sí Ayuda la IA (con rigor)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preguntas vagas — chequear si cumple los 4 componentes del Paso 2 y señalar cuáles faltan.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alternativas de indicador — proponer 3-5 formulaciones posibles para que el equipo elija y ajuste.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de ficha técnica — redactar un primer borrador completo (fórmula, unidad de medida, posibles fuentes).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Traducción a lenguaje ciudadano — convertir la ficha técnica en una explicación breve para rendición de cuentas.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cruzada de calidad — aplicar sistemáticamente los criterios SMART/CREMA y señalar inconsistencias.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y documentación — consolidar las fichas técnicas en una matriz ordenada (Word/Excel).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COMO COPILOTO TÉCNICO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Dónde NO Debe Decidir la IA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9448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159448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Prioridad de la pregunta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86968" y="3520440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pregunta de gestión es prioritaria depende del mandato, el contexto político y las necesidades ciudadanas.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6329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197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37197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2788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o línea base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64458" y="3520440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Deben salir de datos oficiales verificados, nunca de estimaciones generadas por el modelo.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4078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4946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714946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537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Interpretación política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1948" y="3520440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lectura política o social del resultado de un indicador es responsabilidad humana.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1827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2695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992695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8286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Validación de la fuente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9438" y="3520440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debe confirmarse contra el sistema de información oficial (DANE, SISPRO, Terridata, etc.).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8" name="Shape 26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RECOMENDADA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Claude.ai para Equipos de Gestión Pública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33832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57400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288036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Acceso inmediato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86968" y="3520440"/>
            <a:ext cx="298094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desde el navegador, sin instalación ni conocimientos técnicos; existe un plan gratuito para practicar en el taller.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3832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60720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53712" y="288036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Trabaja con documentos del equipo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90288" y="3520440"/>
            <a:ext cx="298094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subir directamente la matriz de indicadores en Word o Excel y trabajar sobre ella, en español.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2440" y="1828800"/>
            <a:ext cx="33832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64040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94640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57032" y="288036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Entregables usables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93608" y="3520440"/>
            <a:ext cx="298094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producir la ficha técnica en formato de documento o tabla, lista para revisión del equipo.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3" name="Shape 21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7128" y="2148840"/>
            <a:ext cx="2377440" cy="9144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KIT DE PROMPTS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7286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Cómo Generar Prompts para Automatizar el Proceso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907128" y="3977640"/>
            <a:ext cx="2377440" cy="54864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416052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claro + insumo + instrucciones numeradas + criterio de calidad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PROMPTS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Anatomía de un Buen Prompt Técnico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Rol claro para el modelo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“Actúa como experto en indicadores de salud pública (metodologías DNP y MinSalud)”.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Insumo concreto que se pega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pregunta, el nombre borrador o la fórmula borrador que ya tiene el equipo.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Instrucciones explícitas y numeradas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 producir exactamente el modelo: reformular, generar alternativas, redactar la ficha, auditar.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Criterio de calidad para validar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CREMA, SMART o la cadena de valor, contra el cual el modelo debe contrastar su propia respuesta.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PROMPTS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Prompts 1 y 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789920" cy="2057400"/>
          </a:xfrm>
          <a:prstGeom prst="rect">
            <a:avLst/>
          </a:prstGeom>
          <a:solidFill>
            <a:srgbClr val="F0F2F6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91640"/>
            <a:ext cx="109728" cy="205740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0136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1 — Diagnóstico de pregunta vaga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“Tengo esta pregunta de gestión: [pegar pregunta]. Evalúa si cumple los 4 componentes (población, atributo, ámbito, referente de comparación) y dime cuáles faltan. Propón 3 opciones de reformulación que sí los cumplan.”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4023360"/>
            <a:ext cx="10789920" cy="2057400"/>
          </a:xfrm>
          <a:prstGeom prst="rect">
            <a:avLst/>
          </a:prstGeom>
          <a:solidFill>
            <a:srgbClr val="F0F2F6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023360"/>
            <a:ext cx="109728" cy="205740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13308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2 — Generación de alternativas de indicador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452628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“A partir de esta pregunta de gestión ya refinada: [pegar], propón 3 posibles indicadores con su fórmula, unidad de medida, eslabón de la cadena de valor y fuente posible, siguiendo los criterios CREMA.”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PROMPTS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Prompts 3 y 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789920" cy="2057400"/>
          </a:xfrm>
          <a:prstGeom prst="rect">
            <a:avLst/>
          </a:prstGeom>
          <a:solidFill>
            <a:srgbClr val="F0F2F6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91640"/>
            <a:ext cx="109728" cy="205740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0136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3 — Borrador de ficha técnica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“Redacta el borrador de la ficha técnica de este indicador usando esta plantilla: [pegar plantilla]. Deja explícitos, marcados como [VERIFICAR EN ENTIDAD], los campos que dependen de datos que debo confirmar con la fuente oficial.”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4023360"/>
            <a:ext cx="10789920" cy="2057400"/>
          </a:xfrm>
          <a:prstGeom prst="rect">
            <a:avLst/>
          </a:prstGeom>
          <a:solidFill>
            <a:srgbClr val="F0F2F6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023360"/>
            <a:ext cx="109728" cy="205740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13308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4 — Auditoría de una batería de indicadores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452628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“Revisa esta batería de 10 indicadores: [pegar lista con fórmula y objetivo]. Señala cuáles son en realidad indicadores de producto disfrazados de resultado, identifica riesgos de incentivos perversos y marca posibles redundancias.”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PROMPTS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Salvaguardas para no Perder Rigor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9448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159448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Doble verificación humana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86968" y="3520440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indicador se publica o se usa para decisiones sin que un responsable técnico revise fórmula, fuente y meta.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6329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197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37197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2788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Trazabilidad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64458" y="3520440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cifra debe poder rastrearse hasta su fuente oficial; la IA no es fuente de datos, es apoyo de redacción.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4078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4946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714946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537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Transparencia metodológica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1948" y="3520440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ficha tuvo apoyo de IA en su redacción, se deja constancia de ello, igual que cualquier otra asistencia técnica.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1827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2695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992695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8286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equipo define el éxito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9438" y="3520440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metas se fijan con criterio técnico y político, nunca por sugerencia automática sin contraste.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8" name="Shape 26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 PARA MEDIR IMPACTOS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Bases de Datos Públicas para Medir Indicadores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413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91640"/>
            <a:ext cx="3413760" cy="73152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56232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GEIH (DANE)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2258568"/>
            <a:ext cx="3048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Encuesta Integrada de Hogares. Empleo, ingresos y fuerza laboral, mensual, con desagregación territorial. Descarga: microdatos.dane.gov.co.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3880" y="1691640"/>
            <a:ext cx="3413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3880" y="1691640"/>
            <a:ext cx="3413760" cy="73152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56760" y="1856232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DANE — Terridata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56760" y="2258568"/>
            <a:ext cx="3048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territoriales oficiales (educación, salud, pobreza, ambiente) por municipio y departamento. Portal: terridata.dnp.gov.co.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61960" y="1691640"/>
            <a:ext cx="3413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1960" y="1691640"/>
            <a:ext cx="3413760" cy="73152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244840" y="1856232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SISPRO (MinSalud)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44840" y="2258568"/>
            <a:ext cx="3048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Integrado de Información de la Protección Social: RIPS, coberturas y eventos en salud pública.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4069080"/>
            <a:ext cx="3413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069080"/>
            <a:ext cx="3413760" cy="73152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233672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SIMAT (MinEducación)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" y="4636008"/>
            <a:ext cx="3048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Integrado de Matrícula: cobertura, deserción y tránsito escolar por sede educativa.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73880" y="4069080"/>
            <a:ext cx="3413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73880" y="4069080"/>
            <a:ext cx="3413760" cy="73152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25" name="Text 23"/>
          <p:cNvSpPr/>
          <p:nvPr/>
        </p:nvSpPr>
        <p:spPr>
          <a:xfrm>
            <a:off x="4556760" y="4233672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SIEDCO (Policía Nacional)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56760" y="4636008"/>
            <a:ext cx="3048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Información Estadístico, Delincuencial, Contravencional y Operativo: cifras de criminalidad y seguridad.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61960" y="4069080"/>
            <a:ext cx="3413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61960" y="4069080"/>
            <a:ext cx="3413760" cy="73152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29" name="Text 27"/>
          <p:cNvSpPr/>
          <p:nvPr/>
        </p:nvSpPr>
        <p:spPr>
          <a:xfrm>
            <a:off x="8244840" y="4233672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DNP — Sinergia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44840" y="4636008"/>
            <a:ext cx="3048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Nacional de Evaluación de Gestión y Resultados: seguimiento a metas de planes de desarrollo nacionales.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32" name="Shape 30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6172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uso: cruzar la línea base de un indicador propio con la serie histórica de GEIH o Terridata permite validar si el cambio observado es atribuible al programa o responde a una tendencia territorial más amplia.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7128" y="2148840"/>
            <a:ext cx="2377440" cy="9144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30 MIN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7286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Taller Práctico en Vivo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907128" y="3977640"/>
            <a:ext cx="2377440" cy="54864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416052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Autoría humana → refinamiento con IA, sobre los 4 casos guía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de 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 1 DE 4 · SALUD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Salud Materna Rural 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vaga de partida:  </a:t>
            </a:r>
            <a:r>
              <a:rPr lang="en-US" sz="125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“¿Cómo va la salud?”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103120"/>
            <a:ext cx="10789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03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/ unidad de análisis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210312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Gestantes en zona rural dispersa y rural del municipio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60604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06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o dimensión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60604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controles prenatales oportunos y completos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10896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108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Ámbito territorial y temporal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310896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 X, zona rural, año en curso vs. año anterior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61188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11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 de comparación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61188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del año t-1 y meta del Plan de Desarrollo Municipal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251960"/>
            <a:ext cx="1078992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31596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gestión refinada: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6112" y="45720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“¿Estamos garantizando controles prenatales adecuados a las gestantes de las zonas rurales del municipio, y estamos mejorando frente al año anterior?”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4" name="Shape 22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 1 DE 4 · SALUD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Salud Materna Rural 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916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Eslabón de la cadena de valor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51960" y="1691640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(mide el cambio en el acceso/comportamiento, no solo el producto entregado)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258568"/>
            <a:ext cx="10789920" cy="566928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25856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indicador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51960" y="2258568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gestantes rurales con 4 o más controles prenatales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2825496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2549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cálculo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2825496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(N.º gestantes rurales con ≥4 controles / N.º total gestantes rurales con parto) × 100, año t vs. t-1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392424"/>
            <a:ext cx="10789920" cy="566928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39242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información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51960" y="3392424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RIPS – SISPRO (MinSalud); historia clínica materno-perinatal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142232"/>
            <a:ext cx="10789920" cy="1965960"/>
          </a:xfrm>
          <a:prstGeom prst="rect">
            <a:avLst/>
          </a:prstGeom>
          <a:solidFill>
            <a:srgbClr val="F0F2F6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142232"/>
            <a:ext cx="109728" cy="19659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2519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sugerido para IA (Claude.ai)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599432"/>
            <a:ext cx="10332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experto en indicadores de salud pública (metodologías DNP y MinSalud). Revisa esta formulación: Pregunta: ¿Estamos garantizando controles prenatales adecuados...? Nombre borrador: % de embarazadas rurales con controles al día. Fórmula borrador: (gestantes con 4 controles / total gestantes) × 100. Aplica la regla nomenclatural, precisa el denominador con fuente oficial (RIPS/SISPRO) y genera la ficha técnica completa.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4" name="Shape 22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 2 DE 4 · EDUCACIÓN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Deserción Escolar Rural 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vaga de partida:  </a:t>
            </a:r>
            <a:r>
              <a:rPr lang="en-US" sz="125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“¿Cómo va la educación?”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103120"/>
            <a:ext cx="10789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03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/ unidad de análisis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210312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matriculados en sedes educativas rurales oficiales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60604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06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o dimensión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60604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escolar intra-anual (evitar abandono antes de finalizar el año)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10896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108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Ámbito territorial y temporal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310896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Sedes rurales del municipio/provincia, año lectivo en curso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61188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11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 de comparación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61188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del plan de desarrollo vigente sobre tasa de deserción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251960"/>
            <a:ext cx="1078992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31596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gestión refinada: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6112" y="45720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“¿Estamos reteniendo a los estudiantes de las sedes rurales durante el año escolar, frente a la meta del plan de desarrollo?”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4" name="Shape 22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 2 DE 4 · EDUCACIÓN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Deserción Escolar Rural 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916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Eslabón de la cadena de valor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51960" y="1691640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(mide el comportamiento de permanencia de la población beneficiaria)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258568"/>
            <a:ext cx="10789920" cy="566928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25856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indicador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51960" y="2258568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deserción escolar intra-anual en sedes educativas rurales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2825496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2549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cálculo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2825496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(N.º estudiantes que abandonan durante el año / N.º matriculados al inicio del año) × 100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392424"/>
            <a:ext cx="10789920" cy="566928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39242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información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51960" y="3392424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Integrado de Matrícula (SIMAT) y Secretaría de Educación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142232"/>
            <a:ext cx="10789920" cy="1965960"/>
          </a:xfrm>
          <a:prstGeom prst="rect">
            <a:avLst/>
          </a:prstGeom>
          <a:solidFill>
            <a:srgbClr val="F0F2F6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142232"/>
            <a:ext cx="109728" cy="19659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2519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sugerido para IA (Claude.ai)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599432"/>
            <a:ext cx="10332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Revisa este borrador de indicador de educación rural: Pregunta: ¿Estamos reteniendo a los estudiantes de sedes rurales durante el año escolar? Nombre borrador: Tasa de abandono de alumnos rurales. Reformula el nombre según estándares SIMAT, confirma si el indicador es de tipo reducción y genera una alerta sobre posibles incentivos perversos (p. ej. subreporte de retiros).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4" name="Shape 22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 3 DE 4 · SEGURIDAD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Hurto</a:t>
            </a: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Personas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vaga de partida:  </a:t>
            </a:r>
            <a:r>
              <a:rPr lang="en-US" sz="125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“¿Cómo va la seguridad?”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103120"/>
            <a:ext cx="10789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03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/ unidad de análisis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210312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Habitantes del casco urbano del municipio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60604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06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o dimensión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60604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 de hurto a personas ajustada por densidad poblacional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10896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108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Ámbito territorial y temporal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310896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Casco urbano, trimestre actual vs. mismo trimestre del año anterior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61188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11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 de comparación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61188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del mismo trimestre del año t-1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251960"/>
            <a:ext cx="1078992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31596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gestión refinada: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6112" y="45720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“¿Está disminuyendo el hurto a personas en el último trimestre, frente al mismo periodo del año anterior?”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4" name="Shape 22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 3 DE 4 · SEGURIDAD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Hurto a Personas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916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Eslabón de la cadena de valor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51960" y="1691640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/ impacto sectorial (mide la incidencia del delito, no solo la actividad policial)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258568"/>
            <a:ext cx="10789920" cy="566928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25856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indicador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51960" y="2258568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porcentual de la tasa de hurto a personas por cada 10.000 habitantes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2825496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2549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cálculo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2825496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((Tasa trimestre actual − Tasa año anterior) / Tasa año anterior) × 100; Tasa = (denuncias / población DANE) × 10.000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392424"/>
            <a:ext cx="10789920" cy="566928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39242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información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51960" y="3392424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SIEDCO — Policía Nacional (o equivalente local)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142232"/>
            <a:ext cx="10789920" cy="1965960"/>
          </a:xfrm>
          <a:prstGeom prst="rect">
            <a:avLst/>
          </a:prstGeom>
          <a:solidFill>
            <a:srgbClr val="F0F2F6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142232"/>
            <a:ext cx="109728" cy="19659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2519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sugerido para IA (Claude.ai)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599432"/>
            <a:ext cx="10332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Analiza esta propuesta de indicador de seguridad: Nombre borrador: Disminución de robos en la ciudad. Fórmula borrador: hurtos este año − hurtos año pasado. Sustituye la resta simple por una variación porcentual de la tasa por 10.000 habitantes, y redacta el campo de limitaciones advirtiendo sobre la cifra negra (denuncias no realizadas).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4" name="Shape 22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 4 DE 4 · AMBIENTE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Reforestación Efectiva (a)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vaga de partida:  </a:t>
            </a:r>
            <a:r>
              <a:rPr lang="en-US" sz="125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“¿Cómo va el medio ambiente?”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103120"/>
            <a:ext cx="10789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03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/ unidad de análisis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210312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Hectáreas comprometidas en el plan de reforestación regional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60604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06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o dimensión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60604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Sobrevivencia vegetativa de lo sembrado, no solo la siembra inicial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10896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108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Ámbito territorial y temporal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310896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Cuencas hidrográficas de la jurisdicción, verificación a los 12 meses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61188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11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 de comparación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61188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hectáreas comprometidas y programadas en el plan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251960"/>
            <a:ext cx="1078992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31596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gestión refinada: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6112" y="45720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“¿Las hectáreas comprometidas en el plan de reforestación realmente sobreviven, frente a lo programado?”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4" name="Shape 22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 4 DE 4 · AMBIENTE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Reforestación Efectiva (b)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916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Eslabón de la cadena de valor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51960" y="1691640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(la siembra es producto; la sobrevivencia a 12 meses es el cambio efectivo logrado)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258568"/>
            <a:ext cx="10789920" cy="566928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25856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indicador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51960" y="2258568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hectáreas reforestadas con sobrevivencia mayor al 80% a los 12 meses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2825496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2549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cálculo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2825496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(N.º hectáreas con sobrevivencia &gt;80% verificada / N.º total hectáreas comprometidas) × 100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392424"/>
            <a:ext cx="10789920" cy="566928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39242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información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51960" y="3392424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de verificación en campo, imágenes satelitales, autoridad ambiental regional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142232"/>
            <a:ext cx="10789920" cy="1965960"/>
          </a:xfrm>
          <a:prstGeom prst="rect">
            <a:avLst/>
          </a:prstGeom>
          <a:solidFill>
            <a:srgbClr val="F0F2F6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142232"/>
            <a:ext cx="109728" cy="19659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2519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sugerido para IA (Claude.ai)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599432"/>
            <a:ext cx="10332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Identifica por qué medir únicamente “número de árboles sembrados” es un indicador de producto y no de resultado. Redacta la pregunta de gestión enfocada en sobrevivencia vegetativa a 12 meses, propón la fórmula de cálculo y señala si la fuente debería incluir visitas de campo, imágenes satelitales o ambas.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4" name="Shape 22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7128" y="2148840"/>
            <a:ext cx="2377440" cy="9144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AUTÓNOMO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7286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Ejercicios para Practicar en Casa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907128" y="3977640"/>
            <a:ext cx="2377440" cy="54864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416052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casos adicionales para completar de forma individual, contrastando con Claude.ai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del taller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A · MOVILIDAD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Movilidad Sostenible y Transporte Masivo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1078992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719072"/>
            <a:ext cx="10378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municipio implementó un sistema de transporte masivo con carril exclusivo para buses eléctricos.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2103120"/>
            <a:ext cx="10378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del directivo:  </a:t>
            </a: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“¿La gente sí está usando el nuevo transporte y estamos reduciendo los tiempos de trancón?”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de forma individual: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3172968"/>
            <a:ext cx="5943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/ unidad de análisis</a:t>
            </a:r>
            <a:endParaRPr lang="en-US" sz="115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Atributo, ámbito y referente de comparación</a:t>
            </a:r>
            <a:endParaRPr lang="en-US" sz="115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gestión refinada</a:t>
            </a:r>
            <a:endParaRPr lang="en-US" sz="115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Eslabón, nombre del indicador y fórmula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03720" y="2788920"/>
            <a:ext cx="46177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289864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Retos específicos a resolver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04888" y="3291840"/>
            <a:ext cx="42519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dos indicadores independientes: uno de producto (oferta/demanda) y otro de resultado (tiempo de viaje).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Ejecute el Prompt 2 en Claude.ai y compare su borrador con la propuesta de la IA.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 si la tendencia esperada del indicador de tiempo de viaje es a la maximización o a la minimización.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B · EMPLEO JOVEN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Desarrollo Económico Local y Empleo Joven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59" y="1645920"/>
            <a:ext cx="11048695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08159" y="1719071"/>
            <a:ext cx="10627347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Secretaría de Desarrollo Económico implementó un programa de incentivos tributarios a empresas que contraten jóvenes de primer empleo.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8159" y="2103119"/>
            <a:ext cx="10627347" cy="522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del directivo:  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“¿El programa sí está sirviendo para que los jóvenes consigan trabajo digno o es plata botada?”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01501" y="330403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de forma individual: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37447" y="3840480"/>
            <a:ext cx="5943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6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/ unidad de análisis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6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Atributo, ámbito y referente de comparación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6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gestión refinada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6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Eslabón, nombre del indicador y fórmula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17786" y="2898648"/>
            <a:ext cx="46177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321868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Retos específicos a resolver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04888" y="3611880"/>
            <a:ext cx="4251960" cy="2042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Diseñe la fórmula midiendo jóvenes vinculados formalmente (con aportes a seguridad social) sobre el total de beneficiarios.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el Prompt 3 en Claude.ai para redactar limitaciones y supuestos, considerando variables macroeconómicas no controlables.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el responsable técnico del reporte y la fuente oficial.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C · CONTRATACIÓN PÚBLICA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Contratación Pública y Transparencia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1078992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719072"/>
            <a:ext cx="10378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entidad pública quiere saber si sus procesos de licitación están generando ahorro real frente al presupuesto planeado.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2103120"/>
            <a:ext cx="10378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del directivo:  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“¿Estamos ahorrando dinero al contratar por licitación pública?”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de forma individual: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3172968"/>
            <a:ext cx="5943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/ unidad de análisis</a:t>
            </a:r>
            <a:endParaRPr lang="en-US" sz="115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Atributo, ámbito y referente de comparación</a:t>
            </a:r>
            <a:endParaRPr lang="en-US" sz="115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gestión refinada</a:t>
            </a:r>
            <a:endParaRPr lang="en-US" sz="115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Eslabón, nombre del indicador y fórmula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03720" y="2788920"/>
            <a:ext cx="46177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289864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Retos específicos a resolver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04888" y="3291840"/>
            <a:ext cx="42519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Evalúe si el indicador mide economía o eficiencia, y justifique su elección.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el Prompt 4 en Claude.ai para auditar el riesgo de sub-presupuestación voluntaria.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Proponga una salvaguarda institucional que reduzca ese riesgo (p. ej. estudio de mercado actualizado).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Fuentes y Referencias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DNP (Colombia). Guía metodológica para la formulación de indicadores (2020).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DNP–DSEPP. Guía metodológica para el seguimiento y la evaluación a políticas públicas.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DNP. Metodología General Ajustada (MGA): cadena de valor de proyectos de inversión pública.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DANE. Guía para diseño, construcción e interpretación de indicadores, Estrategia EFET.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DAFP. Guía para la construcción y análisis de indicadores de gestión (MIPG v4, 2018).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Ministerio de Salud y Protección Social. Guía metodológica para indicadores de procesos, DESG05.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Armijo, M. y Bonnefoy, J.C. Indicadores de desempeño en el sector público. CEPAL–ILPES.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para las Víctimas (Colombia). Guía para la formulación de indicadores.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General de Servicio Civil (Costa Rica). Guía para la elaboración de indicadores de gestión.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0008" y="1417320"/>
            <a:ext cx="2011680" cy="82296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002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TALLER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0"/>
            <a:ext cx="981425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pregunta de gestión bien formulada, traducida en un indicador con rigor técnico, es la base de toda decisión pública basada en evidencia.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88720" y="4800600"/>
            <a:ext cx="98142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 · Ciclo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5155</Words>
  <Application>Microsoft Office PowerPoint</Application>
  <PresentationFormat>Panorámica</PresentationFormat>
  <Paragraphs>631</Paragraphs>
  <Slides>54</Slides>
  <Notes>54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54</vt:i4>
      </vt:variant>
    </vt:vector>
  </HeadingPairs>
  <TitlesOfParts>
    <vt:vector size="59" baseType="lpstr">
      <vt:lpstr>Arial</vt:lpstr>
      <vt:lpstr>Calibri</vt:lpstr>
      <vt:lpstr>Consolas</vt:lpstr>
      <vt:lpstr>Montserrat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Sandra Carolina</cp:lastModifiedBy>
  <cp:revision>13</cp:revision>
  <dcterms:created xsi:type="dcterms:W3CDTF">2026-08-08T22:54:29Z</dcterms:created>
  <dcterms:modified xsi:type="dcterms:W3CDTF">2026-08-09T00:04:52Z</dcterms:modified>
</cp:coreProperties>
</file>