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60" r:id="rId4"/>
    <p:sldId id="261" r:id="rId5"/>
    <p:sldId id="262" r:id="rId6"/>
    <p:sldId id="263" r:id="rId7"/>
    <p:sldId id="264" r:id="rId8"/>
    <p:sldId id="265" r:id="rId9"/>
    <p:sldId id="266" r:id="rId10"/>
    <p:sldId id="328" r:id="rId11"/>
    <p:sldId id="267" r:id="rId12"/>
    <p:sldId id="268" r:id="rId13"/>
    <p:sldId id="269" r:id="rId14"/>
    <p:sldId id="270" r:id="rId15"/>
    <p:sldId id="271" r:id="rId16"/>
    <p:sldId id="272" r:id="rId17"/>
    <p:sldId id="273" r:id="rId18"/>
    <p:sldId id="274" r:id="rId19"/>
    <p:sldId id="280" r:id="rId20"/>
    <p:sldId id="325" r:id="rId21"/>
    <p:sldId id="275" r:id="rId22"/>
    <p:sldId id="276" r:id="rId23"/>
    <p:sldId id="277" r:id="rId24"/>
    <p:sldId id="326" r:id="rId25"/>
    <p:sldId id="329" r:id="rId26"/>
    <p:sldId id="278" r:id="rId27"/>
    <p:sldId id="279"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6" r:id="rId51"/>
    <p:sldId id="307" r:id="rId52"/>
    <p:sldId id="308" r:id="rId53"/>
    <p:sldId id="309" r:id="rId54"/>
    <p:sldId id="310" r:id="rId55"/>
    <p:sldId id="311" r:id="rId56"/>
    <p:sldId id="312" r:id="rId57"/>
    <p:sldId id="313" r:id="rId58"/>
    <p:sldId id="314" r:id="rId59"/>
    <p:sldId id="315" r:id="rId60"/>
    <p:sldId id="332" r:id="rId61"/>
    <p:sldId id="333" r:id="rId62"/>
    <p:sldId id="331" r:id="rId63"/>
    <p:sldId id="334" r:id="rId64"/>
    <p:sldId id="335" r:id="rId65"/>
    <p:sldId id="316" r:id="rId66"/>
    <p:sldId id="317" r:id="rId67"/>
    <p:sldId id="318" r:id="rId68"/>
    <p:sldId id="319" r:id="rId69"/>
    <p:sldId id="320" r:id="rId70"/>
    <p:sldId id="321" r:id="rId71"/>
    <p:sldId id="322" r:id="rId72"/>
    <p:sldId id="323" r:id="rId73"/>
    <p:sldId id="324" r:id="rId7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610"/>
  </p:normalViewPr>
  <p:slideViewPr>
    <p:cSldViewPr snapToGrid="0" snapToObjects="1">
      <p:cViewPr>
        <p:scale>
          <a:sx n="75" d="100"/>
          <a:sy n="75" d="100"/>
        </p:scale>
        <p:origin x="1469"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845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33279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600200"/>
            <a:ext cx="7498080" cy="320040"/>
          </a:xfrm>
          <a:prstGeom prst="rect">
            <a:avLst/>
          </a:prstGeom>
          <a:noFill/>
          <a:ln/>
        </p:spPr>
        <p:txBody>
          <a:bodyPr wrap="square"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TALLER 8 · CICLO 2</a:t>
            </a:r>
            <a:endParaRPr lang="en-US" sz="1200" dirty="0"/>
          </a:p>
        </p:txBody>
      </p:sp>
      <p:sp>
        <p:nvSpPr>
          <p:cNvPr id="3" name="Text 1"/>
          <p:cNvSpPr/>
          <p:nvPr/>
        </p:nvSpPr>
        <p:spPr>
          <a:xfrm>
            <a:off x="822960" y="1965960"/>
            <a:ext cx="7498080" cy="105156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Construcción de Preguntas de Gestión y su Traducción a Indicadores Públicos</a:t>
            </a:r>
            <a:endParaRPr lang="en-US" sz="2700" dirty="0"/>
          </a:p>
        </p:txBody>
      </p:sp>
      <p:sp>
        <p:nvSpPr>
          <p:cNvPr id="4" name="Text 2"/>
          <p:cNvSpPr/>
          <p:nvPr/>
        </p:nvSpPr>
        <p:spPr>
          <a:xfrm>
            <a:off x="822960" y="3063240"/>
            <a:ext cx="7498080" cy="365760"/>
          </a:xfrm>
          <a:prstGeom prst="rect">
            <a:avLst/>
          </a:prstGeom>
          <a:noFill/>
          <a:ln/>
        </p:spPr>
        <p:txBody>
          <a:bodyPr wrap="square" rtlCol="0" anchor="ctr"/>
          <a:lstStyle/>
          <a:p>
            <a:pPr marL="0" indent="0">
              <a:buNone/>
            </a:pPr>
            <a:r>
              <a:rPr lang="en-US" sz="1300" i="1" dirty="0">
                <a:solidFill>
                  <a:srgbClr val="CADCFC"/>
                </a:solidFill>
                <a:latin typeface="Arial" pitchFamily="34" charset="0"/>
                <a:ea typeface="Arial" pitchFamily="34" charset="-122"/>
                <a:cs typeface="Arial" pitchFamily="34" charset="-120"/>
              </a:rPr>
              <a:t>Con guía de optimización de Inteligencia Artificial y simulador interactivo en línea</a:t>
            </a:r>
            <a:endParaRPr lang="en-US" sz="1300" dirty="0"/>
          </a:p>
        </p:txBody>
      </p:sp>
      <p:sp>
        <p:nvSpPr>
          <p:cNvPr id="5" name="Text 3"/>
          <p:cNvSpPr/>
          <p:nvPr/>
        </p:nvSpPr>
        <p:spPr>
          <a:xfrm>
            <a:off x="822960" y="3520440"/>
            <a:ext cx="7498080" cy="320040"/>
          </a:xfrm>
          <a:prstGeom prst="rect">
            <a:avLst/>
          </a:prstGeom>
          <a:noFill/>
          <a:ln/>
        </p:spPr>
        <p:txBody>
          <a:bodyPr wrap="square" rtlCol="0" anchor="ctr"/>
          <a:lstStyle/>
          <a:p>
            <a:pPr marL="0" indent="0">
              <a:buNone/>
            </a:pPr>
            <a:r>
              <a:rPr lang="en-US" sz="1050" dirty="0">
                <a:solidFill>
                  <a:srgbClr val="9FB8D9"/>
                </a:solidFill>
                <a:latin typeface="Arial" pitchFamily="34" charset="0"/>
                <a:ea typeface="Arial" pitchFamily="34" charset="-122"/>
                <a:cs typeface="Arial" pitchFamily="34" charset="-120"/>
              </a:rPr>
              <a:t>Marco de referencia: DNP (Sinergia) · DANE · DAFP–MIPG · CEPAL/ILPES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INTRODUCCIÓN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Cómo se organiza este taller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0"/>
          </a:xfrm>
          <a:prstGeom prst="rect">
            <a:avLst/>
          </a:prstGeom>
          <a:noFill/>
          <a:ln/>
        </p:spPr>
        <p:txBody>
          <a:bodyPr wrap="square" rtlCol="0" anchor="t"/>
          <a:lstStyle/>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1: marco conceptual, tipología de indicadores, método de 5 pasos, </a:t>
            </a:r>
            <a:r>
              <a:rPr lang="en-US" sz="1350" dirty="0" err="1">
                <a:solidFill>
                  <a:srgbClr val="2F3B4C"/>
                </a:solidFill>
                <a:latin typeface="Arial" pitchFamily="34" charset="0"/>
                <a:ea typeface="Arial" pitchFamily="34" charset="-122"/>
                <a:cs typeface="Arial" pitchFamily="34" charset="-120"/>
              </a:rPr>
              <a:t>ficha</a:t>
            </a:r>
            <a:r>
              <a:rPr lang="en-US" sz="1350" dirty="0">
                <a:solidFill>
                  <a:srgbClr val="2F3B4C"/>
                </a:solidFill>
                <a:latin typeface="Arial" pitchFamily="34" charset="0"/>
                <a:ea typeface="Arial" pitchFamily="34" charset="-122"/>
                <a:cs typeface="Arial" pitchFamily="34" charset="-120"/>
              </a:rPr>
              <a:t> técnica y errores comunes, con actividades prácticas individuales en cada módulo.</a:t>
            </a:r>
            <a:endParaRPr lang="en-US" sz="1350" dirty="0"/>
          </a:p>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2: el rol de la Inteligencia Artificial como potenciador, la herramienta Claude.ai, el kit de prompts y el Simulador interactivo del taller.</a:t>
            </a:r>
            <a:endParaRPr lang="en-US" sz="1350" dirty="0"/>
          </a:p>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3: taller práctico en vivo — el caso guía se desarrolla en el Simulador; 3 casos adicionales quedan de referencia impresa, más 3 ejercicios para practicar de forma autónoma.</a:t>
            </a:r>
            <a:endParaRPr lang="en-US" sz="1350" dirty="0"/>
          </a:p>
        </p:txBody>
      </p:sp>
      <p:sp>
        <p:nvSpPr>
          <p:cNvPr id="9" name="Shape 6"/>
          <p:cNvSpPr/>
          <p:nvPr/>
        </p:nvSpPr>
        <p:spPr>
          <a:xfrm>
            <a:off x="640080" y="3566160"/>
            <a:ext cx="7863840" cy="822960"/>
          </a:xfrm>
          <a:prstGeom prst="roundRect">
            <a:avLst>
              <a:gd name="adj" fmla="val 5556"/>
            </a:avLst>
          </a:prstGeom>
          <a:solidFill>
            <a:srgbClr val="EDF3F9"/>
          </a:solidFill>
          <a:ln/>
        </p:spPr>
      </p:sp>
      <p:sp>
        <p:nvSpPr>
          <p:cNvPr id="10" name="Text 7"/>
          <p:cNvSpPr/>
          <p:nvPr/>
        </p:nvSpPr>
        <p:spPr>
          <a:xfrm>
            <a:off x="822960" y="3657600"/>
            <a:ext cx="7498080" cy="640080"/>
          </a:xfrm>
          <a:prstGeom prst="rect">
            <a:avLst/>
          </a:prstGeom>
          <a:noFill/>
          <a:ln/>
        </p:spPr>
        <p:txBody>
          <a:bodyPr wrap="square" rtlCol="0" anchor="t"/>
          <a:lstStyle/>
          <a:p>
            <a:pPr marL="0" indent="0">
              <a:buNone/>
            </a:pPr>
            <a:r>
              <a:rPr lang="en-US" sz="1150" i="1" dirty="0">
                <a:solidFill>
                  <a:srgbClr val="173F72"/>
                </a:solidFill>
                <a:latin typeface="Arial" pitchFamily="34" charset="0"/>
                <a:ea typeface="Arial" pitchFamily="34" charset="-122"/>
                <a:cs typeface="Arial" pitchFamily="34" charset="-120"/>
              </a:rPr>
              <a:t>Cada ejemplo desarrollado incluye los 8 elementos del taller: pregunta de gestión, población, atributo, ámbito, referente de comparación, eslabón de la cadena de valor, nombre del indicador y fórmula — además del prompt de IA usado.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Fundamentos y Tipología de Indicadores</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Marco conceptual y metodológico</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1 de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MARCO CONCEPTUAL</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Dato, Indicador y Pregunta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2926080"/>
          </a:xfrm>
          <a:prstGeom prst="roundRect">
            <a:avLst>
              <a:gd name="adj" fmla="val 2184"/>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D · Dato</a:t>
            </a:r>
            <a:endParaRPr lang="en-US" sz="1200" dirty="0"/>
          </a:p>
        </p:txBody>
      </p:sp>
      <p:sp>
        <p:nvSpPr>
          <p:cNvPr id="12" name="Text 9"/>
          <p:cNvSpPr/>
          <p:nvPr/>
        </p:nvSpPr>
        <p:spPr>
          <a:xfrm>
            <a:off x="777240"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Registro puntual, sin procesar ni interpretar. Ej: "350 gestantes atendidas en abril de 2026".</a:t>
            </a:r>
            <a:endParaRPr lang="en-US" sz="950" dirty="0"/>
          </a:p>
        </p:txBody>
      </p:sp>
      <p:sp>
        <p:nvSpPr>
          <p:cNvPr id="13" name="Shape 10"/>
          <p:cNvSpPr/>
          <p:nvPr/>
        </p:nvSpPr>
        <p:spPr>
          <a:xfrm>
            <a:off x="3316224" y="1417320"/>
            <a:ext cx="2511552" cy="2926080"/>
          </a:xfrm>
          <a:prstGeom prst="roundRect">
            <a:avLst>
              <a:gd name="adj" fmla="val 2184"/>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 · Indicador</a:t>
            </a:r>
            <a:endParaRPr lang="en-US" sz="1200" dirty="0"/>
          </a:p>
        </p:txBody>
      </p:sp>
      <p:sp>
        <p:nvSpPr>
          <p:cNvPr id="17" name="Text 14"/>
          <p:cNvSpPr/>
          <p:nvPr/>
        </p:nvSpPr>
        <p:spPr>
          <a:xfrm>
            <a:off x="3453384"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Relación matemática entre datos que mide cumplimiento y permite comparar. Ej: "% de gestantes con 4+ controles".</a:t>
            </a:r>
            <a:endParaRPr lang="en-US" sz="950" dirty="0"/>
          </a:p>
        </p:txBody>
      </p:sp>
      <p:sp>
        <p:nvSpPr>
          <p:cNvPr id="18" name="Shape 15"/>
          <p:cNvSpPr/>
          <p:nvPr/>
        </p:nvSpPr>
        <p:spPr>
          <a:xfrm>
            <a:off x="5992368" y="1417320"/>
            <a:ext cx="2511552" cy="2926080"/>
          </a:xfrm>
          <a:prstGeom prst="roundRect">
            <a:avLst>
              <a:gd name="adj" fmla="val 2184"/>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P · Pregunta de gestión</a:t>
            </a:r>
            <a:endParaRPr lang="en-US" sz="1200" dirty="0"/>
          </a:p>
        </p:txBody>
      </p:sp>
      <p:sp>
        <p:nvSpPr>
          <p:cNvPr id="22" name="Text 19"/>
          <p:cNvSpPr/>
          <p:nvPr/>
        </p:nvSpPr>
        <p:spPr>
          <a:xfrm>
            <a:off x="6129528"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Pregunta orientadora que determina qué medir y para qué. Ej: "¿Garantizamos controles prenatales suficientes?".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IDEA CENTRAL</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El orden lógico correcto no es “tengo datos, veamos qué indicador armo”, sino “tengo una pregunta de gestión, defino qué datos necesito y con ellos construyo el indicador que la responde”.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CADENA DE VALOR PÚBLICA (DNP)</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Cadena de Valor Pública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554480"/>
            <a:ext cx="1441094" cy="2651760"/>
          </a:xfrm>
          <a:prstGeom prst="roundRect">
            <a:avLst>
              <a:gd name="adj" fmla="val 3807"/>
            </a:avLst>
          </a:prstGeom>
          <a:solidFill>
            <a:srgbClr val="EDF3F9"/>
          </a:solidFill>
          <a:ln/>
        </p:spPr>
      </p:sp>
      <p:sp>
        <p:nvSpPr>
          <p:cNvPr id="9" name="Shape 6"/>
          <p:cNvSpPr/>
          <p:nvPr/>
        </p:nvSpPr>
        <p:spPr>
          <a:xfrm>
            <a:off x="777240" y="1691640"/>
            <a:ext cx="365760" cy="365760"/>
          </a:xfrm>
          <a:prstGeom prst="ellipse">
            <a:avLst/>
          </a:prstGeom>
          <a:solidFill>
            <a:srgbClr val="FC6E01"/>
          </a:solidFill>
          <a:ln/>
        </p:spPr>
      </p:sp>
      <p:sp>
        <p:nvSpPr>
          <p:cNvPr id="10" name="Text 7"/>
          <p:cNvSpPr/>
          <p:nvPr/>
        </p:nvSpPr>
        <p:spPr>
          <a:xfrm>
            <a:off x="777240"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Insumos</a:t>
            </a:r>
            <a:endParaRPr lang="en-US" sz="1200" dirty="0"/>
          </a:p>
        </p:txBody>
      </p:sp>
      <p:sp>
        <p:nvSpPr>
          <p:cNvPr id="12" name="Text 9"/>
          <p:cNvSpPr/>
          <p:nvPr/>
        </p:nvSpPr>
        <p:spPr>
          <a:xfrm>
            <a:off x="777240"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Recursos financieros, humanos y físicos disponibles.</a:t>
            </a:r>
            <a:endParaRPr lang="en-US" sz="950" dirty="0"/>
          </a:p>
        </p:txBody>
      </p:sp>
      <p:sp>
        <p:nvSpPr>
          <p:cNvPr id="13" name="Shape 10"/>
          <p:cNvSpPr/>
          <p:nvPr/>
        </p:nvSpPr>
        <p:spPr>
          <a:xfrm>
            <a:off x="2245766" y="1554480"/>
            <a:ext cx="1441094" cy="2651760"/>
          </a:xfrm>
          <a:prstGeom prst="roundRect">
            <a:avLst>
              <a:gd name="adj" fmla="val 3807"/>
            </a:avLst>
          </a:prstGeom>
          <a:solidFill>
            <a:srgbClr val="EDF3F9"/>
          </a:solidFill>
          <a:ln/>
        </p:spPr>
      </p:sp>
      <p:sp>
        <p:nvSpPr>
          <p:cNvPr id="14" name="Shape 11"/>
          <p:cNvSpPr/>
          <p:nvPr/>
        </p:nvSpPr>
        <p:spPr>
          <a:xfrm>
            <a:off x="2382926" y="1691640"/>
            <a:ext cx="365760" cy="365760"/>
          </a:xfrm>
          <a:prstGeom prst="ellipse">
            <a:avLst/>
          </a:prstGeom>
          <a:solidFill>
            <a:srgbClr val="FC6E01"/>
          </a:solidFill>
          <a:ln/>
        </p:spPr>
      </p:sp>
      <p:sp>
        <p:nvSpPr>
          <p:cNvPr id="15" name="Text 12"/>
          <p:cNvSpPr/>
          <p:nvPr/>
        </p:nvSpPr>
        <p:spPr>
          <a:xfrm>
            <a:off x="2382926"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382926"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Actividades</a:t>
            </a:r>
            <a:endParaRPr lang="en-US" sz="1200" dirty="0"/>
          </a:p>
        </p:txBody>
      </p:sp>
      <p:sp>
        <p:nvSpPr>
          <p:cNvPr id="17" name="Text 14"/>
          <p:cNvSpPr/>
          <p:nvPr/>
        </p:nvSpPr>
        <p:spPr>
          <a:xfrm>
            <a:off x="2382926"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Procesos y acciones realizadas.</a:t>
            </a:r>
            <a:endParaRPr lang="en-US" sz="950" dirty="0"/>
          </a:p>
        </p:txBody>
      </p:sp>
      <p:sp>
        <p:nvSpPr>
          <p:cNvPr id="18" name="Shape 15"/>
          <p:cNvSpPr/>
          <p:nvPr/>
        </p:nvSpPr>
        <p:spPr>
          <a:xfrm>
            <a:off x="3851453" y="1554480"/>
            <a:ext cx="1441094" cy="2651760"/>
          </a:xfrm>
          <a:prstGeom prst="roundRect">
            <a:avLst>
              <a:gd name="adj" fmla="val 3807"/>
            </a:avLst>
          </a:prstGeom>
          <a:solidFill>
            <a:srgbClr val="EDF3F9"/>
          </a:solidFill>
          <a:ln/>
        </p:spPr>
      </p:sp>
      <p:sp>
        <p:nvSpPr>
          <p:cNvPr id="19" name="Shape 16"/>
          <p:cNvSpPr/>
          <p:nvPr/>
        </p:nvSpPr>
        <p:spPr>
          <a:xfrm>
            <a:off x="3988613" y="1691640"/>
            <a:ext cx="365760" cy="365760"/>
          </a:xfrm>
          <a:prstGeom prst="ellipse">
            <a:avLst/>
          </a:prstGeom>
          <a:solidFill>
            <a:srgbClr val="FC6E01"/>
          </a:solidFill>
          <a:ln/>
        </p:spPr>
      </p:sp>
      <p:sp>
        <p:nvSpPr>
          <p:cNvPr id="20" name="Text 17"/>
          <p:cNvSpPr/>
          <p:nvPr/>
        </p:nvSpPr>
        <p:spPr>
          <a:xfrm>
            <a:off x="3988613"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3988613"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Productos</a:t>
            </a:r>
            <a:endParaRPr lang="en-US" sz="1200" dirty="0"/>
          </a:p>
        </p:txBody>
      </p:sp>
      <p:sp>
        <p:nvSpPr>
          <p:cNvPr id="22" name="Text 19"/>
          <p:cNvSpPr/>
          <p:nvPr/>
        </p:nvSpPr>
        <p:spPr>
          <a:xfrm>
            <a:off x="3988613"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Bienes o servicios entregados a la población.</a:t>
            </a:r>
            <a:endParaRPr lang="en-US" sz="950" dirty="0"/>
          </a:p>
        </p:txBody>
      </p:sp>
      <p:sp>
        <p:nvSpPr>
          <p:cNvPr id="23" name="Shape 20"/>
          <p:cNvSpPr/>
          <p:nvPr/>
        </p:nvSpPr>
        <p:spPr>
          <a:xfrm>
            <a:off x="5457139" y="1554480"/>
            <a:ext cx="1441094" cy="2651760"/>
          </a:xfrm>
          <a:prstGeom prst="roundRect">
            <a:avLst>
              <a:gd name="adj" fmla="val 3807"/>
            </a:avLst>
          </a:prstGeom>
          <a:solidFill>
            <a:srgbClr val="EDF3F9"/>
          </a:solidFill>
          <a:ln/>
        </p:spPr>
      </p:sp>
      <p:sp>
        <p:nvSpPr>
          <p:cNvPr id="24" name="Shape 21"/>
          <p:cNvSpPr/>
          <p:nvPr/>
        </p:nvSpPr>
        <p:spPr>
          <a:xfrm>
            <a:off x="5594299" y="1691640"/>
            <a:ext cx="365760" cy="365760"/>
          </a:xfrm>
          <a:prstGeom prst="ellipse">
            <a:avLst/>
          </a:prstGeom>
          <a:solidFill>
            <a:srgbClr val="FC6E01"/>
          </a:solidFill>
          <a:ln/>
        </p:spPr>
      </p:sp>
      <p:sp>
        <p:nvSpPr>
          <p:cNvPr id="25" name="Text 22"/>
          <p:cNvSpPr/>
          <p:nvPr/>
        </p:nvSpPr>
        <p:spPr>
          <a:xfrm>
            <a:off x="5594299"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5594299"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Resultados</a:t>
            </a:r>
            <a:endParaRPr lang="en-US" sz="1200" dirty="0"/>
          </a:p>
        </p:txBody>
      </p:sp>
      <p:sp>
        <p:nvSpPr>
          <p:cNvPr id="27" name="Text 24"/>
          <p:cNvSpPr/>
          <p:nvPr/>
        </p:nvSpPr>
        <p:spPr>
          <a:xfrm>
            <a:off x="5594299"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Cambios en comportamiento, acceso o condición.</a:t>
            </a:r>
            <a:endParaRPr lang="en-US" sz="950" dirty="0"/>
          </a:p>
        </p:txBody>
      </p:sp>
      <p:sp>
        <p:nvSpPr>
          <p:cNvPr id="28" name="Shape 25"/>
          <p:cNvSpPr/>
          <p:nvPr/>
        </p:nvSpPr>
        <p:spPr>
          <a:xfrm>
            <a:off x="7062826" y="1554480"/>
            <a:ext cx="1441094" cy="2651760"/>
          </a:xfrm>
          <a:prstGeom prst="roundRect">
            <a:avLst>
              <a:gd name="adj" fmla="val 3807"/>
            </a:avLst>
          </a:prstGeom>
          <a:solidFill>
            <a:srgbClr val="EDF3F9"/>
          </a:solidFill>
          <a:ln/>
        </p:spPr>
      </p:sp>
      <p:sp>
        <p:nvSpPr>
          <p:cNvPr id="29" name="Shape 26"/>
          <p:cNvSpPr/>
          <p:nvPr/>
        </p:nvSpPr>
        <p:spPr>
          <a:xfrm>
            <a:off x="7199986" y="1691640"/>
            <a:ext cx="365760" cy="365760"/>
          </a:xfrm>
          <a:prstGeom prst="ellipse">
            <a:avLst/>
          </a:prstGeom>
          <a:solidFill>
            <a:srgbClr val="FC6E01"/>
          </a:solidFill>
          <a:ln/>
        </p:spPr>
      </p:sp>
      <p:sp>
        <p:nvSpPr>
          <p:cNvPr id="30" name="Text 27"/>
          <p:cNvSpPr/>
          <p:nvPr/>
        </p:nvSpPr>
        <p:spPr>
          <a:xfrm>
            <a:off x="7199986"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1" name="Text 28"/>
          <p:cNvSpPr/>
          <p:nvPr/>
        </p:nvSpPr>
        <p:spPr>
          <a:xfrm>
            <a:off x="7199986"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5 · Impactos</a:t>
            </a:r>
            <a:endParaRPr lang="en-US" sz="1200" dirty="0"/>
          </a:p>
        </p:txBody>
      </p:sp>
      <p:sp>
        <p:nvSpPr>
          <p:cNvPr id="32" name="Text 29"/>
          <p:cNvSpPr/>
          <p:nvPr/>
        </p:nvSpPr>
        <p:spPr>
          <a:xfrm>
            <a:off x="7199986"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Cambios estructurales de largo plazo.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CADENA DE VALOR PÚBLICA (DNP)</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Eslabones de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57200">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Eslabón</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Tipo</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Ejemplo</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Insumos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Gestión / insumo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Presupuesto ejecutado en dotación de puestos de salud rurales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Actividades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Gestión / proceso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N.º de jornadas de control prenatal realizadas en zona rural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Productos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Producto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N.º de gestantes rurales atendidas con al menos 1 control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Resultados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Resultado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 de gestantes rurales con 4 o más controles prenatales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Impactos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Impacto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Razón de mortalidad materna en zona rural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ACLARACIÓN DE CONCEPTO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Producto vs. Resultado: la Confusión Más Frecuente</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554480"/>
          </a:xfrm>
          <a:prstGeom prst="roundRect">
            <a:avLst>
              <a:gd name="adj" fmla="val 2941"/>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Producto (lo que entregamos)</a:t>
            </a:r>
            <a:endParaRPr lang="en-US" sz="1000" dirty="0"/>
          </a:p>
        </p:txBody>
      </p:sp>
      <p:sp>
        <p:nvSpPr>
          <p:cNvPr id="10" name="Text 7"/>
          <p:cNvSpPr/>
          <p:nvPr/>
        </p:nvSpPr>
        <p:spPr>
          <a:xfrm>
            <a:off x="777240" y="2066544"/>
            <a:ext cx="3520440" cy="114300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“Kits escolares entregados a estudiantes de zona rural” — cuenta una entrega, no un cambio.</a:t>
            </a:r>
            <a:endParaRPr lang="en-US" sz="1000" dirty="0"/>
          </a:p>
        </p:txBody>
      </p:sp>
      <p:sp>
        <p:nvSpPr>
          <p:cNvPr id="11" name="Shape 8"/>
          <p:cNvSpPr/>
          <p:nvPr/>
        </p:nvSpPr>
        <p:spPr>
          <a:xfrm>
            <a:off x="4709160" y="1737360"/>
            <a:ext cx="3794760" cy="1554480"/>
          </a:xfrm>
          <a:prstGeom prst="roundRect">
            <a:avLst>
              <a:gd name="adj" fmla="val 2941"/>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Resultado (lo que cambió)</a:t>
            </a:r>
            <a:endParaRPr lang="en-US" sz="1000" dirty="0"/>
          </a:p>
        </p:txBody>
      </p:sp>
      <p:sp>
        <p:nvSpPr>
          <p:cNvPr id="13" name="Text 10"/>
          <p:cNvSpPr/>
          <p:nvPr/>
        </p:nvSpPr>
        <p:spPr>
          <a:xfrm>
            <a:off x="4846320" y="2066544"/>
            <a:ext cx="3520440" cy="114300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 de estudiantes que permanecen matriculados hasta fin de año” — cuenta un cambio en la población.</a:t>
            </a:r>
            <a:endParaRPr lang="en-US" sz="1000" dirty="0"/>
          </a:p>
        </p:txBody>
      </p:sp>
      <p:sp>
        <p:nvSpPr>
          <p:cNvPr id="14" name="Text 11"/>
          <p:cNvSpPr/>
          <p:nvPr/>
        </p:nvSpPr>
        <p:spPr>
          <a:xfrm>
            <a:off x="640080" y="3520440"/>
            <a:ext cx="7863840" cy="640080"/>
          </a:xfrm>
          <a:prstGeom prst="rect">
            <a:avLst/>
          </a:prstGeom>
          <a:noFill/>
          <a:ln/>
        </p:spPr>
        <p:txBody>
          <a:bodyPr wrap="square" rtlCol="0" anchor="t"/>
          <a:lstStyle/>
          <a:p>
            <a:pPr marL="0" indent="0">
              <a:buNone/>
            </a:pPr>
            <a:r>
              <a:rPr lang="en-US" sz="1150" i="1" dirty="0">
                <a:solidFill>
                  <a:srgbClr val="5C6B7C"/>
                </a:solidFill>
                <a:latin typeface="Arial" pitchFamily="34" charset="0"/>
                <a:ea typeface="Arial" pitchFamily="34" charset="-122"/>
                <a:cs typeface="Arial" pitchFamily="34" charset="-120"/>
              </a:rPr>
              <a:t>Pregunta de control: ¿esto describe algo que la entidad entregó, o algo que cambió en la vida de la población? Si es lo primero, es producto; si es lo segundo, es resultado.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TIPOLOGÍA DE INDICADORES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Tipología según Dimensión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2743200"/>
        </p:xfrm>
        <a:graphic>
          <a:graphicData uri="http://schemas.openxmlformats.org/drawingml/2006/table">
            <a:tbl>
              <a:tblPr/>
              <a:tblGrid>
                <a:gridCol w="1463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5720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Qué mide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Fórmula de referencia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Eficiencia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Relación entre resultados obtenidos y recursos empleados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Unidades de producto ÷ Recursos utilizados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Eficacia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Grado de cumplimiento de las metas programadas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(Meta alcanzada ÷ Meta planeada)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Efectividad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Síntesis del logro simultáneo de eficiencia y eficacia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 evalúa combinando ambos índices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Economía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Capacidad de administrar recursos al menor costo posible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(Costos de insumo ÷ Inversión total)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Calidad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Oportunidad, accesibilidad, percepción y precisión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Encuestas de percepción, tiempos de respuesta, tasas de error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640080" y="4343400"/>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Fuente: DANE (EFET) · DAFP MIPG v4 (2018) · Armijo &amp; Bonnefoy, CEPAL/ILPES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TIPOLOGÍA DE INDICADORES · EJEMPLO APLICADO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Ejemplo Numérico: Las 5 Dimensiones en Cifras</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774571025"/>
              </p:ext>
            </p:extLst>
          </p:nvPr>
        </p:nvGraphicFramePr>
        <p:xfrm>
          <a:off x="640080" y="1200150"/>
          <a:ext cx="7863840" cy="3111790"/>
        </p:xfrm>
        <a:graphic>
          <a:graphicData uri="http://schemas.openxmlformats.org/drawingml/2006/table">
            <a:tbl>
              <a:tblPr/>
              <a:tblGrid>
                <a:gridCol w="1463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5720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Cálculo con datos de ejemplo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Resultado e interpretación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546763">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Eficiencia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IEf = Controles realizados ÷ Recurso empleado = 8.400 controles ÷ 700 horas-profesional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12 controles prenatales por cada hora profesional disponible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003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Eficacia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IE = (Meta alcanzada ÷ Meta planeada) × 100 = (850 ÷ 1.000)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85% de cumplimiento de la meta anual de gestantes con 4+ controles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8615">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Efectividad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Combina IE = 85% (eficacia) con IEf estable (sin sobrecosto por control adicional)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 logró el 85% de la meta sin incrementar el costo unitario del servicio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5439">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Economía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IEc = (Costo de insumos ejecutado ÷ Inversión total) × 100 = ($340M ÷ $400M)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85% de ejecución presupuestal dentro de lo previsto (15% de ahorro relativo)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Calidad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 satisfacción = (Usuarias satisfechas ÷ Usuarias encuestadas) × 100 = (184 ÷ 200)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92% de percepción positiva sobre oportunidad y accesibilidad del servicio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640080" y="4343400"/>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Fuente: fórmulas de DANE (EFET) · DAFP MIPG v4 (2018) · Armijo y Bonnefoy, CEPAL/ILPES. Cifras ilustrativas con fines pedagógicos.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ACLARACIÓN DE CONCEPTO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Eficiencia vs. Eficacia: la Segunda Confusión Frecuente</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554480"/>
          </a:xfrm>
          <a:prstGeom prst="roundRect">
            <a:avLst>
              <a:gd name="adj" fmla="val 2941"/>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Eficacia (¿llegamos a la meta?)</a:t>
            </a:r>
            <a:endParaRPr lang="en-US" sz="1000" dirty="0"/>
          </a:p>
        </p:txBody>
      </p:sp>
      <p:sp>
        <p:nvSpPr>
          <p:cNvPr id="10" name="Text 7"/>
          <p:cNvSpPr/>
          <p:nvPr/>
        </p:nvSpPr>
        <p:spPr>
          <a:xfrm>
            <a:off x="777240" y="2066544"/>
            <a:ext cx="3520440" cy="114300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“100% de las metas de vacunación programadas fueron cumplidas” — no dice nada del costo.</a:t>
            </a:r>
            <a:endParaRPr lang="en-US" sz="1000" dirty="0"/>
          </a:p>
        </p:txBody>
      </p:sp>
      <p:sp>
        <p:nvSpPr>
          <p:cNvPr id="11" name="Shape 8"/>
          <p:cNvSpPr/>
          <p:nvPr/>
        </p:nvSpPr>
        <p:spPr>
          <a:xfrm>
            <a:off x="4709160" y="1737360"/>
            <a:ext cx="3794760" cy="1554480"/>
          </a:xfrm>
          <a:prstGeom prst="roundRect">
            <a:avLst>
              <a:gd name="adj" fmla="val 2941"/>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Eficiencia (¿a qué costo llegamos?)</a:t>
            </a:r>
            <a:endParaRPr lang="en-US" sz="1000" dirty="0"/>
          </a:p>
        </p:txBody>
      </p:sp>
      <p:sp>
        <p:nvSpPr>
          <p:cNvPr id="13" name="Text 10"/>
          <p:cNvSpPr/>
          <p:nvPr/>
        </p:nvSpPr>
        <p:spPr>
          <a:xfrm>
            <a:off x="4846320" y="2066544"/>
            <a:ext cx="3520440" cy="114300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“Costo por dosis aplicada, comparado con el estándar sectorial” — mide el uso de los recursos.</a:t>
            </a:r>
            <a:endParaRPr lang="en-US" sz="1000" dirty="0"/>
          </a:p>
        </p:txBody>
      </p:sp>
      <p:sp>
        <p:nvSpPr>
          <p:cNvPr id="14" name="Text 11"/>
          <p:cNvSpPr/>
          <p:nvPr/>
        </p:nvSpPr>
        <p:spPr>
          <a:xfrm>
            <a:off x="640080" y="3520440"/>
            <a:ext cx="7863840" cy="640080"/>
          </a:xfrm>
          <a:prstGeom prst="rect">
            <a:avLst/>
          </a:prstGeom>
          <a:noFill/>
          <a:ln/>
        </p:spPr>
        <p:txBody>
          <a:bodyPr wrap="square" rtlCol="0" anchor="t"/>
          <a:lstStyle/>
          <a:p>
            <a:pPr marL="0" indent="0">
              <a:buNone/>
            </a:pPr>
            <a:r>
              <a:rPr lang="en-US" sz="1150" i="1" dirty="0">
                <a:solidFill>
                  <a:srgbClr val="5C6B7C"/>
                </a:solidFill>
                <a:latin typeface="Arial" pitchFamily="34" charset="0"/>
                <a:ea typeface="Arial" pitchFamily="34" charset="-122"/>
                <a:cs typeface="Arial" pitchFamily="34" charset="-120"/>
              </a:rPr>
              <a:t>Un programa puede ser eficaz (cumplió la meta) y a la vez ineficiente (gastó de más para lograrlo) — por eso siempre conviene mirar ambas dimensiones juntas, nunca una sola.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1 (7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Clasifique: Dato, Indicador o Pregunta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65760"/>
          </a:xfrm>
          <a:prstGeom prst="roundRect">
            <a:avLst>
              <a:gd name="adj" fmla="val 10000"/>
            </a:avLst>
          </a:prstGeom>
          <a:solidFill>
            <a:srgbClr val="FC6E01"/>
          </a:solidFill>
          <a:ln/>
        </p:spPr>
      </p:sp>
      <p:sp>
        <p:nvSpPr>
          <p:cNvPr id="9" name="Text 6"/>
          <p:cNvSpPr/>
          <p:nvPr/>
        </p:nvSpPr>
        <p:spPr>
          <a:xfrm>
            <a:off x="777240" y="1325880"/>
            <a:ext cx="7589520" cy="36576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Trabajo individual · escriban su respuesta en </a:t>
            </a:r>
            <a:r>
              <a:rPr lang="en-US" sz="1100" b="1" dirty="0" err="1">
                <a:solidFill>
                  <a:srgbClr val="FFFFFF"/>
                </a:solidFill>
                <a:latin typeface="Arial" pitchFamily="34" charset="0"/>
                <a:ea typeface="Arial" pitchFamily="34" charset="-122"/>
                <a:cs typeface="Arial" pitchFamily="34" charset="-120"/>
              </a:rPr>
              <a:t>el</a:t>
            </a:r>
            <a:r>
              <a:rPr lang="en-US" sz="1100" b="1" dirty="0">
                <a:solidFill>
                  <a:srgbClr val="FFFFFF"/>
                </a:solidFill>
                <a:latin typeface="Arial" pitchFamily="34" charset="0"/>
                <a:ea typeface="Arial" pitchFamily="34" charset="-122"/>
                <a:cs typeface="Arial" pitchFamily="34" charset="-120"/>
              </a:rPr>
              <a:t> chat</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688336"/>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Clasificación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1.200 viviendas VIS entregadas en el municipio en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 de viviendas VIS con conexión a acueducto, respecto a la meta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¿Estamos cerrando la brecha de acceso a agua potable rural?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80 kilómetros de vía pavimentados en la vigencia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Tasa de cobertura de vacunación infantil frente al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¿Los programas culturales llegan a los jóvenes de las comunas alejadas?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RESPUESTAS · MÓDULO 1</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Respuestas — Clasifique: Dato, Indicador o Pregunta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3299443857"/>
              </p:ext>
            </p:extLst>
          </p:nvPr>
        </p:nvGraphicFramePr>
        <p:xfrm>
          <a:off x="640080" y="1488152"/>
          <a:ext cx="7863840" cy="2688336"/>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Respuesta correcta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1.200 viviendas VIS entregadas en el municipio en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Dato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 de viviendas VIS con conexión a acueducto, respecto a la meta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¿Estamos cerrando la brecha de acceso a agua potable rural?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Pregunta de gestión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80 kilómetros de vía pavimentados en la vigencia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Dato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Tasa de cobertura de vacunación infantil frente al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¿Los programas culturales llegan a los jóvenes de las comunas alejadas?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Pregunta de gestión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1 (7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Ubique en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65760"/>
          </a:xfrm>
          <a:prstGeom prst="roundRect">
            <a:avLst>
              <a:gd name="adj" fmla="val 10000"/>
            </a:avLst>
          </a:prstGeom>
          <a:solidFill>
            <a:srgbClr val="FC6E01"/>
          </a:solidFill>
          <a:ln/>
        </p:spPr>
      </p:sp>
      <p:sp>
        <p:nvSpPr>
          <p:cNvPr id="9" name="Text 6"/>
          <p:cNvSpPr/>
          <p:nvPr/>
        </p:nvSpPr>
        <p:spPr>
          <a:xfrm>
            <a:off x="777240" y="1325880"/>
            <a:ext cx="7589520" cy="36576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Trabajo individual · misma mecánica que la actividad anterior</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304288"/>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Eslabón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Presupuesto asignado para el mejoramiento de vías terciarias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N.º de brigadas de bacheo realizadas en el trimestre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Kilómetros de vía terciaria mejorados en el periodo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Reducción del tiempo de desplazamiento rural-urbano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Incremento del ingreso agrícola por mejor acceso a mercado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RESPUESTAS · MÓDULO 1</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Respuestas — Ubique en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750048337"/>
              </p:ext>
            </p:extLst>
          </p:nvPr>
        </p:nvGraphicFramePr>
        <p:xfrm>
          <a:off x="640080" y="1467748"/>
          <a:ext cx="7863840" cy="2304288"/>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Eslabón correcto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Presupuesto asignado para el mejoramiento de vías terciarias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Insumo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N.º de brigadas de bacheo realizadas en el trimestre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Actividad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Kilómetros de vía terciaria mejorados en el periodo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Producto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Reducción del tiempo de desplazamiento rural-urbano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Incremento del ingreso agrícola por mejor acceso a mercado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Impacto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 MÓDULO 2</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Método para Transformar una Pregunta Vaga en un Indicador Medible</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Ruta de 5 pasos: DNP + SMART + CREMAS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2 de 3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1 · Capturar la Pregunta Vaga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Se anota literalmente la pregunta tal como la formula el ciudadano, el directivo o el equipo técnico, sin corregirla todavía.</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Ejemplos típicos: “¿cómo va la salud?”, “¿cómo va la seguridad?”, “¿está funcionando el programa?”.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2 · Los 4 Componentes de la Pregunta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Población o unidad</a:t>
            </a:r>
            <a:endParaRPr lang="en-US" sz="1200" dirty="0"/>
          </a:p>
        </p:txBody>
      </p:sp>
      <p:sp>
        <p:nvSpPr>
          <p:cNvPr id="12" name="Text 9"/>
          <p:cNvSpPr/>
          <p:nvPr/>
        </p:nvSpPr>
        <p:spPr>
          <a:xfrm>
            <a:off x="777240" y="2620370"/>
            <a:ext cx="1568196" cy="149443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¿Sobre quién o qué se pregunta? (gestantes, estudiantes, viviendas, hectáreas).</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Atributo o dimensión</a:t>
            </a:r>
            <a:endParaRPr lang="en-US" sz="1200" dirty="0"/>
          </a:p>
        </p:txBody>
      </p:sp>
      <p:sp>
        <p:nvSpPr>
          <p:cNvPr id="17" name="Text 14"/>
          <p:cNvSpPr/>
          <p:nvPr/>
        </p:nvSpPr>
        <p:spPr>
          <a:xfrm>
            <a:off x="2784348" y="2620370"/>
            <a:ext cx="1568196" cy="149443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¿Qué característica interesa? (cobertura, calidad, oportunidad, resultado).</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Ámbito territorial/temporal</a:t>
            </a:r>
            <a:endParaRPr lang="en-US" sz="1200" dirty="0"/>
          </a:p>
        </p:txBody>
      </p:sp>
      <p:sp>
        <p:nvSpPr>
          <p:cNvPr id="22" name="Text 19"/>
          <p:cNvSpPr/>
          <p:nvPr/>
        </p:nvSpPr>
        <p:spPr>
          <a:xfrm>
            <a:off x="4791456" y="2620370"/>
            <a:ext cx="1568196" cy="149443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¿Dónde y en qué periodo? (zona rural del municipio X, 2026 vs. 2025).</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Referente de comparación</a:t>
            </a:r>
            <a:endParaRPr lang="en-US" sz="1200" dirty="0"/>
          </a:p>
        </p:txBody>
      </p:sp>
      <p:sp>
        <p:nvSpPr>
          <p:cNvPr id="27" name="Text 24"/>
          <p:cNvSpPr/>
          <p:nvPr/>
        </p:nvSpPr>
        <p:spPr>
          <a:xfrm>
            <a:off x="6798564" y="2620370"/>
            <a:ext cx="1568196" cy="1412543"/>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¿Frente a qué se evalúa? (meta, año anterior, otro territorio, estándar).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INDIVIDUAL </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Aplicación de los Pasos 1 y 2</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150" dirty="0">
                <a:solidFill>
                  <a:srgbClr val="2F3B4C"/>
                </a:solidFill>
                <a:latin typeface="Arial" pitchFamily="34" charset="0"/>
                <a:ea typeface="Arial" pitchFamily="34" charset="-122"/>
                <a:cs typeface="Arial" pitchFamily="34" charset="-120"/>
              </a:rPr>
              <a:t>Escenario: pregunta vaga distinta a los </a:t>
            </a:r>
            <a:r>
              <a:rPr lang="en-US" sz="1150" dirty="0" err="1">
                <a:solidFill>
                  <a:srgbClr val="2F3B4C"/>
                </a:solidFill>
                <a:latin typeface="Arial" pitchFamily="34" charset="0"/>
                <a:ea typeface="Arial" pitchFamily="34" charset="-122"/>
                <a:cs typeface="Arial" pitchFamily="34" charset="-120"/>
              </a:rPr>
              <a:t>casos</a:t>
            </a:r>
            <a:r>
              <a:rPr lang="en-US" sz="1150" dirty="0">
                <a:solidFill>
                  <a:srgbClr val="2F3B4C"/>
                </a:solidFill>
                <a:latin typeface="Arial" pitchFamily="34" charset="0"/>
                <a:ea typeface="Arial" pitchFamily="34" charset="-122"/>
                <a:cs typeface="Arial" pitchFamily="34" charset="-120"/>
              </a:rPr>
              <a:t> </a:t>
            </a:r>
            <a:r>
              <a:rPr lang="en-US" sz="1150" dirty="0" err="1">
                <a:solidFill>
                  <a:srgbClr val="2F3B4C"/>
                </a:solidFill>
                <a:latin typeface="Arial" pitchFamily="34" charset="0"/>
                <a:ea typeface="Arial" pitchFamily="34" charset="-122"/>
                <a:cs typeface="Arial" pitchFamily="34" charset="-120"/>
              </a:rPr>
              <a:t>guía</a:t>
            </a:r>
            <a:r>
              <a:rPr lang="en-US" sz="1150" dirty="0">
                <a:solidFill>
                  <a:srgbClr val="2F3B4C"/>
                </a:solidFill>
                <a:latin typeface="Arial" pitchFamily="34" charset="0"/>
                <a:ea typeface="Arial" pitchFamily="34" charset="-122"/>
                <a:cs typeface="Arial" pitchFamily="34" charset="-120"/>
              </a:rPr>
              <a:t>.</a:t>
            </a:r>
            <a:endParaRPr lang="en-US" sz="1150" dirty="0"/>
          </a:p>
        </p:txBody>
      </p:sp>
      <p:sp>
        <p:nvSpPr>
          <p:cNvPr id="9" name="Text 6"/>
          <p:cNvSpPr/>
          <p:nvPr/>
        </p:nvSpPr>
        <p:spPr>
          <a:xfrm>
            <a:off x="640080" y="1691640"/>
            <a:ext cx="7863840" cy="365760"/>
          </a:xfrm>
          <a:prstGeom prst="rect">
            <a:avLst/>
          </a:prstGeom>
          <a:noFill/>
          <a:ln/>
        </p:spPr>
        <p:txBody>
          <a:bodyPr wrap="square" rtlCol="0" anchor="ctr"/>
          <a:lstStyle/>
          <a:p>
            <a:pPr marL="0" indent="0">
              <a:buNone/>
            </a:pPr>
            <a:r>
              <a:rPr lang="en-US" sz="1250" b="1" i="1" dirty="0">
                <a:solidFill>
                  <a:srgbClr val="173F72"/>
                </a:solidFill>
                <a:latin typeface="Arial" pitchFamily="34" charset="0"/>
                <a:ea typeface="Arial" pitchFamily="34" charset="-122"/>
                <a:cs typeface="Arial" pitchFamily="34" charset="-120"/>
              </a:rPr>
              <a:t>Pregunta del directivo: “¿El programa de bibliotecas públicas municipales está funcionando?”</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7863840" cy="1920240"/>
        </p:xfrm>
        <a:graphic>
          <a:graphicData uri="http://schemas.openxmlformats.org/drawingml/2006/table">
            <a:tbl>
              <a:tblPr/>
              <a:tblGrid>
                <a:gridCol w="3108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Componente</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Su respuesta</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Población o unidad de análisis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Atributo o dimensión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Ámbito territorial y temporal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Referente de comparación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INDIVIDUAL </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Aplicación de los Pasos 1 y 2</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150" dirty="0">
                <a:solidFill>
                  <a:srgbClr val="2F3B4C"/>
                </a:solidFill>
                <a:latin typeface="Arial" pitchFamily="34" charset="0"/>
                <a:ea typeface="Arial" pitchFamily="34" charset="-122"/>
                <a:cs typeface="Arial" pitchFamily="34" charset="-120"/>
              </a:rPr>
              <a:t>Escenario: pregunta vaga distinta a los </a:t>
            </a:r>
            <a:r>
              <a:rPr lang="en-US" sz="1150" dirty="0" err="1">
                <a:solidFill>
                  <a:srgbClr val="2F3B4C"/>
                </a:solidFill>
                <a:latin typeface="Arial" pitchFamily="34" charset="0"/>
                <a:ea typeface="Arial" pitchFamily="34" charset="-122"/>
                <a:cs typeface="Arial" pitchFamily="34" charset="-120"/>
              </a:rPr>
              <a:t>casos</a:t>
            </a:r>
            <a:r>
              <a:rPr lang="en-US" sz="1150" dirty="0">
                <a:solidFill>
                  <a:srgbClr val="2F3B4C"/>
                </a:solidFill>
                <a:latin typeface="Arial" pitchFamily="34" charset="0"/>
                <a:ea typeface="Arial" pitchFamily="34" charset="-122"/>
                <a:cs typeface="Arial" pitchFamily="34" charset="-120"/>
              </a:rPr>
              <a:t> </a:t>
            </a:r>
            <a:r>
              <a:rPr lang="en-US" sz="1150" dirty="0" err="1">
                <a:solidFill>
                  <a:srgbClr val="2F3B4C"/>
                </a:solidFill>
                <a:latin typeface="Arial" pitchFamily="34" charset="0"/>
                <a:ea typeface="Arial" pitchFamily="34" charset="-122"/>
                <a:cs typeface="Arial" pitchFamily="34" charset="-120"/>
              </a:rPr>
              <a:t>guía</a:t>
            </a:r>
            <a:r>
              <a:rPr lang="en-US" sz="1150" dirty="0">
                <a:solidFill>
                  <a:srgbClr val="2F3B4C"/>
                </a:solidFill>
                <a:latin typeface="Arial" pitchFamily="34" charset="0"/>
                <a:ea typeface="Arial" pitchFamily="34" charset="-122"/>
                <a:cs typeface="Arial" pitchFamily="34" charset="-120"/>
              </a:rPr>
              <a:t>.</a:t>
            </a:r>
            <a:endParaRPr lang="en-US" sz="1150" dirty="0"/>
          </a:p>
        </p:txBody>
      </p:sp>
      <p:sp>
        <p:nvSpPr>
          <p:cNvPr id="9" name="Text 6"/>
          <p:cNvSpPr/>
          <p:nvPr/>
        </p:nvSpPr>
        <p:spPr>
          <a:xfrm>
            <a:off x="640080" y="1691640"/>
            <a:ext cx="7863840" cy="365760"/>
          </a:xfrm>
          <a:prstGeom prst="rect">
            <a:avLst/>
          </a:prstGeom>
          <a:noFill/>
          <a:ln/>
        </p:spPr>
        <p:txBody>
          <a:bodyPr wrap="square" rtlCol="0" anchor="ctr"/>
          <a:lstStyle/>
          <a:p>
            <a:pPr marL="0" indent="0">
              <a:buNone/>
            </a:pPr>
            <a:r>
              <a:rPr lang="en-US" sz="1250" b="1" i="1" dirty="0">
                <a:solidFill>
                  <a:srgbClr val="173F72"/>
                </a:solidFill>
                <a:latin typeface="Arial" pitchFamily="34" charset="0"/>
                <a:ea typeface="Arial" pitchFamily="34" charset="-122"/>
                <a:cs typeface="Arial" pitchFamily="34" charset="-120"/>
              </a:rPr>
              <a:t>Pregunta del directivo: “¿El programa de bibliotecas públicas municipales está funcionando?”</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2057759199"/>
              </p:ext>
            </p:extLst>
          </p:nvPr>
        </p:nvGraphicFramePr>
        <p:xfrm>
          <a:off x="640080" y="2194560"/>
          <a:ext cx="7863840" cy="1920240"/>
        </p:xfrm>
        <a:graphic>
          <a:graphicData uri="http://schemas.openxmlformats.org/drawingml/2006/table">
            <a:tbl>
              <a:tblPr/>
              <a:tblGrid>
                <a:gridCol w="3108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Componente</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Su respuesta</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Población o unidad de análisis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El </a:t>
                      </a:r>
                      <a:r>
                        <a:rPr lang="en-US" sz="1000" dirty="0" err="1">
                          <a:solidFill>
                            <a:srgbClr val="2F3B4C"/>
                          </a:solidFill>
                          <a:latin typeface="Arial" pitchFamily="34" charset="0"/>
                          <a:ea typeface="Arial" pitchFamily="34" charset="-122"/>
                          <a:cs typeface="Arial" pitchFamily="34" charset="-120"/>
                        </a:rPr>
                        <a:t>programa</a:t>
                      </a:r>
                      <a:r>
                        <a:rPr lang="en-US" sz="1000" dirty="0">
                          <a:solidFill>
                            <a:srgbClr val="2F3B4C"/>
                          </a:solidFill>
                          <a:latin typeface="Arial" pitchFamily="34" charset="0"/>
                          <a:ea typeface="Arial" pitchFamily="34" charset="-122"/>
                          <a:cs typeface="Arial" pitchFamily="34" charset="-120"/>
                        </a:rPr>
                        <a:t> de </a:t>
                      </a:r>
                      <a:r>
                        <a:rPr lang="en-US" sz="1000" dirty="0" err="1">
                          <a:solidFill>
                            <a:srgbClr val="2F3B4C"/>
                          </a:solidFill>
                          <a:latin typeface="Arial" pitchFamily="34" charset="0"/>
                          <a:ea typeface="Arial" pitchFamily="34" charset="-122"/>
                          <a:cs typeface="Arial" pitchFamily="34" charset="-120"/>
                        </a:rPr>
                        <a:t>bibliotecas</a:t>
                      </a:r>
                      <a:r>
                        <a:rPr lang="en-US" sz="1000" dirty="0">
                          <a:solidFill>
                            <a:srgbClr val="2F3B4C"/>
                          </a:solidFill>
                          <a:latin typeface="Arial" pitchFamily="34" charset="0"/>
                          <a:ea typeface="Arial" pitchFamily="34" charset="-122"/>
                          <a:cs typeface="Arial" pitchFamily="34" charset="-120"/>
                        </a:rPr>
                        <a:t> </a:t>
                      </a:r>
                      <a:r>
                        <a:rPr lang="en-US" sz="1000" dirty="0" err="1">
                          <a:solidFill>
                            <a:srgbClr val="2F3B4C"/>
                          </a:solidFill>
                          <a:latin typeface="Arial" pitchFamily="34" charset="0"/>
                          <a:ea typeface="Arial" pitchFamily="34" charset="-122"/>
                          <a:cs typeface="Arial" pitchFamily="34" charset="-120"/>
                        </a:rPr>
                        <a:t>públicas</a:t>
                      </a:r>
                      <a:r>
                        <a:rPr lang="en-US" sz="1000" dirty="0">
                          <a:solidFill>
                            <a:srgbClr val="2F3B4C"/>
                          </a:solidFill>
                          <a:latin typeface="Arial" pitchFamily="34" charset="0"/>
                          <a:ea typeface="Arial" pitchFamily="34" charset="-122"/>
                          <a:cs typeface="Arial" pitchFamily="34" charset="-120"/>
                        </a:rPr>
                        <a:t> </a:t>
                      </a:r>
                      <a:r>
                        <a:rPr lang="en-US" sz="1000" dirty="0" err="1">
                          <a:solidFill>
                            <a:srgbClr val="2F3B4C"/>
                          </a:solidFill>
                          <a:latin typeface="Arial" pitchFamily="34" charset="0"/>
                          <a:ea typeface="Arial" pitchFamily="34" charset="-122"/>
                          <a:cs typeface="Arial" pitchFamily="34" charset="-120"/>
                        </a:rPr>
                        <a:t>municipales</a:t>
                      </a:r>
                      <a:r>
                        <a:rPr lang="en-US" sz="1000" dirty="0">
                          <a:solidFill>
                            <a:srgbClr val="2F3B4C"/>
                          </a:solidFill>
                          <a:latin typeface="Arial" pitchFamily="34" charset="0"/>
                          <a:ea typeface="Arial" pitchFamily="34" charset="-122"/>
                          <a:cs typeface="Arial" pitchFamily="34" charset="-120"/>
                        </a:rPr>
                        <a:t> (o los </a:t>
                      </a:r>
                      <a:r>
                        <a:rPr lang="en-US" sz="1000" dirty="0" err="1">
                          <a:solidFill>
                            <a:srgbClr val="2F3B4C"/>
                          </a:solidFill>
                          <a:latin typeface="Arial" pitchFamily="34" charset="0"/>
                          <a:ea typeface="Arial" pitchFamily="34" charset="-122"/>
                          <a:cs typeface="Arial" pitchFamily="34" charset="-120"/>
                        </a:rPr>
                        <a:t>servicios</a:t>
                      </a:r>
                      <a:r>
                        <a:rPr lang="en-US" sz="1000" dirty="0">
                          <a:solidFill>
                            <a:srgbClr val="2F3B4C"/>
                          </a:solidFill>
                          <a:latin typeface="Arial" pitchFamily="34" charset="0"/>
                          <a:ea typeface="Arial" pitchFamily="34" charset="-122"/>
                          <a:cs typeface="Arial" pitchFamily="34" charset="-120"/>
                        </a:rPr>
                        <a:t> </a:t>
                      </a:r>
                      <a:r>
                        <a:rPr lang="en-US" sz="1000" dirty="0" err="1">
                          <a:solidFill>
                            <a:srgbClr val="2F3B4C"/>
                          </a:solidFill>
                          <a:latin typeface="Arial" pitchFamily="34" charset="0"/>
                          <a:ea typeface="Arial" pitchFamily="34" charset="-122"/>
                          <a:cs typeface="Arial" pitchFamily="34" charset="-120"/>
                        </a:rPr>
                        <a:t>bibliotecarios</a:t>
                      </a:r>
                      <a:r>
                        <a:rPr lang="en-US" sz="1000" dirty="0">
                          <a:solidFill>
                            <a:srgbClr val="2F3B4C"/>
                          </a:solidFill>
                          <a:latin typeface="Arial" pitchFamily="34" charset="0"/>
                          <a:ea typeface="Arial" pitchFamily="34" charset="-122"/>
                          <a:cs typeface="Arial" pitchFamily="34" charset="-120"/>
                        </a:rPr>
                        <a:t> / </a:t>
                      </a:r>
                      <a:r>
                        <a:rPr lang="en-US" sz="1000" dirty="0" err="1">
                          <a:solidFill>
                            <a:srgbClr val="2F3B4C"/>
                          </a:solidFill>
                          <a:latin typeface="Arial" pitchFamily="34" charset="0"/>
                          <a:ea typeface="Arial" pitchFamily="34" charset="-122"/>
                          <a:cs typeface="Arial" pitchFamily="34" charset="-120"/>
                        </a:rPr>
                        <a:t>usuarios</a:t>
                      </a:r>
                      <a:r>
                        <a:rPr lang="en-US" sz="1000" dirty="0">
                          <a:solidFill>
                            <a:srgbClr val="2F3B4C"/>
                          </a:solidFill>
                          <a:latin typeface="Arial" pitchFamily="34" charset="0"/>
                          <a:ea typeface="Arial" pitchFamily="34" charset="-122"/>
                          <a:cs typeface="Arial" pitchFamily="34" charset="-120"/>
                        </a:rPr>
                        <a:t> del </a:t>
                      </a:r>
                      <a:r>
                        <a:rPr lang="en-US" sz="1000" dirty="0" err="1">
                          <a:solidFill>
                            <a:srgbClr val="2F3B4C"/>
                          </a:solidFill>
                          <a:latin typeface="Arial" pitchFamily="34" charset="0"/>
                          <a:ea typeface="Arial" pitchFamily="34" charset="-122"/>
                          <a:cs typeface="Arial" pitchFamily="34" charset="-120"/>
                        </a:rPr>
                        <a:t>programa</a:t>
                      </a:r>
                      <a:r>
                        <a:rPr lang="en-US" sz="1000" dirty="0">
                          <a:solidFill>
                            <a:srgbClr val="2F3B4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Atributo o dimensión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s-ES" sz="1000" dirty="0">
                          <a:solidFill>
                            <a:srgbClr val="2F3B4C"/>
                          </a:solidFill>
                          <a:latin typeface="Arial" pitchFamily="34" charset="0"/>
                          <a:ea typeface="Arial" pitchFamily="34" charset="-122"/>
                          <a:cs typeface="Arial" pitchFamily="34" charset="-120"/>
                        </a:rPr>
                        <a:t>Desempeño / Funcionamiento (desglosado en variables como cobertura de usuarios, calidad del servicio, frecuencia de uso o eficacia)</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Ámbito territorial y temporal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s-ES" sz="1000" kern="1200" dirty="0">
                          <a:solidFill>
                            <a:srgbClr val="2F3B4C"/>
                          </a:solidFill>
                          <a:latin typeface="Arial" pitchFamily="34" charset="0"/>
                          <a:cs typeface="Arial" pitchFamily="34" charset="-120"/>
                        </a:rPr>
                        <a:t>Ámbito municipal (territorial) y el año/periodo en curso o año evaluado (temporal)</a:t>
                      </a:r>
                      <a:endParaRPr lang="en-US" sz="1000" kern="1200" dirty="0">
                        <a:solidFill>
                          <a:srgbClr val="2F3B4C"/>
                        </a:solidFill>
                        <a:latin typeface="Arial" pitchFamily="34" charset="0"/>
                        <a:ea typeface="Arial" charset="0"/>
                        <a:cs typeface="Arial" pitchFamily="34" charset="-12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Referente de comparación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s-ES" sz="1000" dirty="0">
                          <a:solidFill>
                            <a:srgbClr val="2F3B4C"/>
                          </a:solidFill>
                          <a:latin typeface="Arial" pitchFamily="34" charset="0"/>
                          <a:ea typeface="Arial" pitchFamily="34" charset="-122"/>
                          <a:cs typeface="Arial" pitchFamily="34" charset="-120"/>
                        </a:rPr>
                        <a:t>Meta del Plan de Desarrollo Municipal, resultados del año anterior o un estándar de calidad del servicio.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78869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3 · Ubicar el Objetivo en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Con los componentes del Paso 2, se identifica si la pregunta apunta a un insumo, una actividad, un producto, un resultado o un impacto.</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Esto evita el error más común: redactar como “resultado” algo que en realidad es apenas un “producto” o un “insumo”.</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Use la tabla de eslabones (módulo 1) como referencia rápida durante este paso.</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4 · Formular el Indicador con Criterios de Calidad</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71600"/>
            <a:ext cx="7863840" cy="621792"/>
          </a:xfrm>
          <a:prstGeom prst="roundRect">
            <a:avLst>
              <a:gd name="adj" fmla="val 5882"/>
            </a:avLst>
          </a:prstGeom>
          <a:solidFill>
            <a:srgbClr val="173F72"/>
          </a:solidFill>
          <a:ln/>
        </p:spPr>
      </p:sp>
      <p:sp>
        <p:nvSpPr>
          <p:cNvPr id="9" name="Text 6"/>
          <p:cNvSpPr/>
          <p:nvPr/>
        </p:nvSpPr>
        <p:spPr>
          <a:xfrm>
            <a:off x="777240" y="1417320"/>
            <a:ext cx="7589520" cy="274320"/>
          </a:xfrm>
          <a:prstGeom prst="rect">
            <a:avLst/>
          </a:prstGeom>
          <a:noFill/>
          <a:ln/>
        </p:spPr>
        <p:txBody>
          <a:bodyPr wrap="square" rtlCol="0" anchor="ctr"/>
          <a:lstStyle/>
          <a:p>
            <a:pPr marL="0" indent="0">
              <a:buNone/>
            </a:pPr>
            <a:r>
              <a:rPr lang="en-US" sz="1050" b="1" dirty="0">
                <a:solidFill>
                  <a:srgbClr val="FF9900"/>
                </a:solidFill>
                <a:latin typeface="Arial" pitchFamily="34" charset="0"/>
                <a:ea typeface="Arial" pitchFamily="34" charset="-122"/>
                <a:cs typeface="Arial" pitchFamily="34" charset="-120"/>
              </a:rPr>
              <a:t>Estructura del nombre = </a:t>
            </a:r>
            <a:r>
              <a:rPr lang="en-US" sz="1050" dirty="0">
                <a:solidFill>
                  <a:srgbClr val="FFFFFF"/>
                </a:solidFill>
                <a:latin typeface="Arial" pitchFamily="34" charset="0"/>
                <a:ea typeface="Arial" pitchFamily="34" charset="-122"/>
                <a:cs typeface="Arial" pitchFamily="34" charset="-120"/>
              </a:rPr>
              <a:t>Objeto de medición + Condición deseada (participio) + Contexto descriptivo</a:t>
            </a:r>
            <a:endParaRPr lang="en-US" sz="1050" dirty="0"/>
          </a:p>
        </p:txBody>
      </p:sp>
      <p:sp>
        <p:nvSpPr>
          <p:cNvPr id="10" name="Text 7"/>
          <p:cNvSpPr/>
          <p:nvPr/>
        </p:nvSpPr>
        <p:spPr>
          <a:xfrm>
            <a:off x="777240" y="1691640"/>
            <a:ext cx="7589520" cy="274320"/>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Ej: “Construir 45 km de vías terciarias en la zona norte” → “Kilómetros de vías terciarias construidos en la zona norte del municipio”.</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7863840" cy="224028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2004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SMART (del objetivo)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CREMAS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S · Specific (específico)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 · Claro: preciso, sin ambigüedad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M · Measurable (medible)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 · Relevante: pertinente frente a lo evaluado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 · Achievable (realizable)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 · Económico: costo razonable de obtención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 · Realistic (realista)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 · Medible: verificable, con fuente identificable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T · Time-bound (limitado en tiempo)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 · Adecuado: base suficiente para juzgar desempeño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 · Sensible: capta cambios en el tiempo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 · DEL SIMULADOR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¿Cómo se Mide? Tipos de Acumulación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1417320"/>
          </a:xfrm>
          <a:prstGeom prst="roundRect">
            <a:avLst>
              <a:gd name="adj" fmla="val 3871"/>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Flujo</a:t>
            </a:r>
            <a:endParaRPr lang="en-US" sz="1200" dirty="0"/>
          </a:p>
        </p:txBody>
      </p:sp>
      <p:sp>
        <p:nvSpPr>
          <p:cNvPr id="12" name="Text 9"/>
          <p:cNvSpPr/>
          <p:nvPr/>
        </p:nvSpPr>
        <p:spPr>
          <a:xfrm>
            <a:off x="777240"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Logros que se repiten anualmente.</a:t>
            </a:r>
            <a:endParaRPr lang="en-US" sz="950" dirty="0"/>
          </a:p>
        </p:txBody>
      </p:sp>
      <p:sp>
        <p:nvSpPr>
          <p:cNvPr id="13" name="Shape 10"/>
          <p:cNvSpPr/>
          <p:nvPr/>
        </p:nvSpPr>
        <p:spPr>
          <a:xfrm>
            <a:off x="3316224" y="1417320"/>
            <a:ext cx="2511552" cy="1417320"/>
          </a:xfrm>
          <a:prstGeom prst="roundRect">
            <a:avLst>
              <a:gd name="adj" fmla="val 3871"/>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Acumulado</a:t>
            </a:r>
            <a:endParaRPr lang="en-US" sz="1200" dirty="0"/>
          </a:p>
        </p:txBody>
      </p:sp>
      <p:sp>
        <p:nvSpPr>
          <p:cNvPr id="17" name="Text 14"/>
          <p:cNvSpPr/>
          <p:nvPr/>
        </p:nvSpPr>
        <p:spPr>
          <a:xfrm>
            <a:off x="3453384"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Suma los avances de cada año.</a:t>
            </a:r>
            <a:endParaRPr lang="en-US" sz="950" dirty="0"/>
          </a:p>
        </p:txBody>
      </p:sp>
      <p:sp>
        <p:nvSpPr>
          <p:cNvPr id="18" name="Shape 15"/>
          <p:cNvSpPr/>
          <p:nvPr/>
        </p:nvSpPr>
        <p:spPr>
          <a:xfrm>
            <a:off x="5992368" y="1417320"/>
            <a:ext cx="2511552" cy="1417320"/>
          </a:xfrm>
          <a:prstGeom prst="roundRect">
            <a:avLst>
              <a:gd name="adj" fmla="val 3871"/>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Stock</a:t>
            </a:r>
            <a:endParaRPr lang="en-US" sz="1200" dirty="0"/>
          </a:p>
        </p:txBody>
      </p:sp>
      <p:sp>
        <p:nvSpPr>
          <p:cNvPr id="22" name="Text 19"/>
          <p:cNvSpPr/>
          <p:nvPr/>
        </p:nvSpPr>
        <p:spPr>
          <a:xfrm>
            <a:off x="6129528"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 el esfuerzo por mantener un resultado.</a:t>
            </a:r>
            <a:endParaRPr lang="en-US" sz="950" dirty="0"/>
          </a:p>
        </p:txBody>
      </p:sp>
      <p:sp>
        <p:nvSpPr>
          <p:cNvPr id="23" name="Shape 20"/>
          <p:cNvSpPr/>
          <p:nvPr/>
        </p:nvSpPr>
        <p:spPr>
          <a:xfrm>
            <a:off x="640080" y="3017520"/>
            <a:ext cx="2511552" cy="1417320"/>
          </a:xfrm>
          <a:prstGeom prst="roundRect">
            <a:avLst>
              <a:gd name="adj" fmla="val 3871"/>
            </a:avLst>
          </a:prstGeom>
          <a:solidFill>
            <a:srgbClr val="EDF3F9"/>
          </a:solidFill>
          <a:ln/>
        </p:spPr>
      </p:sp>
      <p:sp>
        <p:nvSpPr>
          <p:cNvPr id="24" name="Shape 21"/>
          <p:cNvSpPr/>
          <p:nvPr/>
        </p:nvSpPr>
        <p:spPr>
          <a:xfrm>
            <a:off x="777240" y="3154680"/>
            <a:ext cx="365760" cy="365760"/>
          </a:xfrm>
          <a:prstGeom prst="ellipse">
            <a:avLst/>
          </a:prstGeom>
          <a:solidFill>
            <a:srgbClr val="FC6E01"/>
          </a:solidFill>
          <a:ln/>
        </p:spPr>
      </p:sp>
      <p:sp>
        <p:nvSpPr>
          <p:cNvPr id="25" name="Text 22"/>
          <p:cNvSpPr/>
          <p:nvPr/>
        </p:nvSpPr>
        <p:spPr>
          <a:xfrm>
            <a:off x="777240"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6" name="Text 23"/>
          <p:cNvSpPr/>
          <p:nvPr/>
        </p:nvSpPr>
        <p:spPr>
          <a:xfrm>
            <a:off x="777240"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Capacidad</a:t>
            </a:r>
            <a:endParaRPr lang="en-US" sz="1200" dirty="0"/>
          </a:p>
        </p:txBody>
      </p:sp>
      <p:sp>
        <p:nvSpPr>
          <p:cNvPr id="27" name="Text 24"/>
          <p:cNvSpPr/>
          <p:nvPr/>
        </p:nvSpPr>
        <p:spPr>
          <a:xfrm>
            <a:off x="777240"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Avance restando línea base a la meta.</a:t>
            </a:r>
            <a:endParaRPr lang="en-US" sz="950" dirty="0"/>
          </a:p>
        </p:txBody>
      </p:sp>
      <p:sp>
        <p:nvSpPr>
          <p:cNvPr id="28" name="Shape 25"/>
          <p:cNvSpPr/>
          <p:nvPr/>
        </p:nvSpPr>
        <p:spPr>
          <a:xfrm>
            <a:off x="3316224" y="3017520"/>
            <a:ext cx="2511552" cy="1417320"/>
          </a:xfrm>
          <a:prstGeom prst="roundRect">
            <a:avLst>
              <a:gd name="adj" fmla="val 3871"/>
            </a:avLst>
          </a:prstGeom>
          <a:solidFill>
            <a:srgbClr val="EDF3F9"/>
          </a:solidFill>
          <a:ln/>
        </p:spPr>
      </p:sp>
      <p:sp>
        <p:nvSpPr>
          <p:cNvPr id="29" name="Shape 26"/>
          <p:cNvSpPr/>
          <p:nvPr/>
        </p:nvSpPr>
        <p:spPr>
          <a:xfrm>
            <a:off x="3453384" y="3154680"/>
            <a:ext cx="365760" cy="365760"/>
          </a:xfrm>
          <a:prstGeom prst="ellipse">
            <a:avLst/>
          </a:prstGeom>
          <a:solidFill>
            <a:srgbClr val="FC6E01"/>
          </a:solidFill>
          <a:ln/>
        </p:spPr>
      </p:sp>
      <p:sp>
        <p:nvSpPr>
          <p:cNvPr id="30" name="Text 27"/>
          <p:cNvSpPr/>
          <p:nvPr/>
        </p:nvSpPr>
        <p:spPr>
          <a:xfrm>
            <a:off x="3453384"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1" name="Text 28"/>
          <p:cNvSpPr/>
          <p:nvPr/>
        </p:nvSpPr>
        <p:spPr>
          <a:xfrm>
            <a:off x="3453384"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Reducción</a:t>
            </a:r>
            <a:endParaRPr lang="en-US" sz="1200" dirty="0"/>
          </a:p>
        </p:txBody>
      </p:sp>
      <p:sp>
        <p:nvSpPr>
          <p:cNvPr id="32" name="Text 29"/>
          <p:cNvSpPr/>
          <p:nvPr/>
        </p:nvSpPr>
        <p:spPr>
          <a:xfrm>
            <a:off x="3453384"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Esfuerzo por disminuir frente a línea base.</a:t>
            </a:r>
            <a:endParaRPr lang="en-US" sz="950" dirty="0"/>
          </a:p>
        </p:txBody>
      </p:sp>
      <p:sp>
        <p:nvSpPr>
          <p:cNvPr id="33" name="Shape 30"/>
          <p:cNvSpPr/>
          <p:nvPr/>
        </p:nvSpPr>
        <p:spPr>
          <a:xfrm>
            <a:off x="5992368" y="3017520"/>
            <a:ext cx="2511552" cy="1417320"/>
          </a:xfrm>
          <a:prstGeom prst="roundRect">
            <a:avLst>
              <a:gd name="adj" fmla="val 3871"/>
            </a:avLst>
          </a:prstGeom>
          <a:solidFill>
            <a:srgbClr val="EDF3F9"/>
          </a:solidFill>
          <a:ln/>
        </p:spPr>
      </p:sp>
      <p:sp>
        <p:nvSpPr>
          <p:cNvPr id="34" name="Shape 31"/>
          <p:cNvSpPr/>
          <p:nvPr/>
        </p:nvSpPr>
        <p:spPr>
          <a:xfrm>
            <a:off x="6129528" y="3154680"/>
            <a:ext cx="365760" cy="365760"/>
          </a:xfrm>
          <a:prstGeom prst="ellipse">
            <a:avLst/>
          </a:prstGeom>
          <a:solidFill>
            <a:srgbClr val="FC6E01"/>
          </a:solidFill>
          <a:ln/>
        </p:spPr>
      </p:sp>
      <p:sp>
        <p:nvSpPr>
          <p:cNvPr id="35" name="Text 32"/>
          <p:cNvSpPr/>
          <p:nvPr/>
        </p:nvSpPr>
        <p:spPr>
          <a:xfrm>
            <a:off x="6129528"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6" name="Text 33"/>
          <p:cNvSpPr/>
          <p:nvPr/>
        </p:nvSpPr>
        <p:spPr>
          <a:xfrm>
            <a:off x="6129528"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Reducción Anual</a:t>
            </a:r>
            <a:endParaRPr lang="en-US" sz="1200" dirty="0"/>
          </a:p>
        </p:txBody>
      </p:sp>
      <p:sp>
        <p:nvSpPr>
          <p:cNvPr id="37" name="Text 34"/>
          <p:cNvSpPr/>
          <p:nvPr/>
        </p:nvSpPr>
        <p:spPr>
          <a:xfrm>
            <a:off x="6129528"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Acumula avances para que sea menor al año anterior.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 · RIGOR MATEMÁTICO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Tipos de Acumulación: Fórmulas de % de Avance (1/2)</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2627717854"/>
              </p:ext>
            </p:extLst>
          </p:nvPr>
        </p:nvGraphicFramePr>
        <p:xfrm>
          <a:off x="640079" y="1463040"/>
          <a:ext cx="8080839" cy="2401399"/>
        </p:xfrm>
        <a:graphic>
          <a:graphicData uri="http://schemas.openxmlformats.org/drawingml/2006/table">
            <a:tbl>
              <a:tblPr/>
              <a:tblGrid>
                <a:gridCol w="1100011">
                  <a:extLst>
                    <a:ext uri="{9D8B030D-6E8A-4147-A177-3AD203B41FA5}">
                      <a16:colId xmlns:a16="http://schemas.microsoft.com/office/drawing/2014/main" val="20000"/>
                    </a:ext>
                  </a:extLst>
                </a:gridCol>
                <a:gridCol w="4080680">
                  <a:extLst>
                    <a:ext uri="{9D8B030D-6E8A-4147-A177-3AD203B41FA5}">
                      <a16:colId xmlns:a16="http://schemas.microsoft.com/office/drawing/2014/main" val="20001"/>
                    </a:ext>
                  </a:extLst>
                </a:gridCol>
                <a:gridCol w="2900148">
                  <a:extLst>
                    <a:ext uri="{9D8B030D-6E8A-4147-A177-3AD203B41FA5}">
                      <a16:colId xmlns:a16="http://schemas.microsoft.com/office/drawing/2014/main" val="20002"/>
                    </a:ext>
                  </a:extLst>
                </a:gridCol>
              </a:tblGrid>
              <a:tr h="484633">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Tipo de acumulación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Fórmula de % de avance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Aplica cuando...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6336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Stock</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200000"/>
                        </a:lnSpc>
                        <a:buNone/>
                      </a:pPr>
                      <a:r>
                        <a:rPr lang="en-US" sz="950" dirty="0">
                          <a:solidFill>
                            <a:srgbClr val="2F3B4C"/>
                          </a:solidFill>
                          <a:latin typeface="Arial" pitchFamily="34" charset="0"/>
                          <a:ea typeface="Arial" pitchFamily="34" charset="-122"/>
                          <a:cs typeface="Arial" pitchFamily="34" charset="-120"/>
                        </a:rPr>
                        <a:t>%Avance(t) = [Avance(t) ÷ Meta Anual(t)] × 100 · Meta </a:t>
                      </a:r>
                      <a:r>
                        <a:rPr lang="en-US" sz="950" dirty="0" err="1">
                          <a:solidFill>
                            <a:srgbClr val="2F3B4C"/>
                          </a:solidFill>
                          <a:latin typeface="Arial" pitchFamily="34" charset="0"/>
                          <a:ea typeface="Arial" pitchFamily="34" charset="-122"/>
                          <a:cs typeface="Arial" pitchFamily="34" charset="-120"/>
                        </a:rPr>
                        <a:t>Anual</a:t>
                      </a:r>
                      <a:r>
                        <a:rPr lang="en-US" sz="950" dirty="0">
                          <a:solidFill>
                            <a:srgbClr val="2F3B4C"/>
                          </a:solidFill>
                          <a:latin typeface="Arial" pitchFamily="34" charset="0"/>
                          <a:ea typeface="Arial" pitchFamily="34" charset="-122"/>
                          <a:cs typeface="Arial" pitchFamily="34" charset="-120"/>
                        </a:rPr>
                        <a:t> </a:t>
                      </a:r>
                      <a:br>
                        <a:rPr lang="en-US" sz="950" dirty="0">
                          <a:solidFill>
                            <a:srgbClr val="2F3B4C"/>
                          </a:solidFill>
                          <a:latin typeface="Arial" pitchFamily="34" charset="0"/>
                          <a:ea typeface="Arial" pitchFamily="34" charset="-122"/>
                          <a:cs typeface="Arial" pitchFamily="34" charset="-120"/>
                        </a:rPr>
                      </a:br>
                      <a:r>
                        <a:rPr lang="en-US" sz="950" dirty="0">
                          <a:solidFill>
                            <a:srgbClr val="2F3B4C"/>
                          </a:solidFill>
                          <a:latin typeface="Arial" pitchFamily="34" charset="0"/>
                          <a:ea typeface="Arial" pitchFamily="34" charset="-122"/>
                          <a:cs typeface="Arial" pitchFamily="34" charset="-120"/>
                        </a:rPr>
                        <a:t>= Meta Cuatrienio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La meta exige mantener una capacidad instalada constante en el tiempo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2700">
                <a:tc>
                  <a:txBody>
                    <a:bodyPr/>
                    <a:lstStyle/>
                    <a:p>
                      <a:pPr marL="0" indent="0" algn="l">
                        <a:lnSpc>
                          <a:spcPct val="150000"/>
                        </a:lnSpc>
                        <a:buNone/>
                      </a:pPr>
                      <a:r>
                        <a:rPr lang="en-US" sz="950" b="1" dirty="0">
                          <a:solidFill>
                            <a:srgbClr val="173F72"/>
                          </a:solidFill>
                          <a:latin typeface="Arial" pitchFamily="34" charset="0"/>
                          <a:ea typeface="Arial" pitchFamily="34" charset="-122"/>
                          <a:cs typeface="Arial" pitchFamily="34" charset="-120"/>
                        </a:rPr>
                        <a:t>Flujo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200000"/>
                        </a:lnSpc>
                        <a:buNone/>
                      </a:pPr>
                      <a:r>
                        <a:rPr lang="en-US" sz="950" dirty="0">
                          <a:solidFill>
                            <a:srgbClr val="2F3B4C"/>
                          </a:solidFill>
                          <a:latin typeface="Arial" pitchFamily="34" charset="0"/>
                          <a:ea typeface="Arial" pitchFamily="34" charset="-122"/>
                          <a:cs typeface="Arial" pitchFamily="34" charset="-120"/>
                        </a:rPr>
                        <a:t>%Avance(t) = [Avance(t) ÷ Meta Anual(t)] × 100 · %Avance </a:t>
                      </a:r>
                      <a:r>
                        <a:rPr lang="en-US" sz="950" dirty="0" err="1">
                          <a:solidFill>
                            <a:srgbClr val="2F3B4C"/>
                          </a:solidFill>
                          <a:latin typeface="Arial" pitchFamily="34" charset="0"/>
                          <a:ea typeface="Arial" pitchFamily="34" charset="-122"/>
                          <a:cs typeface="Arial" pitchFamily="34" charset="-120"/>
                        </a:rPr>
                        <a:t>Cuatrienio</a:t>
                      </a:r>
                      <a:r>
                        <a:rPr lang="en-US" sz="950" dirty="0">
                          <a:solidFill>
                            <a:srgbClr val="2F3B4C"/>
                          </a:solidFill>
                          <a:latin typeface="Arial" pitchFamily="34" charset="0"/>
                          <a:ea typeface="Arial" pitchFamily="34" charset="-122"/>
                          <a:cs typeface="Arial" pitchFamily="34" charset="-120"/>
                        </a:rPr>
                        <a:t> </a:t>
                      </a:r>
                      <a:br>
                        <a:rPr lang="en-US" sz="950" dirty="0">
                          <a:solidFill>
                            <a:srgbClr val="2F3B4C"/>
                          </a:solidFill>
                          <a:latin typeface="Arial" pitchFamily="34" charset="0"/>
                          <a:ea typeface="Arial" pitchFamily="34" charset="-122"/>
                          <a:cs typeface="Arial" pitchFamily="34" charset="-120"/>
                        </a:rPr>
                      </a:br>
                      <a:r>
                        <a:rPr lang="en-US" sz="950" dirty="0">
                          <a:solidFill>
                            <a:srgbClr val="2F3B4C"/>
                          </a:solidFill>
                          <a:latin typeface="Arial" pitchFamily="34" charset="0"/>
                          <a:ea typeface="Arial" pitchFamily="34" charset="-122"/>
                          <a:cs typeface="Arial" pitchFamily="34" charset="-120"/>
                        </a:rPr>
                        <a:t>= [Avance último año ÷ Meta Cuatrienio]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Logros que se repiten cada año; todos los años inician en cero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769">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Acumulado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200000"/>
                        </a:lnSpc>
                        <a:buNone/>
                      </a:pPr>
                      <a:r>
                        <a:rPr lang="en-US" sz="950" dirty="0">
                          <a:solidFill>
                            <a:srgbClr val="2F3B4C"/>
                          </a:solidFill>
                          <a:latin typeface="Arial" pitchFamily="34" charset="0"/>
                          <a:ea typeface="Arial" pitchFamily="34" charset="-122"/>
                          <a:cs typeface="Arial" pitchFamily="34" charset="-120"/>
                        </a:rPr>
                        <a:t>%Avance </a:t>
                      </a:r>
                      <a:r>
                        <a:rPr lang="en-US" sz="950" dirty="0" err="1">
                          <a:solidFill>
                            <a:srgbClr val="2F3B4C"/>
                          </a:solidFill>
                          <a:latin typeface="Arial" pitchFamily="34" charset="0"/>
                          <a:ea typeface="Arial" pitchFamily="34" charset="-122"/>
                          <a:cs typeface="Arial" pitchFamily="34" charset="-120"/>
                        </a:rPr>
                        <a:t>Cuatrienio</a:t>
                      </a:r>
                      <a:r>
                        <a:rPr lang="en-US" sz="950" dirty="0">
                          <a:solidFill>
                            <a:srgbClr val="2F3B4C"/>
                          </a:solidFill>
                          <a:latin typeface="Arial" pitchFamily="34" charset="0"/>
                          <a:ea typeface="Arial" pitchFamily="34" charset="-122"/>
                          <a:cs typeface="Arial" pitchFamily="34" charset="-120"/>
                        </a:rPr>
                        <a:t> = [ΣAvance(t) ÷ Meta Cuatrienio] × 100 · Meta Cuatrienio = ΣMeta Anual(t)</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Cada año aporta una cantidad que se suma al resultado final del periodo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640080" y="4343400"/>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Fuente: DNP (2020). Guía metodológica para la formulación de indicadores; DNP – Sinergia.</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 · RIGOR MATEMÁTICO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Tipos de Acumulación: Fórmulas de % de Avance (2/2)</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2350250910"/>
              </p:ext>
            </p:extLst>
          </p:nvPr>
        </p:nvGraphicFramePr>
        <p:xfrm>
          <a:off x="640080" y="1463040"/>
          <a:ext cx="8060368" cy="2687244"/>
        </p:xfrm>
        <a:graphic>
          <a:graphicData uri="http://schemas.openxmlformats.org/drawingml/2006/table">
            <a:tbl>
              <a:tblPr/>
              <a:tblGrid>
                <a:gridCol w="1195544">
                  <a:extLst>
                    <a:ext uri="{9D8B030D-6E8A-4147-A177-3AD203B41FA5}">
                      <a16:colId xmlns:a16="http://schemas.microsoft.com/office/drawing/2014/main" val="20000"/>
                    </a:ext>
                  </a:extLst>
                </a:gridCol>
                <a:gridCol w="3500651">
                  <a:extLst>
                    <a:ext uri="{9D8B030D-6E8A-4147-A177-3AD203B41FA5}">
                      <a16:colId xmlns:a16="http://schemas.microsoft.com/office/drawing/2014/main" val="20001"/>
                    </a:ext>
                  </a:extLst>
                </a:gridCol>
                <a:gridCol w="3364173">
                  <a:extLst>
                    <a:ext uri="{9D8B030D-6E8A-4147-A177-3AD203B41FA5}">
                      <a16:colId xmlns:a16="http://schemas.microsoft.com/office/drawing/2014/main" val="20002"/>
                    </a:ext>
                  </a:extLst>
                </a:gridCol>
              </a:tblGrid>
              <a:tr h="45720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Tipo de acumulación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Fórmula de % de avance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Aplica cuando...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60459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Capacidad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%Avance(t) = [(Avance(t) − LB) ÷ (Meta Anual(t) − LB)]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 parte de una línea base (LB) mayor a 0 y se busca incrementarla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9187">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Reducción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%Avance(t) = [(LB − Avance(t)) ÷ (LB − Meta Anual(t))]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 busca disminuir un problema (desempleo, delincuencia); la Meta debe ser menor que la LB</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6261">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Reducción Anual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%Avance(m) = [(LB/12×m − Avance(m)) ÷ (LB/12×m − Meta_a/12×m)]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s-ES" sz="950" dirty="0">
                          <a:solidFill>
                            <a:srgbClr val="2F3B4C"/>
                          </a:solidFill>
                          <a:latin typeface="Arial" pitchFamily="34" charset="0"/>
                          <a:ea typeface="Arial" pitchFamily="34" charset="-122"/>
                          <a:cs typeface="Arial" pitchFamily="34" charset="-120"/>
                        </a:rPr>
                        <a:t>Es la misma fórmula de Reducción, pero recalculada cada mes: se compara lo que llevas ese mes contra la parte proporcional de la meta anual que ya debería llevar (meta anual ÷ 12 × mes en curso)</a:t>
                      </a:r>
                      <a:br>
                        <a:rPr lang="es-ES" sz="950" dirty="0">
                          <a:solidFill>
                            <a:srgbClr val="2F3B4C"/>
                          </a:solidFill>
                          <a:latin typeface="Arial" pitchFamily="34" charset="0"/>
                          <a:ea typeface="Arial" pitchFamily="34" charset="-122"/>
                          <a:cs typeface="Arial" pitchFamily="34" charset="-120"/>
                        </a:rPr>
                      </a:br>
                      <a:r>
                        <a:rPr lang="es-ES" sz="950" dirty="0">
                          <a:solidFill>
                            <a:srgbClr val="2F3B4C"/>
                          </a:solidFill>
                          <a:latin typeface="Arial" pitchFamily="34" charset="0"/>
                          <a:ea typeface="Arial" pitchFamily="34" charset="-122"/>
                          <a:cs typeface="Arial" pitchFamily="34" charset="-120"/>
                        </a:rPr>
                        <a:t>- necesitas una alerta temprana mes a mes (ej. homicidios, deserción escolar </a:t>
                      </a:r>
                      <a:r>
                        <a:rPr lang="es-ES" sz="950" dirty="0" err="1">
                          <a:solidFill>
                            <a:srgbClr val="2F3B4C"/>
                          </a:solidFill>
                          <a:latin typeface="Arial" pitchFamily="34" charset="0"/>
                          <a:ea typeface="Arial" pitchFamily="34" charset="-122"/>
                          <a:cs typeface="Arial" pitchFamily="34" charset="-120"/>
                        </a:rPr>
                        <a:t>intra-anual</a:t>
                      </a:r>
                      <a:r>
                        <a:rPr lang="es-ES" sz="950" dirty="0">
                          <a:solidFill>
                            <a:srgbClr val="2F3B4C"/>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640080" y="4343400"/>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Fuente: DNP (2020). Guía metodológica para la formulación de indicadores; DNP – Sinergia.</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REGLA PRÁCTICA</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Si al leer el indicador en voz alta no queda claro qué se cuenta, sobre quién, en qué periodo y contra qué se compara, todavía es una pregunta vaga disfrazada de indicador.</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5 · Redactar la Ficha Técnica y Validar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El indicador se documenta en una </a:t>
            </a:r>
            <a:r>
              <a:rPr lang="en-US" sz="1400" dirty="0" err="1">
                <a:solidFill>
                  <a:srgbClr val="2F3B4C"/>
                </a:solidFill>
                <a:latin typeface="Arial" pitchFamily="34" charset="0"/>
                <a:ea typeface="Arial" pitchFamily="34" charset="-122"/>
                <a:cs typeface="Arial" pitchFamily="34" charset="-120"/>
              </a:rPr>
              <a:t>ficha</a:t>
            </a:r>
            <a:r>
              <a:rPr lang="en-US" sz="1400" dirty="0">
                <a:solidFill>
                  <a:srgbClr val="2F3B4C"/>
                </a:solidFill>
                <a:latin typeface="Arial" pitchFamily="34" charset="0"/>
                <a:ea typeface="Arial" pitchFamily="34" charset="-122"/>
                <a:cs typeface="Arial" pitchFamily="34" charset="-120"/>
              </a:rPr>
              <a:t> técnica estandarizada.</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Se somete a validación con quienes tomarán decisiones a partir de él.</a:t>
            </a:r>
            <a:endParaRPr lang="en-US" sz="1400" dirty="0"/>
          </a:p>
        </p:txBody>
      </p:sp>
      <p:sp>
        <p:nvSpPr>
          <p:cNvPr id="9" name="Text 6"/>
          <p:cNvSpPr/>
          <p:nvPr/>
        </p:nvSpPr>
        <p:spPr>
          <a:xfrm>
            <a:off x="640080" y="2468880"/>
            <a:ext cx="7863840" cy="274320"/>
          </a:xfrm>
          <a:prstGeom prst="rect">
            <a:avLst/>
          </a:prstGeom>
          <a:noFill/>
          <a:ln/>
        </p:spPr>
        <p:txBody>
          <a:bodyPr wrap="square" rtlCol="0" anchor="ctr"/>
          <a:lstStyle/>
          <a:p>
            <a:pPr marL="0" indent="0">
              <a:buNone/>
            </a:pPr>
            <a:r>
              <a:rPr lang="en-US" sz="1200" b="1" dirty="0">
                <a:solidFill>
                  <a:srgbClr val="173F72"/>
                </a:solidFill>
                <a:latin typeface="Arial" pitchFamily="34" charset="0"/>
                <a:ea typeface="Arial" pitchFamily="34" charset="-122"/>
                <a:cs typeface="Arial" pitchFamily="34" charset="-120"/>
              </a:rPr>
              <a:t>Preguntas clave de validación:</a:t>
            </a:r>
            <a:endParaRPr lang="en-US" sz="1200" dirty="0"/>
          </a:p>
        </p:txBody>
      </p:sp>
      <p:sp>
        <p:nvSpPr>
          <p:cNvPr id="10" name="Text 7"/>
          <p:cNvSpPr/>
          <p:nvPr/>
        </p:nvSpPr>
        <p:spPr>
          <a:xfrm>
            <a:off x="640080" y="2788920"/>
            <a:ext cx="7863840" cy="3200400"/>
          </a:xfrm>
          <a:prstGeom prst="rect">
            <a:avLst/>
          </a:prstGeom>
          <a:noFill/>
          <a:ln/>
        </p:spPr>
        <p:txBody>
          <a:bodyPr wrap="square" rtlCol="0" anchor="t"/>
          <a:lstStyle/>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fuente es confiable y accesible?</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periodicidad permite decidir a tiempo?</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meta es realista?</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PREGUNTA DE GESTIÓN REFINADA (EJEMPLO POSIBLE)</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¿Los usuarios de las bibliotecas públicas municipales están accediendo con la frecuencia y diversidad de servicios previstos en el plan de desarrollo, frente al año anterior?</a:t>
            </a:r>
            <a:endParaRPr lang="en-US" sz="2000" dirty="0"/>
          </a:p>
        </p:txBody>
      </p:sp>
      <p:sp>
        <p:nvSpPr>
          <p:cNvPr id="4" name="Text 2"/>
          <p:cNvSpPr/>
          <p:nvPr/>
        </p:nvSpPr>
        <p:spPr>
          <a:xfrm>
            <a:off x="822960" y="3749040"/>
            <a:ext cx="7498080" cy="320040"/>
          </a:xfrm>
          <a:prstGeom prst="rect">
            <a:avLst/>
          </a:prstGeom>
          <a:noFill/>
          <a:ln/>
        </p:spPr>
        <p:txBody>
          <a:bodyPr wrap="square" rtlCol="0" anchor="ctr"/>
          <a:lstStyle/>
          <a:p>
            <a:pPr marL="0" indent="0" algn="ctr">
              <a:buNone/>
            </a:pPr>
            <a:r>
              <a:rPr lang="en-US" sz="1100" dirty="0">
                <a:solidFill>
                  <a:srgbClr val="9FB8D9"/>
                </a:solidFill>
                <a:latin typeface="Arial" pitchFamily="34" charset="0"/>
                <a:ea typeface="Arial" pitchFamily="34" charset="-122"/>
                <a:cs typeface="Arial" pitchFamily="34" charset="-120"/>
              </a:rPr>
              <a:t>No hay una única respuesta correcta</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Plantilla de Ficha Técnica del Indicador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3072384"/>
        </p:xfrm>
        <a:graphic>
          <a:graphicData uri="http://schemas.openxmlformats.org/drawingml/2006/table">
            <a:tbl>
              <a:tblPr/>
              <a:tblGrid>
                <a:gridCol w="19659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438912">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Campo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Plantilla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Ejemplo: Salud Materna Rural</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Pregunta de gestión</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[Pregunta ya refinada]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¿Garantizamos controles prenatales adecuados y mejoramos frente al año anterior?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Nombre del indicador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[Nombre corto y descriptivo]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 de gestantes rurales con 4+ controles prenatales</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Eslabón cadena de valor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[Insumo/Actividad/Producto/Resultado/Impacto]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Resultado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Fórmula de cálculo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[Numerador/Denominador × 100]</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(gestantes con ≥4 controles / total gestantes) × 100</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Fuente de información</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[Sistema o registro oficial]</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RIPS – SISPRO (MinSalud)</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Línea base / Meta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[Valor y año de referencia]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Valor año t-1 / incremento definido por la entidad</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 MÓDULO 3</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Errores Comunes al Formular Indicadores</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5 errores frecuentes, con ejemplo antes/después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3 de 3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Confundir Producto con Resultado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“Número de talleres de emprendimiento realizados” — esto es un producto, no un resultado.</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 de participantes del taller que reportan ingresos formales seis meses después”.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Formular sin Fuente de Datos Identificada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“Nivel de satisfacción ciudadana con el espacio público” — sin decir cómo ni con qué instrumento se mide.</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El mismo indicador, medido mediante encuesta de percepción ciudadana aplicada anualmente por la oficina de planeación.</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Definir Metas “a Ojo”, sin Línea Base Verificada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“Reducir la deserción escolar a la mitad” — sin cifra de partida.</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“Reducir la deserción escolar del 8,2% (línea base 2025) al 4,1% en 2027”.</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Redactar Preguntas que Presuponen la Respuesta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“¿Por qué ha mejorado tanto la cobertura de salud rural?” — asume que sí mejoró.</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“¿Ha mejorado la cobertura de salud rural en el último año, y en qué magnitud?”.</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Aceptar el Primer Borrador de la IA sin Contrastar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Ficha técnica publicada con línea base “62% (estimado por el modelo de IA)”.</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Línea base marcada como [VERIFICAR EN ENTIDAD] hasta confirmarla con la fuente oficial.</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3 (10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Detecte el Error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47472"/>
          </a:xfrm>
          <a:prstGeom prst="roundRect">
            <a:avLst>
              <a:gd name="adj" fmla="val 10526"/>
            </a:avLst>
          </a:prstGeom>
          <a:solidFill>
            <a:srgbClr val="FC6E01"/>
          </a:solidFill>
          <a:ln/>
        </p:spPr>
      </p:sp>
      <p:sp>
        <p:nvSpPr>
          <p:cNvPr id="9" name="Text 6"/>
          <p:cNvSpPr/>
          <p:nvPr/>
        </p:nvSpPr>
        <p:spPr>
          <a:xfrm>
            <a:off x="777240" y="1325880"/>
            <a:ext cx="7589520" cy="347472"/>
          </a:xfrm>
          <a:prstGeom prst="rect">
            <a:avLst/>
          </a:prstGeom>
          <a:noFill/>
          <a:ln/>
        </p:spPr>
        <p:txBody>
          <a:bodyPr wrap="square" rtlCol="0" anchor="ctr"/>
          <a:lstStyle/>
          <a:p>
            <a:pPr marL="0" indent="0">
              <a:buNone/>
            </a:pPr>
            <a:r>
              <a:rPr lang="en-US" sz="1050" b="1" dirty="0">
                <a:solidFill>
                  <a:srgbClr val="FFFFFF"/>
                </a:solidFill>
                <a:latin typeface="Arial" pitchFamily="34" charset="0"/>
                <a:ea typeface="Arial" pitchFamily="34" charset="-122"/>
                <a:cs typeface="Arial" pitchFamily="34" charset="-120"/>
              </a:rPr>
              <a:t>Trabajo individual · cada enunciado tiene exactamente uno de los 5 errores vistos</a:t>
            </a:r>
            <a:endParaRPr lang="en-US" sz="10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304288"/>
        </p:xfrm>
        <a:graphic>
          <a:graphicData uri="http://schemas.openxmlformats.org/drawingml/2006/table">
            <a:tbl>
              <a:tblPr/>
              <a:tblGrid>
                <a:gridCol w="6675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Error (1-5)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 “Computadores entregados”, presentado como indicador de resultado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B. “Índice de confianza ciudadana”, sin especificar instrumento ni fuente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 “Aumentar significativamente la cobertura de agua para 2027”, sin cifra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D. “¿Por qué ha bajado tanto la inseguridad este año?”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 Ficha con línea base “62% estimado por IA, sin verificar”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RESPUESTAS · MÓDULO 3</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Respuestas — Detecte el Error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2346745504"/>
              </p:ext>
            </p:extLst>
          </p:nvPr>
        </p:nvGraphicFramePr>
        <p:xfrm>
          <a:off x="640080" y="1316736"/>
          <a:ext cx="7863840" cy="2852928"/>
        </p:xfrm>
        <a:graphic>
          <a:graphicData uri="http://schemas.openxmlformats.org/drawingml/2006/table">
            <a:tbl>
              <a:tblPr/>
              <a:tblGrid>
                <a:gridCol w="42062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75488">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Enunciado</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Error</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7548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A. “Computadores entregados”, como indicador de resultado</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1 · Producto disfrazado de resultado</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B. “Índice de confianza ciudadana”, sin instrumento ni fuente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2 · Sin fuente identificada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C. “Aumentar cobertura de agua para 2027”, sin cifra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3 · Meta sin línea base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D. “¿Por qué ha bajado tanto la inseguridad este año?”</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4 · Presupone la respuesta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E. Línea base “62% estimado por IA, sin verificar”</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5 · Acepta borrador de IA sin contrastar</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2 </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La Inteligencia Artificial como Potenciador, no como Reemplazo</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El rol de la IA en la construcción de indicadores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Bloque 2 de 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PRINCIPIO RECTOR</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La IA es un potenciador de actividades, no un sustituto del juicio técnico y político. La pregunta de gestión la formula el equipo que conoce el problema público, el territorio y la ciudadanía; la IA ayuda a que quede mejor redactada, mejor estructurada y más rápido documentada.</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Dónde Sí Ayuda la IA (con rigor)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17320"/>
            <a:ext cx="7863840" cy="3200400"/>
          </a:xfrm>
          <a:prstGeom prst="rect">
            <a:avLst/>
          </a:prstGeom>
          <a:noFill/>
          <a:ln/>
        </p:spPr>
        <p:txBody>
          <a:bodyPr wrap="square" rtlCol="0" anchor="t"/>
          <a:lstStyle/>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Diagnóstico de preguntas vagas — chequear si cumple los 4 componentes del Paso 2 y señalar cuáles faltan.</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Generación de alternativas de indicador — proponer 3-5 formulaciones posibles para que el equipo elija y ajuste.</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Borrador de </a:t>
            </a:r>
            <a:r>
              <a:rPr lang="en-US" sz="1150" dirty="0" err="1">
                <a:solidFill>
                  <a:srgbClr val="2F3B4C"/>
                </a:solidFill>
                <a:latin typeface="Arial" pitchFamily="34" charset="0"/>
                <a:ea typeface="Arial" pitchFamily="34" charset="-122"/>
                <a:cs typeface="Arial" pitchFamily="34" charset="-120"/>
              </a:rPr>
              <a:t>ficha</a:t>
            </a:r>
            <a:r>
              <a:rPr lang="en-US" sz="1150" dirty="0">
                <a:solidFill>
                  <a:srgbClr val="2F3B4C"/>
                </a:solidFill>
                <a:latin typeface="Arial" pitchFamily="34" charset="0"/>
                <a:ea typeface="Arial" pitchFamily="34" charset="-122"/>
                <a:cs typeface="Arial" pitchFamily="34" charset="-120"/>
              </a:rPr>
              <a:t> técnica — redactar un primer borrador completo (fórmula, unidad, posibles fuentes).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Traducción a lenguaje ciudadano — convertir la </a:t>
            </a:r>
            <a:r>
              <a:rPr lang="en-US" sz="1150" dirty="0" err="1">
                <a:solidFill>
                  <a:srgbClr val="2F3B4C"/>
                </a:solidFill>
                <a:latin typeface="Arial" pitchFamily="34" charset="0"/>
                <a:ea typeface="Arial" pitchFamily="34" charset="-122"/>
                <a:cs typeface="Arial" pitchFamily="34" charset="-120"/>
              </a:rPr>
              <a:t>ficha</a:t>
            </a:r>
            <a:r>
              <a:rPr lang="en-US" sz="1150" dirty="0">
                <a:solidFill>
                  <a:srgbClr val="2F3B4C"/>
                </a:solidFill>
                <a:latin typeface="Arial" pitchFamily="34" charset="0"/>
                <a:ea typeface="Arial" pitchFamily="34" charset="-122"/>
                <a:cs typeface="Arial" pitchFamily="34" charset="-120"/>
              </a:rPr>
              <a:t> técnica en una explicación breve para rendición de cuentas.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Revisión cruzada de calidad — aplicar sistemáticamente los criterios SMART/CREMAS y señalar inconsistencias.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Organización y documentación — consolidar las fichas técnicas en una matriz ordenada (Word/Excel).</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Dónde NO Debe Decidir la 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Prioridad de la pregunta</a:t>
            </a:r>
            <a:endParaRPr lang="en-US" sz="1200" dirty="0"/>
          </a:p>
        </p:txBody>
      </p:sp>
      <p:sp>
        <p:nvSpPr>
          <p:cNvPr id="12" name="Text 9"/>
          <p:cNvSpPr/>
          <p:nvPr/>
        </p:nvSpPr>
        <p:spPr>
          <a:xfrm>
            <a:off x="777240"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Depende del mandato, el contexto político y las necesidades ciudadanas.</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Meta o línea base</a:t>
            </a:r>
            <a:endParaRPr lang="en-US" sz="1200" dirty="0"/>
          </a:p>
        </p:txBody>
      </p:sp>
      <p:sp>
        <p:nvSpPr>
          <p:cNvPr id="17" name="Text 14"/>
          <p:cNvSpPr/>
          <p:nvPr/>
        </p:nvSpPr>
        <p:spPr>
          <a:xfrm>
            <a:off x="2784348"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Deben salir de datos oficiales verificados, no de estimaciones del modelo.</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Interpretación política</a:t>
            </a:r>
            <a:endParaRPr lang="en-US" sz="1200" dirty="0"/>
          </a:p>
        </p:txBody>
      </p:sp>
      <p:sp>
        <p:nvSpPr>
          <p:cNvPr id="22" name="Text 19"/>
          <p:cNvSpPr/>
          <p:nvPr/>
        </p:nvSpPr>
        <p:spPr>
          <a:xfrm>
            <a:off x="4791456"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La lectura política o social del resultado de un indicador.</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Validación de la fuente</a:t>
            </a:r>
            <a:endParaRPr lang="en-US" sz="1200" dirty="0"/>
          </a:p>
        </p:txBody>
      </p:sp>
      <p:sp>
        <p:nvSpPr>
          <p:cNvPr id="27" name="Text 24"/>
          <p:cNvSpPr/>
          <p:nvPr/>
        </p:nvSpPr>
        <p:spPr>
          <a:xfrm>
            <a:off x="6798564"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Siempre debe confirmarse contra el sistema oficial (DANE, SISPRO, TerriData, etc.).</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IA para Equipos de Gestión Pública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554480"/>
            <a:ext cx="2511552" cy="2468880"/>
          </a:xfrm>
          <a:prstGeom prst="roundRect">
            <a:avLst>
              <a:gd name="adj" fmla="val 2222"/>
            </a:avLst>
          </a:prstGeom>
          <a:solidFill>
            <a:srgbClr val="EDF3F9"/>
          </a:solidFill>
          <a:ln/>
        </p:spPr>
      </p:sp>
      <p:sp>
        <p:nvSpPr>
          <p:cNvPr id="9" name="Shape 6"/>
          <p:cNvSpPr/>
          <p:nvPr/>
        </p:nvSpPr>
        <p:spPr>
          <a:xfrm>
            <a:off x="777240" y="1691640"/>
            <a:ext cx="365760" cy="365760"/>
          </a:xfrm>
          <a:prstGeom prst="ellipse">
            <a:avLst/>
          </a:prstGeom>
          <a:solidFill>
            <a:srgbClr val="FC6E01"/>
          </a:solidFill>
          <a:ln/>
        </p:spPr>
      </p:sp>
      <p:sp>
        <p:nvSpPr>
          <p:cNvPr id="10" name="Text 7"/>
          <p:cNvSpPr/>
          <p:nvPr/>
        </p:nvSpPr>
        <p:spPr>
          <a:xfrm>
            <a:off x="777240"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Acceso inmediato</a:t>
            </a:r>
            <a:endParaRPr lang="en-US" sz="1200" dirty="0"/>
          </a:p>
        </p:txBody>
      </p:sp>
      <p:sp>
        <p:nvSpPr>
          <p:cNvPr id="12" name="Text 9"/>
          <p:cNvSpPr/>
          <p:nvPr/>
        </p:nvSpPr>
        <p:spPr>
          <a:xfrm>
            <a:off x="777240"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Funciona desde el navegador, sin instalación; plan gratuito para practicar en el taller.</a:t>
            </a:r>
            <a:endParaRPr lang="en-US" sz="950" dirty="0"/>
          </a:p>
        </p:txBody>
      </p:sp>
      <p:sp>
        <p:nvSpPr>
          <p:cNvPr id="13" name="Shape 10"/>
          <p:cNvSpPr/>
          <p:nvPr/>
        </p:nvSpPr>
        <p:spPr>
          <a:xfrm>
            <a:off x="3316224" y="1554480"/>
            <a:ext cx="2511552" cy="2468880"/>
          </a:xfrm>
          <a:prstGeom prst="roundRect">
            <a:avLst>
              <a:gd name="adj" fmla="val 2222"/>
            </a:avLst>
          </a:prstGeom>
          <a:solidFill>
            <a:srgbClr val="EDF3F9"/>
          </a:solidFill>
          <a:ln/>
        </p:spPr>
      </p:sp>
      <p:sp>
        <p:nvSpPr>
          <p:cNvPr id="14" name="Shape 11"/>
          <p:cNvSpPr/>
          <p:nvPr/>
        </p:nvSpPr>
        <p:spPr>
          <a:xfrm>
            <a:off x="3453384" y="1691640"/>
            <a:ext cx="365760" cy="365760"/>
          </a:xfrm>
          <a:prstGeom prst="ellipse">
            <a:avLst/>
          </a:prstGeom>
          <a:solidFill>
            <a:srgbClr val="FC6E01"/>
          </a:solidFill>
          <a:ln/>
        </p:spPr>
      </p:sp>
      <p:sp>
        <p:nvSpPr>
          <p:cNvPr id="15" name="Text 12"/>
          <p:cNvSpPr/>
          <p:nvPr/>
        </p:nvSpPr>
        <p:spPr>
          <a:xfrm>
            <a:off x="3453384"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Trabaja con documentos</a:t>
            </a:r>
            <a:endParaRPr lang="en-US" sz="1200" dirty="0"/>
          </a:p>
        </p:txBody>
      </p:sp>
      <p:sp>
        <p:nvSpPr>
          <p:cNvPr id="17" name="Text 14"/>
          <p:cNvSpPr/>
          <p:nvPr/>
        </p:nvSpPr>
        <p:spPr>
          <a:xfrm>
            <a:off x="3453384"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Permite subir la matriz de indicadores en Word o Excel y trabajar sobre ella, en español.</a:t>
            </a:r>
            <a:endParaRPr lang="en-US" sz="950" dirty="0"/>
          </a:p>
        </p:txBody>
      </p:sp>
      <p:sp>
        <p:nvSpPr>
          <p:cNvPr id="18" name="Shape 15"/>
          <p:cNvSpPr/>
          <p:nvPr/>
        </p:nvSpPr>
        <p:spPr>
          <a:xfrm>
            <a:off x="5992368" y="1554480"/>
            <a:ext cx="2511552" cy="2468880"/>
          </a:xfrm>
          <a:prstGeom prst="roundRect">
            <a:avLst>
              <a:gd name="adj" fmla="val 2222"/>
            </a:avLst>
          </a:prstGeom>
          <a:solidFill>
            <a:srgbClr val="EDF3F9"/>
          </a:solidFill>
          <a:ln/>
        </p:spPr>
      </p:sp>
      <p:sp>
        <p:nvSpPr>
          <p:cNvPr id="19" name="Shape 16"/>
          <p:cNvSpPr/>
          <p:nvPr/>
        </p:nvSpPr>
        <p:spPr>
          <a:xfrm>
            <a:off x="6129528" y="1691640"/>
            <a:ext cx="365760" cy="365760"/>
          </a:xfrm>
          <a:prstGeom prst="ellipse">
            <a:avLst/>
          </a:prstGeom>
          <a:solidFill>
            <a:srgbClr val="FC6E01"/>
          </a:solidFill>
          <a:ln/>
        </p:spPr>
      </p:sp>
      <p:sp>
        <p:nvSpPr>
          <p:cNvPr id="20" name="Text 17"/>
          <p:cNvSpPr/>
          <p:nvPr/>
        </p:nvSpPr>
        <p:spPr>
          <a:xfrm>
            <a:off x="6129528"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Entregables usables</a:t>
            </a:r>
            <a:endParaRPr lang="en-US" sz="1200" dirty="0"/>
          </a:p>
        </p:txBody>
      </p:sp>
      <p:sp>
        <p:nvSpPr>
          <p:cNvPr id="22" name="Text 19"/>
          <p:cNvSpPr/>
          <p:nvPr/>
        </p:nvSpPr>
        <p:spPr>
          <a:xfrm>
            <a:off x="6129528"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Produce la </a:t>
            </a:r>
            <a:r>
              <a:rPr lang="en-US" sz="950" dirty="0" err="1">
                <a:solidFill>
                  <a:srgbClr val="5C6B7C"/>
                </a:solidFill>
                <a:latin typeface="Arial" pitchFamily="34" charset="0"/>
                <a:ea typeface="Arial" pitchFamily="34" charset="-122"/>
                <a:cs typeface="Arial" pitchFamily="34" charset="-120"/>
              </a:rPr>
              <a:t>ficha</a:t>
            </a:r>
            <a:r>
              <a:rPr lang="en-US" sz="950" dirty="0">
                <a:solidFill>
                  <a:srgbClr val="5C6B7C"/>
                </a:solidFill>
                <a:latin typeface="Arial" pitchFamily="34" charset="0"/>
                <a:ea typeface="Arial" pitchFamily="34" charset="-122"/>
                <a:cs typeface="Arial" pitchFamily="34" charset="-120"/>
              </a:rPr>
              <a:t> técnica en formato de documento o tabla, lista para revisión del equipo.</a:t>
            </a:r>
            <a:endParaRPr lang="en-US" sz="950" dirty="0"/>
          </a:p>
        </p:txBody>
      </p:sp>
      <p:sp>
        <p:nvSpPr>
          <p:cNvPr id="23" name="Text 20"/>
          <p:cNvSpPr/>
          <p:nvPr/>
        </p:nvSpPr>
        <p:spPr>
          <a:xfrm>
            <a:off x="640080" y="4251960"/>
            <a:ext cx="7863840" cy="365760"/>
          </a:xfrm>
          <a:prstGeom prst="rect">
            <a:avLst/>
          </a:prstGeom>
          <a:noFill/>
          <a:ln/>
        </p:spPr>
        <p:txBody>
          <a:bodyPr wrap="square" rtlCol="0" anchor="ctr"/>
          <a:lstStyle/>
          <a:p>
            <a:pPr marL="0" indent="0">
              <a:buNone/>
            </a:pPr>
            <a:r>
              <a:rPr lang="en-US" sz="950" i="1" dirty="0">
                <a:solidFill>
                  <a:srgbClr val="5C6B7C"/>
                </a:solidFill>
                <a:latin typeface="Arial" pitchFamily="34" charset="0"/>
                <a:ea typeface="Arial" pitchFamily="34" charset="-122"/>
                <a:cs typeface="Arial" pitchFamily="34" charset="-120"/>
              </a:rPr>
              <a:t>Nota: los planes y límites de uso cambian con el tiempo; revise las condiciones vigentes en claude.ai o support.claude.com antes del taller.</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DEL SIMULADOR · ¿QUÉ ES UN INDICADOR?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Jerarquías: Niveles de Intervención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645920"/>
            <a:ext cx="3849624" cy="2194560"/>
          </a:xfrm>
          <a:prstGeom prst="roundRect">
            <a:avLst>
              <a:gd name="adj" fmla="val 2500"/>
            </a:avLst>
          </a:prstGeom>
          <a:solidFill>
            <a:srgbClr val="EDF3F9"/>
          </a:solidFill>
          <a:ln/>
        </p:spPr>
      </p:sp>
      <p:sp>
        <p:nvSpPr>
          <p:cNvPr id="9" name="Shape 6"/>
          <p:cNvSpPr/>
          <p:nvPr/>
        </p:nvSpPr>
        <p:spPr>
          <a:xfrm>
            <a:off x="777240" y="1783080"/>
            <a:ext cx="365760" cy="365760"/>
          </a:xfrm>
          <a:prstGeom prst="ellipse">
            <a:avLst/>
          </a:prstGeom>
          <a:solidFill>
            <a:srgbClr val="FC6E01"/>
          </a:solidFill>
          <a:ln/>
        </p:spPr>
      </p:sp>
      <p:sp>
        <p:nvSpPr>
          <p:cNvPr id="10" name="Text 7"/>
          <p:cNvSpPr/>
          <p:nvPr/>
        </p:nvSpPr>
        <p:spPr>
          <a:xfrm>
            <a:off x="77724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212848"/>
            <a:ext cx="357530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Indicadores Estratégicos</a:t>
            </a:r>
            <a:endParaRPr lang="en-US" sz="1200" dirty="0"/>
          </a:p>
        </p:txBody>
      </p:sp>
      <p:sp>
        <p:nvSpPr>
          <p:cNvPr id="12" name="Text 9"/>
          <p:cNvSpPr/>
          <p:nvPr/>
        </p:nvSpPr>
        <p:spPr>
          <a:xfrm>
            <a:off x="777240" y="2560320"/>
            <a:ext cx="3575304" cy="11887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Miden los resultados finales e impactos: cambios en el bienestar de la población objetivo.</a:t>
            </a:r>
            <a:endParaRPr lang="en-US" sz="950" dirty="0"/>
          </a:p>
        </p:txBody>
      </p:sp>
      <p:sp>
        <p:nvSpPr>
          <p:cNvPr id="13" name="Shape 10"/>
          <p:cNvSpPr/>
          <p:nvPr/>
        </p:nvSpPr>
        <p:spPr>
          <a:xfrm>
            <a:off x="4654296" y="1645920"/>
            <a:ext cx="3849624" cy="2194560"/>
          </a:xfrm>
          <a:prstGeom prst="roundRect">
            <a:avLst>
              <a:gd name="adj" fmla="val 2500"/>
            </a:avLst>
          </a:prstGeom>
          <a:solidFill>
            <a:srgbClr val="EDF3F9"/>
          </a:solidFill>
          <a:ln/>
        </p:spPr>
      </p:sp>
      <p:sp>
        <p:nvSpPr>
          <p:cNvPr id="14" name="Shape 11"/>
          <p:cNvSpPr/>
          <p:nvPr/>
        </p:nvSpPr>
        <p:spPr>
          <a:xfrm>
            <a:off x="4791456" y="1783080"/>
            <a:ext cx="365760" cy="365760"/>
          </a:xfrm>
          <a:prstGeom prst="ellipse">
            <a:avLst/>
          </a:prstGeom>
          <a:solidFill>
            <a:srgbClr val="FC6E01"/>
          </a:solidFill>
          <a:ln/>
        </p:spPr>
      </p:sp>
      <p:sp>
        <p:nvSpPr>
          <p:cNvPr id="15" name="Text 12"/>
          <p:cNvSpPr/>
          <p:nvPr/>
        </p:nvSpPr>
        <p:spPr>
          <a:xfrm>
            <a:off x="4791456"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4791456" y="2212848"/>
            <a:ext cx="357530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Indicadores de Gestión / Operativos</a:t>
            </a:r>
            <a:endParaRPr lang="en-US" sz="1200" dirty="0"/>
          </a:p>
        </p:txBody>
      </p:sp>
      <p:sp>
        <p:nvSpPr>
          <p:cNvPr id="17" name="Text 14"/>
          <p:cNvSpPr/>
          <p:nvPr/>
        </p:nvSpPr>
        <p:spPr>
          <a:xfrm>
            <a:off x="4791456" y="2560320"/>
            <a:ext cx="3575304" cy="11887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Miden los procesos, actividades e insumos internos de la entidad — el día a día operativo.</a:t>
            </a:r>
            <a:endParaRPr lang="en-US" sz="950" dirty="0"/>
          </a:p>
        </p:txBody>
      </p:sp>
      <p:sp>
        <p:nvSpPr>
          <p:cNvPr id="18" name="Text 15"/>
          <p:cNvSpPr/>
          <p:nvPr/>
        </p:nvSpPr>
        <p:spPr>
          <a:xfrm>
            <a:off x="640080" y="3977640"/>
            <a:ext cx="7863840" cy="502920"/>
          </a:xfrm>
          <a:prstGeom prst="rect">
            <a:avLst/>
          </a:prstGeom>
          <a:noFill/>
          <a:ln/>
        </p:spPr>
        <p:txBody>
          <a:bodyPr wrap="square" rtlCol="0" anchor="ctr"/>
          <a:lstStyle/>
          <a:p>
            <a:pPr marL="0" indent="0">
              <a:buNone/>
            </a:pPr>
            <a:r>
              <a:rPr lang="en-US" sz="1000" i="1" dirty="0">
                <a:solidFill>
                  <a:srgbClr val="5C6B7C"/>
                </a:solidFill>
                <a:latin typeface="Arial" pitchFamily="34" charset="0"/>
                <a:ea typeface="Arial" pitchFamily="34" charset="-122"/>
                <a:cs typeface="Arial" pitchFamily="34" charset="-120"/>
              </a:rPr>
              <a:t>Un indicador es una representación cuantitativa o cualitativa que describe características o comportamientos de la realidad en el tiempo, comparada con metas o periodos anteriores (DANE/ESAP).</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2 · KIT DE PROMPTS</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Cómo Generar Prompts para Automatizar el Proceso</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Rol claro + insumo + instrucciones + criterio de calidad</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Anatomía de un Buen Prompt Técnico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Rol claro para el modelo — “Actúa como experto en indicadores de salud pública (metodologías DNP y MinSalud)”.</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Insumo concreto que se pega — la pregunta de gestión, el borrador de indicador o la batería completa.</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Instrucciones explícitas y numeradas — qué debe producir el modelo, paso a paso.</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Criterio de calidad para validar su respuesta — SMART, CREMAS, cadena de valor.</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Prompts 1 y 2</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820659"/>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280160"/>
            <a:ext cx="7863840" cy="274320"/>
          </a:xfrm>
          <a:prstGeom prst="rect">
            <a:avLst/>
          </a:prstGeom>
          <a:noFill/>
          <a:ln/>
        </p:spPr>
        <p:txBody>
          <a:bodyPr wrap="square" rtlCol="0" anchor="ctr"/>
          <a:lstStyle/>
          <a:p>
            <a:pPr marL="0" indent="0">
              <a:buNone/>
            </a:pPr>
            <a:r>
              <a:rPr lang="en-US" sz="950" i="1" dirty="0">
                <a:solidFill>
                  <a:srgbClr val="5C6B7C"/>
                </a:solidFill>
                <a:latin typeface="Arial" pitchFamily="34" charset="0"/>
                <a:ea typeface="Arial" pitchFamily="34" charset="-122"/>
                <a:cs typeface="Arial" pitchFamily="34" charset="-120"/>
              </a:rPr>
              <a:t>Nota: son 4 herramientas independientes para momentos distintos del método — no es obligatorio encadenarlas en orden.</a:t>
            </a:r>
            <a:endParaRPr lang="en-US" sz="950" dirty="0"/>
          </a:p>
        </p:txBody>
      </p:sp>
      <p:sp>
        <p:nvSpPr>
          <p:cNvPr id="9" name="Text 6"/>
          <p:cNvSpPr/>
          <p:nvPr/>
        </p:nvSpPr>
        <p:spPr>
          <a:xfrm>
            <a:off x="640080" y="16459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(Gemini)</a:t>
            </a:r>
            <a:endParaRPr lang="en-US" sz="1100" dirty="0"/>
          </a:p>
        </p:txBody>
      </p:sp>
      <p:sp>
        <p:nvSpPr>
          <p:cNvPr id="10" name="Shape 7"/>
          <p:cNvSpPr/>
          <p:nvPr/>
        </p:nvSpPr>
        <p:spPr>
          <a:xfrm>
            <a:off x="640080" y="1938528"/>
            <a:ext cx="7863840" cy="1097280"/>
          </a:xfrm>
          <a:prstGeom prst="roundRect">
            <a:avLst>
              <a:gd name="adj" fmla="val 3333"/>
            </a:avLst>
          </a:prstGeom>
          <a:solidFill>
            <a:srgbClr val="F5F5F5"/>
          </a:solidFill>
          <a:ln w="6350">
            <a:solidFill>
              <a:srgbClr val="C9C9C9"/>
            </a:solidFill>
            <a:prstDash val="solid"/>
          </a:ln>
        </p:spPr>
      </p:sp>
      <p:sp>
        <p:nvSpPr>
          <p:cNvPr id="11" name="Text 8"/>
          <p:cNvSpPr/>
          <p:nvPr/>
        </p:nvSpPr>
        <p:spPr>
          <a:xfrm>
            <a:off x="822960" y="2203704"/>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1 — Diagnóstico: “</a:t>
            </a:r>
            <a:r>
              <a:rPr lang="es-ES" sz="950" i="1" dirty="0">
                <a:solidFill>
                  <a:srgbClr val="2F3B4C"/>
                </a:solidFill>
                <a:latin typeface="Consolas" pitchFamily="34" charset="0"/>
                <a:ea typeface="Consolas" pitchFamily="34" charset="-122"/>
                <a:cs typeface="Consolas" pitchFamily="34" charset="-120"/>
              </a:rPr>
              <a:t>Actúa como experto en evaluación pública. Tengo esta pregunta de gestión: [pegar]. Evalúa si cumple los 4 componentes (población, atributo, ámbito, referente) e indica cuáles faltan. Luego, propón 3 opciones de reformulación.</a:t>
            </a:r>
            <a:r>
              <a:rPr lang="en-US" sz="950" i="1" dirty="0">
                <a:solidFill>
                  <a:srgbClr val="2F3B4C"/>
                </a:solidFill>
                <a:latin typeface="Consolas" pitchFamily="34" charset="0"/>
                <a:ea typeface="Consolas" pitchFamily="34" charset="-122"/>
                <a:cs typeface="Consolas" pitchFamily="34" charset="-120"/>
              </a:rPr>
              <a:t>”</a:t>
            </a:r>
            <a:endParaRPr lang="en-US" sz="950" dirty="0"/>
          </a:p>
        </p:txBody>
      </p:sp>
      <p:sp>
        <p:nvSpPr>
          <p:cNvPr id="12" name="Text 9"/>
          <p:cNvSpPr/>
          <p:nvPr/>
        </p:nvSpPr>
        <p:spPr>
          <a:xfrm>
            <a:off x="640080" y="306324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(Gemini)</a:t>
            </a:r>
            <a:endParaRPr lang="en-US" sz="1100" dirty="0"/>
          </a:p>
        </p:txBody>
      </p:sp>
      <p:sp>
        <p:nvSpPr>
          <p:cNvPr id="13" name="Shape 10"/>
          <p:cNvSpPr/>
          <p:nvPr/>
        </p:nvSpPr>
        <p:spPr>
          <a:xfrm>
            <a:off x="640080" y="3355848"/>
            <a:ext cx="7863840" cy="868680"/>
          </a:xfrm>
          <a:prstGeom prst="roundRect">
            <a:avLst>
              <a:gd name="adj" fmla="val 3333"/>
            </a:avLst>
          </a:prstGeom>
          <a:solidFill>
            <a:srgbClr val="F5F5F5"/>
          </a:solidFill>
          <a:ln w="6350">
            <a:solidFill>
              <a:srgbClr val="C9C9C9"/>
            </a:solidFill>
            <a:prstDash val="solid"/>
          </a:ln>
        </p:spPr>
      </p:sp>
      <p:sp>
        <p:nvSpPr>
          <p:cNvPr id="14" name="Text 11"/>
          <p:cNvSpPr/>
          <p:nvPr/>
        </p:nvSpPr>
        <p:spPr>
          <a:xfrm>
            <a:off x="822960" y="3447288"/>
            <a:ext cx="7498080" cy="677672"/>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2 — Generación de alternativas: “</a:t>
            </a:r>
            <a:r>
              <a:rPr lang="es-ES" sz="950" i="1" dirty="0">
                <a:solidFill>
                  <a:srgbClr val="2F3B4C"/>
                </a:solidFill>
                <a:latin typeface="Consolas" pitchFamily="34" charset="0"/>
                <a:ea typeface="Consolas" pitchFamily="34" charset="-122"/>
                <a:cs typeface="Consolas" pitchFamily="34" charset="-120"/>
              </a:rPr>
              <a:t>A partir de esta pregunta refinada: [pegar], realiza un indicador que cumpla los criterios CREMAS. Para cada uno incluye: eslabón de cadena de valor, nombre, fórmula, unidad de medida y fuente de información</a:t>
            </a:r>
            <a:r>
              <a:rPr lang="en-US" sz="950" i="1" dirty="0">
                <a:solidFill>
                  <a:srgbClr val="2F3B4C"/>
                </a:solidFill>
                <a:latin typeface="Consolas" pitchFamily="34" charset="0"/>
                <a:ea typeface="Consolas" pitchFamily="34" charset="-122"/>
                <a:cs typeface="Consolas" pitchFamily="34" charset="-120"/>
              </a:rPr>
              <a:t>.”</a:t>
            </a:r>
            <a:endParaRPr lang="en-US" sz="950" dirty="0"/>
          </a:p>
        </p:txBody>
      </p:sp>
      <p:sp>
        <p:nvSpPr>
          <p:cNvPr id="5" name="CuadroTexto 4">
            <a:extLst>
              <a:ext uri="{FF2B5EF4-FFF2-40B4-BE49-F238E27FC236}">
                <a16:creationId xmlns:a16="http://schemas.microsoft.com/office/drawing/2014/main" id="{B02D7472-6586-4E39-9CC4-FF8FEE6BE271}"/>
              </a:ext>
            </a:extLst>
          </p:cNvPr>
          <p:cNvSpPr txBox="1"/>
          <p:nvPr/>
        </p:nvSpPr>
        <p:spPr>
          <a:xfrm>
            <a:off x="640080" y="4262538"/>
            <a:ext cx="8046720" cy="384721"/>
          </a:xfrm>
          <a:prstGeom prst="rect">
            <a:avLst/>
          </a:prstGeom>
          <a:noFill/>
        </p:spPr>
        <p:txBody>
          <a:bodyPr wrap="square" rtlCol="0">
            <a:spAutoFit/>
          </a:bodyPr>
          <a:lstStyle/>
          <a:p>
            <a:r>
              <a:rPr lang="es-ES" sz="950" i="1" dirty="0">
                <a:solidFill>
                  <a:srgbClr val="2F3B4C"/>
                </a:solidFill>
                <a:latin typeface="Consolas" pitchFamily="34" charset="0"/>
              </a:rPr>
              <a:t>Nota: para la toma de decisiones en equipo se recomienda que en el </a:t>
            </a:r>
            <a:r>
              <a:rPr lang="es-ES" sz="950" i="1" dirty="0" err="1">
                <a:solidFill>
                  <a:srgbClr val="2F3B4C"/>
                </a:solidFill>
                <a:latin typeface="Consolas" pitchFamily="34" charset="0"/>
              </a:rPr>
              <a:t>prompt</a:t>
            </a:r>
            <a:r>
              <a:rPr lang="es-ES" sz="950" i="1" dirty="0">
                <a:solidFill>
                  <a:srgbClr val="2F3B4C"/>
                </a:solidFill>
                <a:latin typeface="Consolas" pitchFamily="34" charset="0"/>
              </a:rPr>
              <a:t> 2 se pida una generación de alternativas para definir el indicador que </a:t>
            </a:r>
            <a:r>
              <a:rPr lang="es-ES" sz="950" i="1" dirty="0" err="1">
                <a:solidFill>
                  <a:srgbClr val="2F3B4C"/>
                </a:solidFill>
                <a:latin typeface="Consolas" pitchFamily="34" charset="0"/>
              </a:rPr>
              <a:t>mmás</a:t>
            </a:r>
            <a:r>
              <a:rPr lang="es-ES" sz="950" i="1" dirty="0">
                <a:solidFill>
                  <a:srgbClr val="2F3B4C"/>
                </a:solidFill>
                <a:latin typeface="Consolas" pitchFamily="34" charset="0"/>
              </a:rPr>
              <a:t> se ajuste a la necesidad de análisis de gestión.</a:t>
            </a:r>
            <a:endParaRPr lang="es-CO"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Prompts 3 y 4</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124712"/>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(Gemini)</a:t>
            </a:r>
            <a:endParaRPr lang="en-US" sz="1100" dirty="0"/>
          </a:p>
        </p:txBody>
      </p:sp>
      <p:sp>
        <p:nvSpPr>
          <p:cNvPr id="9" name="Shape 6"/>
          <p:cNvSpPr/>
          <p:nvPr/>
        </p:nvSpPr>
        <p:spPr>
          <a:xfrm>
            <a:off x="640080" y="1399032"/>
            <a:ext cx="7863840" cy="1481328"/>
          </a:xfrm>
          <a:prstGeom prst="roundRect">
            <a:avLst>
              <a:gd name="adj" fmla="val 3333"/>
            </a:avLst>
          </a:prstGeom>
          <a:solidFill>
            <a:srgbClr val="F5F5F5"/>
          </a:solidFill>
          <a:ln w="6350">
            <a:solidFill>
              <a:srgbClr val="C9C9C9"/>
            </a:solidFill>
            <a:prstDash val="solid"/>
          </a:ln>
        </p:spPr>
      </p:sp>
      <p:sp>
        <p:nvSpPr>
          <p:cNvPr id="10" name="Text 7"/>
          <p:cNvSpPr/>
          <p:nvPr/>
        </p:nvSpPr>
        <p:spPr>
          <a:xfrm>
            <a:off x="822960" y="1574800"/>
            <a:ext cx="7498080" cy="1243584"/>
          </a:xfrm>
          <a:prstGeom prst="rect">
            <a:avLst/>
          </a:prstGeom>
          <a:noFill/>
          <a:ln/>
        </p:spPr>
        <p:txBody>
          <a:bodyPr wrap="square" rtlCol="0" anchor="t"/>
          <a:lstStyle/>
          <a:p>
            <a:pPr marL="0" indent="0">
              <a:buNone/>
            </a:pPr>
            <a:r>
              <a:rPr lang="es-ES" sz="950" i="1" dirty="0" err="1">
                <a:solidFill>
                  <a:srgbClr val="2F3B4C"/>
                </a:solidFill>
                <a:latin typeface="Consolas" pitchFamily="34" charset="0"/>
                <a:ea typeface="Consolas" pitchFamily="34" charset="-122"/>
                <a:cs typeface="Consolas" pitchFamily="34" charset="-120"/>
              </a:rPr>
              <a:t>Prompt</a:t>
            </a:r>
            <a:r>
              <a:rPr lang="es-ES" sz="950" i="1" dirty="0">
                <a:solidFill>
                  <a:srgbClr val="2F3B4C"/>
                </a:solidFill>
                <a:latin typeface="Consolas" pitchFamily="34" charset="0"/>
                <a:ea typeface="Consolas" pitchFamily="34" charset="-122"/>
                <a:cs typeface="Consolas" pitchFamily="34" charset="-120"/>
              </a:rPr>
              <a:t> 3 – ficha técnica: "Para este indicador seleccionado: [pegar indicador], completa la ficha técnica usando exactamente esta plantilla de 6 campos:</a:t>
            </a:r>
          </a:p>
          <a:p>
            <a:pPr marL="0" indent="0">
              <a:buNone/>
            </a:pPr>
            <a:endParaRPr lang="es-ES" sz="950" i="1" dirty="0">
              <a:solidFill>
                <a:srgbClr val="2F3B4C"/>
              </a:solidFill>
              <a:latin typeface="Consolas" pitchFamily="34" charset="0"/>
              <a:ea typeface="Consolas" pitchFamily="34" charset="-122"/>
              <a:cs typeface="Consolas" pitchFamily="34" charset="-120"/>
            </a:endParaRPr>
          </a:p>
          <a:p>
            <a:pPr marL="0" indent="0">
              <a:buNone/>
            </a:pPr>
            <a:r>
              <a:rPr lang="es-ES" sz="950" i="1" dirty="0">
                <a:solidFill>
                  <a:srgbClr val="2F3B4C"/>
                </a:solidFill>
                <a:latin typeface="Consolas" pitchFamily="34" charset="0"/>
                <a:ea typeface="Consolas" pitchFamily="34" charset="-122"/>
                <a:cs typeface="Consolas" pitchFamily="34" charset="-120"/>
              </a:rPr>
              <a:t>1. Pregunta de gestión 2. Nombre del indicador 3. Eslabón cadena de valor</a:t>
            </a:r>
            <a:br>
              <a:rPr lang="es-ES" sz="950" i="1" dirty="0">
                <a:solidFill>
                  <a:srgbClr val="2F3B4C"/>
                </a:solidFill>
                <a:latin typeface="Consolas" pitchFamily="34" charset="0"/>
                <a:ea typeface="Consolas" pitchFamily="34" charset="-122"/>
                <a:cs typeface="Consolas" pitchFamily="34" charset="-120"/>
              </a:rPr>
            </a:br>
            <a:r>
              <a:rPr lang="es-ES" sz="950" i="1" dirty="0">
                <a:solidFill>
                  <a:srgbClr val="2F3B4C"/>
                </a:solidFill>
                <a:latin typeface="Consolas" pitchFamily="34" charset="0"/>
                <a:ea typeface="Consolas" pitchFamily="34" charset="-122"/>
                <a:cs typeface="Consolas" pitchFamily="34" charset="-120"/>
              </a:rPr>
              <a:t>4. Fórmula de cálculo  5. Fuente de información 6. Línea base / Meta</a:t>
            </a:r>
          </a:p>
          <a:p>
            <a:pPr marL="0" indent="0">
              <a:buNone/>
            </a:pPr>
            <a:endParaRPr lang="es-ES" sz="950" i="1" dirty="0">
              <a:solidFill>
                <a:srgbClr val="2F3B4C"/>
              </a:solidFill>
              <a:latin typeface="Consolas" pitchFamily="34" charset="0"/>
              <a:ea typeface="Consolas" pitchFamily="34" charset="-122"/>
              <a:cs typeface="Consolas" pitchFamily="34" charset="-120"/>
            </a:endParaRPr>
          </a:p>
          <a:p>
            <a:pPr marL="0" indent="0">
              <a:buNone/>
            </a:pPr>
            <a:r>
              <a:rPr lang="es-ES" sz="950" i="1" dirty="0">
                <a:solidFill>
                  <a:srgbClr val="2F3B4C"/>
                </a:solidFill>
                <a:latin typeface="Consolas" pitchFamily="34" charset="0"/>
                <a:ea typeface="Consolas" pitchFamily="34" charset="-122"/>
                <a:cs typeface="Consolas" pitchFamily="34" charset="-120"/>
              </a:rPr>
              <a:t>Marca con la etiqueta [VERIFICAR EN ENTIDAD] los datos que requieran definición institucional (como valores numéricos de línea base y metas).”</a:t>
            </a:r>
            <a:endParaRPr lang="en-US" sz="950" dirty="0"/>
          </a:p>
        </p:txBody>
      </p:sp>
      <p:sp>
        <p:nvSpPr>
          <p:cNvPr id="11" name="Text 8"/>
          <p:cNvSpPr/>
          <p:nvPr/>
        </p:nvSpPr>
        <p:spPr>
          <a:xfrm>
            <a:off x="640080" y="297180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(Gemini)</a:t>
            </a:r>
            <a:endParaRPr lang="en-US" sz="1100" dirty="0"/>
          </a:p>
        </p:txBody>
      </p:sp>
      <p:sp>
        <p:nvSpPr>
          <p:cNvPr id="12" name="Shape 9"/>
          <p:cNvSpPr/>
          <p:nvPr/>
        </p:nvSpPr>
        <p:spPr>
          <a:xfrm>
            <a:off x="640080" y="3264408"/>
            <a:ext cx="7863840" cy="914400"/>
          </a:xfrm>
          <a:prstGeom prst="roundRect">
            <a:avLst>
              <a:gd name="adj" fmla="val 3333"/>
            </a:avLst>
          </a:prstGeom>
          <a:solidFill>
            <a:srgbClr val="F5F5F5"/>
          </a:solidFill>
          <a:ln w="6350">
            <a:solidFill>
              <a:srgbClr val="C9C9C9"/>
            </a:solidFill>
            <a:prstDash val="solid"/>
          </a:ln>
        </p:spPr>
      </p:sp>
      <p:sp>
        <p:nvSpPr>
          <p:cNvPr id="13" name="Text 10"/>
          <p:cNvSpPr/>
          <p:nvPr/>
        </p:nvSpPr>
        <p:spPr>
          <a:xfrm>
            <a:off x="822960" y="3438144"/>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4 — Auditoría de batería: “</a:t>
            </a:r>
            <a:r>
              <a:rPr lang="es-ES" sz="950" i="1" dirty="0" err="1">
                <a:solidFill>
                  <a:srgbClr val="2F3B4C"/>
                </a:solidFill>
                <a:latin typeface="Consolas" pitchFamily="34" charset="0"/>
                <a:ea typeface="Consolas" pitchFamily="34" charset="-122"/>
                <a:cs typeface="Consolas" pitchFamily="34" charset="-120"/>
              </a:rPr>
              <a:t>Prompt</a:t>
            </a:r>
            <a:r>
              <a:rPr lang="es-ES" sz="950" i="1" dirty="0">
                <a:solidFill>
                  <a:srgbClr val="2F3B4C"/>
                </a:solidFill>
                <a:latin typeface="Consolas" pitchFamily="34" charset="0"/>
                <a:ea typeface="Consolas" pitchFamily="34" charset="-122"/>
                <a:cs typeface="Consolas" pitchFamily="34" charset="-120"/>
              </a:rPr>
              <a:t> 4 – Auditoría individual: "Audita este indicador: [pegar]. Evalúa si es de producto disfrazado de resultado, señala posibles sesgos o incentivos perversos y propón la versión corregida</a:t>
            </a:r>
            <a:r>
              <a:rPr lang="en-US" sz="950" i="1" dirty="0">
                <a:solidFill>
                  <a:srgbClr val="2F3B4C"/>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Salvaguardas para no Perder Rigor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Verificación Humana</a:t>
            </a:r>
            <a:endParaRPr lang="en-US" sz="1200" dirty="0"/>
          </a:p>
        </p:txBody>
      </p:sp>
      <p:sp>
        <p:nvSpPr>
          <p:cNvPr id="12" name="Text 9"/>
          <p:cNvSpPr/>
          <p:nvPr/>
        </p:nvSpPr>
        <p:spPr>
          <a:xfrm>
            <a:off x="777240"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Ningún indicador se usa para decisiones sin revisión de un responsable técnico.</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Trazabilidad</a:t>
            </a:r>
            <a:endParaRPr lang="en-US" sz="1200" dirty="0"/>
          </a:p>
        </p:txBody>
      </p:sp>
      <p:sp>
        <p:nvSpPr>
          <p:cNvPr id="17" name="Text 14"/>
          <p:cNvSpPr/>
          <p:nvPr/>
        </p:nvSpPr>
        <p:spPr>
          <a:xfrm>
            <a:off x="2784348"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Toda cifra debe rastrearse a su fuente oficial; la IA apoya redacción, no es fuente de datos.</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Transparencia metodológica</a:t>
            </a:r>
            <a:endParaRPr lang="en-US" sz="1200" dirty="0"/>
          </a:p>
        </p:txBody>
      </p:sp>
      <p:sp>
        <p:nvSpPr>
          <p:cNvPr id="22" name="Text 19"/>
          <p:cNvSpPr/>
          <p:nvPr/>
        </p:nvSpPr>
        <p:spPr>
          <a:xfrm>
            <a:off x="4791456"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Si una </a:t>
            </a:r>
            <a:r>
              <a:rPr lang="en-US" sz="950" dirty="0" err="1">
                <a:solidFill>
                  <a:srgbClr val="5C6B7C"/>
                </a:solidFill>
                <a:latin typeface="Arial" pitchFamily="34" charset="0"/>
                <a:ea typeface="Arial" pitchFamily="34" charset="-122"/>
                <a:cs typeface="Arial" pitchFamily="34" charset="-120"/>
              </a:rPr>
              <a:t>ficha</a:t>
            </a:r>
            <a:r>
              <a:rPr lang="en-US" sz="950" dirty="0">
                <a:solidFill>
                  <a:srgbClr val="5C6B7C"/>
                </a:solidFill>
                <a:latin typeface="Arial" pitchFamily="34" charset="0"/>
                <a:ea typeface="Arial" pitchFamily="34" charset="-122"/>
                <a:cs typeface="Arial" pitchFamily="34" charset="-120"/>
              </a:rPr>
              <a:t> tuvo apoyo de IA, se deja constancia de ello.</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El equipo define el éxito</a:t>
            </a:r>
            <a:endParaRPr lang="en-US" sz="1200" dirty="0"/>
          </a:p>
        </p:txBody>
      </p:sp>
      <p:sp>
        <p:nvSpPr>
          <p:cNvPr id="27" name="Text 24"/>
          <p:cNvSpPr/>
          <p:nvPr/>
        </p:nvSpPr>
        <p:spPr>
          <a:xfrm>
            <a:off x="6798564"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Las metas se fijan con criterio técnico y político, nunca por sugerencia automática.</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Bases de Datos Públicas para Medir Indicadores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3008376"/>
        </p:xfrm>
        <a:graphic>
          <a:graphicData uri="http://schemas.openxmlformats.org/drawingml/2006/table">
            <a:tbl>
              <a:tblPr/>
              <a:tblGrid>
                <a:gridCol w="28346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429768">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Sistema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Qué aporta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GEIH / Censo (DANE)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Mercado laboral y demografía poblacional de referencia nacional.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TerriData (DNP)</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Indicadores territoriales comparables entre municipios y departamentos.</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RIPS – SISPRO (MinSalud)</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Registros de atención en salud, base de indicadores del sector.</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SIMAT (MinEducación)</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Matrículas y cobertura educativa por sede.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SIEDCO (Policía Nacional)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Cifras de criminalidad y seguridad ciudadana.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SECOP / Sinergia / FURAG (DNP–Función Pública)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Contratación pública, seguimiento a metas de inversión y desempeño institucional.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3 ·</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Taller </a:t>
            </a:r>
            <a:r>
              <a:rPr lang="en-US" sz="3000" b="1" dirty="0" err="1">
                <a:solidFill>
                  <a:srgbClr val="FFFFFF"/>
                </a:solidFill>
                <a:latin typeface="Arial" pitchFamily="34" charset="0"/>
                <a:ea typeface="Arial" pitchFamily="34" charset="-122"/>
                <a:cs typeface="Arial" pitchFamily="34" charset="-120"/>
              </a:rPr>
              <a:t>Práctico</a:t>
            </a:r>
            <a:endParaRPr lang="en-US" sz="30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Bloque 3 de 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TALLER PRÁCTICO EN VIVO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Un Caso Guía y Dos Ejercicios en Vivo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2377440"/>
          </a:xfrm>
          <a:prstGeom prst="roundRect">
            <a:avLst>
              <a:gd name="adj" fmla="val 1923"/>
            </a:avLst>
          </a:prstGeom>
          <a:solidFill>
            <a:srgbClr val="FFF6E5"/>
          </a:solidFill>
          <a:ln w="9525">
            <a:solidFill>
              <a:srgbClr val="FF9900"/>
            </a:solidFill>
            <a:prstDash val="solid"/>
          </a:ln>
        </p:spPr>
      </p:sp>
      <p:sp>
        <p:nvSpPr>
          <p:cNvPr id="9" name="Text 6"/>
          <p:cNvSpPr/>
          <p:nvPr/>
        </p:nvSpPr>
        <p:spPr>
          <a:xfrm>
            <a:off x="822960" y="1691640"/>
            <a:ext cx="7498080" cy="1920240"/>
          </a:xfrm>
          <a:prstGeom prst="rect">
            <a:avLst/>
          </a:prstGeom>
          <a:noFill/>
          <a:ln/>
        </p:spPr>
        <p:txBody>
          <a:bodyPr wrap="square" rtlCol="0" anchor="t"/>
          <a:lstStyle/>
          <a:p>
            <a:pPr marL="0" indent="0">
              <a:buNone/>
            </a:pPr>
            <a:r>
              <a:rPr lang="en-US" sz="1300" i="1" dirty="0">
                <a:solidFill>
                  <a:srgbClr val="2F3B4C"/>
                </a:solidFill>
                <a:latin typeface="Arial" pitchFamily="34" charset="0"/>
                <a:ea typeface="Arial" pitchFamily="34" charset="-122"/>
                <a:cs typeface="Arial" pitchFamily="34" charset="-120"/>
              </a:rPr>
              <a:t>El caso guía (Salud Materna Rural) se desarrolla en vivo dentro del Simulador, con la participación de todo el grupo. A continuación, el grupo realiza dos ejercicios en vivo con IA: reformular una pregunta de gestión con el Prompt 1, y construir o auditar una </a:t>
            </a:r>
            <a:r>
              <a:rPr lang="en-US" sz="1300" i="1" dirty="0" err="1">
                <a:solidFill>
                  <a:srgbClr val="2F3B4C"/>
                </a:solidFill>
                <a:latin typeface="Arial" pitchFamily="34" charset="0"/>
                <a:ea typeface="Arial" pitchFamily="34" charset="-122"/>
                <a:cs typeface="Arial" pitchFamily="34" charset="-120"/>
              </a:rPr>
              <a:t>ficha</a:t>
            </a:r>
            <a:r>
              <a:rPr lang="en-US" sz="1300" i="1" dirty="0">
                <a:solidFill>
                  <a:srgbClr val="2F3B4C"/>
                </a:solidFill>
                <a:latin typeface="Arial" pitchFamily="34" charset="0"/>
                <a:ea typeface="Arial" pitchFamily="34" charset="-122"/>
                <a:cs typeface="Arial" pitchFamily="34" charset="-120"/>
              </a:rPr>
              <a:t> técnica con los Prompts 3 o 4. Los 3 casos siguientes (Educación, Seguridad, Ambiente) quedan como banco de referencia y modelo para los ejercicios de casa.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1 DE 4 · SALUD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Salud Materna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salud?”</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Gestantes en zona rural dispersa y rural del municipio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Acceso a controles prenatales oportunos y completos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Municipio X, zona rural, año en curso vs.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Cobertura del año t-1 y meta del Plan de Desarrollo Municipal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“¿Estamos garantizando controles prenatales adecuados a las gestantes de las zonas rurales del municipio, y estamos mejorando frente al año anterior?”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1 DE 4 · SALUD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Salud Materna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386023327"/>
              </p:ext>
            </p:extLst>
          </p:nvPr>
        </p:nvGraphicFramePr>
        <p:xfrm>
          <a:off x="640080" y="1124712"/>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err="1">
                          <a:solidFill>
                            <a:srgbClr val="2F3B4C"/>
                          </a:solidFill>
                          <a:latin typeface="Arial" pitchFamily="34" charset="0"/>
                          <a:ea typeface="Arial" pitchFamily="34" charset="-122"/>
                          <a:cs typeface="Arial" pitchFamily="34" charset="-120"/>
                        </a:rPr>
                        <a:t>Resultado</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mide</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el</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cambio</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en</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el</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acceso</a:t>
                      </a:r>
                      <a:r>
                        <a:rPr lang="en-US" sz="950" dirty="0">
                          <a:solidFill>
                            <a:srgbClr val="2F3B4C"/>
                          </a:solidFill>
                          <a:latin typeface="Arial" pitchFamily="34" charset="0"/>
                          <a:ea typeface="Arial" pitchFamily="34" charset="-122"/>
                          <a:cs typeface="Arial" pitchFamily="34" charset="-120"/>
                        </a:rPr>
                        <a:t>/</a:t>
                      </a:r>
                      <a:r>
                        <a:rPr lang="en-US" sz="950" dirty="0" err="1">
                          <a:solidFill>
                            <a:srgbClr val="2F3B4C"/>
                          </a:solidFill>
                          <a:latin typeface="Arial" pitchFamily="34" charset="0"/>
                          <a:ea typeface="Arial" pitchFamily="34" charset="-122"/>
                          <a:cs typeface="Arial" pitchFamily="34" charset="-120"/>
                        </a:rPr>
                        <a:t>comportamiento</a:t>
                      </a:r>
                      <a:r>
                        <a:rPr lang="en-US" sz="950" dirty="0">
                          <a:solidFill>
                            <a:srgbClr val="2F3B4C"/>
                          </a:solidFill>
                          <a:latin typeface="Arial" pitchFamily="34" charset="0"/>
                          <a:ea typeface="Arial" pitchFamily="34" charset="-122"/>
                          <a:cs typeface="Arial" pitchFamily="34" charset="-120"/>
                        </a:rPr>
                        <a:t>, no solo </a:t>
                      </a:r>
                      <a:r>
                        <a:rPr lang="en-US" sz="950" dirty="0" err="1">
                          <a:solidFill>
                            <a:srgbClr val="2F3B4C"/>
                          </a:solidFill>
                          <a:latin typeface="Arial" pitchFamily="34" charset="0"/>
                          <a:ea typeface="Arial" pitchFamily="34" charset="-122"/>
                          <a:cs typeface="Arial" pitchFamily="34" charset="-120"/>
                        </a:rPr>
                        <a:t>el</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producto</a:t>
                      </a:r>
                      <a:r>
                        <a:rPr lang="en-US" sz="950" dirty="0">
                          <a:solidFill>
                            <a:srgbClr val="2F3B4C"/>
                          </a:solidFill>
                          <a:latin typeface="Arial" pitchFamily="34" charset="0"/>
                          <a:ea typeface="Arial" pitchFamily="34" charset="-122"/>
                          <a:cs typeface="Arial" pitchFamily="34" charset="-120"/>
                        </a:rPr>
                        <a:t> </a:t>
                      </a:r>
                      <a:r>
                        <a:rPr lang="en-US" sz="950" dirty="0" err="1">
                          <a:solidFill>
                            <a:srgbClr val="2F3B4C"/>
                          </a:solidFill>
                          <a:latin typeface="Arial" pitchFamily="34" charset="0"/>
                          <a:ea typeface="Arial" pitchFamily="34" charset="-122"/>
                          <a:cs typeface="Arial" pitchFamily="34" charset="-120"/>
                        </a:rPr>
                        <a:t>entregado</a:t>
                      </a:r>
                      <a:r>
                        <a:rPr lang="en-US" sz="950" dirty="0">
                          <a:solidFill>
                            <a:srgbClr val="2F3B4C"/>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 de gestantes rurales con 4 o más controles prenatales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gestantes rurales con ≥4 controles / N.º total gestantes rurales con parto) × 100, año t vs. t-1</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RIPS – SISPRO (MinSalud); historia clínica materno-perinatal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06324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 </a:t>
            </a:r>
            <a:r>
              <a:rPr lang="en-US" sz="1100" b="1" dirty="0" err="1">
                <a:solidFill>
                  <a:srgbClr val="173F72"/>
                </a:solidFill>
                <a:latin typeface="Arial" pitchFamily="34" charset="0"/>
                <a:ea typeface="Arial" pitchFamily="34" charset="-122"/>
                <a:cs typeface="Arial" pitchFamily="34" charset="-120"/>
              </a:rPr>
              <a:t>Diagnóstico</a:t>
            </a:r>
            <a:r>
              <a:rPr lang="en-US" sz="1100" b="1" dirty="0">
                <a:solidFill>
                  <a:srgbClr val="173F72"/>
                </a:solidFill>
                <a:latin typeface="Arial" pitchFamily="34" charset="0"/>
                <a:ea typeface="Arial" pitchFamily="34" charset="-122"/>
                <a:cs typeface="Arial" pitchFamily="34" charset="-120"/>
              </a:rPr>
              <a:t> - </a:t>
            </a:r>
            <a:r>
              <a:rPr lang="en-US" sz="1100" b="1" dirty="0" err="1">
                <a:solidFill>
                  <a:srgbClr val="173F72"/>
                </a:solidFill>
                <a:latin typeface="Arial" pitchFamily="34" charset="0"/>
                <a:ea typeface="Arial" pitchFamily="34" charset="-122"/>
                <a:cs typeface="Arial" pitchFamily="34" charset="-120"/>
              </a:rPr>
              <a:t>sugerido</a:t>
            </a:r>
            <a:r>
              <a:rPr lang="en-US" sz="1100" b="1" dirty="0">
                <a:solidFill>
                  <a:srgbClr val="173F72"/>
                </a:solidFill>
                <a:latin typeface="Arial" pitchFamily="34" charset="0"/>
                <a:ea typeface="Arial" pitchFamily="34" charset="-122"/>
                <a:cs typeface="Arial" pitchFamily="34" charset="-120"/>
              </a:rPr>
              <a:t> para IA</a:t>
            </a:r>
            <a:endParaRPr lang="en-US" sz="1100" dirty="0"/>
          </a:p>
        </p:txBody>
      </p:sp>
      <p:sp>
        <p:nvSpPr>
          <p:cNvPr id="10" name="Shape 6"/>
          <p:cNvSpPr/>
          <p:nvPr/>
        </p:nvSpPr>
        <p:spPr>
          <a:xfrm>
            <a:off x="640080" y="3397504"/>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561080"/>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Actúa como experto en indicadores de salud pública (DNP, MinSalud). A partir de esta pregunta refinada: '¿Estamos garantizando controles prenatales a gestantes rurales, y mejorando frente al año anterior?', propón el indicador completo aplicando CREMAS. Responde en tabla de dos columnas ('Campo' y 'Contenido esperado'): 1. Eslabón de la cadena de valor, 2. Nombre del indicador, 3. Fórmula de cálculo, 4. Fuente de información.</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2 DE 4 · EDUCACIÓN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Deserción Escolar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133856"/>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educación?”</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2891211226"/>
              </p:ext>
            </p:extLst>
          </p:nvPr>
        </p:nvGraphicFramePr>
        <p:xfrm>
          <a:off x="640080" y="1591056"/>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Estudiantes matriculados en sedes educativas rurales oficiales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Retención escolar intra-anual (evitar abandono antes de finalizar el año)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Sedes rurales del municipio/provincia, año lectivo en curso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Meta del plan de desarrollo vigente sobre tasa de deserción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“¿Estamos reteniendo a los estudiantes de las sedes rurales durante el año escolar, frente a la meta del plan de desarrollo?”</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2 DE 4 · EDUCACIÓN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Deserción Escolar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7" name="Table 0"/>
          <p:cNvGraphicFramePr>
            <a:graphicFrameLocks noGrp="1"/>
          </p:cNvGraphicFramePr>
          <p:nvPr>
            <p:extLst>
              <p:ext uri="{D42A27DB-BD31-4B8C-83A1-F6EECF244321}">
                <p14:modId xmlns:p14="http://schemas.microsoft.com/office/powerpoint/2010/main" val="2377622389"/>
              </p:ext>
            </p:extLst>
          </p:nvPr>
        </p:nvGraphicFramePr>
        <p:xfrm>
          <a:off x="640080" y="1115568"/>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(mide el comportamiento de permanencia de la población beneficiaria)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Tasa de deserción escolar intra-anual en sedes educativas rurales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estudiantes que abandonan durante el año / N.º matriculados al inicio del año)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Sistema Integrado de Matrícula (SIMAT) y Secretaría de Educación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115564"/>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 Ficha Técnica - </a:t>
            </a:r>
            <a:r>
              <a:rPr lang="en-US" sz="1100" b="1" dirty="0" err="1">
                <a:solidFill>
                  <a:srgbClr val="173F72"/>
                </a:solidFill>
                <a:latin typeface="Arial" pitchFamily="34" charset="0"/>
                <a:ea typeface="Arial" pitchFamily="34" charset="-122"/>
                <a:cs typeface="Arial" pitchFamily="34" charset="-120"/>
              </a:rPr>
              <a:t>sugerido</a:t>
            </a:r>
            <a:r>
              <a:rPr lang="en-US" sz="1100" b="1" dirty="0">
                <a:solidFill>
                  <a:srgbClr val="173F72"/>
                </a:solidFill>
                <a:latin typeface="Arial" pitchFamily="34" charset="0"/>
                <a:ea typeface="Arial" pitchFamily="34" charset="-122"/>
                <a:cs typeface="Arial" pitchFamily="34" charset="-120"/>
              </a:rPr>
              <a:t> para IA</a:t>
            </a:r>
            <a:endParaRPr lang="en-US" sz="1100" dirty="0"/>
          </a:p>
        </p:txBody>
      </p:sp>
      <p:sp>
        <p:nvSpPr>
          <p:cNvPr id="10" name="Shape 6"/>
          <p:cNvSpPr/>
          <p:nvPr/>
        </p:nvSpPr>
        <p:spPr>
          <a:xfrm>
            <a:off x="640080" y="3389884"/>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574542"/>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Revisa este borrador de indicador de educación rural — Nombre: 'Tasa de abandono de alumnos rurales' — reformúlalo según estándares SIMAT, confirma si es de tipo reducción y responde en tabla de dos columnas ('Campo' y 'Contenido esperado'): 1. Eslabón de la cadena de valor, 2. Nombre del indicador, 3. Fórmula de cálculo, 4. Fuente de información. Añade, fuera de la tabla, una alerta sobre incentivos perversos (p. ej. subreporte de retiros).</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3 DE 4 · SEGURIDAD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Hurto a Personas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seguridad?”</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Habitantes del casco urbano del municipio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Incidencia de hurto a personas ajustada por densidad poblacional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Casco urbano, trimestre actual vs. mismo trimestre del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Tasa del mismo trimestre del año t-1</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“¿Está disminuyendo el hurto a personas en el último trimestre, frente al mismo periodo del año anterior?”</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3 DE 4 · SEGURIDAD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Hurto a Personas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812284"/>
            <a:ext cx="9144000" cy="469087"/>
          </a:xfrm>
          <a:prstGeom prst="rect">
            <a:avLst/>
          </a:prstGeom>
        </p:spPr>
      </p:pic>
      <p:sp>
        <p:nvSpPr>
          <p:cNvPr id="7" name="Text 4"/>
          <p:cNvSpPr/>
          <p:nvPr/>
        </p:nvSpPr>
        <p:spPr>
          <a:xfrm>
            <a:off x="365760" y="483920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9" name="Table 0"/>
          <p:cNvGraphicFramePr>
            <a:graphicFrameLocks noGrp="1"/>
          </p:cNvGraphicFramePr>
          <p:nvPr>
            <p:extLst>
              <p:ext uri="{D42A27DB-BD31-4B8C-83A1-F6EECF244321}">
                <p14:modId xmlns:p14="http://schemas.microsoft.com/office/powerpoint/2010/main" val="1121391668"/>
              </p:ext>
            </p:extLst>
          </p:nvPr>
        </p:nvGraphicFramePr>
        <p:xfrm>
          <a:off x="640080" y="1130656"/>
          <a:ext cx="7863840" cy="1910207"/>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err="1">
                          <a:solidFill>
                            <a:srgbClr val="2F3B4C"/>
                          </a:solidFill>
                          <a:latin typeface="Arial" pitchFamily="34" charset="0"/>
                          <a:ea typeface="Arial" pitchFamily="34" charset="-122"/>
                          <a:cs typeface="Arial" pitchFamily="34" charset="-120"/>
                        </a:rPr>
                        <a:t>Impacto</a:t>
                      </a:r>
                      <a:r>
                        <a:rPr lang="en-US" sz="950" dirty="0">
                          <a:solidFill>
                            <a:srgbClr val="2F3B4C"/>
                          </a:solidFill>
                          <a:latin typeface="Arial" pitchFamily="34" charset="0"/>
                          <a:ea typeface="Arial" pitchFamily="34" charset="-122"/>
                          <a:cs typeface="Arial" pitchFamily="34" charset="-120"/>
                        </a:rPr>
                        <a:t> (mide la incidencia del delito, no solo la actividad policial)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Variación porcentual de la tasa de hurto a personas por cada 10.000 habitantes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lnSpc>
                          <a:spcPct val="150000"/>
                        </a:lnSpc>
                        <a:buNone/>
                      </a:pPr>
                      <a:r>
                        <a:rPr lang="en-US" sz="950" dirty="0">
                          <a:solidFill>
                            <a:srgbClr val="2F3B4C"/>
                          </a:solidFill>
                          <a:latin typeface="Arial" pitchFamily="34" charset="0"/>
                          <a:ea typeface="Arial" pitchFamily="34" charset="-122"/>
                          <a:cs typeface="Arial" pitchFamily="34" charset="-120"/>
                        </a:rPr>
                        <a:t>Tasa = (</a:t>
                      </a:r>
                      <a:r>
                        <a:rPr lang="en-US" sz="950" dirty="0" err="1">
                          <a:solidFill>
                            <a:srgbClr val="2F3B4C"/>
                          </a:solidFill>
                          <a:latin typeface="Arial" pitchFamily="34" charset="0"/>
                          <a:ea typeface="Arial" pitchFamily="34" charset="-122"/>
                          <a:cs typeface="Arial" pitchFamily="34" charset="-120"/>
                        </a:rPr>
                        <a:t>denuncias</a:t>
                      </a:r>
                      <a:r>
                        <a:rPr lang="en-US" sz="950" dirty="0">
                          <a:solidFill>
                            <a:srgbClr val="2F3B4C"/>
                          </a:solidFill>
                          <a:latin typeface="Arial" pitchFamily="34" charset="0"/>
                          <a:ea typeface="Arial" pitchFamily="34" charset="-122"/>
                          <a:cs typeface="Arial" pitchFamily="34" charset="-120"/>
                        </a:rPr>
                        <a:t> / población DANE) × 10.000</a:t>
                      </a:r>
                      <a:br>
                        <a:rPr lang="en-US" sz="950" dirty="0">
                          <a:solidFill>
                            <a:srgbClr val="2F3B4C"/>
                          </a:solidFill>
                          <a:latin typeface="Arial" pitchFamily="34" charset="0"/>
                          <a:ea typeface="Arial" pitchFamily="34" charset="-122"/>
                          <a:cs typeface="Arial" pitchFamily="34" charset="-120"/>
                        </a:rPr>
                      </a:br>
                      <a:r>
                        <a:rPr lang="en-US" sz="950" dirty="0" err="1">
                          <a:solidFill>
                            <a:srgbClr val="2F3B4C"/>
                          </a:solidFill>
                          <a:latin typeface="Arial" pitchFamily="34" charset="0"/>
                          <a:ea typeface="Arial" pitchFamily="34" charset="-122"/>
                          <a:cs typeface="Arial" pitchFamily="34" charset="-120"/>
                        </a:rPr>
                        <a:t>Variación</a:t>
                      </a:r>
                      <a:r>
                        <a:rPr lang="en-US" sz="950" dirty="0">
                          <a:solidFill>
                            <a:srgbClr val="2F3B4C"/>
                          </a:solidFill>
                          <a:latin typeface="Arial" pitchFamily="34" charset="0"/>
                          <a:ea typeface="Arial" pitchFamily="34" charset="-122"/>
                          <a:cs typeface="Arial" pitchFamily="34" charset="-120"/>
                        </a:rPr>
                        <a:t> % = ((Tasa t actual − Tasa t-1) / Tasa t-1) × 100 </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SIEDCO — Policía Nacional (o equivalente local)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06324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 </a:t>
            </a:r>
            <a:r>
              <a:rPr lang="en-US" sz="1100" b="1" dirty="0" err="1">
                <a:solidFill>
                  <a:srgbClr val="173F72"/>
                </a:solidFill>
                <a:latin typeface="Arial" pitchFamily="34" charset="0"/>
                <a:ea typeface="Arial" pitchFamily="34" charset="-122"/>
                <a:cs typeface="Arial" pitchFamily="34" charset="-120"/>
              </a:rPr>
              <a:t>Generación</a:t>
            </a:r>
            <a:r>
              <a:rPr lang="en-US" sz="1100" b="1" dirty="0">
                <a:solidFill>
                  <a:srgbClr val="173F72"/>
                </a:solidFill>
                <a:latin typeface="Arial" pitchFamily="34" charset="0"/>
                <a:ea typeface="Arial" pitchFamily="34" charset="-122"/>
                <a:cs typeface="Arial" pitchFamily="34" charset="-120"/>
              </a:rPr>
              <a:t> de </a:t>
            </a:r>
            <a:r>
              <a:rPr lang="en-US" sz="1100" b="1" dirty="0" err="1">
                <a:solidFill>
                  <a:srgbClr val="173F72"/>
                </a:solidFill>
                <a:latin typeface="Arial" pitchFamily="34" charset="0"/>
                <a:ea typeface="Arial" pitchFamily="34" charset="-122"/>
                <a:cs typeface="Arial" pitchFamily="34" charset="-120"/>
              </a:rPr>
              <a:t>alternativa</a:t>
            </a:r>
            <a:r>
              <a:rPr lang="en-US" sz="1100" b="1" dirty="0">
                <a:solidFill>
                  <a:srgbClr val="173F72"/>
                </a:solidFill>
                <a:latin typeface="Arial" pitchFamily="34" charset="0"/>
                <a:ea typeface="Arial" pitchFamily="34" charset="-122"/>
                <a:cs typeface="Arial" pitchFamily="34" charset="-120"/>
              </a:rPr>
              <a:t> - sugerido para IA </a:t>
            </a:r>
            <a:endParaRPr lang="en-US" sz="1100" dirty="0"/>
          </a:p>
        </p:txBody>
      </p:sp>
      <p:sp>
        <p:nvSpPr>
          <p:cNvPr id="10" name="Shape 6"/>
          <p:cNvSpPr/>
          <p:nvPr/>
        </p:nvSpPr>
        <p:spPr>
          <a:xfrm>
            <a:off x="640080" y="3346704"/>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477920"/>
            <a:ext cx="7498080" cy="914400"/>
          </a:xfrm>
          <a:prstGeom prst="rect">
            <a:avLst/>
          </a:prstGeom>
          <a:noFill/>
          <a:ln/>
        </p:spPr>
        <p:txBody>
          <a:bodyPr wrap="square" rtlCol="0" anchor="t"/>
          <a:lstStyle/>
          <a:p>
            <a:pPr marL="0" indent="0">
              <a:buNone/>
            </a:pPr>
            <a:r>
              <a:rPr lang="es-ES" sz="950" i="1" dirty="0">
                <a:solidFill>
                  <a:srgbClr val="2F3B4C"/>
                </a:solidFill>
                <a:latin typeface="Consolas" pitchFamily="34" charset="0"/>
                <a:ea typeface="Consolas" pitchFamily="34" charset="-122"/>
                <a:cs typeface="Consolas" pitchFamily="34" charset="-120"/>
              </a:rPr>
              <a:t>Analiza esta propuesta de indicador de seguridad — Nombre: 'Disminución de robos en la ciudad'; Fórmula: hurtos este año − hurtos año pasado. Propón únicamente la mejor opción de indicador de resultado/impacto estandarizado (ej. variación % de tasa por cada 10.000 hab.), detallando eslabón, nombre, fórmula y fuente. Añade fuera de la respuesta una alerta sobre la 'cifra negra' de denuncias</a:t>
            </a:r>
            <a:r>
              <a:rPr lang="en-US" sz="950" i="1" dirty="0">
                <a:solidFill>
                  <a:srgbClr val="2F3B4C"/>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4 DE 4 · AMBIENTE</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Reforestación Efectiva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el medio ambiente?”</a:t>
            </a:r>
            <a:endParaRPr lang="en-US" sz="1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Hectáreas comprometidas en el plan de reforestación regional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Sobrevivencia vegetativa de lo sembrado, no solo la siembra inicial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Cuencas hidrográficas de la jurisdicción, verificación a los 12 meses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Total de hectáreas comprometidas y programadas en el plan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“¿Las hectáreas comprometidas en el plan de reforestación realmente sobreviven, frente a lo programado?”</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4 DE 4 · AMBIENTE</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Reforestación Efectiva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61" name="Table 0"/>
          <p:cNvGraphicFramePr>
            <a:graphicFrameLocks noGrp="1"/>
          </p:cNvGraphicFramePr>
          <p:nvPr>
            <p:extLst>
              <p:ext uri="{D42A27DB-BD31-4B8C-83A1-F6EECF244321}">
                <p14:modId xmlns:p14="http://schemas.microsoft.com/office/powerpoint/2010/main" val="3627934149"/>
              </p:ext>
            </p:extLst>
          </p:nvPr>
        </p:nvGraphicFramePr>
        <p:xfrm>
          <a:off x="640080" y="1104900"/>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(la siembra es producto; la sobrevivencia a 12 meses es el cambio efectivo logrado)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 de hectáreas reforestadas con sobrevivencia mayor al 80% a los 12 meses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hectáreas con sobrevivencia &gt;80% verificada / N.º total hectáreas comprometidas)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Visitas de verificación en campo, imágenes satelitales, autoridad ambiental regional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096768"/>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 Auditoria de </a:t>
            </a:r>
            <a:r>
              <a:rPr lang="en-US" sz="1100" b="1" dirty="0" err="1">
                <a:solidFill>
                  <a:srgbClr val="173F72"/>
                </a:solidFill>
                <a:latin typeface="Arial" pitchFamily="34" charset="0"/>
                <a:ea typeface="Arial" pitchFamily="34" charset="-122"/>
                <a:cs typeface="Arial" pitchFamily="34" charset="-120"/>
              </a:rPr>
              <a:t>batería</a:t>
            </a:r>
            <a:r>
              <a:rPr lang="en-US" sz="1100" b="1" dirty="0">
                <a:solidFill>
                  <a:srgbClr val="173F72"/>
                </a:solidFill>
                <a:latin typeface="Arial" pitchFamily="34" charset="0"/>
                <a:ea typeface="Arial" pitchFamily="34" charset="-122"/>
                <a:cs typeface="Arial" pitchFamily="34" charset="-120"/>
              </a:rPr>
              <a:t> - sugerido para IA </a:t>
            </a:r>
            <a:endParaRPr lang="en-US" sz="1100" dirty="0"/>
          </a:p>
        </p:txBody>
      </p:sp>
      <p:sp>
        <p:nvSpPr>
          <p:cNvPr id="10" name="Shape 6"/>
          <p:cNvSpPr/>
          <p:nvPr/>
        </p:nvSpPr>
        <p:spPr>
          <a:xfrm>
            <a:off x="640080" y="3371088"/>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462528"/>
            <a:ext cx="7498080" cy="914400"/>
          </a:xfrm>
          <a:prstGeom prst="rect">
            <a:avLst/>
          </a:prstGeom>
          <a:noFill/>
          <a:ln/>
        </p:spPr>
        <p:txBody>
          <a:bodyPr wrap="square" rtlCol="0" anchor="t"/>
          <a:lstStyle/>
          <a:p>
            <a:pPr marL="0" indent="0">
              <a:buNone/>
            </a:pPr>
            <a:r>
              <a:rPr lang="es-ES" sz="950" i="1" dirty="0">
                <a:solidFill>
                  <a:srgbClr val="2F3B4C"/>
                </a:solidFill>
                <a:latin typeface="Consolas" pitchFamily="34" charset="0"/>
                <a:ea typeface="Consolas" pitchFamily="34" charset="-122"/>
                <a:cs typeface="Consolas" pitchFamily="34" charset="-120"/>
              </a:rPr>
              <a:t>Identifica por qué medir únicamente 'número de árboles sembrados' es un indicador de producto y no de resultado. Con base en esto, presenta la respuesta en una tabla de dos columnas ('Campo' y 'Contenido esperado') que incluya exactamente: 1. Eslabón de la cadena de valor, 2. Nombre del indicador (expresado en % de hectáreas con sobrevivencia &gt;80%), 3. Fórmula de cálculo y 4. Fuente de información (combinando campo y satélite).</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EN VIVO 1 DE 2 · PROMPT 1</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Reformule una Pregunta de Gestión con IA</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pregunta vaga recibida de un directivo, distinta a los casos </a:t>
            </a:r>
            <a:r>
              <a:rPr lang="en-US" sz="1050" dirty="0" err="1">
                <a:solidFill>
                  <a:srgbClr val="2F3B4C"/>
                </a:solidFill>
                <a:latin typeface="Arial" pitchFamily="34" charset="0"/>
                <a:ea typeface="Arial" pitchFamily="34" charset="-122"/>
                <a:cs typeface="Arial" pitchFamily="34" charset="-120"/>
              </a:rPr>
              <a:t>guía</a:t>
            </a:r>
            <a:r>
              <a:rPr lang="en-US" sz="1050" dirty="0">
                <a:solidFill>
                  <a:srgbClr val="2F3B4C"/>
                </a:solidFill>
                <a:latin typeface="Arial" pitchFamily="34" charset="0"/>
                <a:ea typeface="Arial" pitchFamily="34" charset="-122"/>
                <a:cs typeface="Arial" pitchFamily="34" charset="-120"/>
              </a:rPr>
              <a:t> dados.</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“¿Los programas de vivienda rural sí le están sirviendo a la gente?”</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Ejecute el Prompt 1 </a:t>
            </a:r>
            <a:r>
              <a:rPr lang="en-US" sz="1100" dirty="0" err="1">
                <a:solidFill>
                  <a:srgbClr val="2F3B4C"/>
                </a:solidFill>
                <a:latin typeface="Arial" pitchFamily="34" charset="0"/>
                <a:ea typeface="Arial" pitchFamily="34" charset="-122"/>
                <a:cs typeface="Arial" pitchFamily="34" charset="-120"/>
              </a:rPr>
              <a:t>en</a:t>
            </a:r>
            <a:r>
              <a:rPr lang="en-US" sz="1100" dirty="0">
                <a:solidFill>
                  <a:srgbClr val="2F3B4C"/>
                </a:solidFill>
                <a:latin typeface="Arial" pitchFamily="34" charset="0"/>
                <a:ea typeface="Arial" pitchFamily="34" charset="-122"/>
                <a:cs typeface="Arial" pitchFamily="34" charset="-120"/>
              </a:rPr>
              <a:t> Gemini para diagnosticar los 4 componentes de la pregunta.</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Identifique con el equipo cuál(es) componente(s) señala la IA como faltantes y complételos.</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Escriba la pregunta de gestión refinada resultante y compárela con la de otro grupo.</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RESUELTO· PROMPT 1</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Reformule una Pregunta de Gestión con IA</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777740"/>
            <a:ext cx="9144000" cy="363931"/>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9" name="Text 6"/>
          <p:cNvSpPr/>
          <p:nvPr/>
        </p:nvSpPr>
        <p:spPr>
          <a:xfrm>
            <a:off x="640080" y="1168192"/>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“¿Los programas de vivienda rural sí le están sirviendo a la gente?”</a:t>
            </a:r>
            <a:endParaRPr lang="en-US" sz="1150" dirty="0"/>
          </a:p>
        </p:txBody>
      </p:sp>
      <p:sp>
        <p:nvSpPr>
          <p:cNvPr id="10" name="Text 7"/>
          <p:cNvSpPr/>
          <p:nvPr/>
        </p:nvSpPr>
        <p:spPr>
          <a:xfrm>
            <a:off x="640080" y="1500424"/>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873760" y="1806102"/>
            <a:ext cx="7863840" cy="845819"/>
          </a:xfrm>
          <a:prstGeom prst="rect">
            <a:avLst/>
          </a:prstGeom>
          <a:noFill/>
          <a:ln/>
        </p:spPr>
        <p:txBody>
          <a:bodyPr wrap="square" rtlCol="0" anchor="t"/>
          <a:lstStyle/>
          <a:p>
            <a:pPr marL="177800" indent="-177800">
              <a:spcAft>
                <a:spcPts val="1000"/>
              </a:spcAft>
              <a:buSzPct val="100000"/>
              <a:buChar char="•"/>
            </a:pPr>
            <a:r>
              <a:rPr lang="en-US" sz="1000" dirty="0">
                <a:solidFill>
                  <a:srgbClr val="2F3B4C"/>
                </a:solidFill>
                <a:latin typeface="Arial" pitchFamily="34" charset="0"/>
                <a:ea typeface="Arial" pitchFamily="34" charset="-122"/>
                <a:cs typeface="Arial" pitchFamily="34" charset="-120"/>
              </a:rPr>
              <a:t>Ejecute el Prompt 1 </a:t>
            </a:r>
            <a:r>
              <a:rPr lang="en-US" sz="1000" dirty="0" err="1">
                <a:solidFill>
                  <a:srgbClr val="2F3B4C"/>
                </a:solidFill>
                <a:latin typeface="Arial" pitchFamily="34" charset="0"/>
                <a:ea typeface="Arial" pitchFamily="34" charset="-122"/>
                <a:cs typeface="Arial" pitchFamily="34" charset="-120"/>
              </a:rPr>
              <a:t>en</a:t>
            </a:r>
            <a:r>
              <a:rPr lang="en-US" sz="1000" dirty="0">
                <a:solidFill>
                  <a:srgbClr val="2F3B4C"/>
                </a:solidFill>
                <a:latin typeface="Arial" pitchFamily="34" charset="0"/>
                <a:ea typeface="Arial" pitchFamily="34" charset="-122"/>
                <a:cs typeface="Arial" pitchFamily="34" charset="-120"/>
              </a:rPr>
              <a:t> Gemini para diagnosticar los 4 componentes de la pregunta.</a:t>
            </a:r>
            <a:endParaRPr lang="en-US" sz="1000" dirty="0"/>
          </a:p>
          <a:p>
            <a:pPr marL="177800" indent="-177800">
              <a:spcAft>
                <a:spcPts val="1000"/>
              </a:spcAft>
              <a:buSzPct val="100000"/>
              <a:buChar char="•"/>
            </a:pPr>
            <a:r>
              <a:rPr lang="en-US" sz="1000" dirty="0">
                <a:solidFill>
                  <a:srgbClr val="2F3B4C"/>
                </a:solidFill>
                <a:latin typeface="Arial" pitchFamily="34" charset="0"/>
                <a:ea typeface="Arial" pitchFamily="34" charset="-122"/>
                <a:cs typeface="Arial" pitchFamily="34" charset="-120"/>
              </a:rPr>
              <a:t>Identifique con el equipo cuál(es) componente(s) señala la IA como faltantes y complételos.</a:t>
            </a:r>
            <a:endParaRPr lang="en-US" sz="1000" dirty="0"/>
          </a:p>
          <a:p>
            <a:pPr marL="177800" indent="-177800">
              <a:spcAft>
                <a:spcPts val="1000"/>
              </a:spcAft>
              <a:buSzPct val="100000"/>
              <a:buChar char="•"/>
            </a:pPr>
            <a:r>
              <a:rPr lang="en-US" sz="1000" dirty="0">
                <a:solidFill>
                  <a:srgbClr val="2F3B4C"/>
                </a:solidFill>
                <a:latin typeface="Arial" pitchFamily="34" charset="0"/>
                <a:ea typeface="Arial" pitchFamily="34" charset="-122"/>
                <a:cs typeface="Arial" pitchFamily="34" charset="-120"/>
              </a:rPr>
              <a:t>Escriba la pregunta de gestión refinada resultante y compárela con la de otro grupo.</a:t>
            </a:r>
            <a:endParaRPr lang="en-US" sz="1000" dirty="0"/>
          </a:p>
        </p:txBody>
      </p:sp>
      <p:sp>
        <p:nvSpPr>
          <p:cNvPr id="12" name="Text 7">
            <a:extLst>
              <a:ext uri="{FF2B5EF4-FFF2-40B4-BE49-F238E27FC236}">
                <a16:creationId xmlns:a16="http://schemas.microsoft.com/office/drawing/2014/main" id="{9A21CE9C-C379-4B62-8220-EE6D838068F3}"/>
              </a:ext>
            </a:extLst>
          </p:cNvPr>
          <p:cNvSpPr/>
          <p:nvPr/>
        </p:nvSpPr>
        <p:spPr>
          <a:xfrm>
            <a:off x="650240" y="2872084"/>
            <a:ext cx="7762240" cy="522580"/>
          </a:xfrm>
          <a:prstGeom prst="rect">
            <a:avLst/>
          </a:prstGeom>
          <a:noFill/>
          <a:ln/>
        </p:spPr>
        <p:txBody>
          <a:bodyPr wrap="square" rtlCol="0" anchor="t"/>
          <a:lstStyle/>
          <a:p>
            <a:pPr marL="0" indent="0">
              <a:buNone/>
            </a:pPr>
            <a:r>
              <a:rPr lang="es-ES" sz="950" i="1" dirty="0">
                <a:solidFill>
                  <a:srgbClr val="2F3B4C"/>
                </a:solidFill>
                <a:latin typeface="Consolas" pitchFamily="34" charset="0"/>
                <a:ea typeface="Consolas" pitchFamily="34" charset="-122"/>
                <a:cs typeface="Consolas" pitchFamily="34" charset="-120"/>
              </a:rPr>
              <a:t>Actúa como experto en gestión pública. Evalúa si la pregunta: '¿Los programas de vivienda rural sí le están sirviendo a la gente?' cumple los 4 componentes (Población, Atributo, Ámbito, Referente). Señala cuáles faltan y entrega únicamente la mejor opción de pregunta refinada y medible</a:t>
            </a:r>
            <a:r>
              <a:rPr lang="en-US" sz="950" i="1" dirty="0">
                <a:solidFill>
                  <a:srgbClr val="2F3B4C"/>
                </a:solidFill>
                <a:latin typeface="Consolas" pitchFamily="34" charset="0"/>
                <a:ea typeface="Consolas" pitchFamily="34" charset="-122"/>
                <a:cs typeface="Consolas" pitchFamily="34" charset="-120"/>
              </a:rPr>
              <a:t>. </a:t>
            </a:r>
            <a:endParaRPr lang="en-US" sz="950" dirty="0"/>
          </a:p>
        </p:txBody>
      </p:sp>
      <p:sp>
        <p:nvSpPr>
          <p:cNvPr id="13" name="Text 7">
            <a:extLst>
              <a:ext uri="{FF2B5EF4-FFF2-40B4-BE49-F238E27FC236}">
                <a16:creationId xmlns:a16="http://schemas.microsoft.com/office/drawing/2014/main" id="{FC7D8D66-6466-4DBC-BE2F-CD1FB6ACA4A3}"/>
              </a:ext>
            </a:extLst>
          </p:cNvPr>
          <p:cNvSpPr/>
          <p:nvPr/>
        </p:nvSpPr>
        <p:spPr>
          <a:xfrm>
            <a:off x="640080" y="2626113"/>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a:t>
            </a:r>
            <a:endParaRPr lang="en-US" sz="1100" dirty="0"/>
          </a:p>
        </p:txBody>
      </p:sp>
      <p:sp>
        <p:nvSpPr>
          <p:cNvPr id="15" name="Text 7">
            <a:extLst>
              <a:ext uri="{FF2B5EF4-FFF2-40B4-BE49-F238E27FC236}">
                <a16:creationId xmlns:a16="http://schemas.microsoft.com/office/drawing/2014/main" id="{22BE7444-2508-48BC-B86E-422CDEAE9183}"/>
              </a:ext>
            </a:extLst>
          </p:cNvPr>
          <p:cNvSpPr/>
          <p:nvPr/>
        </p:nvSpPr>
        <p:spPr>
          <a:xfrm>
            <a:off x="619760" y="3577796"/>
            <a:ext cx="7762240" cy="522580"/>
          </a:xfrm>
          <a:prstGeom prst="rect">
            <a:avLst/>
          </a:prstGeom>
          <a:noFill/>
          <a:ln/>
        </p:spPr>
        <p:txBody>
          <a:bodyPr wrap="square" rtlCol="0" anchor="t"/>
          <a:lstStyle/>
          <a:p>
            <a:pPr marL="0" indent="0">
              <a:buNone/>
            </a:pPr>
            <a:r>
              <a:rPr lang="es-ES" sz="950" b="1" i="1" dirty="0">
                <a:solidFill>
                  <a:srgbClr val="2F3B4C"/>
                </a:solidFill>
                <a:latin typeface="Consolas" pitchFamily="34" charset="0"/>
                <a:ea typeface="Consolas" pitchFamily="34" charset="-122"/>
                <a:cs typeface="Consolas" pitchFamily="34" charset="-120"/>
              </a:rPr>
              <a:t>Población: Incompleto ("la gente" es impreciso). Atributo / Variable: Faltante ("sí le están sirviendo" no es un término técnico ni medible). Ámbito: Incompleto (No especifica el municipio o región). Referente temporal/normativo: Faltante (No define el periodo de evaluación).</a:t>
            </a:r>
            <a:br>
              <a:rPr lang="es-ES" sz="950" b="1" i="1" dirty="0">
                <a:solidFill>
                  <a:srgbClr val="2F3B4C"/>
                </a:solidFill>
                <a:latin typeface="Consolas" pitchFamily="34" charset="0"/>
                <a:ea typeface="Consolas" pitchFamily="34" charset="-122"/>
                <a:cs typeface="Consolas" pitchFamily="34" charset="-120"/>
              </a:rPr>
            </a:br>
            <a:br>
              <a:rPr lang="es-ES" sz="950" b="1" i="1" dirty="0">
                <a:solidFill>
                  <a:srgbClr val="2F3B4C"/>
                </a:solidFill>
                <a:latin typeface="Consolas" pitchFamily="34" charset="0"/>
                <a:ea typeface="Consolas" pitchFamily="34" charset="-122"/>
                <a:cs typeface="Consolas" pitchFamily="34" charset="-120"/>
              </a:rPr>
            </a:br>
            <a:r>
              <a:rPr lang="es-ES" sz="950" b="1" i="1" dirty="0">
                <a:solidFill>
                  <a:srgbClr val="2F3B4C"/>
                </a:solidFill>
                <a:latin typeface="Consolas" pitchFamily="34" charset="0"/>
                <a:ea typeface="Consolas" pitchFamily="34" charset="-122"/>
                <a:cs typeface="Consolas" pitchFamily="34" charset="-120"/>
              </a:rPr>
              <a:t>Pregunta de Gestión Refinada:«¿En qué porcentaje las familias beneficiarias de subsidios de vivienda rural en el Municipio X mejoraron sus condiciones de habitabilidad y redujeron el déficit cualitativo tras 12 meses de entrega del beneficio?»</a:t>
            </a:r>
            <a:endParaRPr lang="en-US" sz="950" b="1" dirty="0"/>
          </a:p>
        </p:txBody>
      </p:sp>
      <p:cxnSp>
        <p:nvCxnSpPr>
          <p:cNvPr id="21" name="Conector recto de flecha 20">
            <a:extLst>
              <a:ext uri="{FF2B5EF4-FFF2-40B4-BE49-F238E27FC236}">
                <a16:creationId xmlns:a16="http://schemas.microsoft.com/office/drawing/2014/main" id="{10EA907D-8D27-4E98-B625-4F4D4F5E47D1}"/>
              </a:ext>
            </a:extLst>
          </p:cNvPr>
          <p:cNvCxnSpPr>
            <a:cxnSpLocks/>
          </p:cNvCxnSpPr>
          <p:nvPr/>
        </p:nvCxnSpPr>
        <p:spPr>
          <a:xfrm>
            <a:off x="4490720" y="3394664"/>
            <a:ext cx="0" cy="220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2760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EN VIVO 2 DE 2 · PROMPTS 3 Y 4</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Construya o Audite una Ficha Técnica con IA</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con la pregunta refinada del ejercicio anterior (o la de un caso guía), el equipo pasa a documentar el indicador.</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Reto: la mitad de los grupos construye una </a:t>
            </a:r>
            <a:r>
              <a:rPr lang="en-US" sz="1150" b="1" i="1" dirty="0" err="1">
                <a:solidFill>
                  <a:srgbClr val="173F72"/>
                </a:solidFill>
                <a:latin typeface="Arial" pitchFamily="34" charset="0"/>
                <a:ea typeface="Arial" pitchFamily="34" charset="-122"/>
                <a:cs typeface="Arial" pitchFamily="34" charset="-120"/>
              </a:rPr>
              <a:t>ficha</a:t>
            </a:r>
            <a:r>
              <a:rPr lang="en-US" sz="1150" b="1" i="1" dirty="0">
                <a:solidFill>
                  <a:srgbClr val="173F72"/>
                </a:solidFill>
                <a:latin typeface="Arial" pitchFamily="34" charset="0"/>
                <a:ea typeface="Arial" pitchFamily="34" charset="-122"/>
                <a:cs typeface="Arial" pitchFamily="34" charset="-120"/>
              </a:rPr>
              <a:t> nueva (Prompt 3); la otra mitad audita una batería ya formulada (Prompt 4).</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Prompt 3: redacte el borrador de la </a:t>
            </a:r>
            <a:r>
              <a:rPr lang="en-US" sz="1100" dirty="0" err="1">
                <a:solidFill>
                  <a:srgbClr val="2F3B4C"/>
                </a:solidFill>
                <a:latin typeface="Arial" pitchFamily="34" charset="0"/>
                <a:ea typeface="Arial" pitchFamily="34" charset="-122"/>
                <a:cs typeface="Arial" pitchFamily="34" charset="-120"/>
              </a:rPr>
              <a:t>ficha</a:t>
            </a:r>
            <a:r>
              <a:rPr lang="en-US" sz="1100" dirty="0">
                <a:solidFill>
                  <a:srgbClr val="2F3B4C"/>
                </a:solidFill>
                <a:latin typeface="Arial" pitchFamily="34" charset="0"/>
                <a:ea typeface="Arial" pitchFamily="34" charset="-122"/>
                <a:cs typeface="Arial" pitchFamily="34" charset="-120"/>
              </a:rPr>
              <a:t> técnica y marque [VERIFICAR EN ENTIDAD] los campos que dependen de fuente oficial.</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Prompt 4: audite una </a:t>
            </a:r>
            <a:r>
              <a:rPr lang="en-US" sz="1100" dirty="0" err="1">
                <a:solidFill>
                  <a:srgbClr val="2F3B4C"/>
                </a:solidFill>
                <a:latin typeface="Arial" pitchFamily="34" charset="0"/>
                <a:ea typeface="Arial" pitchFamily="34" charset="-122"/>
                <a:cs typeface="Arial" pitchFamily="34" charset="-120"/>
              </a:rPr>
              <a:t>batería</a:t>
            </a:r>
            <a:r>
              <a:rPr lang="en-US" sz="1100" dirty="0">
                <a:solidFill>
                  <a:srgbClr val="2F3B4C"/>
                </a:solidFill>
                <a:latin typeface="Arial" pitchFamily="34" charset="0"/>
                <a:ea typeface="Arial" pitchFamily="34" charset="-122"/>
                <a:cs typeface="Arial" pitchFamily="34" charset="-120"/>
              </a:rPr>
              <a:t> del </a:t>
            </a:r>
            <a:r>
              <a:rPr lang="en-US" sz="1100" dirty="0" err="1">
                <a:solidFill>
                  <a:srgbClr val="2F3B4C"/>
                </a:solidFill>
                <a:latin typeface="Arial" pitchFamily="34" charset="0"/>
                <a:ea typeface="Arial" pitchFamily="34" charset="-122"/>
                <a:cs typeface="Arial" pitchFamily="34" charset="-120"/>
              </a:rPr>
              <a:t>indicador</a:t>
            </a:r>
            <a:r>
              <a:rPr lang="en-US" sz="1100" dirty="0">
                <a:solidFill>
                  <a:srgbClr val="2F3B4C"/>
                </a:solidFill>
                <a:latin typeface="Arial" pitchFamily="34" charset="0"/>
                <a:ea typeface="Arial" pitchFamily="34" charset="-122"/>
                <a:cs typeface="Arial" pitchFamily="34" charset="-120"/>
              </a:rPr>
              <a:t> </a:t>
            </a:r>
            <a:r>
              <a:rPr lang="en-US" sz="1100" dirty="0" err="1">
                <a:solidFill>
                  <a:srgbClr val="2F3B4C"/>
                </a:solidFill>
                <a:latin typeface="Arial" pitchFamily="34" charset="0"/>
                <a:ea typeface="Arial" pitchFamily="34" charset="-122"/>
                <a:cs typeface="Arial" pitchFamily="34" charset="-120"/>
              </a:rPr>
              <a:t>en</a:t>
            </a:r>
            <a:r>
              <a:rPr lang="en-US" sz="1100" dirty="0">
                <a:solidFill>
                  <a:srgbClr val="2F3B4C"/>
                </a:solidFill>
                <a:latin typeface="Arial" pitchFamily="34" charset="0"/>
                <a:ea typeface="Arial" pitchFamily="34" charset="-122"/>
                <a:cs typeface="Arial" pitchFamily="34" charset="-120"/>
              </a:rPr>
              <a:t> </a:t>
            </a:r>
            <a:r>
              <a:rPr lang="en-US" sz="1100" dirty="0" err="1">
                <a:solidFill>
                  <a:srgbClr val="2F3B4C"/>
                </a:solidFill>
                <a:latin typeface="Arial" pitchFamily="34" charset="0"/>
                <a:ea typeface="Arial" pitchFamily="34" charset="-122"/>
                <a:cs typeface="Arial" pitchFamily="34" charset="-120"/>
              </a:rPr>
              <a:t>cuestión</a:t>
            </a:r>
            <a:r>
              <a:rPr lang="en-US" sz="1100" dirty="0">
                <a:solidFill>
                  <a:srgbClr val="2F3B4C"/>
                </a:solidFill>
                <a:latin typeface="Arial" pitchFamily="34" charset="0"/>
                <a:ea typeface="Arial" pitchFamily="34" charset="-122"/>
                <a:cs typeface="Arial" pitchFamily="34" charset="-120"/>
              </a:rPr>
              <a:t> y </a:t>
            </a:r>
            <a:r>
              <a:rPr lang="en-US" sz="1100" dirty="0" err="1">
                <a:solidFill>
                  <a:srgbClr val="2F3B4C"/>
                </a:solidFill>
                <a:latin typeface="Arial" pitchFamily="34" charset="0"/>
                <a:ea typeface="Arial" pitchFamily="34" charset="-122"/>
                <a:cs typeface="Arial" pitchFamily="34" charset="-120"/>
              </a:rPr>
              <a:t>señale</a:t>
            </a:r>
            <a:r>
              <a:rPr lang="en-US" sz="1100" dirty="0">
                <a:solidFill>
                  <a:srgbClr val="2F3B4C"/>
                </a:solidFill>
                <a:latin typeface="Arial" pitchFamily="34" charset="0"/>
                <a:ea typeface="Arial" pitchFamily="34" charset="-122"/>
                <a:cs typeface="Arial" pitchFamily="34" charset="-120"/>
              </a:rPr>
              <a:t> </a:t>
            </a:r>
            <a:r>
              <a:rPr lang="en-US" sz="1100" dirty="0" err="1">
                <a:solidFill>
                  <a:srgbClr val="2F3B4C"/>
                </a:solidFill>
                <a:latin typeface="Arial" pitchFamily="34" charset="0"/>
                <a:ea typeface="Arial" pitchFamily="34" charset="-122"/>
                <a:cs typeface="Arial" pitchFamily="34" charset="-120"/>
              </a:rPr>
              <a:t>si</a:t>
            </a:r>
            <a:r>
              <a:rPr lang="en-US" sz="1100" dirty="0">
                <a:solidFill>
                  <a:srgbClr val="2F3B4C"/>
                </a:solidFill>
                <a:latin typeface="Arial" pitchFamily="34" charset="0"/>
                <a:ea typeface="Arial" pitchFamily="34" charset="-122"/>
                <a:cs typeface="Arial" pitchFamily="34" charset="-120"/>
              </a:rPr>
              <a:t> es </a:t>
            </a:r>
            <a:r>
              <a:rPr lang="en-US" sz="1100" dirty="0" err="1">
                <a:solidFill>
                  <a:srgbClr val="2F3B4C"/>
                </a:solidFill>
                <a:latin typeface="Arial" pitchFamily="34" charset="0"/>
                <a:ea typeface="Arial" pitchFamily="34" charset="-122"/>
                <a:cs typeface="Arial" pitchFamily="34" charset="-120"/>
              </a:rPr>
              <a:t>producto</a:t>
            </a:r>
            <a:r>
              <a:rPr lang="en-US" sz="1100" dirty="0">
                <a:solidFill>
                  <a:srgbClr val="2F3B4C"/>
                </a:solidFill>
                <a:latin typeface="Arial" pitchFamily="34" charset="0"/>
                <a:ea typeface="Arial" pitchFamily="34" charset="-122"/>
                <a:cs typeface="Arial" pitchFamily="34" charset="-120"/>
              </a:rPr>
              <a:t> disfrazado de </a:t>
            </a:r>
            <a:r>
              <a:rPr lang="en-US" sz="1100" dirty="0" err="1">
                <a:solidFill>
                  <a:srgbClr val="2F3B4C"/>
                </a:solidFill>
                <a:latin typeface="Arial" pitchFamily="34" charset="0"/>
                <a:ea typeface="Arial" pitchFamily="34" charset="-122"/>
                <a:cs typeface="Arial" pitchFamily="34" charset="-120"/>
              </a:rPr>
              <a:t>resultado</a:t>
            </a:r>
            <a:r>
              <a:rPr lang="en-US" sz="1100" dirty="0">
                <a:solidFill>
                  <a:srgbClr val="2F3B4C"/>
                </a:solidFill>
                <a:latin typeface="Arial" pitchFamily="34" charset="0"/>
                <a:ea typeface="Arial" pitchFamily="34" charset="-122"/>
                <a:cs typeface="Arial" pitchFamily="34" charset="-120"/>
              </a:rPr>
              <a:t>.</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Contraste el resultado de la IA con los criterios CREMAS antes de darlo por definitivo.</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160528"/>
            <a:ext cx="1005840" cy="41148"/>
          </a:xfrm>
          <a:prstGeom prst="rect">
            <a:avLst/>
          </a:prstGeom>
          <a:solidFill>
            <a:srgbClr val="FF9900"/>
          </a:solidFill>
          <a:ln/>
        </p:spPr>
      </p:sp>
      <p:sp>
        <p:nvSpPr>
          <p:cNvPr id="3" name="Text 1"/>
          <p:cNvSpPr/>
          <p:nvPr/>
        </p:nvSpPr>
        <p:spPr>
          <a:xfrm>
            <a:off x="640080" y="25400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RESUELTO · PROMPT 3 </a:t>
            </a:r>
            <a:endParaRPr lang="en-US" sz="1000" dirty="0"/>
          </a:p>
        </p:txBody>
      </p:sp>
      <p:sp>
        <p:nvSpPr>
          <p:cNvPr id="4" name="Text 2"/>
          <p:cNvSpPr/>
          <p:nvPr/>
        </p:nvSpPr>
        <p:spPr>
          <a:xfrm>
            <a:off x="640080" y="489712"/>
            <a:ext cx="7315200" cy="404845"/>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Construya o Audite una Ficha Técnica con IA</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872228"/>
            <a:ext cx="9144000" cy="269443"/>
          </a:xfrm>
          <a:prstGeom prst="rect">
            <a:avLst/>
          </a:prstGeom>
        </p:spPr>
      </p:pic>
      <p:sp>
        <p:nvSpPr>
          <p:cNvPr id="7" name="Text 4"/>
          <p:cNvSpPr/>
          <p:nvPr/>
        </p:nvSpPr>
        <p:spPr>
          <a:xfrm>
            <a:off x="91440" y="487222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11" name="Text 8"/>
          <p:cNvSpPr/>
          <p:nvPr/>
        </p:nvSpPr>
        <p:spPr>
          <a:xfrm>
            <a:off x="447040" y="847344"/>
            <a:ext cx="8056880" cy="831088"/>
          </a:xfrm>
          <a:prstGeom prst="rect">
            <a:avLst/>
          </a:prstGeom>
          <a:noFill/>
          <a:ln/>
        </p:spPr>
        <p:txBody>
          <a:bodyPr wrap="square" rtlCol="0" anchor="t"/>
          <a:lstStyle/>
          <a:p>
            <a:pPr marL="177800" indent="-177800">
              <a:lnSpc>
                <a:spcPct val="150000"/>
              </a:lnSpc>
              <a:spcAft>
                <a:spcPts val="1000"/>
              </a:spcAft>
              <a:buSzPct val="100000"/>
              <a:buChar char="•"/>
            </a:pPr>
            <a:r>
              <a:rPr lang="es-ES" sz="1000" dirty="0">
                <a:solidFill>
                  <a:srgbClr val="2F3B4C"/>
                </a:solidFill>
                <a:latin typeface="Arial" pitchFamily="34" charset="0"/>
                <a:ea typeface="Arial" pitchFamily="34" charset="-122"/>
                <a:cs typeface="Arial" pitchFamily="34" charset="-120"/>
              </a:rPr>
              <a:t>Para esta pregunta refinada: '¿En qué porcentaje las familias beneficiarias de subsidios de vivienda rural en el Municipio X mejoraron sus condiciones de habitabilidad tras 12 meses?', genera la ficha técnica en una tabla de dos columnas (Campo y Contenido esperado) con: 1. Eslabón, 2. Nombre del indicador, 3. Fórmula de cálculo y 4. Fuente de información. Marca con [VERIFICAR EN ENTIDAD] los datos que requieran información oficial.</a:t>
            </a:r>
            <a:endParaRPr lang="en-US" sz="1000" dirty="0"/>
          </a:p>
        </p:txBody>
      </p:sp>
      <p:pic>
        <p:nvPicPr>
          <p:cNvPr id="18" name="Imagen 17">
            <a:extLst>
              <a:ext uri="{FF2B5EF4-FFF2-40B4-BE49-F238E27FC236}">
                <a16:creationId xmlns:a16="http://schemas.microsoft.com/office/drawing/2014/main" id="{62B053C1-5B22-49DF-8D99-88EBE3568047}"/>
              </a:ext>
            </a:extLst>
          </p:cNvPr>
          <p:cNvPicPr>
            <a:picLocks noChangeAspect="1"/>
          </p:cNvPicPr>
          <p:nvPr/>
        </p:nvPicPr>
        <p:blipFill>
          <a:blip r:embed="rId3"/>
          <a:stretch>
            <a:fillRect/>
          </a:stretch>
        </p:blipFill>
        <p:spPr>
          <a:xfrm>
            <a:off x="2777986" y="1829928"/>
            <a:ext cx="4537214" cy="2823860"/>
          </a:xfrm>
          <a:prstGeom prst="rect">
            <a:avLst/>
          </a:prstGeom>
        </p:spPr>
      </p:pic>
    </p:spTree>
    <p:extLst>
      <p:ext uri="{BB962C8B-B14F-4D97-AF65-F5344CB8AC3E}">
        <p14:creationId xmlns:p14="http://schemas.microsoft.com/office/powerpoint/2010/main" val="14387055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160528"/>
            <a:ext cx="1005840" cy="41148"/>
          </a:xfrm>
          <a:prstGeom prst="rect">
            <a:avLst/>
          </a:prstGeom>
          <a:solidFill>
            <a:srgbClr val="FF9900"/>
          </a:solidFill>
          <a:ln/>
        </p:spPr>
      </p:sp>
      <p:sp>
        <p:nvSpPr>
          <p:cNvPr id="3" name="Text 1"/>
          <p:cNvSpPr/>
          <p:nvPr/>
        </p:nvSpPr>
        <p:spPr>
          <a:xfrm>
            <a:off x="640080" y="38608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RESUELTO · PROMPT 4</a:t>
            </a:r>
            <a:endParaRPr lang="en-US" sz="1000" dirty="0"/>
          </a:p>
        </p:txBody>
      </p:sp>
      <p:sp>
        <p:nvSpPr>
          <p:cNvPr id="4" name="Text 2"/>
          <p:cNvSpPr/>
          <p:nvPr/>
        </p:nvSpPr>
        <p:spPr>
          <a:xfrm>
            <a:off x="640080" y="764032"/>
            <a:ext cx="7315200" cy="404845"/>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Construya o Audite una Ficha Técnica con IA</a:t>
            </a:r>
            <a:endParaRPr lang="en-US" sz="2100" dirty="0"/>
          </a:p>
        </p:txBody>
      </p:sp>
      <p:pic>
        <p:nvPicPr>
          <p:cNvPr id="6" name="Image 0" descr="/home/claude/taller/assets/footer_banner.png"/>
          <p:cNvPicPr>
            <a:picLocks noChangeAspect="1"/>
          </p:cNvPicPr>
          <p:nvPr/>
        </p:nvPicPr>
        <p:blipFill>
          <a:blip r:embed="rId2"/>
          <a:stretch>
            <a:fillRect/>
          </a:stretch>
        </p:blipFill>
        <p:spPr>
          <a:xfrm>
            <a:off x="0" y="4872228"/>
            <a:ext cx="9144000" cy="269443"/>
          </a:xfrm>
          <a:prstGeom prst="rect">
            <a:avLst/>
          </a:prstGeom>
        </p:spPr>
      </p:pic>
      <p:sp>
        <p:nvSpPr>
          <p:cNvPr id="7" name="Text 4"/>
          <p:cNvSpPr/>
          <p:nvPr/>
        </p:nvSpPr>
        <p:spPr>
          <a:xfrm>
            <a:off x="91440" y="487222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11" name="Text 8"/>
          <p:cNvSpPr/>
          <p:nvPr/>
        </p:nvSpPr>
        <p:spPr>
          <a:xfrm>
            <a:off x="640080" y="1311670"/>
            <a:ext cx="8056880" cy="2163049"/>
          </a:xfrm>
          <a:prstGeom prst="rect">
            <a:avLst/>
          </a:prstGeom>
          <a:noFill/>
          <a:ln/>
        </p:spPr>
        <p:txBody>
          <a:bodyPr wrap="square" rtlCol="0" anchor="t"/>
          <a:lstStyle/>
          <a:p>
            <a:pPr marL="177800" indent="-177800">
              <a:lnSpc>
                <a:spcPct val="150000"/>
              </a:lnSpc>
              <a:spcAft>
                <a:spcPts val="1000"/>
              </a:spcAft>
              <a:buSzPct val="100000"/>
              <a:buChar char="•"/>
            </a:pPr>
            <a:r>
              <a:rPr lang="es-ES" sz="1000" dirty="0">
                <a:solidFill>
                  <a:srgbClr val="2F3B4C"/>
                </a:solidFill>
                <a:latin typeface="Arial" pitchFamily="34" charset="0"/>
                <a:ea typeface="Arial" pitchFamily="34" charset="-122"/>
                <a:cs typeface="Arial" pitchFamily="34" charset="-120"/>
              </a:rPr>
              <a:t>"Audita esta batería de indicadores: 1. 'Número de subsidios de vivienda entregados', 2. 'Porcentaje de hogares rurales que mejoraron habitabilidad'. Identifica si hay indicadores de producto disfrazados de resultado, señala redundancias y evalúa el cumplimiento del criterio CREMAS.“</a:t>
            </a:r>
          </a:p>
          <a:p>
            <a:pPr marL="177800" indent="-177800">
              <a:lnSpc>
                <a:spcPct val="150000"/>
              </a:lnSpc>
              <a:spcAft>
                <a:spcPts val="1000"/>
              </a:spcAft>
              <a:buSzPct val="100000"/>
              <a:buChar char="•"/>
            </a:pPr>
            <a:r>
              <a:rPr lang="es-ES" sz="1000" dirty="0">
                <a:solidFill>
                  <a:srgbClr val="2F3B4C"/>
                </a:solidFill>
                <a:latin typeface="Arial" pitchFamily="34" charset="0"/>
                <a:cs typeface="Arial" pitchFamily="34" charset="-120"/>
              </a:rPr>
              <a:t>Hallazgo: El Indicador 1 ("Subsidios entregados") es un indicador de Producto (Output) disfrazado de Resultado. Solo mide la ejecución de la actividad. Dictamen CREMAS: Se debe mantener el Indicador 2 como el único indicador de Resultado (Impacto directo) para la batería, ya que cumple con ser Claro, Relevante, Medible, Adecuado y Sensible al cambio.</a:t>
            </a:r>
            <a:endParaRPr lang="en-US" sz="1000" dirty="0">
              <a:solidFill>
                <a:srgbClr val="2F3B4C"/>
              </a:solidFill>
              <a:latin typeface="Arial" pitchFamily="34" charset="0"/>
              <a:cs typeface="Arial" pitchFamily="34" charset="-120"/>
            </a:endParaRPr>
          </a:p>
        </p:txBody>
      </p:sp>
    </p:spTree>
    <p:extLst>
      <p:ext uri="{BB962C8B-B14F-4D97-AF65-F5344CB8AC3E}">
        <p14:creationId xmlns:p14="http://schemas.microsoft.com/office/powerpoint/2010/main" val="40531257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TRABAJO AUTÓNOMO</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Ejercicios para Practicar en Casa</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3 casos adicionales para completar de forma individual, </a:t>
            </a:r>
            <a:r>
              <a:rPr lang="en-US" sz="1400" i="1" dirty="0" err="1">
                <a:solidFill>
                  <a:srgbClr val="CADCFC"/>
                </a:solidFill>
                <a:latin typeface="Arial" pitchFamily="34" charset="0"/>
                <a:ea typeface="Arial" pitchFamily="34" charset="-122"/>
                <a:cs typeface="Arial" pitchFamily="34" charset="-120"/>
              </a:rPr>
              <a:t>contrastando</a:t>
            </a:r>
            <a:r>
              <a:rPr lang="en-US" sz="1400" i="1" dirty="0">
                <a:solidFill>
                  <a:srgbClr val="CADCFC"/>
                </a:solidFill>
                <a:latin typeface="Arial" pitchFamily="34" charset="0"/>
                <a:ea typeface="Arial" pitchFamily="34" charset="-122"/>
                <a:cs typeface="Arial" pitchFamily="34" charset="-120"/>
              </a:rPr>
              <a:t> con Gemini</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Movilidad Sostenible y Transporte Masivo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El municipio implementó un sistema de transporte masivo con carril exclusivo para buses eléctricos.</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“¿La gente sí está usando el nuevo transporte y estamos reduciendo los tiempos de trancón?”</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Formule un indicador de producto y otro de resultado, independientes.</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Ejecute el Prompt 2 en Claude.ai o en el Simulador y compare su borrador.</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Indique si la tendencia del indicador de tiempo de viaje es a maximizar o minimizar.</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ACLARACIÓN DEL EJERCICIO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Pistas — Movilidad Sostenible y Transporte Masivo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1417320"/>
          </a:xfrm>
          <a:prstGeom prst="roundRect">
            <a:avLst>
              <a:gd name="adj" fmla="val 3226"/>
            </a:avLst>
          </a:prstGeom>
          <a:solidFill>
            <a:srgbClr val="EDF3F9"/>
          </a:solidFill>
          <a:ln/>
        </p:spPr>
      </p:sp>
      <p:sp>
        <p:nvSpPr>
          <p:cNvPr id="9" name="Text 6"/>
          <p:cNvSpPr/>
          <p:nvPr/>
        </p:nvSpPr>
        <p:spPr>
          <a:xfrm>
            <a:off x="822960" y="160020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el tipo de indicador</a:t>
            </a:r>
            <a:endParaRPr lang="en-US" sz="1100" dirty="0"/>
          </a:p>
        </p:txBody>
      </p:sp>
      <p:sp>
        <p:nvSpPr>
          <p:cNvPr id="10" name="Text 7"/>
          <p:cNvSpPr/>
          <p:nvPr/>
        </p:nvSpPr>
        <p:spPr>
          <a:xfrm>
            <a:off x="822960" y="1874520"/>
            <a:ext cx="7498080" cy="91440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Piense en dos indicadores separados: uno que cuente la oferta (buses en operación, frecuencia) y otro que cuente el efecto (minutos de viaje). Mezclarlos en uno solo suele ocultar si el sistema realmente funciona.</a:t>
            </a:r>
            <a:endParaRPr lang="en-US" sz="1050" dirty="0"/>
          </a:p>
        </p:txBody>
      </p:sp>
      <p:sp>
        <p:nvSpPr>
          <p:cNvPr id="11" name="Shape 8"/>
          <p:cNvSpPr/>
          <p:nvPr/>
        </p:nvSpPr>
        <p:spPr>
          <a:xfrm>
            <a:off x="640080" y="3017520"/>
            <a:ext cx="7863840" cy="1280160"/>
          </a:xfrm>
          <a:prstGeom prst="roundRect">
            <a:avLst>
              <a:gd name="adj" fmla="val 3571"/>
            </a:avLst>
          </a:prstGeom>
          <a:solidFill>
            <a:srgbClr val="EDF3F9"/>
          </a:solidFill>
          <a:ln/>
        </p:spPr>
      </p:sp>
      <p:sp>
        <p:nvSpPr>
          <p:cNvPr id="12" name="Text 9"/>
          <p:cNvSpPr/>
          <p:nvPr/>
        </p:nvSpPr>
        <p:spPr>
          <a:xfrm>
            <a:off x="822960" y="315468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la fuente de datos</a:t>
            </a:r>
            <a:endParaRPr lang="en-US" sz="1100" dirty="0"/>
          </a:p>
        </p:txBody>
      </p:sp>
      <p:sp>
        <p:nvSpPr>
          <p:cNvPr id="13" name="Text 10"/>
          <p:cNvSpPr/>
          <p:nvPr/>
        </p:nvSpPr>
        <p:spPr>
          <a:xfrm>
            <a:off x="822960" y="3429000"/>
            <a:ext cx="7498080" cy="82296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El sistema de recaudo (validadores) y el GPS de la flota son fuentes típicas para este tipo de indicador — permiten calcular tiempos reales de recorrido sin depender de encuestas.</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Desarrollo Económico Local y Empleo Joven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La Secretaría de Desarrollo Económico implementó incentivos tributarios a empresas que contraten jóvenes de primer empleo.</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“¿El programa sí está sirviendo para que los jóvenes consigan trabajo digno o es plata botada?”</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Mida jóvenes vinculados formalmente (con aportes a seguridad social).</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Use el Prompt 3 para redactar limitaciones y supuestos macroeconómicos.</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Defina el responsable técnico y la fuente oficial del reporte.</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ACLARACIÓN DEL EJERCICIO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Pistas — Desarrollo Económico Local y Empleo Joven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1417320"/>
          </a:xfrm>
          <a:prstGeom prst="roundRect">
            <a:avLst>
              <a:gd name="adj" fmla="val 3226"/>
            </a:avLst>
          </a:prstGeom>
          <a:solidFill>
            <a:srgbClr val="EDF3F9"/>
          </a:solidFill>
          <a:ln/>
        </p:spPr>
      </p:sp>
      <p:sp>
        <p:nvSpPr>
          <p:cNvPr id="9" name="Text 6"/>
          <p:cNvSpPr/>
          <p:nvPr/>
        </p:nvSpPr>
        <p:spPr>
          <a:xfrm>
            <a:off x="822960" y="160020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el tipo de indicador</a:t>
            </a:r>
            <a:endParaRPr lang="en-US" sz="1100" dirty="0"/>
          </a:p>
        </p:txBody>
      </p:sp>
      <p:sp>
        <p:nvSpPr>
          <p:cNvPr id="10" name="Text 7"/>
          <p:cNvSpPr/>
          <p:nvPr/>
        </p:nvSpPr>
        <p:spPr>
          <a:xfrm>
            <a:off x="822960" y="1874520"/>
            <a:ext cx="7498080" cy="91440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“Empleos generados” es fácil de inflar (basta con una vacante publicada); “empleos formales sostenidos a 6 meses” exige que la persona siga cotizando, lo que es una prueba mucho más dura de que el incentivo funcionó.</a:t>
            </a:r>
            <a:endParaRPr lang="en-US" sz="1050" dirty="0"/>
          </a:p>
        </p:txBody>
      </p:sp>
      <p:sp>
        <p:nvSpPr>
          <p:cNvPr id="11" name="Shape 8"/>
          <p:cNvSpPr/>
          <p:nvPr/>
        </p:nvSpPr>
        <p:spPr>
          <a:xfrm>
            <a:off x="640080" y="3017520"/>
            <a:ext cx="7863840" cy="1280160"/>
          </a:xfrm>
          <a:prstGeom prst="roundRect">
            <a:avLst>
              <a:gd name="adj" fmla="val 3571"/>
            </a:avLst>
          </a:prstGeom>
          <a:solidFill>
            <a:srgbClr val="EDF3F9"/>
          </a:solidFill>
          <a:ln/>
        </p:spPr>
      </p:sp>
      <p:sp>
        <p:nvSpPr>
          <p:cNvPr id="12" name="Text 9"/>
          <p:cNvSpPr/>
          <p:nvPr/>
        </p:nvSpPr>
        <p:spPr>
          <a:xfrm>
            <a:off x="822960" y="315468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la fuente de datos</a:t>
            </a:r>
            <a:endParaRPr lang="en-US" sz="1100" dirty="0"/>
          </a:p>
        </p:txBody>
      </p:sp>
      <p:sp>
        <p:nvSpPr>
          <p:cNvPr id="13" name="Text 10"/>
          <p:cNvSpPr/>
          <p:nvPr/>
        </p:nvSpPr>
        <p:spPr>
          <a:xfrm>
            <a:off x="822960" y="3429000"/>
            <a:ext cx="7498080" cy="82296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La Planilla Integrada de Liquidación de Aportes (PILA) permite verificar si una persona sigue cotizando meses después de contratada — es la fuente que da rigor a este indicador.</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Contratación Pública y Transparencia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Una entidad pública quiere saber si sus procesos de licitación generan ahorro real frente al presupuesto planeado.</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“¿Estamos ahorrando dinero al contratar por licitación pública?”</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Evalúe si el indicador mide economía o eficiencia, y justifique.</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Use el Prompt 4 para auditar el riesgo de sub-presupuestación voluntaria.</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Proponga una salvaguarda institucional (p. ej. estudio de mercado).</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ACLARACIÓN DEL EJERCICIO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Pistas — Contratación Pública y Transparencia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1417320"/>
          </a:xfrm>
          <a:prstGeom prst="roundRect">
            <a:avLst>
              <a:gd name="adj" fmla="val 3226"/>
            </a:avLst>
          </a:prstGeom>
          <a:solidFill>
            <a:srgbClr val="EDF3F9"/>
          </a:solidFill>
          <a:ln/>
        </p:spPr>
      </p:sp>
      <p:sp>
        <p:nvSpPr>
          <p:cNvPr id="9" name="Text 6"/>
          <p:cNvSpPr/>
          <p:nvPr/>
        </p:nvSpPr>
        <p:spPr>
          <a:xfrm>
            <a:off x="822960" y="160020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el tipo de indicador</a:t>
            </a:r>
            <a:endParaRPr lang="en-US" sz="1100" dirty="0"/>
          </a:p>
        </p:txBody>
      </p:sp>
      <p:sp>
        <p:nvSpPr>
          <p:cNvPr id="10" name="Text 7"/>
          <p:cNvSpPr/>
          <p:nvPr/>
        </p:nvSpPr>
        <p:spPr>
          <a:xfrm>
            <a:off x="822960" y="1874520"/>
            <a:ext cx="7498080" cy="91440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“Ahorro nominal” compara el valor adjudicado contra el presupuesto oficial; “ahorro real” ajusta esa comparación por inflación y por si el presupuesto oficial estaba inflado a propósito.</a:t>
            </a:r>
            <a:endParaRPr lang="en-US" sz="1050" dirty="0"/>
          </a:p>
        </p:txBody>
      </p:sp>
      <p:sp>
        <p:nvSpPr>
          <p:cNvPr id="11" name="Shape 8"/>
          <p:cNvSpPr/>
          <p:nvPr/>
        </p:nvSpPr>
        <p:spPr>
          <a:xfrm>
            <a:off x="640080" y="3017520"/>
            <a:ext cx="7863840" cy="1280160"/>
          </a:xfrm>
          <a:prstGeom prst="roundRect">
            <a:avLst>
              <a:gd name="adj" fmla="val 3571"/>
            </a:avLst>
          </a:prstGeom>
          <a:solidFill>
            <a:srgbClr val="EDF3F9"/>
          </a:solidFill>
          <a:ln/>
        </p:spPr>
      </p:sp>
      <p:sp>
        <p:nvSpPr>
          <p:cNvPr id="12" name="Text 9"/>
          <p:cNvSpPr/>
          <p:nvPr/>
        </p:nvSpPr>
        <p:spPr>
          <a:xfrm>
            <a:off x="822960" y="3154680"/>
            <a:ext cx="749808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Sobre la fuente de datos</a:t>
            </a:r>
            <a:endParaRPr lang="en-US" sz="1100" dirty="0"/>
          </a:p>
        </p:txBody>
      </p:sp>
      <p:sp>
        <p:nvSpPr>
          <p:cNvPr id="13" name="Text 10"/>
          <p:cNvSpPr/>
          <p:nvPr/>
        </p:nvSpPr>
        <p:spPr>
          <a:xfrm>
            <a:off x="822960" y="3429000"/>
            <a:ext cx="7498080" cy="822960"/>
          </a:xfrm>
          <a:prstGeom prst="rect">
            <a:avLst/>
          </a:prstGeom>
          <a:noFill/>
          <a:ln/>
        </p:spPr>
        <p:txBody>
          <a:bodyPr wrap="square" rtlCol="0" anchor="t"/>
          <a:lstStyle/>
          <a:p>
            <a:pPr marL="0" indent="0">
              <a:buNone/>
            </a:pPr>
            <a:r>
              <a:rPr lang="en-US" sz="1050" i="1" dirty="0">
                <a:solidFill>
                  <a:srgbClr val="2F3B4C"/>
                </a:solidFill>
                <a:latin typeface="Arial" pitchFamily="34" charset="0"/>
                <a:ea typeface="Arial" pitchFamily="34" charset="-122"/>
                <a:cs typeface="Arial" pitchFamily="34" charset="-120"/>
              </a:rPr>
              <a:t>SECOP II publica el histórico de procesos y valores adjudicados — cruzarlo con el presupuesto oficial de cada proceso es el punto de partida para auditar el indicador.</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CIERRE DEL TALLER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Fuentes y Referencias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0"/>
          </a:xfrm>
          <a:prstGeom prst="rect">
            <a:avLst/>
          </a:prstGeom>
          <a:noFill/>
          <a:ln/>
        </p:spPr>
        <p:txBody>
          <a:bodyPr wrap="square" rtlCol="0" anchor="t"/>
          <a:lstStyle/>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 (Colombia). Guía metodológica para la formulación de indicadores (2020).</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DNP–DSEPP. Guía metodológica para el seguimiento y evaluación a políticas públicas.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 Metodología General Ajustada (MGA): cadena de valor de proyectos de inversión pública.</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DANE. Guía para diseño, construcción e interpretación de indicadores (Estrategia EFET).</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DAFP. Guía para la construcción y análisis de indicadores de gestión (MIPG v4, 2018).</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Ministerio de Salud y Protección Social. Guía metodológica de indicadores de procesos (DESG05).</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Armijo, M. y Bonnefoy, J.C. Indicadores de desempeño en el sector público. CEPAL–ILPES.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Unidad para las Víctimas (Colombia). Guía para la formulación de indicadores.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Dirección General de Servicio Civil (Costa Rica). Guía para la elaboración de indicadores de gestión.</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CIERRE DEL TALLER</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Una pregunta de gestión bien formulada, traducida en un indicador con rigor técnico, es la base de toda decisión pública basada en evidencia.</a:t>
            </a:r>
            <a:endParaRPr lang="en-US" sz="2000" dirty="0"/>
          </a:p>
        </p:txBody>
      </p:sp>
      <p:sp>
        <p:nvSpPr>
          <p:cNvPr id="4" name="Text 2"/>
          <p:cNvSpPr/>
          <p:nvPr/>
        </p:nvSpPr>
        <p:spPr>
          <a:xfrm>
            <a:off x="822960" y="3749040"/>
            <a:ext cx="7498080" cy="320040"/>
          </a:xfrm>
          <a:prstGeom prst="rect">
            <a:avLst/>
          </a:prstGeom>
          <a:noFill/>
          <a:ln/>
        </p:spPr>
        <p:txBody>
          <a:bodyPr wrap="square" rtlCol="0" anchor="ctr"/>
          <a:lstStyle/>
          <a:p>
            <a:pPr marL="0" indent="0" algn="ctr">
              <a:buNone/>
            </a:pPr>
            <a:r>
              <a:rPr lang="en-US" sz="1100" dirty="0">
                <a:solidFill>
                  <a:srgbClr val="9FB8D9"/>
                </a:solidFill>
                <a:latin typeface="Arial" pitchFamily="34" charset="0"/>
                <a:ea typeface="Arial" pitchFamily="34" charset="-122"/>
                <a:cs typeface="Arial" pitchFamily="34" charset="-120"/>
              </a:rPr>
              <a:t>Taller de Indicadores de Gestión Pública con IA · Ciclo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1063</TotalTime>
  <Words>7533</Words>
  <Application>Microsoft Office PowerPoint</Application>
  <PresentationFormat>Presentación en pantalla (16:9)</PresentationFormat>
  <Paragraphs>848</Paragraphs>
  <Slides>73</Slides>
  <Notes>65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73</vt:i4>
      </vt:variant>
    </vt:vector>
  </HeadingPairs>
  <TitlesOfParts>
    <vt:vector size="77"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Sandra Carolina</cp:lastModifiedBy>
  <cp:revision>31</cp:revision>
  <dcterms:created xsi:type="dcterms:W3CDTF">2026-08-10T10:47:53Z</dcterms:created>
  <dcterms:modified xsi:type="dcterms:W3CDTF">2026-08-12T04:25:39Z</dcterms:modified>
</cp:coreProperties>
</file>